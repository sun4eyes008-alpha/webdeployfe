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Lst>
  <p:sldSz cx="18288000" cy="10287000"/>
  <p:notesSz cx="6858000" cy="9144000"/>
  <p:embeddedFontLst>
    <p:embeddedFont>
      <p:font typeface="Arial" panose="020B0604020202020204" pitchFamily="34" charset="0"/>
      <p:regular r:id="rId29"/>
    </p:embeddedFont>
    <p:embeddedFont>
      <p:font typeface="Arial Bold" panose="020B0704020202020204" pitchFamily="34" charset="0"/>
      <p:regular r:id="rId30"/>
      <p:bold r:id="rId31"/>
    </p:embeddedFont>
    <p:embeddedFont>
      <p:font typeface="Arial Bold Italics" panose="020B0604020202020204" charset="0"/>
      <p:regular r:id="rId32"/>
    </p:embeddedFont>
    <p:embeddedFont>
      <p:font typeface="Calibri" panose="020F0502020204030204" pitchFamily="34" charset="0"/>
      <p:regular r:id="rId33"/>
      <p:bold r:id="rId34"/>
      <p:italic r:id="rId35"/>
      <p:boldItalic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2" d="100"/>
          <a:sy n="42" d="100"/>
        </p:scale>
        <p:origin x="78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BH_KHOAN_VAY/THONG_TIN_CONG_TY_BAO_HIEM.pdf" TargetMode="External"/><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8" Type="http://schemas.openxmlformats.org/officeDocument/2006/relationships/hyperlink" Target="BH_KHOAN_VAY/XTI.pdf" TargetMode="External"/><Relationship Id="rId13" Type="http://schemas.openxmlformats.org/officeDocument/2006/relationships/image" Target="../media/image7.png"/><Relationship Id="rId3" Type="http://schemas.openxmlformats.org/officeDocument/2006/relationships/hyperlink" Target="BH_KHOAN_VAY/OPES.pdf" TargetMode="External"/><Relationship Id="rId7" Type="http://schemas.openxmlformats.org/officeDocument/2006/relationships/hyperlink" Target="BH_KHOAN_VAY/BSH.pdf" TargetMode="External"/><Relationship Id="rId12" Type="http://schemas.openxmlformats.org/officeDocument/2006/relationships/image" Target="../media/image4.png"/><Relationship Id="rId2" Type="http://schemas.openxmlformats.org/officeDocument/2006/relationships/hyperlink" Target="BH_KHOAN_VAY/VASS.pdf" TargetMode="External"/><Relationship Id="rId1" Type="http://schemas.openxmlformats.org/officeDocument/2006/relationships/slideLayout" Target="../slideLayouts/slideLayout7.xml"/><Relationship Id="rId6" Type="http://schemas.openxmlformats.org/officeDocument/2006/relationships/hyperlink" Target="BH_KHOAN_VAY/MIC.pdf" TargetMode="External"/><Relationship Id="rId11" Type="http://schemas.openxmlformats.org/officeDocument/2006/relationships/hyperlink" Target="BH_KHOAN_VAY/PVI.pdf" TargetMode="External"/><Relationship Id="rId5" Type="http://schemas.openxmlformats.org/officeDocument/2006/relationships/hyperlink" Target="BH_KHOAN_VAY/PTI.pdf" TargetMode="External"/><Relationship Id="rId10" Type="http://schemas.openxmlformats.org/officeDocument/2006/relationships/hyperlink" Target="BH_KHOAN_VAY/GIC.pdf" TargetMode="External"/><Relationship Id="rId4" Type="http://schemas.openxmlformats.org/officeDocument/2006/relationships/hyperlink" Target="BH_KHOAN_VAY/PJICO.pdf" TargetMode="External"/><Relationship Id="rId9" Type="http://schemas.openxmlformats.org/officeDocument/2006/relationships/hyperlink" Target="BH_KHOAN_VAY/BMI.pdf" TargetMode="External"/><Relationship Id="rId14" Type="http://schemas.openxmlformats.org/officeDocument/2006/relationships/image" Target="../media/image8.sv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BH_KHOAN_VAY/HD_NHAN_GIAY_GIOI_THIEU_GIAM_DINH.pdf" TargetMode="External"/><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7.xml.rels><?xml version="1.0" encoding="UTF-8" standalone="yes"?>
<Relationships xmlns="http://schemas.openxmlformats.org/package/2006/relationships"><Relationship Id="rId8" Type="http://schemas.openxmlformats.org/officeDocument/2006/relationships/hyperlink" Target="BH_BANCA/OPES_BH_TAI_NAN_CA_NHAN.pdf" TargetMode="External"/><Relationship Id="rId13" Type="http://schemas.openxmlformats.org/officeDocument/2006/relationships/hyperlink" Target="BH_BANCA/BSH_BH_CUOC_SONG_DIEU_KY.pdf" TargetMode="External"/><Relationship Id="rId3" Type="http://schemas.openxmlformats.org/officeDocument/2006/relationships/hyperlink" Target="BH_BANCA/BMI_BH_TRO_CAP_TIEN_MAT.pdf" TargetMode="External"/><Relationship Id="rId7" Type="http://schemas.openxmlformats.org/officeDocument/2006/relationships/hyperlink" Target="BH_BANCA/BMI_BH_IZI_AN_TAM_TAI_CHINH.pdf" TargetMode="External"/><Relationship Id="rId12" Type="http://schemas.openxmlformats.org/officeDocument/2006/relationships/hyperlink" Target="BH_BANCA/BSH_NGUYEN_TAC_CHI_TRA_KHI_CO_TU_2_HDBH.pdf" TargetMode="External"/><Relationship Id="rId17" Type="http://schemas.openxmlformats.org/officeDocument/2006/relationships/image" Target="../media/image8.svg"/><Relationship Id="rId2" Type="http://schemas.openxmlformats.org/officeDocument/2006/relationships/hyperlink" Target="BH_BANCA/BMI_BH_SUC_KHOE_CA_NHAN_6_MENH_GIA.pdf" TargetMode="External"/><Relationship Id="rId16"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hyperlink" Target="BH_BANCA/BMI_BH_SUC_KHOE_GIA_DINH.pdf" TargetMode="External"/><Relationship Id="rId11" Type="http://schemas.openxmlformats.org/officeDocument/2006/relationships/hyperlink" Target="BH_BANCA/PVI_BH_THIET_HAI_VAT_CHAT_XE_MOTO_XE_MAY.pdf" TargetMode="External"/><Relationship Id="rId5" Type="http://schemas.openxmlformats.org/officeDocument/2006/relationships/hyperlink" Target="BH_BANCA/BMI_BH_TAI_NAN_HO_SU_DUNG_DIEN.pdf" TargetMode="External"/><Relationship Id="rId15" Type="http://schemas.openxmlformats.org/officeDocument/2006/relationships/image" Target="../media/image4.png"/><Relationship Id="rId10" Type="http://schemas.openxmlformats.org/officeDocument/2006/relationships/hyperlink" Target="BH_BANCA/PVI_BH_TNDS_XE_MAY.pdf" TargetMode="External"/><Relationship Id="rId4" Type="http://schemas.openxmlformats.org/officeDocument/2006/relationships/hyperlink" Target="BH_BANCA/BMI_BH_NOI_TRU_VA_PHAU_THUAT.pdf" TargetMode="External"/><Relationship Id="rId9" Type="http://schemas.openxmlformats.org/officeDocument/2006/relationships/hyperlink" Target="BH_BANCA/PVI_BH_TAI_NAN_CA_NHAN.pdf" TargetMode="External"/><Relationship Id="rId14" Type="http://schemas.openxmlformats.org/officeDocument/2006/relationships/hyperlink" Target="BH_BANCA/PJICO_BH_AN_TAM_VIEN_PHI.pdf"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BH_BANCA/THAO_TAC_TRANSFER_CALL_QUA_SALE.pdf" TargetMode="External"/><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hyperlink" Target="BH_BANCA/THANH_TOAN_BANG_MA_THANH_TOAN.pdf" TargetMode="External"/><Relationship Id="rId7" Type="http://schemas.openxmlformats.org/officeDocument/2006/relationships/image" Target="../media/image8.svg"/><Relationship Id="rId2" Type="http://schemas.openxmlformats.org/officeDocument/2006/relationships/hyperlink" Target="BH_BANCA/HD_THAO_TAC_TREN_APP_IZION24.pdf" TargetMode="Externa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hyperlink" Target="BH_BANCA/THANH_TOAN_TRUC_TIEP_TU_APP_IZION24.pdf"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BH_BANCA/HD_THAO_TAC_TREN_APP_IZION24.pdf" TargetMode="External"/><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BH_BANCA/KICH_BAN_THUYET_PHUC.pdf" TargetMode="External"/><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BH_BANCA/KICH_BAN_THUYET_PHUC.pdf" TargetMode="External"/><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5913120"/>
            <a:chOff x="0" y="0"/>
            <a:chExt cx="24384000" cy="7884160"/>
          </a:xfrm>
        </p:grpSpPr>
        <p:sp>
          <p:nvSpPr>
            <p:cNvPr id="3" name="Freeform 3"/>
            <p:cNvSpPr/>
            <p:nvPr/>
          </p:nvSpPr>
          <p:spPr>
            <a:xfrm>
              <a:off x="0" y="0"/>
              <a:ext cx="24384000" cy="7884160"/>
            </a:xfrm>
            <a:custGeom>
              <a:avLst/>
              <a:gdLst/>
              <a:ahLst/>
              <a:cxnLst/>
              <a:rect l="l" t="t" r="r" b="b"/>
              <a:pathLst>
                <a:path w="24384000" h="7884160">
                  <a:moveTo>
                    <a:pt x="0" y="0"/>
                  </a:moveTo>
                  <a:lnTo>
                    <a:pt x="24384000" y="0"/>
                  </a:lnTo>
                  <a:lnTo>
                    <a:pt x="24384000" y="7884160"/>
                  </a:lnTo>
                  <a:lnTo>
                    <a:pt x="0" y="7884160"/>
                  </a:lnTo>
                  <a:lnTo>
                    <a:pt x="0" y="0"/>
                  </a:lnTo>
                  <a:close/>
                </a:path>
              </a:pathLst>
            </a:custGeom>
            <a:blipFill>
              <a:blip r:embed="rId2"/>
              <a:stretch>
                <a:fillRect t="-49" b="-49"/>
              </a:stretch>
            </a:blipFill>
          </p:spPr>
        </p:sp>
      </p:grpSp>
      <p:sp>
        <p:nvSpPr>
          <p:cNvPr id="4" name="Freeform 4"/>
          <p:cNvSpPr/>
          <p:nvPr/>
        </p:nvSpPr>
        <p:spPr>
          <a:xfrm>
            <a:off x="0" y="6515100"/>
            <a:ext cx="18288000" cy="1885074"/>
          </a:xfrm>
          <a:custGeom>
            <a:avLst/>
            <a:gdLst/>
            <a:ahLst/>
            <a:cxnLst/>
            <a:rect l="l" t="t" r="r" b="b"/>
            <a:pathLst>
              <a:path w="18886932" h="1885074">
                <a:moveTo>
                  <a:pt x="0" y="0"/>
                </a:moveTo>
                <a:lnTo>
                  <a:pt x="18886932" y="0"/>
                </a:lnTo>
                <a:lnTo>
                  <a:pt x="18886932" y="1885074"/>
                </a:lnTo>
                <a:lnTo>
                  <a:pt x="0" y="1885074"/>
                </a:lnTo>
                <a:lnTo>
                  <a:pt x="0" y="0"/>
                </a:lnTo>
                <a:close/>
              </a:path>
            </a:pathLst>
          </a:custGeom>
          <a:blipFill>
            <a:blip r:embed="rId3">
              <a:extLst>
                <a:ext uri="{96DAC541-7B7A-43D3-8B79-37D633B846F1}">
                  <asvg:svgBlip xmlns:asvg="http://schemas.microsoft.com/office/drawing/2016/SVG/main" r:embed="rId4"/>
                </a:ext>
              </a:extLst>
            </a:blip>
            <a:stretch>
              <a:fillRect t="-20" b="-20"/>
            </a:stretch>
          </a:blipFill>
        </p:spPr>
      </p:sp>
      <p:sp>
        <p:nvSpPr>
          <p:cNvPr id="5" name="TextBox 5"/>
          <p:cNvSpPr txBox="1"/>
          <p:nvPr/>
        </p:nvSpPr>
        <p:spPr>
          <a:xfrm>
            <a:off x="7302818" y="6981830"/>
            <a:ext cx="3682365" cy="1167108"/>
          </a:xfrm>
          <a:prstGeom prst="rect">
            <a:avLst/>
          </a:prstGeom>
        </p:spPr>
        <p:txBody>
          <a:bodyPr lIns="0" tIns="0" rIns="0" bIns="0" rtlCol="0" anchor="t">
            <a:spAutoFit/>
          </a:bodyPr>
          <a:lstStyle/>
          <a:p>
            <a:pPr algn="ctr">
              <a:lnSpc>
                <a:spcPts val="8117"/>
              </a:lnSpc>
            </a:pPr>
            <a:r>
              <a:rPr lang="en-US" sz="5798" b="1">
                <a:solidFill>
                  <a:srgbClr val="FFFFFF"/>
                </a:solidFill>
                <a:latin typeface="Arial Bold"/>
                <a:ea typeface="Arial Bold"/>
                <a:cs typeface="Arial Bold"/>
                <a:sym typeface="Arial Bold"/>
              </a:rPr>
              <a:t>BẢO HIỂM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5913120"/>
            <a:chOff x="0" y="0"/>
            <a:chExt cx="24384000" cy="7884160"/>
          </a:xfrm>
        </p:grpSpPr>
        <p:sp>
          <p:nvSpPr>
            <p:cNvPr id="3" name="Freeform 3"/>
            <p:cNvSpPr/>
            <p:nvPr/>
          </p:nvSpPr>
          <p:spPr>
            <a:xfrm>
              <a:off x="0" y="0"/>
              <a:ext cx="24384000" cy="7884160"/>
            </a:xfrm>
            <a:custGeom>
              <a:avLst/>
              <a:gdLst/>
              <a:ahLst/>
              <a:cxnLst/>
              <a:rect l="l" t="t" r="r" b="b"/>
              <a:pathLst>
                <a:path w="24384000" h="7884160">
                  <a:moveTo>
                    <a:pt x="0" y="0"/>
                  </a:moveTo>
                  <a:lnTo>
                    <a:pt x="24384000" y="0"/>
                  </a:lnTo>
                  <a:lnTo>
                    <a:pt x="24384000" y="7884160"/>
                  </a:lnTo>
                  <a:lnTo>
                    <a:pt x="0" y="7884160"/>
                  </a:lnTo>
                  <a:lnTo>
                    <a:pt x="0" y="0"/>
                  </a:lnTo>
                  <a:close/>
                </a:path>
              </a:pathLst>
            </a:custGeom>
            <a:blipFill>
              <a:blip r:embed="rId2"/>
              <a:stretch>
                <a:fillRect t="-49" b="-49"/>
              </a:stretch>
            </a:blipFill>
          </p:spPr>
        </p:sp>
      </p:grpSp>
      <p:sp>
        <p:nvSpPr>
          <p:cNvPr id="4" name="Freeform 4"/>
          <p:cNvSpPr/>
          <p:nvPr/>
        </p:nvSpPr>
        <p:spPr>
          <a:xfrm>
            <a:off x="0" y="6591300"/>
            <a:ext cx="18288000" cy="1885074"/>
          </a:xfrm>
          <a:custGeom>
            <a:avLst/>
            <a:gdLst/>
            <a:ahLst/>
            <a:cxnLst/>
            <a:rect l="l" t="t" r="r" b="b"/>
            <a:pathLst>
              <a:path w="18886932" h="1885074">
                <a:moveTo>
                  <a:pt x="0" y="0"/>
                </a:moveTo>
                <a:lnTo>
                  <a:pt x="18886932" y="0"/>
                </a:lnTo>
                <a:lnTo>
                  <a:pt x="18886932" y="1885074"/>
                </a:lnTo>
                <a:lnTo>
                  <a:pt x="0" y="1885074"/>
                </a:lnTo>
                <a:lnTo>
                  <a:pt x="0" y="0"/>
                </a:lnTo>
                <a:close/>
              </a:path>
            </a:pathLst>
          </a:custGeom>
          <a:blipFill>
            <a:blip r:embed="rId3">
              <a:extLst>
                <a:ext uri="{96DAC541-7B7A-43D3-8B79-37D633B846F1}">
                  <asvg:svgBlip xmlns:asvg="http://schemas.microsoft.com/office/drawing/2016/SVG/main" r:embed="rId4"/>
                </a:ext>
              </a:extLst>
            </a:blip>
            <a:stretch>
              <a:fillRect t="-20" b="-20"/>
            </a:stretch>
          </a:blipFill>
        </p:spPr>
      </p:sp>
      <p:sp>
        <p:nvSpPr>
          <p:cNvPr id="5" name="TextBox 5"/>
          <p:cNvSpPr txBox="1"/>
          <p:nvPr/>
        </p:nvSpPr>
        <p:spPr>
          <a:xfrm>
            <a:off x="4332946" y="7053282"/>
            <a:ext cx="9622108" cy="1024204"/>
          </a:xfrm>
          <a:prstGeom prst="rect">
            <a:avLst/>
          </a:prstGeom>
        </p:spPr>
        <p:txBody>
          <a:bodyPr lIns="0" tIns="0" rIns="0" bIns="0" rtlCol="0" anchor="t">
            <a:spAutoFit/>
          </a:bodyPr>
          <a:lstStyle/>
          <a:p>
            <a:pPr algn="ctr">
              <a:lnSpc>
                <a:spcPts val="8117"/>
              </a:lnSpc>
            </a:pPr>
            <a:r>
              <a:rPr lang="en-US" sz="5798" b="1">
                <a:solidFill>
                  <a:srgbClr val="FFFFFF"/>
                </a:solidFill>
                <a:latin typeface="Arial Bold"/>
                <a:ea typeface="Arial Bold"/>
                <a:cs typeface="Arial Bold"/>
                <a:sym typeface="Arial Bold"/>
              </a:rPr>
              <a:t>BẢO HIỂM KHOẢN VAY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30249" y="9680162"/>
            <a:ext cx="2421922" cy="346996"/>
            <a:chOff x="0" y="0"/>
            <a:chExt cx="3229229" cy="462661"/>
          </a:xfrm>
        </p:grpSpPr>
        <p:sp>
          <p:nvSpPr>
            <p:cNvPr id="3" name="Freeform 3"/>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145" r="-145"/>
              </a:stretch>
            </a:blipFill>
          </p:spPr>
        </p:sp>
      </p:grpSp>
      <p:sp>
        <p:nvSpPr>
          <p:cNvPr id="4" name="Freeform 4"/>
          <p:cNvSpPr/>
          <p:nvPr/>
        </p:nvSpPr>
        <p:spPr>
          <a:xfrm>
            <a:off x="0" y="-190500"/>
            <a:ext cx="18288000" cy="1885074"/>
          </a:xfrm>
          <a:custGeom>
            <a:avLst/>
            <a:gdLst/>
            <a:ahLst/>
            <a:cxnLst/>
            <a:rect l="l" t="t" r="r" b="b"/>
            <a:pathLst>
              <a:path w="19709892" h="1885074">
                <a:moveTo>
                  <a:pt x="0" y="0"/>
                </a:moveTo>
                <a:lnTo>
                  <a:pt x="19709892" y="0"/>
                </a:lnTo>
                <a:lnTo>
                  <a:pt x="19709892" y="1885074"/>
                </a:lnTo>
                <a:lnTo>
                  <a:pt x="0" y="1885074"/>
                </a:lnTo>
                <a:lnTo>
                  <a:pt x="0" y="0"/>
                </a:lnTo>
                <a:close/>
              </a:path>
            </a:pathLst>
          </a:custGeom>
          <a:blipFill>
            <a:blip r:embed="rId3">
              <a:extLst>
                <a:ext uri="{96DAC541-7B7A-43D3-8B79-37D633B846F1}">
                  <asvg:svgBlip xmlns:asvg="http://schemas.microsoft.com/office/drawing/2016/SVG/main" r:embed="rId4"/>
                </a:ext>
              </a:extLst>
            </a:blip>
            <a:stretch>
              <a:fillRect t="-6" b="-5"/>
            </a:stretch>
          </a:blipFill>
        </p:spPr>
      </p:sp>
      <p:sp>
        <p:nvSpPr>
          <p:cNvPr id="5" name="TextBox 5"/>
          <p:cNvSpPr txBox="1"/>
          <p:nvPr/>
        </p:nvSpPr>
        <p:spPr>
          <a:xfrm>
            <a:off x="4990862" y="358983"/>
            <a:ext cx="8306276" cy="1167108"/>
          </a:xfrm>
          <a:prstGeom prst="rect">
            <a:avLst/>
          </a:prstGeom>
        </p:spPr>
        <p:txBody>
          <a:bodyPr lIns="0" tIns="0" rIns="0" bIns="0" rtlCol="0" anchor="t">
            <a:spAutoFit/>
          </a:bodyPr>
          <a:lstStyle/>
          <a:p>
            <a:pPr algn="ctr">
              <a:lnSpc>
                <a:spcPts val="8117"/>
              </a:lnSpc>
            </a:pPr>
            <a:r>
              <a:rPr lang="en-US" sz="5798" b="1" dirty="0">
                <a:solidFill>
                  <a:srgbClr val="FFFFFF"/>
                </a:solidFill>
                <a:latin typeface="Arial Bold"/>
                <a:ea typeface="Arial Bold"/>
                <a:cs typeface="Arial Bold"/>
                <a:sym typeface="Arial Bold"/>
              </a:rPr>
              <a:t>BẢO HIỂM KHOẢN VAY</a:t>
            </a:r>
          </a:p>
        </p:txBody>
      </p:sp>
      <p:sp>
        <p:nvSpPr>
          <p:cNvPr id="6" name="TextBox 6"/>
          <p:cNvSpPr txBox="1"/>
          <p:nvPr/>
        </p:nvSpPr>
        <p:spPr>
          <a:xfrm>
            <a:off x="4026265" y="2921594"/>
            <a:ext cx="9149429" cy="5099025"/>
          </a:xfrm>
          <a:prstGeom prst="rect">
            <a:avLst/>
          </a:prstGeom>
        </p:spPr>
        <p:txBody>
          <a:bodyPr lIns="0" tIns="0" rIns="0" bIns="0" rtlCol="0" anchor="t">
            <a:spAutoFit/>
          </a:bodyPr>
          <a:lstStyle/>
          <a:p>
            <a:pPr marL="733844" lvl="1" indent="-366922" algn="l">
              <a:lnSpc>
                <a:spcPts val="5779"/>
              </a:lnSpc>
              <a:buFont typeface="Arial"/>
              <a:buChar char="•"/>
            </a:pPr>
            <a:r>
              <a:rPr lang="en-US" sz="3399" b="1">
                <a:solidFill>
                  <a:srgbClr val="00974E"/>
                </a:solidFill>
                <a:latin typeface="Arial Bold"/>
                <a:ea typeface="Arial Bold"/>
                <a:cs typeface="Arial Bold"/>
                <a:sym typeface="Arial Bold"/>
              </a:rPr>
              <a:t>PHÍ BẢO HIỂM/ LOẠI BẢO HIỂM</a:t>
            </a:r>
          </a:p>
          <a:p>
            <a:pPr marL="733844" lvl="1" indent="-366922" algn="l">
              <a:lnSpc>
                <a:spcPts val="5779"/>
              </a:lnSpc>
              <a:buFont typeface="Arial"/>
              <a:buChar char="•"/>
            </a:pPr>
            <a:r>
              <a:rPr lang="en-US" sz="3399" b="1">
                <a:solidFill>
                  <a:srgbClr val="00974E"/>
                </a:solidFill>
                <a:latin typeface="Arial Bold"/>
                <a:ea typeface="Arial Bold"/>
                <a:cs typeface="Arial Bold"/>
                <a:sym typeface="Arial Bold"/>
              </a:rPr>
              <a:t>TÌNH TRẠNG XỬ LÝ HỒ SƠ BẢO HIỂM</a:t>
            </a:r>
          </a:p>
          <a:p>
            <a:pPr marL="733844" lvl="1" indent="-366922" algn="l">
              <a:lnSpc>
                <a:spcPts val="5779"/>
              </a:lnSpc>
              <a:buFont typeface="Arial"/>
              <a:buChar char="•"/>
            </a:pPr>
            <a:r>
              <a:rPr lang="en-US" sz="3399" b="1">
                <a:solidFill>
                  <a:srgbClr val="00974E"/>
                </a:solidFill>
                <a:latin typeface="Arial Bold"/>
                <a:ea typeface="Arial Bold"/>
                <a:cs typeface="Arial Bold"/>
                <a:sym typeface="Arial Bold"/>
              </a:rPr>
              <a:t>KIỂM TRA SỐ TIỀN CẦN ĐÓNG BỔ SUNG ĐỂ NHẬN MRC/ CLOSE HĐ</a:t>
            </a:r>
          </a:p>
          <a:p>
            <a:pPr marL="1467688" lvl="2" indent="-489229" algn="l">
              <a:lnSpc>
                <a:spcPts val="5779"/>
              </a:lnSpc>
              <a:buFont typeface="Arial"/>
              <a:buChar char="⚬"/>
            </a:pPr>
            <a:r>
              <a:rPr lang="en-US" sz="3399" b="1">
                <a:solidFill>
                  <a:srgbClr val="00974E"/>
                </a:solidFill>
                <a:latin typeface="Arial Bold"/>
                <a:ea typeface="Arial Bold"/>
                <a:cs typeface="Arial Bold"/>
                <a:sym typeface="Arial Bold"/>
              </a:rPr>
              <a:t>HĐ CLOSED</a:t>
            </a:r>
          </a:p>
          <a:p>
            <a:pPr marL="1467688" lvl="2" indent="-489229" algn="l">
              <a:lnSpc>
                <a:spcPts val="5779"/>
              </a:lnSpc>
              <a:buFont typeface="Arial"/>
              <a:buChar char="⚬"/>
            </a:pPr>
            <a:r>
              <a:rPr lang="en-US" sz="3399" b="1">
                <a:solidFill>
                  <a:srgbClr val="00974E"/>
                </a:solidFill>
                <a:latin typeface="Arial Bold"/>
                <a:ea typeface="Arial Bold"/>
                <a:cs typeface="Arial Bold"/>
                <a:sym typeface="Arial Bold"/>
              </a:rPr>
              <a:t>HĐ ACTIVE</a:t>
            </a:r>
          </a:p>
          <a:p>
            <a:pPr marL="733844" lvl="1" indent="-366922" algn="l">
              <a:lnSpc>
                <a:spcPts val="5779"/>
              </a:lnSpc>
              <a:buFont typeface="Arial"/>
              <a:buChar char="•"/>
            </a:pPr>
            <a:r>
              <a:rPr lang="en-US" sz="3399" b="1">
                <a:solidFill>
                  <a:srgbClr val="00974E"/>
                </a:solidFill>
                <a:latin typeface="Arial Bold"/>
                <a:ea typeface="Arial Bold"/>
                <a:cs typeface="Arial Bold"/>
                <a:sym typeface="Arial Bold"/>
              </a:rPr>
              <a:t>GIẤY GIẢI CHẤP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277749"/>
            <a:ext cx="18288000" cy="1306449"/>
          </a:xfrm>
          <a:custGeom>
            <a:avLst/>
            <a:gdLst/>
            <a:ahLst/>
            <a:cxnLst/>
            <a:rect l="l" t="t" r="r" b="b"/>
            <a:pathLst>
              <a:path w="20000147" h="1306449">
                <a:moveTo>
                  <a:pt x="0" y="0"/>
                </a:moveTo>
                <a:lnTo>
                  <a:pt x="20000147" y="0"/>
                </a:lnTo>
                <a:lnTo>
                  <a:pt x="20000147" y="1306449"/>
                </a:lnTo>
                <a:lnTo>
                  <a:pt x="0" y="1306449"/>
                </a:lnTo>
                <a:lnTo>
                  <a:pt x="0" y="0"/>
                </a:lnTo>
                <a:close/>
              </a:path>
            </a:pathLst>
          </a:custGeom>
          <a:blipFill>
            <a:blip r:embed="rId2">
              <a:extLst>
                <a:ext uri="{96DAC541-7B7A-43D3-8B79-37D633B846F1}">
                  <asvg:svgBlip xmlns:asvg="http://schemas.microsoft.com/office/drawing/2016/SVG/main" r:embed="rId3"/>
                </a:ext>
              </a:extLst>
            </a:blip>
            <a:stretch>
              <a:fillRect t="-300" b="-300"/>
            </a:stretch>
          </a:blipFill>
        </p:spPr>
      </p:sp>
      <p:graphicFrame>
        <p:nvGraphicFramePr>
          <p:cNvPr id="3" name="Table 3"/>
          <p:cNvGraphicFramePr>
            <a:graphicFrameLocks noGrp="1"/>
          </p:cNvGraphicFramePr>
          <p:nvPr/>
        </p:nvGraphicFramePr>
        <p:xfrm>
          <a:off x="838200" y="1726503"/>
          <a:ext cx="16611600" cy="4419600"/>
        </p:xfrm>
        <a:graphic>
          <a:graphicData uri="http://schemas.openxmlformats.org/drawingml/2006/table">
            <a:tbl>
              <a:tblPr/>
              <a:tblGrid>
                <a:gridCol w="10857201">
                  <a:extLst>
                    <a:ext uri="{9D8B030D-6E8A-4147-A177-3AD203B41FA5}">
                      <a16:colId xmlns:a16="http://schemas.microsoft.com/office/drawing/2014/main" val="20000"/>
                    </a:ext>
                  </a:extLst>
                </a:gridCol>
                <a:gridCol w="5754399">
                  <a:extLst>
                    <a:ext uri="{9D8B030D-6E8A-4147-A177-3AD203B41FA5}">
                      <a16:colId xmlns:a16="http://schemas.microsoft.com/office/drawing/2014/main" val="20001"/>
                    </a:ext>
                  </a:extLst>
                </a:gridCol>
              </a:tblGrid>
              <a:tr h="1031722">
                <a:tc>
                  <a:txBody>
                    <a:bodyPr/>
                    <a:lstStyle/>
                    <a:p>
                      <a:pPr algn="ctr">
                        <a:lnSpc>
                          <a:spcPts val="3750"/>
                        </a:lnSpc>
                        <a:defRPr/>
                      </a:pPr>
                      <a:r>
                        <a:rPr lang="en-US" sz="2000" b="1" spc="12">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a:solidFill>
                            <a:srgbClr val="FFFFFF"/>
                          </a:solidFill>
                          <a:latin typeface="Arial Bold"/>
                          <a:ea typeface="Arial Bold"/>
                          <a:cs typeface="Arial Bold"/>
                          <a:sym typeface="Arial Bold"/>
                        </a:rPr>
                        <a:t>CODE / REMARK</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3387878">
                <a:tc>
                  <a:txBody>
                    <a:bodyPr/>
                    <a:lstStyle/>
                    <a:p>
                      <a:pPr marL="431801" lvl="1" indent="-215900" algn="l">
                        <a:lnSpc>
                          <a:spcPts val="3112"/>
                        </a:lnSpc>
                        <a:buFont typeface="Arial"/>
                        <a:buChar char="•"/>
                        <a:defRPr/>
                      </a:pPr>
                      <a:r>
                        <a:rPr lang="en-US" sz="2000" dirty="0" err="1">
                          <a:solidFill>
                            <a:srgbClr val="000000"/>
                          </a:solidFill>
                          <a:latin typeface="Arial"/>
                          <a:ea typeface="Arial"/>
                          <a:cs typeface="Arial"/>
                          <a:sym typeface="Arial"/>
                        </a:rPr>
                        <a:t>Tùy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theo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sản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phẩm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vay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và</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được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tính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Khoản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vay</a:t>
                      </a:r>
                      <a:r>
                        <a:rPr lang="en-US" sz="2000" dirty="0">
                          <a:solidFill>
                            <a:srgbClr val="000000"/>
                          </a:solidFill>
                          <a:latin typeface="Arial"/>
                          <a:ea typeface="Arial"/>
                          <a:cs typeface="Arial"/>
                          <a:sym typeface="Arial"/>
                        </a:rPr>
                        <a:t> ban </a:t>
                      </a:r>
                      <a:r>
                        <a:rPr lang="en-US" sz="2000" dirty="0" err="1">
                          <a:solidFill>
                            <a:srgbClr val="000000"/>
                          </a:solidFill>
                          <a:latin typeface="Arial"/>
                          <a:ea typeface="Arial"/>
                          <a:cs typeface="Arial"/>
                          <a:sym typeface="Arial"/>
                        </a:rPr>
                        <a:t>đầu</a:t>
                      </a:r>
                      <a:endParaRPr lang="en-US" sz="1100" dirty="0"/>
                    </a:p>
                    <a:p>
                      <a:pPr marL="431801" lvl="1" indent="-215900" algn="l">
                        <a:lnSpc>
                          <a:spcPts val="3112"/>
                        </a:lnSpc>
                        <a:buFont typeface="Arial"/>
                        <a:buChar char="•"/>
                      </a:pPr>
                      <a:r>
                        <a:rPr lang="en-US" sz="2000" dirty="0" err="1">
                          <a:solidFill>
                            <a:srgbClr val="000000"/>
                          </a:solidFill>
                          <a:latin typeface="Arial"/>
                          <a:ea typeface="Arial"/>
                          <a:cs typeface="Arial"/>
                          <a:sym typeface="Arial"/>
                        </a:rPr>
                        <a:t>Cách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tính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Phí</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hiểm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khoản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vay</a:t>
                      </a:r>
                      <a:r>
                        <a:rPr lang="en-US" sz="2000" dirty="0">
                          <a:solidFill>
                            <a:srgbClr val="000000"/>
                          </a:solidFill>
                          <a:latin typeface="Arial"/>
                          <a:ea typeface="Arial"/>
                          <a:cs typeface="Arial"/>
                          <a:sym typeface="Arial"/>
                        </a:rPr>
                        <a:t> (%) = </a:t>
                      </a:r>
                      <a:r>
                        <a:rPr lang="en-US" sz="2000" dirty="0" err="1">
                          <a:solidFill>
                            <a:srgbClr val="000000"/>
                          </a:solidFill>
                          <a:latin typeface="Arial"/>
                          <a:ea typeface="Arial"/>
                          <a:cs typeface="Arial"/>
                          <a:sym typeface="Arial"/>
                        </a:rPr>
                        <a:t>Tiền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hiểm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Số</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tiền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thực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lấy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 </a:t>
                      </a:r>
                      <a:r>
                        <a:rPr lang="en-US" sz="2000" dirty="0" err="1">
                          <a:solidFill>
                            <a:srgbClr val="000000"/>
                          </a:solidFill>
                          <a:latin typeface="Arial"/>
                          <a:ea typeface="Arial"/>
                          <a:cs typeface="Arial"/>
                          <a:sym typeface="Arial"/>
                        </a:rPr>
                        <a:t>số</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tiền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theo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Pega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hiển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thị</a:t>
                      </a:r>
                      <a:r>
                        <a:rPr lang="en-US" sz="2000" dirty="0">
                          <a:solidFill>
                            <a:srgbClr val="000000"/>
                          </a:solidFill>
                          <a:latin typeface="Arial"/>
                          <a:ea typeface="Arial"/>
                          <a:cs typeface="Arial"/>
                          <a:sym typeface="Arial"/>
                        </a:rPr>
                        <a:t>)</a:t>
                      </a:r>
                    </a:p>
                    <a:p>
                      <a:pPr marL="431801" lvl="1" indent="-215900" algn="l">
                        <a:lnSpc>
                          <a:spcPts val="3112"/>
                        </a:lnSpc>
                        <a:buFont typeface="Arial"/>
                        <a:buChar char="•"/>
                      </a:pPr>
                      <a:r>
                        <a:rPr lang="en-US" sz="2000" dirty="0" err="1">
                          <a:solidFill>
                            <a:srgbClr val="000000"/>
                          </a:solidFill>
                          <a:latin typeface="Arial"/>
                          <a:ea typeface="Arial"/>
                          <a:cs typeface="Arial"/>
                          <a:sym typeface="Arial"/>
                        </a:rPr>
                        <a:t>Ví</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dụ</a:t>
                      </a:r>
                      <a:r>
                        <a:rPr lang="en-US" sz="2000" dirty="0">
                          <a:solidFill>
                            <a:srgbClr val="000000"/>
                          </a:solidFill>
                          <a:latin typeface="Arial"/>
                          <a:ea typeface="Arial"/>
                          <a:cs typeface="Arial"/>
                          <a:sym typeface="Arial"/>
                        </a:rPr>
                        <a:t>: 175000/3500000 = 5% =&gt; </a:t>
                      </a:r>
                      <a:r>
                        <a:rPr lang="en-US" sz="2000" dirty="0" err="1">
                          <a:solidFill>
                            <a:srgbClr val="000000"/>
                          </a:solidFill>
                          <a:latin typeface="Arial"/>
                          <a:ea typeface="Arial"/>
                          <a:cs typeface="Arial"/>
                          <a:sym typeface="Arial"/>
                        </a:rPr>
                        <a:t>Phí</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hiểm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khoản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vay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là</a:t>
                      </a:r>
                      <a:r>
                        <a:rPr lang="en-US" sz="2000" dirty="0">
                          <a:solidFill>
                            <a:srgbClr val="000000"/>
                          </a:solidFill>
                          <a:latin typeface="Arial"/>
                          <a:ea typeface="Arial"/>
                          <a:cs typeface="Arial"/>
                          <a:sym typeface="Arial"/>
                        </a:rPr>
                        <a:t> 5%</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800"/>
                        </a:lnSpc>
                        <a:defRPr/>
                      </a:pPr>
                      <a:r>
                        <a:rPr lang="en-US" sz="2000" b="1" dirty="0">
                          <a:solidFill>
                            <a:srgbClr val="000000"/>
                          </a:solidFill>
                          <a:latin typeface="Arial Bold"/>
                          <a:ea typeface="Arial Bold"/>
                          <a:cs typeface="Arial Bold"/>
                          <a:sym typeface="Arial Bold"/>
                        </a:rPr>
                        <a:t>Code:</a:t>
                      </a:r>
                      <a:r>
                        <a:rPr lang="en-US" sz="2000" dirty="0">
                          <a:solidFill>
                            <a:srgbClr val="000000"/>
                          </a:solidFill>
                          <a:latin typeface="Arial"/>
                          <a:ea typeface="Arial"/>
                          <a:cs typeface="Arial"/>
                          <a:sym typeface="Arial"/>
                        </a:rPr>
                        <a:t> IL13-Bảo </a:t>
                      </a:r>
                      <a:r>
                        <a:rPr lang="en-US" sz="2000" dirty="0" err="1">
                          <a:solidFill>
                            <a:srgbClr val="000000"/>
                          </a:solidFill>
                          <a:latin typeface="Arial"/>
                          <a:ea typeface="Arial"/>
                          <a:cs typeface="Arial"/>
                          <a:sym typeface="Arial"/>
                        </a:rPr>
                        <a:t>hiểm</a:t>
                      </a:r>
                      <a:endParaRPr lang="en-US" sz="1100" dirty="0"/>
                    </a:p>
                    <a:p>
                      <a:pPr algn="l">
                        <a:lnSpc>
                          <a:spcPts val="2800"/>
                        </a:lnSpc>
                      </a:pPr>
                      <a:r>
                        <a:rPr lang="en-US" sz="2000" b="1" dirty="0">
                          <a:solidFill>
                            <a:srgbClr val="000000"/>
                          </a:solidFill>
                          <a:latin typeface="Arial Bold"/>
                          <a:ea typeface="Arial Bold"/>
                          <a:cs typeface="Arial Bold"/>
                          <a:sym typeface="Arial Bold"/>
                        </a:rPr>
                        <a:t>Sub:</a:t>
                      </a:r>
                      <a:r>
                        <a:rPr lang="en-US" sz="2000" dirty="0">
                          <a:solidFill>
                            <a:srgbClr val="000000"/>
                          </a:solidFill>
                          <a:latin typeface="Arial"/>
                          <a:ea typeface="Arial"/>
                          <a:cs typeface="Arial"/>
                          <a:sym typeface="Arial"/>
                        </a:rPr>
                        <a:t> IL13.01-Thông tin </a:t>
                      </a:r>
                      <a:r>
                        <a:rPr lang="en-US" sz="2000" dirty="0" err="1">
                          <a:solidFill>
                            <a:srgbClr val="000000"/>
                          </a:solidFill>
                          <a:latin typeface="Arial"/>
                          <a:ea typeface="Arial"/>
                          <a:cs typeface="Arial"/>
                          <a:sym typeface="Arial"/>
                        </a:rPr>
                        <a:t>về</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hiểm</a:t>
                      </a:r>
                      <a:endParaRPr lang="en-US" sz="2000" dirty="0">
                        <a:solidFill>
                          <a:srgbClr val="000000"/>
                        </a:solidFill>
                        <a:latin typeface="Arial"/>
                        <a:ea typeface="Arial"/>
                        <a:cs typeface="Arial"/>
                        <a:sym typeface="Arial"/>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sp>
        <p:nvSpPr>
          <p:cNvPr id="4" name="TextBox 4"/>
          <p:cNvSpPr txBox="1"/>
          <p:nvPr/>
        </p:nvSpPr>
        <p:spPr>
          <a:xfrm>
            <a:off x="7380089" y="155887"/>
            <a:ext cx="3527822" cy="663530"/>
          </a:xfrm>
          <a:prstGeom prst="rect">
            <a:avLst/>
          </a:prstGeom>
        </p:spPr>
        <p:txBody>
          <a:bodyPr lIns="0" tIns="0" rIns="0" bIns="0" rtlCol="0" anchor="t">
            <a:spAutoFit/>
          </a:bodyPr>
          <a:lstStyle/>
          <a:p>
            <a:pPr algn="ctr">
              <a:lnSpc>
                <a:spcPts val="5200"/>
              </a:lnSpc>
            </a:pPr>
            <a:r>
              <a:rPr lang="en-US" sz="3999" b="1">
                <a:solidFill>
                  <a:srgbClr val="000000"/>
                </a:solidFill>
                <a:latin typeface="Arial Bold"/>
                <a:ea typeface="Arial Bold"/>
                <a:cs typeface="Arial Bold"/>
                <a:sym typeface="Arial Bold"/>
              </a:rPr>
              <a:t>PHÍ BẢO HIỂM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3347541130"/>
              </p:ext>
            </p:extLst>
          </p:nvPr>
        </p:nvGraphicFramePr>
        <p:xfrm>
          <a:off x="1869402" y="1592695"/>
          <a:ext cx="14549196" cy="2524554"/>
        </p:xfrm>
        <a:graphic>
          <a:graphicData uri="http://schemas.openxmlformats.org/drawingml/2006/table">
            <a:tbl>
              <a:tblPr/>
              <a:tblGrid>
                <a:gridCol w="8785418">
                  <a:extLst>
                    <a:ext uri="{9D8B030D-6E8A-4147-A177-3AD203B41FA5}">
                      <a16:colId xmlns:a16="http://schemas.microsoft.com/office/drawing/2014/main" val="20000"/>
                    </a:ext>
                  </a:extLst>
                </a:gridCol>
                <a:gridCol w="5763778">
                  <a:extLst>
                    <a:ext uri="{9D8B030D-6E8A-4147-A177-3AD203B41FA5}">
                      <a16:colId xmlns:a16="http://schemas.microsoft.com/office/drawing/2014/main" val="20001"/>
                    </a:ext>
                  </a:extLst>
                </a:gridCol>
              </a:tblGrid>
              <a:tr h="754334">
                <a:tc>
                  <a:txBody>
                    <a:bodyPr/>
                    <a:lstStyle/>
                    <a:p>
                      <a:pPr algn="ctr">
                        <a:lnSpc>
                          <a:spcPts val="3750"/>
                        </a:lnSpc>
                        <a:defRPr/>
                      </a:pPr>
                      <a:r>
                        <a:rPr lang="en-US" sz="2000" b="1" spc="12">
                          <a:solidFill>
                            <a:srgbClr val="FFFFFF"/>
                          </a:solidFill>
                          <a:latin typeface="Arial Bold"/>
                          <a:ea typeface="Arial Bold"/>
                          <a:cs typeface="Arial Bold"/>
                          <a:sym typeface="Arial Bold"/>
                        </a:rPr>
                        <a:t>HƯỚNG XỬ LÝ</a:t>
                      </a:r>
                      <a:endParaRPr lang="en-US" sz="1100"/>
                    </a:p>
                  </a:txBody>
                  <a:tcPr marL="140970" marR="140970" marT="140970" marB="14097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a:solidFill>
                            <a:srgbClr val="FFFFFF"/>
                          </a:solidFill>
                          <a:latin typeface="Arial Bold"/>
                          <a:ea typeface="Arial Bold"/>
                          <a:cs typeface="Arial Bold"/>
                          <a:sym typeface="Arial Bold"/>
                        </a:rPr>
                        <a:t>CODE/ REMARK</a:t>
                      </a:r>
                      <a:endParaRPr lang="en-US" sz="1100"/>
                    </a:p>
                  </a:txBody>
                  <a:tcPr marL="140970" marR="140970" marT="140970" marB="14097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1770220">
                <a:tc>
                  <a:txBody>
                    <a:bodyPr/>
                    <a:lstStyle/>
                    <a:p>
                      <a:pPr algn="l">
                        <a:lnSpc>
                          <a:spcPts val="2400"/>
                        </a:lnSpc>
                        <a:defRPr/>
                      </a:pPr>
                      <a:r>
                        <a:rPr lang="en-US" sz="2000" dirty="0" err="1">
                          <a:solidFill>
                            <a:srgbClr val="000000"/>
                          </a:solidFill>
                          <a:latin typeface="Arial"/>
                          <a:ea typeface="Arial"/>
                          <a:cs typeface="Arial"/>
                          <a:sym typeface="Arial"/>
                        </a:rPr>
                        <a:t>Cung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cấp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 </a:t>
                      </a:r>
                      <a:r>
                        <a:rPr lang="en-US" sz="2000" dirty="0" err="1">
                          <a:solidFill>
                            <a:srgbClr val="000000"/>
                          </a:solidFill>
                          <a:latin typeface="Arial"/>
                          <a:ea typeface="Arial"/>
                          <a:cs typeface="Arial"/>
                          <a:sym typeface="Arial"/>
                        </a:rPr>
                        <a:t>Tổng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đài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hiểm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cho</a:t>
                      </a:r>
                      <a:r>
                        <a:rPr lang="en-US" sz="2000" dirty="0">
                          <a:solidFill>
                            <a:srgbClr val="000000"/>
                          </a:solidFill>
                          <a:latin typeface="Arial"/>
                          <a:ea typeface="Arial"/>
                          <a:cs typeface="Arial"/>
                          <a:sym typeface="Arial"/>
                        </a:rPr>
                        <a:t> KH: </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đây</a:t>
                      </a:r>
                      <a:endParaRPr lang="en-US" sz="2000" b="1" i="1" u="sng" kern="1200" dirty="0">
                        <a:solidFill>
                          <a:srgbClr val="65B444"/>
                        </a:solidFill>
                        <a:latin typeface="Arial Bold Italics"/>
                        <a:cs typeface="Arial Bold Italics"/>
                      </a:endParaRPr>
                    </a:p>
                  </a:txBody>
                  <a:tcPr marL="140970" marR="140970" marT="140970" marB="14097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400"/>
                        </a:lnSpc>
                        <a:defRPr/>
                      </a:pPr>
                      <a:r>
                        <a:rPr lang="en-US" sz="2000" b="1" dirty="0">
                          <a:solidFill>
                            <a:srgbClr val="000000"/>
                          </a:solidFill>
                          <a:latin typeface="Arial Bold"/>
                          <a:ea typeface="Arial Bold"/>
                          <a:cs typeface="Arial Bold"/>
                          <a:sym typeface="Arial Bold"/>
                        </a:rPr>
                        <a:t>Code:</a:t>
                      </a:r>
                      <a:r>
                        <a:rPr lang="en-US" sz="2000" dirty="0">
                          <a:solidFill>
                            <a:srgbClr val="000000"/>
                          </a:solidFill>
                          <a:latin typeface="Arial"/>
                          <a:ea typeface="Arial"/>
                          <a:cs typeface="Arial"/>
                          <a:sym typeface="Arial"/>
                        </a:rPr>
                        <a:t> IL13-Bảo </a:t>
                      </a:r>
                      <a:r>
                        <a:rPr lang="en-US" sz="2000" dirty="0" err="1">
                          <a:solidFill>
                            <a:srgbClr val="000000"/>
                          </a:solidFill>
                          <a:latin typeface="Arial"/>
                          <a:ea typeface="Arial"/>
                          <a:cs typeface="Arial"/>
                          <a:sym typeface="Arial"/>
                        </a:rPr>
                        <a:t>hiểm</a:t>
                      </a:r>
                      <a:endParaRPr lang="en-US" sz="1100" dirty="0"/>
                    </a:p>
                    <a:p>
                      <a:pPr algn="l">
                        <a:lnSpc>
                          <a:spcPts val="2400"/>
                        </a:lnSpc>
                      </a:pPr>
                      <a:r>
                        <a:rPr lang="en-US" sz="2000" b="1" dirty="0">
                          <a:solidFill>
                            <a:srgbClr val="000000"/>
                          </a:solidFill>
                          <a:latin typeface="Arial Bold"/>
                          <a:ea typeface="Arial Bold"/>
                          <a:cs typeface="Arial Bold"/>
                          <a:sym typeface="Arial Bold"/>
                        </a:rPr>
                        <a:t>Sub:</a:t>
                      </a:r>
                      <a:r>
                        <a:rPr lang="en-US" sz="2000" dirty="0">
                          <a:solidFill>
                            <a:srgbClr val="000000"/>
                          </a:solidFill>
                          <a:latin typeface="Arial"/>
                          <a:ea typeface="Arial"/>
                          <a:cs typeface="Arial"/>
                          <a:sym typeface="Arial"/>
                        </a:rPr>
                        <a:t> IL13.01-Thông tin </a:t>
                      </a:r>
                      <a:r>
                        <a:rPr lang="en-US" sz="2000" dirty="0" err="1">
                          <a:solidFill>
                            <a:srgbClr val="000000"/>
                          </a:solidFill>
                          <a:latin typeface="Arial"/>
                          <a:ea typeface="Arial"/>
                          <a:cs typeface="Arial"/>
                          <a:sym typeface="Arial"/>
                        </a:rPr>
                        <a:t>về</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hiểm</a:t>
                      </a:r>
                      <a:endParaRPr lang="en-US" sz="2000" dirty="0">
                        <a:solidFill>
                          <a:srgbClr val="000000"/>
                        </a:solidFill>
                        <a:latin typeface="Arial"/>
                        <a:ea typeface="Arial"/>
                        <a:cs typeface="Arial"/>
                        <a:sym typeface="Arial"/>
                      </a:endParaRPr>
                    </a:p>
                  </a:txBody>
                  <a:tcPr marL="140970" marR="140970" marT="140970" marB="14097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grpSp>
        <p:nvGrpSpPr>
          <p:cNvPr id="3" name="Group 3"/>
          <p:cNvGrpSpPr/>
          <p:nvPr/>
        </p:nvGrpSpPr>
        <p:grpSpPr>
          <a:xfrm>
            <a:off x="15691018" y="9790919"/>
            <a:ext cx="2421922" cy="346996"/>
            <a:chOff x="0" y="0"/>
            <a:chExt cx="3229229" cy="462661"/>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3"/>
              <a:stretch>
                <a:fillRect l="-145" r="-145"/>
              </a:stretch>
            </a:blipFill>
          </p:spPr>
        </p:sp>
      </p:grpSp>
      <p:sp>
        <p:nvSpPr>
          <p:cNvPr id="5" name="Freeform 5"/>
          <p:cNvSpPr/>
          <p:nvPr/>
        </p:nvSpPr>
        <p:spPr>
          <a:xfrm>
            <a:off x="5859" y="-328298"/>
            <a:ext cx="18282142" cy="1306449"/>
          </a:xfrm>
          <a:custGeom>
            <a:avLst/>
            <a:gdLst/>
            <a:ahLst/>
            <a:cxnLst/>
            <a:rect l="l" t="t" r="r" b="b"/>
            <a:pathLst>
              <a:path w="20000147" h="1306449">
                <a:moveTo>
                  <a:pt x="0" y="0"/>
                </a:moveTo>
                <a:lnTo>
                  <a:pt x="20000147" y="0"/>
                </a:lnTo>
                <a:lnTo>
                  <a:pt x="20000147" y="1306449"/>
                </a:lnTo>
                <a:lnTo>
                  <a:pt x="0" y="1306449"/>
                </a:lnTo>
                <a:lnTo>
                  <a:pt x="0" y="0"/>
                </a:lnTo>
                <a:close/>
              </a:path>
            </a:pathLst>
          </a:custGeom>
          <a:blipFill>
            <a:blip r:embed="rId4">
              <a:extLst>
                <a:ext uri="{96DAC541-7B7A-43D3-8B79-37D633B846F1}">
                  <asvg:svgBlip xmlns:asvg="http://schemas.microsoft.com/office/drawing/2016/SVG/main" r:embed="rId5"/>
                </a:ext>
              </a:extLst>
            </a:blip>
            <a:stretch>
              <a:fillRect t="-300" b="-300"/>
            </a:stretch>
          </a:blipFill>
        </p:spPr>
      </p:sp>
      <p:sp>
        <p:nvSpPr>
          <p:cNvPr id="6" name="TextBox 6"/>
          <p:cNvSpPr txBox="1"/>
          <p:nvPr/>
        </p:nvSpPr>
        <p:spPr>
          <a:xfrm>
            <a:off x="3330327" y="133350"/>
            <a:ext cx="11627346" cy="663530"/>
          </a:xfrm>
          <a:prstGeom prst="rect">
            <a:avLst/>
          </a:prstGeom>
        </p:spPr>
        <p:txBody>
          <a:bodyPr lIns="0" tIns="0" rIns="0" bIns="0" rtlCol="0" anchor="t">
            <a:spAutoFit/>
          </a:bodyPr>
          <a:lstStyle/>
          <a:p>
            <a:pPr algn="ctr">
              <a:lnSpc>
                <a:spcPts val="5200"/>
              </a:lnSpc>
            </a:pPr>
            <a:r>
              <a:rPr lang="en-US" sz="3999" b="1">
                <a:solidFill>
                  <a:srgbClr val="000000"/>
                </a:solidFill>
                <a:latin typeface="Arial Bold"/>
                <a:ea typeface="Arial Bold"/>
                <a:cs typeface="Arial Bold"/>
                <a:sym typeface="Arial Bold"/>
              </a:rPr>
              <a:t>LOẠI BẢO HIỂM – KH BIẾT CÔNG TY BẢO HIỂM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786218" y="1951000"/>
          <a:ext cx="16715564" cy="3542099"/>
        </p:xfrm>
        <a:graphic>
          <a:graphicData uri="http://schemas.openxmlformats.org/drawingml/2006/table">
            <a:tbl>
              <a:tblPr/>
              <a:tblGrid>
                <a:gridCol w="6598262">
                  <a:extLst>
                    <a:ext uri="{9D8B030D-6E8A-4147-A177-3AD203B41FA5}">
                      <a16:colId xmlns:a16="http://schemas.microsoft.com/office/drawing/2014/main" val="20000"/>
                    </a:ext>
                  </a:extLst>
                </a:gridCol>
                <a:gridCol w="3244749">
                  <a:extLst>
                    <a:ext uri="{9D8B030D-6E8A-4147-A177-3AD203B41FA5}">
                      <a16:colId xmlns:a16="http://schemas.microsoft.com/office/drawing/2014/main" val="20001"/>
                    </a:ext>
                  </a:extLst>
                </a:gridCol>
                <a:gridCol w="6872553">
                  <a:extLst>
                    <a:ext uri="{9D8B030D-6E8A-4147-A177-3AD203B41FA5}">
                      <a16:colId xmlns:a16="http://schemas.microsoft.com/office/drawing/2014/main" val="20002"/>
                    </a:ext>
                  </a:extLst>
                </a:gridCol>
              </a:tblGrid>
              <a:tr h="779914">
                <a:tc>
                  <a:txBody>
                    <a:bodyPr/>
                    <a:lstStyle/>
                    <a:p>
                      <a:pPr algn="ctr">
                        <a:lnSpc>
                          <a:spcPts val="3750"/>
                        </a:lnSpc>
                        <a:defRPr/>
                      </a:pPr>
                      <a:r>
                        <a:rPr lang="en-US" sz="2000" b="1" spc="12">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a:solidFill>
                            <a:srgbClr val="FFFFFF"/>
                          </a:solidFill>
                          <a:latin typeface="Arial Bold"/>
                          <a:ea typeface="Arial Bold"/>
                          <a:cs typeface="Arial Bold"/>
                          <a:sym typeface="Arial Bold"/>
                        </a:rPr>
                        <a:t>TAT</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a:solidFill>
                            <a:srgbClr val="FFFFFF"/>
                          </a:solidFill>
                          <a:latin typeface="Arial Bold"/>
                          <a:ea typeface="Arial Bold"/>
                          <a:cs typeface="Arial Bold"/>
                          <a:sym typeface="Arial Bold"/>
                        </a:rPr>
                        <a:t>CODE/ REMARK</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2762185">
                <a:tc>
                  <a:txBody>
                    <a:bodyPr/>
                    <a:lstStyle/>
                    <a:p>
                      <a:pPr algn="l">
                        <a:lnSpc>
                          <a:spcPts val="2400"/>
                        </a:lnSpc>
                        <a:defRPr/>
                      </a:pPr>
                      <a:r>
                        <a:rPr lang="en-US" sz="2000">
                          <a:solidFill>
                            <a:srgbClr val="000000"/>
                          </a:solidFill>
                          <a:latin typeface="Arial"/>
                          <a:ea typeface="Arial"/>
                          <a:cs typeface="Arial"/>
                          <a:sym typeface="Arial"/>
                        </a:rPr>
                        <a:t>CS khai thác:</a:t>
                      </a:r>
                      <a:endParaRPr lang="en-US" sz="1100"/>
                    </a:p>
                    <a:p>
                      <a:pPr marL="431801" lvl="1" indent="-215900" algn="l">
                        <a:lnSpc>
                          <a:spcPts val="2400"/>
                        </a:lnSpc>
                        <a:buFont typeface="Arial"/>
                        <a:buChar char="•"/>
                      </a:pPr>
                      <a:r>
                        <a:rPr lang="en-US" sz="2000">
                          <a:solidFill>
                            <a:srgbClr val="000000"/>
                          </a:solidFill>
                          <a:latin typeface="Arial"/>
                          <a:ea typeface="Arial"/>
                          <a:cs typeface="Arial"/>
                          <a:sym typeface="Arial"/>
                        </a:rPr>
                        <a:t>Tên KH</a:t>
                      </a:r>
                    </a:p>
                    <a:p>
                      <a:pPr marL="431801" lvl="1" indent="-215900" algn="l">
                        <a:lnSpc>
                          <a:spcPts val="2400"/>
                        </a:lnSpc>
                        <a:buFont typeface="Arial"/>
                        <a:buChar char="•"/>
                      </a:pPr>
                      <a:r>
                        <a:rPr lang="en-US" sz="2000">
                          <a:solidFill>
                            <a:srgbClr val="000000"/>
                          </a:solidFill>
                          <a:latin typeface="Arial"/>
                          <a:ea typeface="Arial"/>
                          <a:cs typeface="Arial"/>
                          <a:sym typeface="Arial"/>
                        </a:rPr>
                        <a:t>SĐT liên hệ</a:t>
                      </a:r>
                    </a:p>
                    <a:p>
                      <a:pPr marL="431801" lvl="1" indent="-215900" algn="l">
                        <a:lnSpc>
                          <a:spcPts val="2400"/>
                        </a:lnSpc>
                        <a:buFont typeface="Arial"/>
                        <a:buChar char="•"/>
                      </a:pPr>
                      <a:r>
                        <a:rPr lang="en-US" sz="2000">
                          <a:solidFill>
                            <a:srgbClr val="000000"/>
                          </a:solidFill>
                          <a:latin typeface="Arial"/>
                          <a:ea typeface="Arial"/>
                          <a:cs typeface="Arial"/>
                          <a:sym typeface="Arial"/>
                        </a:rPr>
                        <a:t>Nội dung KH cần hỗ trợ</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2400"/>
                        </a:lnSpc>
                        <a:defRPr/>
                      </a:pPr>
                      <a:r>
                        <a:rPr lang="en-US" sz="2000">
                          <a:solidFill>
                            <a:srgbClr val="000000"/>
                          </a:solidFill>
                          <a:latin typeface="Arial"/>
                          <a:ea typeface="Arial"/>
                          <a:cs typeface="Arial"/>
                          <a:sym typeface="Arial"/>
                        </a:rPr>
                        <a:t>4 ngày làm việc</a:t>
                      </a:r>
                      <a:endParaRPr lang="en-US" sz="1100"/>
                    </a:p>
                    <a:p>
                      <a:pPr algn="ctr">
                        <a:lnSpc>
                          <a:spcPts val="2400"/>
                        </a:lnSpc>
                      </a:pPr>
                      <a:r>
                        <a:rPr lang="en-US" sz="2000">
                          <a:solidFill>
                            <a:srgbClr val="000000"/>
                          </a:solidFill>
                          <a:latin typeface="Arial"/>
                          <a:ea typeface="Arial"/>
                          <a:cs typeface="Arial"/>
                          <a:sym typeface="Arial"/>
                        </a:rPr>
                        <a:t>(có nhân viên liên hệ)</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400"/>
                        </a:lnSpc>
                        <a:defRPr/>
                      </a:pPr>
                      <a:r>
                        <a:rPr lang="en-US" sz="2000" b="1">
                          <a:solidFill>
                            <a:srgbClr val="000000"/>
                          </a:solidFill>
                          <a:latin typeface="Arial Bold"/>
                          <a:ea typeface="Arial Bold"/>
                          <a:cs typeface="Arial Bold"/>
                          <a:sym typeface="Arial Bold"/>
                        </a:rPr>
                        <a:t>Code:</a:t>
                      </a:r>
                      <a:r>
                        <a:rPr lang="en-US" sz="2000">
                          <a:solidFill>
                            <a:srgbClr val="000000"/>
                          </a:solidFill>
                          <a:latin typeface="Arial"/>
                          <a:ea typeface="Arial"/>
                          <a:cs typeface="Arial"/>
                          <a:sym typeface="Arial"/>
                        </a:rPr>
                        <a:t> RL07-Tình trạng xử lý hồ sơ bảo hiểm</a:t>
                      </a:r>
                      <a:endParaRPr lang="en-US" sz="1100"/>
                    </a:p>
                    <a:p>
                      <a:pPr algn="l">
                        <a:lnSpc>
                          <a:spcPts val="2400"/>
                        </a:lnSpc>
                      </a:pPr>
                      <a:r>
                        <a:rPr lang="en-US" sz="2000" b="1">
                          <a:solidFill>
                            <a:srgbClr val="000000"/>
                          </a:solidFill>
                          <a:latin typeface="Arial Bold"/>
                          <a:ea typeface="Arial Bold"/>
                          <a:cs typeface="Arial Bold"/>
                          <a:sym typeface="Arial Bold"/>
                        </a:rPr>
                        <a:t>Sub:</a:t>
                      </a:r>
                      <a:r>
                        <a:rPr lang="en-US" sz="2000">
                          <a:solidFill>
                            <a:srgbClr val="000000"/>
                          </a:solidFill>
                          <a:latin typeface="Arial"/>
                          <a:ea typeface="Arial"/>
                          <a:cs typeface="Arial"/>
                          <a:sym typeface="Arial"/>
                        </a:rPr>
                        <a:t> RL07.03-Kiểm tra loại bảo hiểm</a:t>
                      </a:r>
                    </a:p>
                    <a:p>
                      <a:pPr algn="l">
                        <a:lnSpc>
                          <a:spcPts val="2400"/>
                        </a:lnSpc>
                      </a:pPr>
                      <a:r>
                        <a:rPr lang="en-US" sz="2000" b="1">
                          <a:solidFill>
                            <a:srgbClr val="000000"/>
                          </a:solidFill>
                          <a:latin typeface="Arial Bold"/>
                          <a:ea typeface="Arial Bold"/>
                          <a:cs typeface="Arial Bold"/>
                          <a:sym typeface="Arial Bold"/>
                        </a:rPr>
                        <a:t>Properties:</a:t>
                      </a:r>
                      <a:r>
                        <a:rPr lang="en-US" sz="2000">
                          <a:solidFill>
                            <a:srgbClr val="000000"/>
                          </a:solidFill>
                          <a:latin typeface="Arial"/>
                          <a:ea typeface="Arial"/>
                          <a:cs typeface="Arial"/>
                          <a:sym typeface="Arial"/>
                        </a:rPr>
                        <a:t> nhập theo yêu cầu</a:t>
                      </a:r>
                    </a:p>
                    <a:p>
                      <a:pPr algn="l">
                        <a:lnSpc>
                          <a:spcPts val="2400"/>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nội dung hỗ trợ</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grpSp>
        <p:nvGrpSpPr>
          <p:cNvPr id="3" name="Group 3"/>
          <p:cNvGrpSpPr/>
          <p:nvPr/>
        </p:nvGrpSpPr>
        <p:grpSpPr>
          <a:xfrm>
            <a:off x="15691018" y="9790919"/>
            <a:ext cx="2421922" cy="346996"/>
            <a:chOff x="0" y="0"/>
            <a:chExt cx="3229229" cy="462661"/>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145" r="-145"/>
              </a:stretch>
            </a:blipFill>
          </p:spPr>
        </p:sp>
      </p:grpSp>
      <p:sp>
        <p:nvSpPr>
          <p:cNvPr id="5" name="Freeform 5"/>
          <p:cNvSpPr/>
          <p:nvPr/>
        </p:nvSpPr>
        <p:spPr>
          <a:xfrm>
            <a:off x="5859" y="-328298"/>
            <a:ext cx="18282142" cy="1306449"/>
          </a:xfrm>
          <a:custGeom>
            <a:avLst/>
            <a:gdLst/>
            <a:ahLst/>
            <a:cxnLst/>
            <a:rect l="l" t="t" r="r" b="b"/>
            <a:pathLst>
              <a:path w="20000147" h="1306449">
                <a:moveTo>
                  <a:pt x="0" y="0"/>
                </a:moveTo>
                <a:lnTo>
                  <a:pt x="20000147" y="0"/>
                </a:lnTo>
                <a:lnTo>
                  <a:pt x="20000147"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t="-300" b="-300"/>
            </a:stretch>
          </a:blipFill>
        </p:spPr>
      </p:sp>
      <p:sp>
        <p:nvSpPr>
          <p:cNvPr id="6" name="TextBox 6"/>
          <p:cNvSpPr txBox="1"/>
          <p:nvPr/>
        </p:nvSpPr>
        <p:spPr>
          <a:xfrm>
            <a:off x="2314426" y="133350"/>
            <a:ext cx="13659148" cy="663530"/>
          </a:xfrm>
          <a:prstGeom prst="rect">
            <a:avLst/>
          </a:prstGeom>
        </p:spPr>
        <p:txBody>
          <a:bodyPr lIns="0" tIns="0" rIns="0" bIns="0" rtlCol="0" anchor="t">
            <a:spAutoFit/>
          </a:bodyPr>
          <a:lstStyle/>
          <a:p>
            <a:pPr algn="ctr">
              <a:lnSpc>
                <a:spcPts val="5200"/>
              </a:lnSpc>
            </a:pPr>
            <a:r>
              <a:rPr lang="en-US" sz="3999" b="1">
                <a:solidFill>
                  <a:srgbClr val="000000"/>
                </a:solidFill>
                <a:latin typeface="Arial Bold"/>
                <a:ea typeface="Arial Bold"/>
                <a:cs typeface="Arial Bold"/>
                <a:sym typeface="Arial Bold"/>
              </a:rPr>
              <a:t>LOẠI BẢO HIỂM – KH KHÔNG BIẾT CÔNG TY BẢO HIỂM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1633638949"/>
              </p:ext>
            </p:extLst>
          </p:nvPr>
        </p:nvGraphicFramePr>
        <p:xfrm>
          <a:off x="2426415" y="1257757"/>
          <a:ext cx="13435169" cy="8524879"/>
        </p:xfrm>
        <a:graphic>
          <a:graphicData uri="http://schemas.openxmlformats.org/drawingml/2006/table">
            <a:tbl>
              <a:tblPr/>
              <a:tblGrid>
                <a:gridCol w="4392825">
                  <a:extLst>
                    <a:ext uri="{9D8B030D-6E8A-4147-A177-3AD203B41FA5}">
                      <a16:colId xmlns:a16="http://schemas.microsoft.com/office/drawing/2014/main" val="20000"/>
                    </a:ext>
                  </a:extLst>
                </a:gridCol>
                <a:gridCol w="3959866">
                  <a:extLst>
                    <a:ext uri="{9D8B030D-6E8A-4147-A177-3AD203B41FA5}">
                      <a16:colId xmlns:a16="http://schemas.microsoft.com/office/drawing/2014/main" val="20001"/>
                    </a:ext>
                  </a:extLst>
                </a:gridCol>
                <a:gridCol w="5082478">
                  <a:extLst>
                    <a:ext uri="{9D8B030D-6E8A-4147-A177-3AD203B41FA5}">
                      <a16:colId xmlns:a16="http://schemas.microsoft.com/office/drawing/2014/main" val="20002"/>
                    </a:ext>
                  </a:extLst>
                </a:gridCol>
              </a:tblGrid>
              <a:tr h="774989">
                <a:tc>
                  <a:txBody>
                    <a:bodyPr/>
                    <a:lstStyle/>
                    <a:p>
                      <a:pPr algn="ctr">
                        <a:lnSpc>
                          <a:spcPts val="3750"/>
                        </a:lnSpc>
                        <a:defRPr/>
                      </a:pPr>
                      <a:r>
                        <a:rPr lang="en-US" sz="2000" b="1" spc="12">
                          <a:solidFill>
                            <a:srgbClr val="FFFFFF"/>
                          </a:solidFill>
                          <a:latin typeface="Arial Bold"/>
                          <a:ea typeface="Arial Bold"/>
                          <a:cs typeface="Arial Bold"/>
                          <a:sym typeface="Arial Bold"/>
                        </a:rPr>
                        <a:t>CÔNG TY BẢO HIỂM</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a:solidFill>
                            <a:srgbClr val="FFFFFF"/>
                          </a:solidFill>
                          <a:latin typeface="Arial Bold"/>
                          <a:ea typeface="Arial Bold"/>
                          <a:cs typeface="Arial Bold"/>
                          <a:sym typeface="Arial Bold"/>
                        </a:rPr>
                        <a:t>TÀI LIỆU</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a:solidFill>
                            <a:srgbClr val="FFFFFF"/>
                          </a:solidFill>
                          <a:latin typeface="Arial Bold"/>
                          <a:ea typeface="Arial Bold"/>
                          <a:cs typeface="Arial Bold"/>
                          <a:sym typeface="Arial Bold"/>
                        </a:rPr>
                        <a:t>CODE/ REMARK</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774989">
                <a:tc>
                  <a:txBody>
                    <a:bodyPr/>
                    <a:lstStyle/>
                    <a:p>
                      <a:pPr algn="ctr">
                        <a:lnSpc>
                          <a:spcPts val="2400"/>
                        </a:lnSpc>
                        <a:defRPr/>
                      </a:pPr>
                      <a:r>
                        <a:rPr lang="en-US" sz="2000" b="1">
                          <a:solidFill>
                            <a:srgbClr val="000000"/>
                          </a:solidFill>
                          <a:latin typeface="Arial Bold"/>
                          <a:ea typeface="Arial Bold"/>
                          <a:cs typeface="Arial Bold"/>
                          <a:sym typeface="Arial Bold"/>
                        </a:rPr>
                        <a:t>VASS</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0" algn="ctr" defTabSz="914400" rtl="0" eaLnBrk="1" latinLnBrk="0" hangingPunct="1">
                        <a:lnSpc>
                          <a:spcPts val="2400"/>
                        </a:lnSpc>
                        <a:defRPr/>
                      </a:pP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đây</a:t>
                      </a:r>
                      <a:endParaRPr lang="en-US" sz="2000" b="1" i="1" u="sng" kern="1200" dirty="0">
                        <a:solidFill>
                          <a:srgbClr val="65B444"/>
                        </a:solidFill>
                        <a:latin typeface="Arial Bold Italics"/>
                        <a:cs typeface="Arial Bold Italics"/>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rowSpan="10">
                  <a:txBody>
                    <a:bodyPr/>
                    <a:lstStyle/>
                    <a:p>
                      <a:pPr algn="l">
                        <a:lnSpc>
                          <a:spcPts val="2665"/>
                        </a:lnSpc>
                        <a:defRPr/>
                      </a:pPr>
                      <a:r>
                        <a:rPr lang="en-US" sz="2000" b="1" dirty="0">
                          <a:solidFill>
                            <a:srgbClr val="000000"/>
                          </a:solidFill>
                          <a:latin typeface="Arial Bold"/>
                          <a:ea typeface="Arial Bold"/>
                          <a:cs typeface="Arial Bold"/>
                          <a:sym typeface="Arial Bold"/>
                        </a:rPr>
                        <a:t>Code: </a:t>
                      </a:r>
                      <a:r>
                        <a:rPr lang="en-US" sz="2000" dirty="0">
                          <a:solidFill>
                            <a:srgbClr val="000000"/>
                          </a:solidFill>
                          <a:latin typeface="Arial"/>
                          <a:ea typeface="Arial"/>
                          <a:cs typeface="Arial"/>
                          <a:sym typeface="Arial"/>
                        </a:rPr>
                        <a:t>IL13-Bảo </a:t>
                      </a:r>
                      <a:r>
                        <a:rPr lang="en-US" sz="2000" dirty="0" err="1">
                          <a:solidFill>
                            <a:srgbClr val="000000"/>
                          </a:solidFill>
                          <a:latin typeface="Arial"/>
                          <a:ea typeface="Arial"/>
                          <a:cs typeface="Arial"/>
                          <a:sym typeface="Arial"/>
                        </a:rPr>
                        <a:t>hiểm</a:t>
                      </a:r>
                      <a:endParaRPr lang="en-US" sz="1100" dirty="0"/>
                    </a:p>
                    <a:p>
                      <a:pPr algn="l">
                        <a:lnSpc>
                          <a:spcPts val="2665"/>
                        </a:lnSpc>
                      </a:pPr>
                      <a:r>
                        <a:rPr lang="en-US" sz="2000" b="1" dirty="0">
                          <a:solidFill>
                            <a:srgbClr val="000000"/>
                          </a:solidFill>
                          <a:latin typeface="Arial Bold"/>
                          <a:ea typeface="Arial Bold"/>
                          <a:cs typeface="Arial Bold"/>
                          <a:sym typeface="Arial Bold"/>
                        </a:rPr>
                        <a:t>Sub:</a:t>
                      </a:r>
                      <a:r>
                        <a:rPr lang="en-US" sz="2000" dirty="0">
                          <a:solidFill>
                            <a:srgbClr val="000000"/>
                          </a:solidFill>
                          <a:latin typeface="Arial"/>
                          <a:ea typeface="Arial"/>
                          <a:cs typeface="Arial"/>
                          <a:sym typeface="Arial"/>
                        </a:rPr>
                        <a:t> IL13.01-Thông tin </a:t>
                      </a:r>
                      <a:r>
                        <a:rPr lang="en-US" sz="2000" dirty="0" err="1">
                          <a:solidFill>
                            <a:srgbClr val="000000"/>
                          </a:solidFill>
                          <a:latin typeface="Arial"/>
                          <a:ea typeface="Arial"/>
                          <a:cs typeface="Arial"/>
                          <a:sym typeface="Arial"/>
                        </a:rPr>
                        <a:t>về</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hiểm</a:t>
                      </a:r>
                      <a:endParaRPr lang="en-US" sz="2000" dirty="0">
                        <a:solidFill>
                          <a:srgbClr val="000000"/>
                        </a:solidFill>
                        <a:latin typeface="Arial"/>
                        <a:ea typeface="Arial"/>
                        <a:cs typeface="Arial"/>
                        <a:sym typeface="Arial"/>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774989">
                <a:tc>
                  <a:txBody>
                    <a:bodyPr/>
                    <a:lstStyle/>
                    <a:p>
                      <a:pPr algn="ctr">
                        <a:lnSpc>
                          <a:spcPts val="2400"/>
                        </a:lnSpc>
                        <a:defRPr/>
                      </a:pPr>
                      <a:r>
                        <a:rPr lang="en-US" sz="2000" b="1">
                          <a:solidFill>
                            <a:srgbClr val="000000"/>
                          </a:solidFill>
                          <a:latin typeface="Arial Bold"/>
                          <a:ea typeface="Arial Bold"/>
                          <a:cs typeface="Arial Bold"/>
                          <a:sym typeface="Arial Bold"/>
                        </a:rPr>
                        <a:t>OPES</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0" algn="ctr" defTabSz="914400" rtl="0" eaLnBrk="1" latinLnBrk="0" hangingPunct="1">
                        <a:lnSpc>
                          <a:spcPts val="2400"/>
                        </a:lnSpc>
                        <a:defRPr/>
                      </a:pPr>
                      <a:r>
                        <a:rPr lang="en-US" sz="2000" b="1" i="1" u="sng" kern="1200" dirty="0" err="1">
                          <a:solidFill>
                            <a:srgbClr val="65B444"/>
                          </a:solidFill>
                          <a:latin typeface="Arial Bold Italics"/>
                          <a:ea typeface="Arial Bold Italics"/>
                          <a:cs typeface="Arial Bold Italics"/>
                          <a:sym typeface="Arial Bold Italics"/>
                          <a:hlinkClick r:id="rId3"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3"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3"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3"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3" action="ppaction://hlinkfile">
                            <a:extLst>
                              <a:ext uri="{A12FA001-AC4F-418D-AE19-62706E023703}">
                                <ahyp:hlinkClr xmlns:ahyp="http://schemas.microsoft.com/office/drawing/2018/hyperlinkcolor" val="tx"/>
                              </a:ext>
                            </a:extLst>
                          </a:hlinkClick>
                        </a:rPr>
                        <a:t>đây</a:t>
                      </a:r>
                      <a:endParaRPr lang="en-US" sz="2000" b="1" i="1" u="sng" kern="1200" dirty="0">
                        <a:solidFill>
                          <a:srgbClr val="65B444"/>
                        </a:solidFill>
                        <a:latin typeface="Arial Bold Italics"/>
                        <a:cs typeface="Arial Bold Italics"/>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2665"/>
                        </a:lnSpc>
                        <a:defRPr/>
                      </a:pPr>
                      <a:r>
                        <a:rPr lang="en-US" sz="2000" b="1">
                          <a:solidFill>
                            <a:srgbClr val="000000"/>
                          </a:solidFill>
                          <a:latin typeface="Arial Bold"/>
                          <a:ea typeface="Arial Bold"/>
                          <a:cs typeface="Arial Bold"/>
                          <a:sym typeface="Arial Bold"/>
                        </a:rPr>
                        <a:t>Code: </a:t>
                      </a:r>
                      <a:r>
                        <a:rPr lang="en-US" sz="2000">
                          <a:solidFill>
                            <a:srgbClr val="000000"/>
                          </a:solidFill>
                          <a:latin typeface="Arial"/>
                          <a:ea typeface="Arial"/>
                          <a:cs typeface="Arial"/>
                          <a:sym typeface="Arial"/>
                        </a:rPr>
                        <a:t>IL13-Bảo hiểm</a:t>
                      </a:r>
                      <a:endParaRPr lang="en-US" sz="1100"/>
                    </a:p>
                    <a:p>
                      <a:pPr algn="l">
                        <a:lnSpc>
                          <a:spcPts val="2665"/>
                        </a:lnSpc>
                      </a:pPr>
                      <a:r>
                        <a:rPr lang="en-US" sz="2000" b="1">
                          <a:solidFill>
                            <a:srgbClr val="000000"/>
                          </a:solidFill>
                          <a:latin typeface="Arial Bold"/>
                          <a:ea typeface="Arial Bold"/>
                          <a:cs typeface="Arial Bold"/>
                          <a:sym typeface="Arial Bold"/>
                        </a:rPr>
                        <a:t>Sub:</a:t>
                      </a:r>
                      <a:r>
                        <a:rPr lang="en-US" sz="2000">
                          <a:solidFill>
                            <a:srgbClr val="000000"/>
                          </a:solidFill>
                          <a:latin typeface="Arial"/>
                          <a:ea typeface="Arial"/>
                          <a:cs typeface="Arial"/>
                          <a:sym typeface="Arial"/>
                        </a:rPr>
                        <a:t> IL13.01-Thông tin về bảo hiểm</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r h="774989">
                <a:tc>
                  <a:txBody>
                    <a:bodyPr/>
                    <a:lstStyle/>
                    <a:p>
                      <a:pPr algn="ctr">
                        <a:lnSpc>
                          <a:spcPts val="2400"/>
                        </a:lnSpc>
                        <a:defRPr/>
                      </a:pPr>
                      <a:r>
                        <a:rPr lang="en-US" sz="2000" b="1" dirty="0">
                          <a:solidFill>
                            <a:srgbClr val="000000"/>
                          </a:solidFill>
                          <a:latin typeface="Arial Bold"/>
                          <a:ea typeface="Arial Bold"/>
                          <a:cs typeface="Arial Bold"/>
                          <a:sym typeface="Arial Bold"/>
                        </a:rPr>
                        <a:t>PJICO</a:t>
                      </a:r>
                      <a:endParaRPr lang="en-US" sz="1100" dirty="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0" algn="ctr" defTabSz="914400" rtl="0" eaLnBrk="1" latinLnBrk="0" hangingPunct="1">
                        <a:lnSpc>
                          <a:spcPts val="2400"/>
                        </a:lnSpc>
                        <a:defRPr/>
                      </a:pPr>
                      <a:r>
                        <a:rPr lang="en-US" sz="2000" b="1" i="1" u="sng" kern="1200" dirty="0" err="1">
                          <a:solidFill>
                            <a:srgbClr val="65B444"/>
                          </a:solidFill>
                          <a:latin typeface="Arial Bold Italics"/>
                          <a:ea typeface="Arial Bold Italics"/>
                          <a:cs typeface="Arial Bold Italics"/>
                          <a:sym typeface="Arial Bold Italics"/>
                          <a:hlinkClick r:id="rId4"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4"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4"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4"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4" action="ppaction://hlinkfile">
                            <a:extLst>
                              <a:ext uri="{A12FA001-AC4F-418D-AE19-62706E023703}">
                                <ahyp:hlinkClr xmlns:ahyp="http://schemas.microsoft.com/office/drawing/2018/hyperlinkcolor" val="tx"/>
                              </a:ext>
                            </a:extLst>
                          </a:hlinkClick>
                        </a:rPr>
                        <a:t>đây</a:t>
                      </a:r>
                      <a:endParaRPr lang="en-US" sz="2000" b="1" i="1" u="sng" kern="1200" dirty="0">
                        <a:solidFill>
                          <a:srgbClr val="65B444"/>
                        </a:solidFill>
                        <a:latin typeface="Arial Bold Italics"/>
                        <a:cs typeface="Arial Bold Italics"/>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2665"/>
                        </a:lnSpc>
                        <a:defRPr/>
                      </a:pPr>
                      <a:r>
                        <a:rPr lang="en-US" sz="2000" b="1">
                          <a:solidFill>
                            <a:srgbClr val="000000"/>
                          </a:solidFill>
                          <a:latin typeface="Arial Bold"/>
                          <a:ea typeface="Arial Bold"/>
                          <a:cs typeface="Arial Bold"/>
                          <a:sym typeface="Arial Bold"/>
                        </a:rPr>
                        <a:t>Code: </a:t>
                      </a:r>
                      <a:r>
                        <a:rPr lang="en-US" sz="2000">
                          <a:solidFill>
                            <a:srgbClr val="000000"/>
                          </a:solidFill>
                          <a:latin typeface="Arial"/>
                          <a:ea typeface="Arial"/>
                          <a:cs typeface="Arial"/>
                          <a:sym typeface="Arial"/>
                        </a:rPr>
                        <a:t>IL13-Bảo hiểm</a:t>
                      </a:r>
                      <a:endParaRPr lang="en-US" sz="1100"/>
                    </a:p>
                    <a:p>
                      <a:pPr algn="l">
                        <a:lnSpc>
                          <a:spcPts val="2665"/>
                        </a:lnSpc>
                      </a:pPr>
                      <a:r>
                        <a:rPr lang="en-US" sz="2000" b="1">
                          <a:solidFill>
                            <a:srgbClr val="000000"/>
                          </a:solidFill>
                          <a:latin typeface="Arial Bold"/>
                          <a:ea typeface="Arial Bold"/>
                          <a:cs typeface="Arial Bold"/>
                          <a:sym typeface="Arial Bold"/>
                        </a:rPr>
                        <a:t>Sub:</a:t>
                      </a:r>
                      <a:r>
                        <a:rPr lang="en-US" sz="2000">
                          <a:solidFill>
                            <a:srgbClr val="000000"/>
                          </a:solidFill>
                          <a:latin typeface="Arial"/>
                          <a:ea typeface="Arial"/>
                          <a:cs typeface="Arial"/>
                          <a:sym typeface="Arial"/>
                        </a:rPr>
                        <a:t> IL13.01-Thông tin về bảo hiểm</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3"/>
                  </a:ext>
                </a:extLst>
              </a:tr>
              <a:tr h="774989">
                <a:tc>
                  <a:txBody>
                    <a:bodyPr/>
                    <a:lstStyle/>
                    <a:p>
                      <a:pPr algn="ctr">
                        <a:lnSpc>
                          <a:spcPts val="2400"/>
                        </a:lnSpc>
                        <a:defRPr/>
                      </a:pPr>
                      <a:r>
                        <a:rPr lang="en-US" sz="2000" b="1">
                          <a:solidFill>
                            <a:srgbClr val="000000"/>
                          </a:solidFill>
                          <a:latin typeface="Arial Bold"/>
                          <a:ea typeface="Arial Bold"/>
                          <a:cs typeface="Arial Bold"/>
                          <a:sym typeface="Arial Bold"/>
                        </a:rPr>
                        <a:t>PTI</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0" algn="ctr" defTabSz="914400" rtl="0" eaLnBrk="1" latinLnBrk="0" hangingPunct="1">
                        <a:lnSpc>
                          <a:spcPts val="2400"/>
                        </a:lnSpc>
                        <a:defRPr/>
                      </a:pPr>
                      <a:r>
                        <a:rPr lang="en-US" sz="2000" b="1" i="1" u="sng" kern="1200" dirty="0" err="1">
                          <a:solidFill>
                            <a:srgbClr val="65B444"/>
                          </a:solidFill>
                          <a:latin typeface="Arial Bold Italics"/>
                          <a:ea typeface="Arial Bold Italics"/>
                          <a:cs typeface="Arial Bold Italics"/>
                          <a:sym typeface="Arial Bold Italics"/>
                          <a:hlinkClick r:id="rId5"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5"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5"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5"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5" action="ppaction://hlinkfile">
                            <a:extLst>
                              <a:ext uri="{A12FA001-AC4F-418D-AE19-62706E023703}">
                                <ahyp:hlinkClr xmlns:ahyp="http://schemas.microsoft.com/office/drawing/2018/hyperlinkcolor" val="tx"/>
                              </a:ext>
                            </a:extLst>
                          </a:hlinkClick>
                        </a:rPr>
                        <a:t>đây</a:t>
                      </a:r>
                      <a:endParaRPr lang="en-US" sz="2000" b="1" i="1" u="sng" kern="1200" dirty="0">
                        <a:solidFill>
                          <a:srgbClr val="65B444"/>
                        </a:solidFill>
                        <a:latin typeface="Arial Bold Italics"/>
                        <a:cs typeface="Arial Bold Italics"/>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2665"/>
                        </a:lnSpc>
                        <a:defRPr/>
                      </a:pPr>
                      <a:r>
                        <a:rPr lang="en-US" sz="2000" b="1">
                          <a:solidFill>
                            <a:srgbClr val="000000"/>
                          </a:solidFill>
                          <a:latin typeface="Arial Bold"/>
                          <a:ea typeface="Arial Bold"/>
                          <a:cs typeface="Arial Bold"/>
                          <a:sym typeface="Arial Bold"/>
                        </a:rPr>
                        <a:t>Code: </a:t>
                      </a:r>
                      <a:r>
                        <a:rPr lang="en-US" sz="2000">
                          <a:solidFill>
                            <a:srgbClr val="000000"/>
                          </a:solidFill>
                          <a:latin typeface="Arial"/>
                          <a:ea typeface="Arial"/>
                          <a:cs typeface="Arial"/>
                          <a:sym typeface="Arial"/>
                        </a:rPr>
                        <a:t>IL13-Bảo hiểm</a:t>
                      </a:r>
                      <a:endParaRPr lang="en-US" sz="1100"/>
                    </a:p>
                    <a:p>
                      <a:pPr algn="l">
                        <a:lnSpc>
                          <a:spcPts val="2665"/>
                        </a:lnSpc>
                      </a:pPr>
                      <a:r>
                        <a:rPr lang="en-US" sz="2000" b="1">
                          <a:solidFill>
                            <a:srgbClr val="000000"/>
                          </a:solidFill>
                          <a:latin typeface="Arial Bold"/>
                          <a:ea typeface="Arial Bold"/>
                          <a:cs typeface="Arial Bold"/>
                          <a:sym typeface="Arial Bold"/>
                        </a:rPr>
                        <a:t>Sub:</a:t>
                      </a:r>
                      <a:r>
                        <a:rPr lang="en-US" sz="2000">
                          <a:solidFill>
                            <a:srgbClr val="000000"/>
                          </a:solidFill>
                          <a:latin typeface="Arial"/>
                          <a:ea typeface="Arial"/>
                          <a:cs typeface="Arial"/>
                          <a:sym typeface="Arial"/>
                        </a:rPr>
                        <a:t> IL13.01-Thông tin về bảo hiểm</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4"/>
                  </a:ext>
                </a:extLst>
              </a:tr>
              <a:tr h="774989">
                <a:tc>
                  <a:txBody>
                    <a:bodyPr/>
                    <a:lstStyle/>
                    <a:p>
                      <a:pPr algn="ctr">
                        <a:lnSpc>
                          <a:spcPts val="2400"/>
                        </a:lnSpc>
                        <a:defRPr/>
                      </a:pPr>
                      <a:r>
                        <a:rPr lang="en-US" sz="2000" b="1">
                          <a:solidFill>
                            <a:srgbClr val="000000"/>
                          </a:solidFill>
                          <a:latin typeface="Arial Bold"/>
                          <a:ea typeface="Arial Bold"/>
                          <a:cs typeface="Arial Bold"/>
                          <a:sym typeface="Arial Bold"/>
                        </a:rPr>
                        <a:t>MIC</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0" algn="ctr" defTabSz="914400" rtl="0" eaLnBrk="1" latinLnBrk="0" hangingPunct="1">
                        <a:lnSpc>
                          <a:spcPts val="2400"/>
                        </a:lnSpc>
                        <a:defRPr/>
                      </a:pPr>
                      <a:r>
                        <a:rPr lang="en-US" sz="2000" b="1" i="1" u="sng" kern="1200" dirty="0" err="1">
                          <a:solidFill>
                            <a:srgbClr val="65B444"/>
                          </a:solidFill>
                          <a:latin typeface="Arial Bold Italics"/>
                          <a:ea typeface="Arial Bold Italics"/>
                          <a:cs typeface="Arial Bold Italics"/>
                          <a:sym typeface="Arial Bold Italics"/>
                          <a:hlinkClick r:id="rId6"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6"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6"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6"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6" action="ppaction://hlinkfile">
                            <a:extLst>
                              <a:ext uri="{A12FA001-AC4F-418D-AE19-62706E023703}">
                                <ahyp:hlinkClr xmlns:ahyp="http://schemas.microsoft.com/office/drawing/2018/hyperlinkcolor" val="tx"/>
                              </a:ext>
                            </a:extLst>
                          </a:hlinkClick>
                        </a:rPr>
                        <a:t>đây</a:t>
                      </a:r>
                      <a:endParaRPr lang="en-US" sz="2000" b="1" i="1" u="sng" kern="1200" dirty="0">
                        <a:solidFill>
                          <a:srgbClr val="65B444"/>
                        </a:solidFill>
                        <a:latin typeface="Arial Bold Italics"/>
                        <a:cs typeface="Arial Bold Italics"/>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2665"/>
                        </a:lnSpc>
                        <a:defRPr/>
                      </a:pPr>
                      <a:r>
                        <a:rPr lang="en-US" sz="2000" b="1">
                          <a:solidFill>
                            <a:srgbClr val="000000"/>
                          </a:solidFill>
                          <a:latin typeface="Arial Bold"/>
                          <a:ea typeface="Arial Bold"/>
                          <a:cs typeface="Arial Bold"/>
                          <a:sym typeface="Arial Bold"/>
                        </a:rPr>
                        <a:t>Code: </a:t>
                      </a:r>
                      <a:r>
                        <a:rPr lang="en-US" sz="2000">
                          <a:solidFill>
                            <a:srgbClr val="000000"/>
                          </a:solidFill>
                          <a:latin typeface="Arial"/>
                          <a:ea typeface="Arial"/>
                          <a:cs typeface="Arial"/>
                          <a:sym typeface="Arial"/>
                        </a:rPr>
                        <a:t>IL13-Bảo hiểm</a:t>
                      </a:r>
                      <a:endParaRPr lang="en-US" sz="1100"/>
                    </a:p>
                    <a:p>
                      <a:pPr algn="l">
                        <a:lnSpc>
                          <a:spcPts val="2665"/>
                        </a:lnSpc>
                      </a:pPr>
                      <a:r>
                        <a:rPr lang="en-US" sz="2000" b="1">
                          <a:solidFill>
                            <a:srgbClr val="000000"/>
                          </a:solidFill>
                          <a:latin typeface="Arial Bold"/>
                          <a:ea typeface="Arial Bold"/>
                          <a:cs typeface="Arial Bold"/>
                          <a:sym typeface="Arial Bold"/>
                        </a:rPr>
                        <a:t>Sub:</a:t>
                      </a:r>
                      <a:r>
                        <a:rPr lang="en-US" sz="2000">
                          <a:solidFill>
                            <a:srgbClr val="000000"/>
                          </a:solidFill>
                          <a:latin typeface="Arial"/>
                          <a:ea typeface="Arial"/>
                          <a:cs typeface="Arial"/>
                          <a:sym typeface="Arial"/>
                        </a:rPr>
                        <a:t> IL13.01-Thông tin về bảo hiểm</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5"/>
                  </a:ext>
                </a:extLst>
              </a:tr>
              <a:tr h="774989">
                <a:tc>
                  <a:txBody>
                    <a:bodyPr/>
                    <a:lstStyle/>
                    <a:p>
                      <a:pPr algn="ctr">
                        <a:lnSpc>
                          <a:spcPts val="2400"/>
                        </a:lnSpc>
                        <a:defRPr/>
                      </a:pPr>
                      <a:r>
                        <a:rPr lang="en-US" sz="2000" b="1">
                          <a:solidFill>
                            <a:srgbClr val="000000"/>
                          </a:solidFill>
                          <a:latin typeface="Arial Bold"/>
                          <a:ea typeface="Arial Bold"/>
                          <a:cs typeface="Arial Bold"/>
                          <a:sym typeface="Arial Bold"/>
                        </a:rPr>
                        <a:t>BSH</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0" algn="ctr" defTabSz="914400" rtl="0" eaLnBrk="1" latinLnBrk="0" hangingPunct="1">
                        <a:lnSpc>
                          <a:spcPts val="2400"/>
                        </a:lnSpc>
                        <a:defRPr/>
                      </a:pPr>
                      <a:r>
                        <a:rPr lang="en-US" sz="2000" b="1" i="1" u="sng" kern="1200" dirty="0" err="1">
                          <a:solidFill>
                            <a:srgbClr val="65B444"/>
                          </a:solidFill>
                          <a:latin typeface="Arial Bold Italics"/>
                          <a:ea typeface="Arial Bold Italics"/>
                          <a:cs typeface="Arial Bold Italics"/>
                          <a:sym typeface="Arial Bold Italics"/>
                          <a:hlinkClick r:id="rId7"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7"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7"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7"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7" action="ppaction://hlinkfile">
                            <a:extLst>
                              <a:ext uri="{A12FA001-AC4F-418D-AE19-62706E023703}">
                                <ahyp:hlinkClr xmlns:ahyp="http://schemas.microsoft.com/office/drawing/2018/hyperlinkcolor" val="tx"/>
                              </a:ext>
                            </a:extLst>
                          </a:hlinkClick>
                        </a:rPr>
                        <a:t>đây</a:t>
                      </a:r>
                      <a:endParaRPr lang="en-US" sz="2000" b="1" i="1" u="sng" kern="1200" dirty="0">
                        <a:solidFill>
                          <a:srgbClr val="65B444"/>
                        </a:solidFill>
                        <a:latin typeface="Arial Bold Italics"/>
                        <a:cs typeface="Arial Bold Italics"/>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2665"/>
                        </a:lnSpc>
                        <a:defRPr/>
                      </a:pPr>
                      <a:r>
                        <a:rPr lang="en-US" sz="2000" b="1">
                          <a:solidFill>
                            <a:srgbClr val="000000"/>
                          </a:solidFill>
                          <a:latin typeface="Arial Bold"/>
                          <a:ea typeface="Arial Bold"/>
                          <a:cs typeface="Arial Bold"/>
                          <a:sym typeface="Arial Bold"/>
                        </a:rPr>
                        <a:t>Code: </a:t>
                      </a:r>
                      <a:r>
                        <a:rPr lang="en-US" sz="2000">
                          <a:solidFill>
                            <a:srgbClr val="000000"/>
                          </a:solidFill>
                          <a:latin typeface="Arial"/>
                          <a:ea typeface="Arial"/>
                          <a:cs typeface="Arial"/>
                          <a:sym typeface="Arial"/>
                        </a:rPr>
                        <a:t>IL13-Bảo hiểm</a:t>
                      </a:r>
                      <a:endParaRPr lang="en-US" sz="1100"/>
                    </a:p>
                    <a:p>
                      <a:pPr algn="l">
                        <a:lnSpc>
                          <a:spcPts val="2665"/>
                        </a:lnSpc>
                      </a:pPr>
                      <a:r>
                        <a:rPr lang="en-US" sz="2000" b="1">
                          <a:solidFill>
                            <a:srgbClr val="000000"/>
                          </a:solidFill>
                          <a:latin typeface="Arial Bold"/>
                          <a:ea typeface="Arial Bold"/>
                          <a:cs typeface="Arial Bold"/>
                          <a:sym typeface="Arial Bold"/>
                        </a:rPr>
                        <a:t>Sub:</a:t>
                      </a:r>
                      <a:r>
                        <a:rPr lang="en-US" sz="2000">
                          <a:solidFill>
                            <a:srgbClr val="000000"/>
                          </a:solidFill>
                          <a:latin typeface="Arial"/>
                          <a:ea typeface="Arial"/>
                          <a:cs typeface="Arial"/>
                          <a:sym typeface="Arial"/>
                        </a:rPr>
                        <a:t> IL13.01-Thông tin về bảo hiểm</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6"/>
                  </a:ext>
                </a:extLst>
              </a:tr>
              <a:tr h="774989">
                <a:tc>
                  <a:txBody>
                    <a:bodyPr/>
                    <a:lstStyle/>
                    <a:p>
                      <a:pPr algn="ctr">
                        <a:lnSpc>
                          <a:spcPts val="2400"/>
                        </a:lnSpc>
                        <a:defRPr/>
                      </a:pPr>
                      <a:r>
                        <a:rPr lang="en-US" sz="2000" b="1">
                          <a:solidFill>
                            <a:srgbClr val="000000"/>
                          </a:solidFill>
                          <a:latin typeface="Arial Bold"/>
                          <a:ea typeface="Arial Bold"/>
                          <a:cs typeface="Arial Bold"/>
                          <a:sym typeface="Arial Bold"/>
                        </a:rPr>
                        <a:t>XTI</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0" algn="ctr" defTabSz="914400" rtl="0" eaLnBrk="1" latinLnBrk="0" hangingPunct="1">
                        <a:lnSpc>
                          <a:spcPts val="2400"/>
                        </a:lnSpc>
                        <a:defRPr/>
                      </a:pPr>
                      <a:r>
                        <a:rPr lang="en-US" sz="2000" b="1" i="1" u="sng" kern="1200" dirty="0" err="1">
                          <a:solidFill>
                            <a:srgbClr val="65B444"/>
                          </a:solidFill>
                          <a:latin typeface="Arial Bold Italics"/>
                          <a:ea typeface="Arial Bold Italics"/>
                          <a:cs typeface="Arial Bold Italics"/>
                          <a:sym typeface="Arial Bold Italics"/>
                          <a:hlinkClick r:id="rId8"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8"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8"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8"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8" action="ppaction://hlinkfile">
                            <a:extLst>
                              <a:ext uri="{A12FA001-AC4F-418D-AE19-62706E023703}">
                                <ahyp:hlinkClr xmlns:ahyp="http://schemas.microsoft.com/office/drawing/2018/hyperlinkcolor" val="tx"/>
                              </a:ext>
                            </a:extLst>
                          </a:hlinkClick>
                        </a:rPr>
                        <a:t>đây</a:t>
                      </a:r>
                      <a:endParaRPr lang="en-US" sz="2000" b="1" i="1" u="sng" kern="1200" dirty="0">
                        <a:solidFill>
                          <a:srgbClr val="65B444"/>
                        </a:solidFill>
                        <a:latin typeface="Arial Bold Italics"/>
                        <a:cs typeface="Arial Bold Italics"/>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2665"/>
                        </a:lnSpc>
                        <a:defRPr/>
                      </a:pPr>
                      <a:r>
                        <a:rPr lang="en-US" sz="2000" b="1">
                          <a:solidFill>
                            <a:srgbClr val="000000"/>
                          </a:solidFill>
                          <a:latin typeface="Arial Bold"/>
                          <a:ea typeface="Arial Bold"/>
                          <a:cs typeface="Arial Bold"/>
                          <a:sym typeface="Arial Bold"/>
                        </a:rPr>
                        <a:t>Code: </a:t>
                      </a:r>
                      <a:r>
                        <a:rPr lang="en-US" sz="2000">
                          <a:solidFill>
                            <a:srgbClr val="000000"/>
                          </a:solidFill>
                          <a:latin typeface="Arial"/>
                          <a:ea typeface="Arial"/>
                          <a:cs typeface="Arial"/>
                          <a:sym typeface="Arial"/>
                        </a:rPr>
                        <a:t>IL13-Bảo hiểm</a:t>
                      </a:r>
                      <a:endParaRPr lang="en-US" sz="1100"/>
                    </a:p>
                    <a:p>
                      <a:pPr algn="l">
                        <a:lnSpc>
                          <a:spcPts val="2665"/>
                        </a:lnSpc>
                      </a:pPr>
                      <a:r>
                        <a:rPr lang="en-US" sz="2000" b="1">
                          <a:solidFill>
                            <a:srgbClr val="000000"/>
                          </a:solidFill>
                          <a:latin typeface="Arial Bold"/>
                          <a:ea typeface="Arial Bold"/>
                          <a:cs typeface="Arial Bold"/>
                          <a:sym typeface="Arial Bold"/>
                        </a:rPr>
                        <a:t>Sub:</a:t>
                      </a:r>
                      <a:r>
                        <a:rPr lang="en-US" sz="2000">
                          <a:solidFill>
                            <a:srgbClr val="000000"/>
                          </a:solidFill>
                          <a:latin typeface="Arial"/>
                          <a:ea typeface="Arial"/>
                          <a:cs typeface="Arial"/>
                          <a:sym typeface="Arial"/>
                        </a:rPr>
                        <a:t> IL13.01-Thông tin về bảo hiểm</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7"/>
                  </a:ext>
                </a:extLst>
              </a:tr>
              <a:tr h="774989">
                <a:tc>
                  <a:txBody>
                    <a:bodyPr/>
                    <a:lstStyle/>
                    <a:p>
                      <a:pPr algn="ctr">
                        <a:lnSpc>
                          <a:spcPts val="2400"/>
                        </a:lnSpc>
                        <a:defRPr/>
                      </a:pPr>
                      <a:r>
                        <a:rPr lang="en-US" sz="2000" b="1">
                          <a:solidFill>
                            <a:srgbClr val="000000"/>
                          </a:solidFill>
                          <a:latin typeface="Arial Bold"/>
                          <a:ea typeface="Arial Bold"/>
                          <a:cs typeface="Arial Bold"/>
                          <a:sym typeface="Arial Bold"/>
                        </a:rPr>
                        <a:t>BMI</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0" algn="ctr" defTabSz="914400" rtl="0" eaLnBrk="1" latinLnBrk="0" hangingPunct="1">
                        <a:lnSpc>
                          <a:spcPts val="2400"/>
                        </a:lnSpc>
                        <a:defRPr/>
                      </a:pPr>
                      <a:r>
                        <a:rPr lang="en-US" sz="2000" b="1" i="1" u="sng" kern="1200" dirty="0" err="1">
                          <a:solidFill>
                            <a:srgbClr val="65B444"/>
                          </a:solidFill>
                          <a:latin typeface="Arial Bold Italics"/>
                          <a:ea typeface="Arial Bold Italics"/>
                          <a:cs typeface="Arial Bold Italics"/>
                          <a:sym typeface="Arial Bold Italics"/>
                          <a:hlinkClick r:id="rId9"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9"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9"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9"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9" action="ppaction://hlinkfile">
                            <a:extLst>
                              <a:ext uri="{A12FA001-AC4F-418D-AE19-62706E023703}">
                                <ahyp:hlinkClr xmlns:ahyp="http://schemas.microsoft.com/office/drawing/2018/hyperlinkcolor" val="tx"/>
                              </a:ext>
                            </a:extLst>
                          </a:hlinkClick>
                        </a:rPr>
                        <a:t>đây</a:t>
                      </a:r>
                      <a:endParaRPr lang="en-US" sz="2000" b="1" i="1" u="sng" kern="1200" dirty="0">
                        <a:solidFill>
                          <a:srgbClr val="65B444"/>
                        </a:solidFill>
                        <a:latin typeface="Arial Bold Italics"/>
                        <a:cs typeface="Arial Bold Italics"/>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2665"/>
                        </a:lnSpc>
                        <a:defRPr/>
                      </a:pPr>
                      <a:r>
                        <a:rPr lang="en-US" sz="2000" b="1">
                          <a:solidFill>
                            <a:srgbClr val="000000"/>
                          </a:solidFill>
                          <a:latin typeface="Arial Bold"/>
                          <a:ea typeface="Arial Bold"/>
                          <a:cs typeface="Arial Bold"/>
                          <a:sym typeface="Arial Bold"/>
                        </a:rPr>
                        <a:t>Code: </a:t>
                      </a:r>
                      <a:r>
                        <a:rPr lang="en-US" sz="2000">
                          <a:solidFill>
                            <a:srgbClr val="000000"/>
                          </a:solidFill>
                          <a:latin typeface="Arial"/>
                          <a:ea typeface="Arial"/>
                          <a:cs typeface="Arial"/>
                          <a:sym typeface="Arial"/>
                        </a:rPr>
                        <a:t>IL13-Bảo hiểm</a:t>
                      </a:r>
                      <a:endParaRPr lang="en-US" sz="1100"/>
                    </a:p>
                    <a:p>
                      <a:pPr algn="l">
                        <a:lnSpc>
                          <a:spcPts val="2665"/>
                        </a:lnSpc>
                      </a:pPr>
                      <a:r>
                        <a:rPr lang="en-US" sz="2000" b="1">
                          <a:solidFill>
                            <a:srgbClr val="000000"/>
                          </a:solidFill>
                          <a:latin typeface="Arial Bold"/>
                          <a:ea typeface="Arial Bold"/>
                          <a:cs typeface="Arial Bold"/>
                          <a:sym typeface="Arial Bold"/>
                        </a:rPr>
                        <a:t>Sub:</a:t>
                      </a:r>
                      <a:r>
                        <a:rPr lang="en-US" sz="2000">
                          <a:solidFill>
                            <a:srgbClr val="000000"/>
                          </a:solidFill>
                          <a:latin typeface="Arial"/>
                          <a:ea typeface="Arial"/>
                          <a:cs typeface="Arial"/>
                          <a:sym typeface="Arial"/>
                        </a:rPr>
                        <a:t> IL13.01-Thông tin về bảo hiểm</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8"/>
                  </a:ext>
                </a:extLst>
              </a:tr>
              <a:tr h="774989">
                <a:tc>
                  <a:txBody>
                    <a:bodyPr/>
                    <a:lstStyle/>
                    <a:p>
                      <a:pPr algn="ctr">
                        <a:lnSpc>
                          <a:spcPts val="2400"/>
                        </a:lnSpc>
                        <a:defRPr/>
                      </a:pPr>
                      <a:r>
                        <a:rPr lang="en-US" sz="2000" b="1">
                          <a:solidFill>
                            <a:srgbClr val="000000"/>
                          </a:solidFill>
                          <a:latin typeface="Arial Bold"/>
                          <a:ea typeface="Arial Bold"/>
                          <a:cs typeface="Arial Bold"/>
                          <a:sym typeface="Arial Bold"/>
                        </a:rPr>
                        <a:t>GIC</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0" algn="ctr" defTabSz="914400" rtl="0" eaLnBrk="1" latinLnBrk="0" hangingPunct="1">
                        <a:lnSpc>
                          <a:spcPts val="2400"/>
                        </a:lnSpc>
                        <a:defRPr/>
                      </a:pPr>
                      <a:r>
                        <a:rPr lang="en-US" sz="2000" b="1" i="1" u="sng" kern="1200" dirty="0" err="1">
                          <a:solidFill>
                            <a:srgbClr val="65B444"/>
                          </a:solidFill>
                          <a:latin typeface="Arial Bold Italics"/>
                          <a:ea typeface="Arial Bold Italics"/>
                          <a:cs typeface="Arial Bold Italics"/>
                          <a:sym typeface="Arial Bold Italics"/>
                          <a:hlinkClick r:id="rId10"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10"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10"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10"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10" action="ppaction://hlinkfile">
                            <a:extLst>
                              <a:ext uri="{A12FA001-AC4F-418D-AE19-62706E023703}">
                                <ahyp:hlinkClr xmlns:ahyp="http://schemas.microsoft.com/office/drawing/2018/hyperlinkcolor" val="tx"/>
                              </a:ext>
                            </a:extLst>
                          </a:hlinkClick>
                        </a:rPr>
                        <a:t>đây</a:t>
                      </a:r>
                      <a:endParaRPr lang="en-US" sz="2000" b="1" i="1" u="sng" kern="1200" dirty="0">
                        <a:solidFill>
                          <a:srgbClr val="65B444"/>
                        </a:solidFill>
                        <a:latin typeface="Arial Bold Italics"/>
                        <a:cs typeface="Arial Bold Italics"/>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2665"/>
                        </a:lnSpc>
                        <a:defRPr/>
                      </a:pPr>
                      <a:r>
                        <a:rPr lang="en-US" sz="2000" b="1">
                          <a:solidFill>
                            <a:srgbClr val="000000"/>
                          </a:solidFill>
                          <a:latin typeface="Arial Bold"/>
                          <a:ea typeface="Arial Bold"/>
                          <a:cs typeface="Arial Bold"/>
                          <a:sym typeface="Arial Bold"/>
                        </a:rPr>
                        <a:t>Code: </a:t>
                      </a:r>
                      <a:r>
                        <a:rPr lang="en-US" sz="2000">
                          <a:solidFill>
                            <a:srgbClr val="000000"/>
                          </a:solidFill>
                          <a:latin typeface="Arial"/>
                          <a:ea typeface="Arial"/>
                          <a:cs typeface="Arial"/>
                          <a:sym typeface="Arial"/>
                        </a:rPr>
                        <a:t>IL13-Bảo hiểm</a:t>
                      </a:r>
                      <a:endParaRPr lang="en-US" sz="1100"/>
                    </a:p>
                    <a:p>
                      <a:pPr algn="l">
                        <a:lnSpc>
                          <a:spcPts val="2665"/>
                        </a:lnSpc>
                      </a:pPr>
                      <a:r>
                        <a:rPr lang="en-US" sz="2000" b="1">
                          <a:solidFill>
                            <a:srgbClr val="000000"/>
                          </a:solidFill>
                          <a:latin typeface="Arial Bold"/>
                          <a:ea typeface="Arial Bold"/>
                          <a:cs typeface="Arial Bold"/>
                          <a:sym typeface="Arial Bold"/>
                        </a:rPr>
                        <a:t>Sub:</a:t>
                      </a:r>
                      <a:r>
                        <a:rPr lang="en-US" sz="2000">
                          <a:solidFill>
                            <a:srgbClr val="000000"/>
                          </a:solidFill>
                          <a:latin typeface="Arial"/>
                          <a:ea typeface="Arial"/>
                          <a:cs typeface="Arial"/>
                          <a:sym typeface="Arial"/>
                        </a:rPr>
                        <a:t> IL13.01-Thông tin về bảo hiểm</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9"/>
                  </a:ext>
                </a:extLst>
              </a:tr>
              <a:tr h="774989">
                <a:tc>
                  <a:txBody>
                    <a:bodyPr/>
                    <a:lstStyle/>
                    <a:p>
                      <a:pPr algn="ctr">
                        <a:lnSpc>
                          <a:spcPts val="2400"/>
                        </a:lnSpc>
                        <a:defRPr/>
                      </a:pPr>
                      <a:r>
                        <a:rPr lang="en-US" sz="2000" b="1">
                          <a:solidFill>
                            <a:srgbClr val="000000"/>
                          </a:solidFill>
                          <a:latin typeface="Arial Bold"/>
                          <a:ea typeface="Arial Bold"/>
                          <a:cs typeface="Arial Bold"/>
                          <a:sym typeface="Arial Bold"/>
                        </a:rPr>
                        <a:t>PVI</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0" algn="ctr" defTabSz="914400" rtl="0" eaLnBrk="1" latinLnBrk="0" hangingPunct="1">
                        <a:lnSpc>
                          <a:spcPts val="2400"/>
                        </a:lnSpc>
                        <a:defRPr/>
                      </a:pPr>
                      <a:r>
                        <a:rPr lang="en-US" sz="2000" b="1" i="1" u="sng" kern="1200" dirty="0" err="1">
                          <a:solidFill>
                            <a:srgbClr val="65B444"/>
                          </a:solidFill>
                          <a:latin typeface="Arial Bold Italics"/>
                          <a:ea typeface="Arial Bold Italics"/>
                          <a:cs typeface="Arial Bold Italics"/>
                          <a:sym typeface="Arial Bold Italics"/>
                          <a:hlinkClick r:id="rId11"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11"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11"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11"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11" action="ppaction://hlinkfile">
                            <a:extLst>
                              <a:ext uri="{A12FA001-AC4F-418D-AE19-62706E023703}">
                                <ahyp:hlinkClr xmlns:ahyp="http://schemas.microsoft.com/office/drawing/2018/hyperlinkcolor" val="tx"/>
                              </a:ext>
                            </a:extLst>
                          </a:hlinkClick>
                        </a:rPr>
                        <a:t>đây</a:t>
                      </a:r>
                      <a:endParaRPr lang="en-US" sz="2000" b="1" i="1" u="sng" kern="1200" dirty="0">
                        <a:solidFill>
                          <a:srgbClr val="65B444"/>
                        </a:solidFill>
                        <a:latin typeface="Arial Bold Italics"/>
                        <a:cs typeface="Arial Bold Italics"/>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2665"/>
                        </a:lnSpc>
                        <a:defRPr/>
                      </a:pPr>
                      <a:r>
                        <a:rPr lang="en-US" sz="2000" b="1">
                          <a:solidFill>
                            <a:srgbClr val="000000"/>
                          </a:solidFill>
                          <a:latin typeface="Arial Bold"/>
                          <a:ea typeface="Arial Bold"/>
                          <a:cs typeface="Arial Bold"/>
                          <a:sym typeface="Arial Bold"/>
                        </a:rPr>
                        <a:t>Code: </a:t>
                      </a:r>
                      <a:r>
                        <a:rPr lang="en-US" sz="2000">
                          <a:solidFill>
                            <a:srgbClr val="000000"/>
                          </a:solidFill>
                          <a:latin typeface="Arial"/>
                          <a:ea typeface="Arial"/>
                          <a:cs typeface="Arial"/>
                          <a:sym typeface="Arial"/>
                        </a:rPr>
                        <a:t>IL13-Bảo hiểm</a:t>
                      </a:r>
                      <a:endParaRPr lang="en-US" sz="1100"/>
                    </a:p>
                    <a:p>
                      <a:pPr algn="l">
                        <a:lnSpc>
                          <a:spcPts val="2665"/>
                        </a:lnSpc>
                      </a:pPr>
                      <a:r>
                        <a:rPr lang="en-US" sz="2000" b="1">
                          <a:solidFill>
                            <a:srgbClr val="000000"/>
                          </a:solidFill>
                          <a:latin typeface="Arial Bold"/>
                          <a:ea typeface="Arial Bold"/>
                          <a:cs typeface="Arial Bold"/>
                          <a:sym typeface="Arial Bold"/>
                        </a:rPr>
                        <a:t>Sub:</a:t>
                      </a:r>
                      <a:r>
                        <a:rPr lang="en-US" sz="2000">
                          <a:solidFill>
                            <a:srgbClr val="000000"/>
                          </a:solidFill>
                          <a:latin typeface="Arial"/>
                          <a:ea typeface="Arial"/>
                          <a:cs typeface="Arial"/>
                          <a:sym typeface="Arial"/>
                        </a:rPr>
                        <a:t> IL13.01-Thông tin về bảo hiểm</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10"/>
                  </a:ext>
                </a:extLst>
              </a:tr>
            </a:tbl>
          </a:graphicData>
        </a:graphic>
      </p:graphicFrame>
      <p:grpSp>
        <p:nvGrpSpPr>
          <p:cNvPr id="3" name="Group 3"/>
          <p:cNvGrpSpPr/>
          <p:nvPr/>
        </p:nvGrpSpPr>
        <p:grpSpPr>
          <a:xfrm>
            <a:off x="15691018" y="9790919"/>
            <a:ext cx="2421922" cy="346996"/>
            <a:chOff x="0" y="0"/>
            <a:chExt cx="3229229" cy="462661"/>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12"/>
              <a:stretch>
                <a:fillRect l="-145" r="-145"/>
              </a:stretch>
            </a:blipFill>
          </p:spPr>
        </p:sp>
      </p:grpSp>
      <p:sp>
        <p:nvSpPr>
          <p:cNvPr id="5" name="Freeform 5"/>
          <p:cNvSpPr/>
          <p:nvPr/>
        </p:nvSpPr>
        <p:spPr>
          <a:xfrm>
            <a:off x="5859" y="-328298"/>
            <a:ext cx="18282142" cy="1306449"/>
          </a:xfrm>
          <a:custGeom>
            <a:avLst/>
            <a:gdLst/>
            <a:ahLst/>
            <a:cxnLst/>
            <a:rect l="l" t="t" r="r" b="b"/>
            <a:pathLst>
              <a:path w="20000147" h="1306449">
                <a:moveTo>
                  <a:pt x="0" y="0"/>
                </a:moveTo>
                <a:lnTo>
                  <a:pt x="20000147" y="0"/>
                </a:lnTo>
                <a:lnTo>
                  <a:pt x="20000147" y="1306449"/>
                </a:lnTo>
                <a:lnTo>
                  <a:pt x="0" y="1306449"/>
                </a:lnTo>
                <a:lnTo>
                  <a:pt x="0" y="0"/>
                </a:lnTo>
                <a:close/>
              </a:path>
            </a:pathLst>
          </a:custGeom>
          <a:blipFill>
            <a:blip r:embed="rId13">
              <a:extLst>
                <a:ext uri="{96DAC541-7B7A-43D3-8B79-37D633B846F1}">
                  <asvg:svgBlip xmlns:asvg="http://schemas.microsoft.com/office/drawing/2016/SVG/main" r:embed="rId14"/>
                </a:ext>
              </a:extLst>
            </a:blip>
            <a:stretch>
              <a:fillRect t="-300" b="-300"/>
            </a:stretch>
          </a:blipFill>
        </p:spPr>
      </p:sp>
      <p:sp>
        <p:nvSpPr>
          <p:cNvPr id="6" name="TextBox 6"/>
          <p:cNvSpPr txBox="1"/>
          <p:nvPr/>
        </p:nvSpPr>
        <p:spPr>
          <a:xfrm>
            <a:off x="2987725" y="149274"/>
            <a:ext cx="12312551" cy="663530"/>
          </a:xfrm>
          <a:prstGeom prst="rect">
            <a:avLst/>
          </a:prstGeom>
        </p:spPr>
        <p:txBody>
          <a:bodyPr lIns="0" tIns="0" rIns="0" bIns="0" rtlCol="0" anchor="t">
            <a:spAutoFit/>
          </a:bodyPr>
          <a:lstStyle/>
          <a:p>
            <a:pPr algn="ctr">
              <a:lnSpc>
                <a:spcPts val="5200"/>
              </a:lnSpc>
            </a:pPr>
            <a:r>
              <a:rPr lang="en-US" sz="3999" b="1">
                <a:solidFill>
                  <a:srgbClr val="000000"/>
                </a:solidFill>
                <a:latin typeface="Arial Bold"/>
                <a:ea typeface="Arial Bold"/>
                <a:cs typeface="Arial Bold"/>
                <a:sym typeface="Arial Bold"/>
              </a:rPr>
              <a:t>QUYỀN LỢI BẢO HIỂM VÀ ĐIỀU KHOẢN LOẠI TRỪ</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237162958"/>
              </p:ext>
            </p:extLst>
          </p:nvPr>
        </p:nvGraphicFramePr>
        <p:xfrm>
          <a:off x="245447" y="1131776"/>
          <a:ext cx="17797106" cy="7875839"/>
        </p:xfrm>
        <a:graphic>
          <a:graphicData uri="http://schemas.openxmlformats.org/drawingml/2006/table">
            <a:tbl>
              <a:tblPr/>
              <a:tblGrid>
                <a:gridCol w="8898553">
                  <a:extLst>
                    <a:ext uri="{9D8B030D-6E8A-4147-A177-3AD203B41FA5}">
                      <a16:colId xmlns:a16="http://schemas.microsoft.com/office/drawing/2014/main" val="20000"/>
                    </a:ext>
                  </a:extLst>
                </a:gridCol>
                <a:gridCol w="5597185">
                  <a:extLst>
                    <a:ext uri="{9D8B030D-6E8A-4147-A177-3AD203B41FA5}">
                      <a16:colId xmlns:a16="http://schemas.microsoft.com/office/drawing/2014/main" val="20001"/>
                    </a:ext>
                  </a:extLst>
                </a:gridCol>
                <a:gridCol w="3301368">
                  <a:extLst>
                    <a:ext uri="{9D8B030D-6E8A-4147-A177-3AD203B41FA5}">
                      <a16:colId xmlns:a16="http://schemas.microsoft.com/office/drawing/2014/main" val="20002"/>
                    </a:ext>
                  </a:extLst>
                </a:gridCol>
              </a:tblGrid>
              <a:tr h="821789">
                <a:tc gridSpan="2">
                  <a:txBody>
                    <a:bodyPr/>
                    <a:lstStyle/>
                    <a:p>
                      <a:pPr algn="ctr">
                        <a:lnSpc>
                          <a:spcPts val="3751"/>
                        </a:lnSpc>
                        <a:defRPr/>
                      </a:pPr>
                      <a:r>
                        <a:rPr lang="en-US" sz="2000" b="1" spc="11">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hMerge="1">
                  <a:txBody>
                    <a:bodyPr/>
                    <a:lstStyle/>
                    <a:p>
                      <a:pPr algn="ctr">
                        <a:lnSpc>
                          <a:spcPts val="3751"/>
                        </a:lnSpc>
                        <a:defRPr/>
                      </a:pPr>
                      <a:r>
                        <a:rPr lang="en-US" sz="2000" b="1" spc="11">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1"/>
                        </a:lnSpc>
                        <a:defRPr/>
                      </a:pPr>
                      <a:r>
                        <a:rPr lang="en-US" sz="2000" b="1" spc="11">
                          <a:solidFill>
                            <a:srgbClr val="FFFFFF"/>
                          </a:solidFill>
                          <a:latin typeface="Arial Bold"/>
                          <a:ea typeface="Arial Bold"/>
                          <a:cs typeface="Arial Bold"/>
                          <a:sym typeface="Arial Bold"/>
                        </a:rPr>
                        <a:t>CODE/ REMARK</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7054050">
                <a:tc>
                  <a:txBody>
                    <a:bodyPr/>
                    <a:lstStyle/>
                    <a:p>
                      <a:pPr algn="l">
                        <a:lnSpc>
                          <a:spcPts val="3110"/>
                        </a:lnSpc>
                        <a:defRPr/>
                      </a:pPr>
                      <a:r>
                        <a:rPr lang="en-US" sz="2000" b="1" dirty="0">
                          <a:solidFill>
                            <a:srgbClr val="000000"/>
                          </a:solidFill>
                          <a:latin typeface="Arial Bold"/>
                          <a:ea typeface="Arial Bold"/>
                          <a:cs typeface="Arial Bold"/>
                          <a:sym typeface="Arial Bold"/>
                        </a:rPr>
                        <a:t>  1. </a:t>
                      </a:r>
                      <a:r>
                        <a:rPr lang="en-US" sz="2000" b="1" dirty="0" err="1">
                          <a:solidFill>
                            <a:srgbClr val="000000"/>
                          </a:solidFill>
                          <a:latin typeface="Arial Bold"/>
                          <a:ea typeface="Arial Bold"/>
                          <a:cs typeface="Arial Bold"/>
                          <a:sym typeface="Arial Bold"/>
                        </a:rPr>
                        <a:t>Hướng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dẫn</a:t>
                      </a:r>
                      <a:r>
                        <a:rPr lang="en-US" sz="2000" b="1" dirty="0">
                          <a:solidFill>
                            <a:srgbClr val="000000"/>
                          </a:solidFill>
                          <a:latin typeface="Arial Bold"/>
                          <a:ea typeface="Arial Bold"/>
                          <a:cs typeface="Arial Bold"/>
                          <a:sym typeface="Arial Bold"/>
                        </a:rPr>
                        <a:t> KH </a:t>
                      </a:r>
                      <a:r>
                        <a:rPr lang="en-US" sz="2000" b="1" dirty="0" err="1">
                          <a:solidFill>
                            <a:srgbClr val="000000"/>
                          </a:solidFill>
                          <a:latin typeface="Arial Bold"/>
                          <a:ea typeface="Arial Bold"/>
                          <a:cs typeface="Arial Bold"/>
                          <a:sym typeface="Arial Bold"/>
                        </a:rPr>
                        <a:t>chuẩn</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bị</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chứng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từ</a:t>
                      </a:r>
                      <a:endParaRPr lang="en-US" sz="1100" dirty="0"/>
                    </a:p>
                    <a:p>
                      <a:pPr marL="431801" lvl="1" indent="-215900" algn="l">
                        <a:lnSpc>
                          <a:spcPts val="3110"/>
                        </a:lnSpc>
                        <a:buFont typeface="Arial"/>
                        <a:buChar char="•"/>
                      </a:pPr>
                      <a:r>
                        <a:rPr lang="en-US" sz="2000" dirty="0">
                          <a:solidFill>
                            <a:srgbClr val="000000"/>
                          </a:solidFill>
                          <a:latin typeface="Arial"/>
                          <a:ea typeface="Arial"/>
                          <a:cs typeface="Arial"/>
                          <a:sym typeface="Arial"/>
                        </a:rPr>
                        <a:t>CMND/ CCCD </a:t>
                      </a:r>
                      <a:r>
                        <a:rPr lang="en-US" sz="2000" dirty="0" err="1">
                          <a:solidFill>
                            <a:srgbClr val="000000"/>
                          </a:solidFill>
                          <a:latin typeface="Arial"/>
                          <a:ea typeface="Arial"/>
                          <a:cs typeface="Arial"/>
                          <a:sym typeface="Arial"/>
                        </a:rPr>
                        <a:t>sao</a:t>
                      </a:r>
                      <a:r>
                        <a:rPr lang="en-US" sz="2000" dirty="0">
                          <a:solidFill>
                            <a:srgbClr val="000000"/>
                          </a:solidFill>
                          <a:latin typeface="Arial"/>
                          <a:ea typeface="Arial"/>
                          <a:cs typeface="Arial"/>
                          <a:sym typeface="Arial"/>
                        </a:rPr>
                        <a:t> y HOẶC </a:t>
                      </a:r>
                      <a:r>
                        <a:rPr lang="en-US" sz="2000" dirty="0" err="1">
                          <a:solidFill>
                            <a:srgbClr val="000000"/>
                          </a:solidFill>
                          <a:latin typeface="Arial"/>
                          <a:ea typeface="Arial"/>
                          <a:cs typeface="Arial"/>
                          <a:sym typeface="Arial"/>
                        </a:rPr>
                        <a:t>Giấy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định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danh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điện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tử</a:t>
                      </a:r>
                      <a:r>
                        <a:rPr lang="en-US" sz="2000" dirty="0">
                          <a:solidFill>
                            <a:srgbClr val="000000"/>
                          </a:solidFill>
                          <a:latin typeface="Arial"/>
                          <a:ea typeface="Arial"/>
                          <a:cs typeface="Arial"/>
                          <a:sym typeface="Arial"/>
                        </a:rPr>
                        <a:t> </a:t>
                      </a:r>
                    </a:p>
                    <a:p>
                      <a:pPr marL="431801" lvl="1" indent="-215900" algn="l">
                        <a:lnSpc>
                          <a:spcPts val="3110"/>
                        </a:lnSpc>
                        <a:buFont typeface="Arial"/>
                        <a:buChar char="•"/>
                      </a:pPr>
                      <a:r>
                        <a:rPr lang="en-US" sz="2000" dirty="0" err="1">
                          <a:solidFill>
                            <a:srgbClr val="000000"/>
                          </a:solidFill>
                          <a:latin typeface="Arial"/>
                          <a:ea typeface="Arial"/>
                          <a:cs typeface="Arial"/>
                          <a:sym typeface="Arial"/>
                        </a:rPr>
                        <a:t>Trích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lục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khai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tử</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sao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bắt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buộc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phải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 </a:t>
                      </a:r>
                      <a:r>
                        <a:rPr lang="en-US" sz="2000" dirty="0" err="1">
                          <a:solidFill>
                            <a:srgbClr val="000000"/>
                          </a:solidFill>
                          <a:latin typeface="Arial"/>
                          <a:ea typeface="Arial"/>
                          <a:cs typeface="Arial"/>
                          <a:sym typeface="Arial"/>
                        </a:rPr>
                        <a:t>số</a:t>
                      </a:r>
                      <a:r>
                        <a:rPr lang="en-US" sz="2000" dirty="0">
                          <a:solidFill>
                            <a:srgbClr val="000000"/>
                          </a:solidFill>
                          <a:latin typeface="Arial"/>
                          <a:ea typeface="Arial"/>
                          <a:cs typeface="Arial"/>
                          <a:sym typeface="Arial"/>
                        </a:rPr>
                        <a:t> CMND, </a:t>
                      </a:r>
                      <a:r>
                        <a:rPr lang="en-US" sz="2000" dirty="0" err="1">
                          <a:solidFill>
                            <a:srgbClr val="000000"/>
                          </a:solidFill>
                          <a:latin typeface="Arial"/>
                          <a:ea typeface="Arial"/>
                          <a:cs typeface="Arial"/>
                          <a:sym typeface="Arial"/>
                        </a:rPr>
                        <a:t>ngày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cấp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nơi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cấp</a:t>
                      </a:r>
                      <a:r>
                        <a:rPr lang="en-US" sz="2000" dirty="0">
                          <a:solidFill>
                            <a:srgbClr val="000000"/>
                          </a:solidFill>
                          <a:latin typeface="Arial"/>
                          <a:ea typeface="Arial"/>
                          <a:cs typeface="Arial"/>
                          <a:sym typeface="Arial"/>
                        </a:rPr>
                        <a:t>) </a:t>
                      </a:r>
                    </a:p>
                    <a:p>
                      <a:pPr marL="431801" lvl="1" indent="-215900" algn="l">
                        <a:lnSpc>
                          <a:spcPts val="3110"/>
                        </a:lnSpc>
                        <a:buFont typeface="Arial"/>
                        <a:buChar char="•"/>
                      </a:pPr>
                      <a:r>
                        <a:rPr lang="en-US" sz="2000" dirty="0" err="1">
                          <a:solidFill>
                            <a:srgbClr val="000000"/>
                          </a:solidFill>
                          <a:latin typeface="Arial"/>
                          <a:ea typeface="Arial"/>
                          <a:cs typeface="Arial"/>
                          <a:sym typeface="Arial"/>
                        </a:rPr>
                        <a:t>Chứng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từ</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bổ</a:t>
                      </a:r>
                      <a:r>
                        <a:rPr lang="en-US" sz="2000" dirty="0">
                          <a:solidFill>
                            <a:srgbClr val="000000"/>
                          </a:solidFill>
                          <a:latin typeface="Arial"/>
                          <a:ea typeface="Arial"/>
                          <a:cs typeface="Arial"/>
                          <a:sym typeface="Arial"/>
                        </a:rPr>
                        <a:t> sung </a:t>
                      </a:r>
                      <a:r>
                        <a:rPr lang="en-US" sz="2000" dirty="0" err="1">
                          <a:solidFill>
                            <a:srgbClr val="000000"/>
                          </a:solidFill>
                          <a:latin typeface="Arial"/>
                          <a:ea typeface="Arial"/>
                          <a:cs typeface="Arial"/>
                          <a:sym typeface="Arial"/>
                        </a:rPr>
                        <a:t>theo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nguyên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nhân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tử</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vong</a:t>
                      </a:r>
                      <a:endParaRPr lang="en-US" sz="2000" dirty="0">
                        <a:solidFill>
                          <a:srgbClr val="000000"/>
                        </a:solidFill>
                        <a:latin typeface="Arial"/>
                        <a:ea typeface="Arial"/>
                        <a:cs typeface="Arial"/>
                        <a:sym typeface="Arial"/>
                      </a:endParaRPr>
                    </a:p>
                    <a:p>
                      <a:pPr marL="863601" lvl="2" indent="-287867" algn="l">
                        <a:lnSpc>
                          <a:spcPts val="3110"/>
                        </a:lnSpc>
                        <a:buFont typeface="Arial"/>
                        <a:buChar char="⚬"/>
                      </a:pPr>
                      <a:r>
                        <a:rPr lang="en-US" sz="2000" b="1" u="sng" dirty="0">
                          <a:solidFill>
                            <a:srgbClr val="000000"/>
                          </a:solidFill>
                          <a:latin typeface="Arial Bold"/>
                          <a:ea typeface="Arial Bold"/>
                          <a:cs typeface="Arial Bold"/>
                          <a:sym typeface="Arial Bold"/>
                        </a:rPr>
                        <a:t>Do </a:t>
                      </a:r>
                      <a:r>
                        <a:rPr lang="en-US" sz="2000" b="1" u="sng" dirty="0" err="1">
                          <a:solidFill>
                            <a:srgbClr val="000000"/>
                          </a:solidFill>
                          <a:latin typeface="Arial Bold"/>
                          <a:ea typeface="Arial Bold"/>
                          <a:cs typeface="Arial Bold"/>
                          <a:sym typeface="Arial Bold"/>
                        </a:rPr>
                        <a:t>bệnh</a:t>
                      </a:r>
                      <a:r>
                        <a:rPr lang="en-US" sz="2000" b="1" u="sng" dirty="0">
                          <a:solidFill>
                            <a:srgbClr val="000000"/>
                          </a:solidFill>
                          <a:latin typeface="Arial Bold"/>
                          <a:ea typeface="Arial Bold"/>
                          <a:cs typeface="Arial Bold"/>
                          <a:sym typeface="Arial Bold"/>
                        </a:rPr>
                        <a:t> </a:t>
                      </a:r>
                      <a:r>
                        <a:rPr lang="en-US" sz="2000" b="1" u="sng" dirty="0" err="1">
                          <a:solidFill>
                            <a:srgbClr val="000000"/>
                          </a:solidFill>
                          <a:latin typeface="Arial Bold"/>
                          <a:ea typeface="Arial Bold"/>
                          <a:cs typeface="Arial Bold"/>
                          <a:sym typeface="Arial Bold"/>
                        </a:rPr>
                        <a:t>tật</a:t>
                      </a:r>
                      <a:r>
                        <a:rPr lang="en-US" sz="2000" b="1" u="sng" dirty="0">
                          <a:solidFill>
                            <a:srgbClr val="000000"/>
                          </a:solidFill>
                          <a:latin typeface="Arial Bold"/>
                          <a:ea typeface="Arial Bold"/>
                          <a:cs typeface="Arial Bold"/>
                          <a:sym typeface="Arial Bold"/>
                        </a:rPr>
                        <a:t>:</a:t>
                      </a:r>
                      <a:r>
                        <a:rPr lang="en-US" sz="2000" b="1" dirty="0">
                          <a:solidFill>
                            <a:srgbClr val="000000"/>
                          </a:solidFill>
                          <a:latin typeface="Arial Bold"/>
                          <a:ea typeface="Arial Bold"/>
                          <a:cs typeface="Arial Bold"/>
                          <a:sym typeface="Arial Bold"/>
                        </a:rPr>
                        <a:t> </a:t>
                      </a:r>
                      <a:r>
                        <a:rPr lang="en-US" sz="2000" dirty="0" err="1">
                          <a:solidFill>
                            <a:srgbClr val="000000"/>
                          </a:solidFill>
                          <a:latin typeface="Arial"/>
                          <a:ea typeface="Arial"/>
                          <a:cs typeface="Arial"/>
                          <a:sym typeface="Arial"/>
                        </a:rPr>
                        <a:t>Giấy</a:t>
                      </a:r>
                      <a:r>
                        <a:rPr lang="en-US" sz="2000" dirty="0">
                          <a:solidFill>
                            <a:srgbClr val="000000"/>
                          </a:solidFill>
                          <a:latin typeface="Arial"/>
                          <a:ea typeface="Arial"/>
                          <a:cs typeface="Arial"/>
                          <a:sym typeface="Arial"/>
                        </a:rPr>
                        <a:t> ra </a:t>
                      </a:r>
                      <a:r>
                        <a:rPr lang="en-US" sz="2000" dirty="0" err="1">
                          <a:solidFill>
                            <a:srgbClr val="000000"/>
                          </a:solidFill>
                          <a:latin typeface="Arial"/>
                          <a:ea typeface="Arial"/>
                          <a:cs typeface="Arial"/>
                          <a:sym typeface="Arial"/>
                        </a:rPr>
                        <a:t>viện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hoặc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chứng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từ</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nêu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rõ</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bệnh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án</a:t>
                      </a:r>
                      <a:r>
                        <a:rPr lang="en-US" sz="2000" dirty="0">
                          <a:solidFill>
                            <a:srgbClr val="000000"/>
                          </a:solidFill>
                          <a:latin typeface="Arial"/>
                          <a:ea typeface="Arial"/>
                          <a:cs typeface="Arial"/>
                          <a:sym typeface="Arial"/>
                        </a:rPr>
                        <a:t> do </a:t>
                      </a:r>
                      <a:r>
                        <a:rPr lang="en-US" sz="2000" dirty="0" err="1">
                          <a:solidFill>
                            <a:srgbClr val="000000"/>
                          </a:solidFill>
                          <a:latin typeface="Arial"/>
                          <a:ea typeface="Arial"/>
                          <a:cs typeface="Arial"/>
                          <a:sym typeface="Arial"/>
                        </a:rPr>
                        <a:t>bệnh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viện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cung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cấp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sao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trường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hợp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người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nhà</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làm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mất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chứng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từ</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của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bệnh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viện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hoặc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mất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đột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ngột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tại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nhà</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thì</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phải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làm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đơn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xác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rõ</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bệnh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án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chứng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thực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của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ủy</a:t>
                      </a:r>
                      <a:r>
                        <a:rPr lang="en-US" sz="2000" dirty="0">
                          <a:solidFill>
                            <a:srgbClr val="000000"/>
                          </a:solidFill>
                          <a:latin typeface="Arial"/>
                          <a:ea typeface="Arial"/>
                          <a:cs typeface="Arial"/>
                          <a:sym typeface="Arial"/>
                        </a:rPr>
                        <a:t> ban).</a:t>
                      </a:r>
                    </a:p>
                    <a:p>
                      <a:pPr marL="863601" lvl="2" indent="-287867" algn="l">
                        <a:lnSpc>
                          <a:spcPts val="3110"/>
                        </a:lnSpc>
                        <a:buFont typeface="Arial"/>
                        <a:buChar char="⚬"/>
                      </a:pPr>
                      <a:r>
                        <a:rPr lang="en-US" sz="2000" b="1" u="sng" dirty="0">
                          <a:solidFill>
                            <a:srgbClr val="000000"/>
                          </a:solidFill>
                          <a:latin typeface="Arial Bold"/>
                          <a:ea typeface="Arial Bold"/>
                          <a:cs typeface="Arial Bold"/>
                          <a:sym typeface="Arial Bold"/>
                        </a:rPr>
                        <a:t>Do tai </a:t>
                      </a:r>
                      <a:r>
                        <a:rPr lang="en-US" sz="2000" b="1" u="sng" dirty="0" err="1">
                          <a:solidFill>
                            <a:srgbClr val="000000"/>
                          </a:solidFill>
                          <a:latin typeface="Arial Bold"/>
                          <a:ea typeface="Arial Bold"/>
                          <a:cs typeface="Arial Bold"/>
                          <a:sym typeface="Arial Bold"/>
                        </a:rPr>
                        <a:t>nạn</a:t>
                      </a:r>
                      <a:r>
                        <a:rPr lang="en-US" sz="2000" b="1" u="sng" dirty="0">
                          <a:solidFill>
                            <a:srgbClr val="000000"/>
                          </a:solidFill>
                          <a:latin typeface="Arial Bold"/>
                          <a:ea typeface="Arial Bold"/>
                          <a:cs typeface="Arial Bold"/>
                          <a:sym typeface="Arial Bold"/>
                        </a:rPr>
                        <a:t> </a:t>
                      </a:r>
                      <a:r>
                        <a:rPr lang="en-US" sz="2000" b="1" u="sng" dirty="0" err="1">
                          <a:solidFill>
                            <a:srgbClr val="000000"/>
                          </a:solidFill>
                          <a:latin typeface="Arial Bold"/>
                          <a:ea typeface="Arial Bold"/>
                          <a:cs typeface="Arial Bold"/>
                          <a:sym typeface="Arial Bold"/>
                        </a:rPr>
                        <a:t>giao</a:t>
                      </a:r>
                      <a:r>
                        <a:rPr lang="en-US" sz="2000" b="1" u="sng" dirty="0">
                          <a:solidFill>
                            <a:srgbClr val="000000"/>
                          </a:solidFill>
                          <a:latin typeface="Arial Bold"/>
                          <a:ea typeface="Arial Bold"/>
                          <a:cs typeface="Arial Bold"/>
                          <a:sym typeface="Arial Bold"/>
                        </a:rPr>
                        <a:t> </a:t>
                      </a:r>
                      <a:r>
                        <a:rPr lang="en-US" sz="2000" b="1" u="sng" dirty="0" err="1">
                          <a:solidFill>
                            <a:srgbClr val="000000"/>
                          </a:solidFill>
                          <a:latin typeface="Arial Bold"/>
                          <a:ea typeface="Arial Bold"/>
                          <a:cs typeface="Arial Bold"/>
                          <a:sym typeface="Arial Bold"/>
                        </a:rPr>
                        <a:t>thông</a:t>
                      </a:r>
                      <a:r>
                        <a:rPr lang="en-US" sz="2000" b="1" dirty="0">
                          <a:solidFill>
                            <a:srgbClr val="000000"/>
                          </a:solidFill>
                          <a:latin typeface="Arial Bold"/>
                          <a:ea typeface="Arial Bold"/>
                          <a:cs typeface="Arial Bold"/>
                          <a:sym typeface="Arial Bold"/>
                        </a:rPr>
                        <a:t>: </a:t>
                      </a:r>
                      <a:r>
                        <a:rPr lang="en-US" sz="2000" dirty="0" err="1">
                          <a:solidFill>
                            <a:srgbClr val="000000"/>
                          </a:solidFill>
                          <a:latin typeface="Arial"/>
                          <a:ea typeface="Arial"/>
                          <a:cs typeface="Arial"/>
                          <a:sym typeface="Arial"/>
                        </a:rPr>
                        <a:t>Biên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hiện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trường</a:t>
                      </a:r>
                      <a:r>
                        <a:rPr lang="en-US" sz="2000" dirty="0">
                          <a:solidFill>
                            <a:srgbClr val="000000"/>
                          </a:solidFill>
                          <a:latin typeface="Arial"/>
                          <a:ea typeface="Arial"/>
                          <a:cs typeface="Arial"/>
                          <a:sym typeface="Arial"/>
                        </a:rPr>
                        <a:t> tai </a:t>
                      </a:r>
                      <a:r>
                        <a:rPr lang="en-US" sz="2000" dirty="0" err="1">
                          <a:solidFill>
                            <a:srgbClr val="000000"/>
                          </a:solidFill>
                          <a:latin typeface="Arial"/>
                          <a:ea typeface="Arial"/>
                          <a:cs typeface="Arial"/>
                          <a:sym typeface="Arial"/>
                        </a:rPr>
                        <a:t>nạn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giao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sao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trường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hợp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biên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hiện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trường</a:t>
                      </a:r>
                      <a:r>
                        <a:rPr lang="en-US" sz="2000" dirty="0">
                          <a:solidFill>
                            <a:srgbClr val="000000"/>
                          </a:solidFill>
                          <a:latin typeface="Arial"/>
                          <a:ea typeface="Arial"/>
                          <a:cs typeface="Arial"/>
                          <a:sym typeface="Arial"/>
                        </a:rPr>
                        <a:t> do </a:t>
                      </a:r>
                      <a:r>
                        <a:rPr lang="en-US" sz="2000" dirty="0" err="1">
                          <a:solidFill>
                            <a:srgbClr val="000000"/>
                          </a:solidFill>
                          <a:latin typeface="Arial"/>
                          <a:ea typeface="Arial"/>
                          <a:cs typeface="Arial"/>
                          <a:sym typeface="Arial"/>
                        </a:rPr>
                        <a:t>bên</a:t>
                      </a:r>
                      <a:r>
                        <a:rPr lang="en-US" sz="2000" dirty="0">
                          <a:solidFill>
                            <a:srgbClr val="000000"/>
                          </a:solidFill>
                          <a:latin typeface="Arial"/>
                          <a:ea typeface="Arial"/>
                          <a:cs typeface="Arial"/>
                          <a:sym typeface="Arial"/>
                        </a:rPr>
                        <a:t> CA </a:t>
                      </a:r>
                      <a:r>
                        <a:rPr lang="en-US" sz="2000" dirty="0" err="1">
                          <a:solidFill>
                            <a:srgbClr val="000000"/>
                          </a:solidFill>
                          <a:latin typeface="Arial"/>
                          <a:ea typeface="Arial"/>
                          <a:cs typeface="Arial"/>
                          <a:sym typeface="Arial"/>
                        </a:rPr>
                        <a:t>chưa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làm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rõ</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vụ</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việc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thì</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hướng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dẫn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người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nhà</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làm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tường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trình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vụ</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việc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xảy</a:t>
                      </a:r>
                      <a:r>
                        <a:rPr lang="en-US" sz="2000" dirty="0">
                          <a:solidFill>
                            <a:srgbClr val="000000"/>
                          </a:solidFill>
                          <a:latin typeface="Arial"/>
                          <a:ea typeface="Arial"/>
                          <a:cs typeface="Arial"/>
                          <a:sym typeface="Arial"/>
                        </a:rPr>
                        <a:t> ra tai </a:t>
                      </a:r>
                      <a:r>
                        <a:rPr lang="en-US" sz="2000" dirty="0" err="1">
                          <a:solidFill>
                            <a:srgbClr val="000000"/>
                          </a:solidFill>
                          <a:latin typeface="Arial"/>
                          <a:ea typeface="Arial"/>
                          <a:cs typeface="Arial"/>
                          <a:sym typeface="Arial"/>
                        </a:rPr>
                        <a:t>nạn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và</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xác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của</a:t>
                      </a:r>
                      <a:r>
                        <a:rPr lang="en-US" sz="2000" dirty="0">
                          <a:solidFill>
                            <a:srgbClr val="000000"/>
                          </a:solidFill>
                          <a:latin typeface="Arial"/>
                          <a:ea typeface="Arial"/>
                          <a:cs typeface="Arial"/>
                          <a:sym typeface="Arial"/>
                        </a:rPr>
                        <a:t> CA).</a:t>
                      </a:r>
                    </a:p>
                    <a:p>
                      <a:pPr marL="863601" lvl="2" indent="-287867" algn="l">
                        <a:lnSpc>
                          <a:spcPts val="3110"/>
                        </a:lnSpc>
                        <a:buFont typeface="Arial"/>
                        <a:buChar char="⚬"/>
                      </a:pPr>
                      <a:r>
                        <a:rPr lang="en-US" sz="2000" b="1" u="sng" dirty="0">
                          <a:solidFill>
                            <a:srgbClr val="000000"/>
                          </a:solidFill>
                          <a:latin typeface="Arial Bold"/>
                          <a:ea typeface="Arial Bold"/>
                          <a:cs typeface="Arial Bold"/>
                          <a:sym typeface="Arial Bold"/>
                        </a:rPr>
                        <a:t>Do tai </a:t>
                      </a:r>
                      <a:r>
                        <a:rPr lang="en-US" sz="2000" b="1" u="sng" dirty="0" err="1">
                          <a:solidFill>
                            <a:srgbClr val="000000"/>
                          </a:solidFill>
                          <a:latin typeface="Arial Bold"/>
                          <a:ea typeface="Arial Bold"/>
                          <a:cs typeface="Arial Bold"/>
                          <a:sym typeface="Arial Bold"/>
                        </a:rPr>
                        <a:t>nạn</a:t>
                      </a:r>
                      <a:r>
                        <a:rPr lang="en-US" sz="2000" b="1" u="sng" dirty="0">
                          <a:solidFill>
                            <a:srgbClr val="000000"/>
                          </a:solidFill>
                          <a:latin typeface="Arial Bold"/>
                          <a:ea typeface="Arial Bold"/>
                          <a:cs typeface="Arial Bold"/>
                          <a:sym typeface="Arial Bold"/>
                        </a:rPr>
                        <a:t> </a:t>
                      </a:r>
                      <a:r>
                        <a:rPr lang="en-US" sz="2000" b="1" u="sng" dirty="0" err="1">
                          <a:solidFill>
                            <a:srgbClr val="000000"/>
                          </a:solidFill>
                          <a:latin typeface="Arial Bold"/>
                          <a:ea typeface="Arial Bold"/>
                          <a:cs typeface="Arial Bold"/>
                          <a:sym typeface="Arial Bold"/>
                        </a:rPr>
                        <a:t>lao</a:t>
                      </a:r>
                      <a:r>
                        <a:rPr lang="en-US" sz="2000" b="1" u="sng" dirty="0">
                          <a:solidFill>
                            <a:srgbClr val="000000"/>
                          </a:solidFill>
                          <a:latin typeface="Arial Bold"/>
                          <a:ea typeface="Arial Bold"/>
                          <a:cs typeface="Arial Bold"/>
                          <a:sym typeface="Arial Bold"/>
                        </a:rPr>
                        <a:t> </a:t>
                      </a:r>
                      <a:r>
                        <a:rPr lang="en-US" sz="2000" b="1" u="sng" dirty="0" err="1">
                          <a:solidFill>
                            <a:srgbClr val="000000"/>
                          </a:solidFill>
                          <a:latin typeface="Arial Bold"/>
                          <a:ea typeface="Arial Bold"/>
                          <a:cs typeface="Arial Bold"/>
                          <a:sym typeface="Arial Bold"/>
                        </a:rPr>
                        <a:t>động</a:t>
                      </a:r>
                      <a:r>
                        <a:rPr lang="en-US" sz="2000" b="1" dirty="0">
                          <a:solidFill>
                            <a:srgbClr val="000000"/>
                          </a:solidFill>
                          <a:latin typeface="Arial Bold"/>
                          <a:ea typeface="Arial Bold"/>
                          <a:cs typeface="Arial Bold"/>
                          <a:sym typeface="Arial Bold"/>
                        </a:rPr>
                        <a: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Biên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hiện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trường</a:t>
                      </a:r>
                      <a:r>
                        <a:rPr lang="en-US" sz="2000" dirty="0">
                          <a:solidFill>
                            <a:srgbClr val="000000"/>
                          </a:solidFill>
                          <a:latin typeface="Arial"/>
                          <a:ea typeface="Arial"/>
                          <a:cs typeface="Arial"/>
                          <a:sym typeface="Arial"/>
                        </a:rPr>
                        <a:t> tai </a:t>
                      </a:r>
                      <a:r>
                        <a:rPr lang="en-US" sz="2000" dirty="0" err="1">
                          <a:solidFill>
                            <a:srgbClr val="000000"/>
                          </a:solidFill>
                          <a:latin typeface="Arial"/>
                          <a:ea typeface="Arial"/>
                          <a:cs typeface="Arial"/>
                          <a:sym typeface="Arial"/>
                        </a:rPr>
                        <a:t>nạn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lao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động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sao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trường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hợp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biên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hiện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trường</a:t>
                      </a:r>
                      <a:r>
                        <a:rPr lang="en-US" sz="2000" dirty="0">
                          <a:solidFill>
                            <a:srgbClr val="000000"/>
                          </a:solidFill>
                          <a:latin typeface="Arial"/>
                          <a:ea typeface="Arial"/>
                          <a:cs typeface="Arial"/>
                          <a:sym typeface="Arial"/>
                        </a:rPr>
                        <a:t> do </a:t>
                      </a:r>
                      <a:r>
                        <a:rPr lang="en-US" sz="2000" dirty="0" err="1">
                          <a:solidFill>
                            <a:srgbClr val="000000"/>
                          </a:solidFill>
                          <a:latin typeface="Arial"/>
                          <a:ea typeface="Arial"/>
                          <a:cs typeface="Arial"/>
                          <a:sym typeface="Arial"/>
                        </a:rPr>
                        <a:t>bên</a:t>
                      </a:r>
                      <a:r>
                        <a:rPr lang="en-US" sz="2000" dirty="0">
                          <a:solidFill>
                            <a:srgbClr val="000000"/>
                          </a:solidFill>
                          <a:latin typeface="Arial"/>
                          <a:ea typeface="Arial"/>
                          <a:cs typeface="Arial"/>
                          <a:sym typeface="Arial"/>
                        </a:rPr>
                        <a:t> CA </a:t>
                      </a:r>
                      <a:r>
                        <a:rPr lang="en-US" sz="2000" dirty="0" err="1">
                          <a:solidFill>
                            <a:srgbClr val="000000"/>
                          </a:solidFill>
                          <a:latin typeface="Arial"/>
                          <a:ea typeface="Arial"/>
                          <a:cs typeface="Arial"/>
                          <a:sym typeface="Arial"/>
                        </a:rPr>
                        <a:t>chưa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làm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rõ</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vụ</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việc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thì</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hướng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dẫn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người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nhà</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làm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tường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trình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vụ</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việc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xảy</a:t>
                      </a:r>
                      <a:r>
                        <a:rPr lang="en-US" sz="2000" dirty="0">
                          <a:solidFill>
                            <a:srgbClr val="000000"/>
                          </a:solidFill>
                          <a:latin typeface="Arial"/>
                          <a:ea typeface="Arial"/>
                          <a:cs typeface="Arial"/>
                          <a:sym typeface="Arial"/>
                        </a:rPr>
                        <a:t> ra tai </a:t>
                      </a:r>
                      <a:r>
                        <a:rPr lang="en-US" sz="2000" dirty="0" err="1">
                          <a:solidFill>
                            <a:srgbClr val="000000"/>
                          </a:solidFill>
                          <a:latin typeface="Arial"/>
                          <a:ea typeface="Arial"/>
                          <a:cs typeface="Arial"/>
                          <a:sym typeface="Arial"/>
                        </a:rPr>
                        <a:t>nạn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và</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xác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của</a:t>
                      </a:r>
                      <a:r>
                        <a:rPr lang="en-US" sz="2000" dirty="0">
                          <a:solidFill>
                            <a:srgbClr val="000000"/>
                          </a:solidFill>
                          <a:latin typeface="Arial"/>
                          <a:ea typeface="Arial"/>
                          <a:cs typeface="Arial"/>
                          <a:sym typeface="Arial"/>
                        </a:rPr>
                        <a:t> CA).</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110"/>
                        </a:lnSpc>
                        <a:defRPr/>
                      </a:pPr>
                      <a:r>
                        <a:rPr lang="en-US" sz="2000" b="1" dirty="0">
                          <a:solidFill>
                            <a:srgbClr val="000000"/>
                          </a:solidFill>
                          <a:latin typeface="Arial Bold"/>
                          <a:ea typeface="Arial Bold"/>
                          <a:cs typeface="Arial Bold"/>
                          <a:sym typeface="Arial Bold"/>
                        </a:rPr>
                        <a:t>2. </a:t>
                      </a:r>
                      <a:r>
                        <a:rPr lang="en-US" sz="2000" b="1" dirty="0" err="1">
                          <a:solidFill>
                            <a:srgbClr val="000000"/>
                          </a:solidFill>
                          <a:latin typeface="Arial Bold"/>
                          <a:ea typeface="Arial Bold"/>
                          <a:cs typeface="Arial Bold"/>
                          <a:sym typeface="Arial Bold"/>
                        </a:rPr>
                        <a:t>Gửi</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hồ</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sơ</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theo</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hướng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dẫn</a:t>
                      </a:r>
                      <a:r>
                        <a:rPr lang="en-US" sz="2000" b="1" dirty="0">
                          <a:solidFill>
                            <a:srgbClr val="000000"/>
                          </a:solidFill>
                          <a:latin typeface="Arial Bold"/>
                          <a:ea typeface="Arial Bold"/>
                          <a:cs typeface="Arial Bold"/>
                          <a:sym typeface="Arial Bold"/>
                        </a:rPr>
                        <a:t> </a:t>
                      </a:r>
                      <a:endParaRPr lang="en-US" sz="1100" dirty="0"/>
                    </a:p>
                    <a:p>
                      <a:pPr marL="431801" lvl="1" indent="-215900" algn="l">
                        <a:lnSpc>
                          <a:spcPts val="3110"/>
                        </a:lnSpc>
                        <a:buFont typeface="Arial"/>
                        <a:buChar char="•"/>
                      </a:pPr>
                      <a:r>
                        <a:rPr lang="en-US" sz="2000" dirty="0" err="1">
                          <a:solidFill>
                            <a:srgbClr val="000000"/>
                          </a:solidFill>
                          <a:latin typeface="Arial"/>
                          <a:ea typeface="Arial"/>
                          <a:cs typeface="Arial"/>
                          <a:sym typeface="Arial"/>
                        </a:rPr>
                        <a:t>Người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gửi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Ghi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rõ</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Họ</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tên</a:t>
                      </a:r>
                      <a:r>
                        <a:rPr lang="en-US" sz="2000" dirty="0">
                          <a:solidFill>
                            <a:srgbClr val="000000"/>
                          </a:solidFill>
                          <a:latin typeface="Arial"/>
                          <a:ea typeface="Arial"/>
                          <a:cs typeface="Arial"/>
                          <a:sym typeface="Arial"/>
                        </a:rPr>
                        <a:t>, SĐT, </a:t>
                      </a:r>
                      <a:r>
                        <a:rPr lang="en-US" sz="2000" dirty="0" err="1">
                          <a:solidFill>
                            <a:srgbClr val="000000"/>
                          </a:solidFill>
                          <a:latin typeface="Arial"/>
                          <a:ea typeface="Arial"/>
                          <a:cs typeface="Arial"/>
                          <a:sym typeface="Arial"/>
                        </a:rPr>
                        <a:t>Địa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Chỉ</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Số</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Hợp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đồng</a:t>
                      </a:r>
                      <a:endParaRPr lang="en-US" sz="2000" dirty="0">
                        <a:solidFill>
                          <a:srgbClr val="000000"/>
                        </a:solidFill>
                        <a:latin typeface="Arial"/>
                        <a:ea typeface="Arial"/>
                        <a:cs typeface="Arial"/>
                        <a:sym typeface="Arial"/>
                      </a:endParaRPr>
                    </a:p>
                    <a:p>
                      <a:pPr marL="431801" lvl="1" indent="-215900" algn="l">
                        <a:lnSpc>
                          <a:spcPts val="3110"/>
                        </a:lnSpc>
                        <a:buFont typeface="Arial"/>
                        <a:buChar char="•"/>
                      </a:pPr>
                      <a:r>
                        <a:rPr lang="en-US" sz="2000" dirty="0" err="1">
                          <a:solidFill>
                            <a:srgbClr val="000000"/>
                          </a:solidFill>
                          <a:latin typeface="Arial"/>
                          <a:ea typeface="Arial"/>
                          <a:cs typeface="Arial"/>
                          <a:sym typeface="Arial"/>
                        </a:rPr>
                        <a:t>Người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nhận</a:t>
                      </a:r>
                      <a:r>
                        <a:rPr lang="en-US" sz="2000" dirty="0">
                          <a:solidFill>
                            <a:srgbClr val="000000"/>
                          </a:solidFill>
                          <a:latin typeface="Arial"/>
                          <a:ea typeface="Arial"/>
                          <a:cs typeface="Arial"/>
                          <a:sym typeface="Arial"/>
                        </a:rPr>
                        <a:t>: </a:t>
                      </a:r>
                    </a:p>
                    <a:p>
                      <a:pPr marL="863601" lvl="2" indent="-287867" algn="l">
                        <a:lnSpc>
                          <a:spcPts val="3110"/>
                        </a:lnSpc>
                        <a:buFont typeface="Arial"/>
                        <a:buChar char="⚬"/>
                      </a:pPr>
                      <a:r>
                        <a:rPr lang="en-US" sz="2000" dirty="0">
                          <a:solidFill>
                            <a:srgbClr val="000000"/>
                          </a:solidFill>
                          <a:latin typeface="Arial"/>
                          <a:ea typeface="Arial"/>
                          <a:cs typeface="Arial"/>
                          <a:sym typeface="Arial"/>
                        </a:rPr>
                        <a:t>Phan </a:t>
                      </a:r>
                      <a:r>
                        <a:rPr lang="en-US" sz="2000" dirty="0" err="1">
                          <a:solidFill>
                            <a:srgbClr val="000000"/>
                          </a:solidFill>
                          <a:latin typeface="Arial"/>
                          <a:ea typeface="Arial"/>
                          <a:cs typeface="Arial"/>
                          <a:sym typeface="Arial"/>
                        </a:rPr>
                        <a:t>Thị</a:t>
                      </a:r>
                      <a:r>
                        <a:rPr lang="en-US" sz="2000" dirty="0">
                          <a:solidFill>
                            <a:srgbClr val="000000"/>
                          </a:solidFill>
                          <a:latin typeface="Arial"/>
                          <a:ea typeface="Arial"/>
                          <a:cs typeface="Arial"/>
                          <a:sym typeface="Arial"/>
                        </a:rPr>
                        <a:t> Anh </a:t>
                      </a:r>
                      <a:r>
                        <a:rPr lang="en-US" sz="2000" dirty="0" err="1">
                          <a:solidFill>
                            <a:srgbClr val="000000"/>
                          </a:solidFill>
                          <a:latin typeface="Arial"/>
                          <a:ea typeface="Arial"/>
                          <a:cs typeface="Arial"/>
                          <a:sym typeface="Arial"/>
                        </a:rPr>
                        <a:t>Đài</a:t>
                      </a:r>
                      <a:endParaRPr lang="en-US" sz="2000" dirty="0">
                        <a:solidFill>
                          <a:srgbClr val="000000"/>
                        </a:solidFill>
                        <a:latin typeface="Arial"/>
                        <a:ea typeface="Arial"/>
                        <a:cs typeface="Arial"/>
                        <a:sym typeface="Arial"/>
                      </a:endParaRPr>
                    </a:p>
                    <a:p>
                      <a:pPr marL="863601" lvl="2" indent="-287867" algn="l">
                        <a:lnSpc>
                          <a:spcPts val="3110"/>
                        </a:lnSpc>
                        <a:buFont typeface="Arial"/>
                        <a:buChar char="⚬"/>
                      </a:pPr>
                      <a:r>
                        <a:rPr lang="en-US" sz="2000" dirty="0" err="1">
                          <a:solidFill>
                            <a:srgbClr val="000000"/>
                          </a:solidFill>
                          <a:latin typeface="Arial"/>
                          <a:ea typeface="Arial"/>
                          <a:cs typeface="Arial"/>
                          <a:sym typeface="Arial"/>
                        </a:rPr>
                        <a:t>Công</a:t>
                      </a:r>
                      <a:r>
                        <a:rPr lang="en-US" sz="2000" dirty="0">
                          <a:solidFill>
                            <a:srgbClr val="000000"/>
                          </a:solidFill>
                          <a:latin typeface="Arial"/>
                          <a:ea typeface="Arial"/>
                          <a:cs typeface="Arial"/>
                          <a:sym typeface="Arial"/>
                        </a:rPr>
                        <a:t> ty </a:t>
                      </a:r>
                      <a:r>
                        <a:rPr lang="en-US" sz="2000" dirty="0" err="1">
                          <a:solidFill>
                            <a:srgbClr val="000000"/>
                          </a:solidFill>
                          <a:latin typeface="Arial"/>
                          <a:ea typeface="Arial"/>
                          <a:cs typeface="Arial"/>
                          <a:sym typeface="Arial"/>
                        </a:rPr>
                        <a:t>Tài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chính</a:t>
                      </a:r>
                      <a:r>
                        <a:rPr lang="en-US" sz="2000" dirty="0">
                          <a:solidFill>
                            <a:srgbClr val="000000"/>
                          </a:solidFill>
                          <a:latin typeface="Arial"/>
                          <a:ea typeface="Arial"/>
                          <a:cs typeface="Arial"/>
                          <a:sym typeface="Arial"/>
                        </a:rPr>
                        <a:t> TNHH </a:t>
                      </a:r>
                      <a:r>
                        <a:rPr lang="en-US" sz="2000" dirty="0" err="1">
                          <a:solidFill>
                            <a:srgbClr val="000000"/>
                          </a:solidFill>
                          <a:latin typeface="Arial"/>
                          <a:ea typeface="Arial"/>
                          <a:cs typeface="Arial"/>
                          <a:sym typeface="Arial"/>
                        </a:rPr>
                        <a:t>Ngân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hàng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Việt</a:t>
                      </a:r>
                      <a:r>
                        <a:rPr lang="en-US" sz="2000" dirty="0">
                          <a:solidFill>
                            <a:srgbClr val="000000"/>
                          </a:solidFill>
                          <a:latin typeface="Arial"/>
                          <a:ea typeface="Arial"/>
                          <a:cs typeface="Arial"/>
                          <a:sym typeface="Arial"/>
                        </a:rPr>
                        <a:t> Nam </a:t>
                      </a:r>
                      <a:r>
                        <a:rPr lang="en-US" sz="2000" dirty="0" err="1">
                          <a:solidFill>
                            <a:srgbClr val="000000"/>
                          </a:solidFill>
                          <a:latin typeface="Arial"/>
                          <a:ea typeface="Arial"/>
                          <a:cs typeface="Arial"/>
                          <a:sym typeface="Arial"/>
                        </a:rPr>
                        <a:t>Thịnh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Vượng</a:t>
                      </a:r>
                      <a:r>
                        <a:rPr lang="en-US" sz="2000" dirty="0">
                          <a:solidFill>
                            <a:srgbClr val="000000"/>
                          </a:solidFill>
                          <a:latin typeface="Arial"/>
                          <a:ea typeface="Arial"/>
                          <a:cs typeface="Arial"/>
                          <a:sym typeface="Arial"/>
                        </a:rPr>
                        <a:t> SMBC</a:t>
                      </a:r>
                    </a:p>
                    <a:p>
                      <a:pPr marL="863601" lvl="2" indent="-287867" algn="l">
                        <a:lnSpc>
                          <a:spcPts val="3110"/>
                        </a:lnSpc>
                        <a:buFont typeface="Arial"/>
                        <a:buChar char="⚬"/>
                      </a:pPr>
                      <a:r>
                        <a:rPr lang="en-US" sz="2000" dirty="0" err="1">
                          <a:solidFill>
                            <a:srgbClr val="000000"/>
                          </a:solidFill>
                          <a:latin typeface="Arial"/>
                          <a:ea typeface="Arial"/>
                          <a:cs typeface="Arial"/>
                          <a:sym typeface="Arial"/>
                        </a:rPr>
                        <a:t>Tòa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nhà</a:t>
                      </a:r>
                      <a:r>
                        <a:rPr lang="en-US" sz="2000" dirty="0">
                          <a:solidFill>
                            <a:srgbClr val="000000"/>
                          </a:solidFill>
                          <a:latin typeface="Arial"/>
                          <a:ea typeface="Arial"/>
                          <a:cs typeface="Arial"/>
                          <a:sym typeface="Arial"/>
                        </a:rPr>
                        <a:t> FE Credit, </a:t>
                      </a:r>
                      <a:r>
                        <a:rPr lang="en-US" sz="2000" dirty="0" err="1">
                          <a:solidFill>
                            <a:srgbClr val="000000"/>
                          </a:solidFill>
                          <a:latin typeface="Arial"/>
                          <a:ea typeface="Arial"/>
                          <a:cs typeface="Arial"/>
                          <a:sym typeface="Arial"/>
                        </a:rPr>
                        <a:t>Số</a:t>
                      </a:r>
                      <a:r>
                        <a:rPr lang="en-US" sz="2000" dirty="0">
                          <a:solidFill>
                            <a:srgbClr val="000000"/>
                          </a:solidFill>
                          <a:latin typeface="Arial"/>
                          <a:ea typeface="Arial"/>
                          <a:cs typeface="Arial"/>
                          <a:sym typeface="Arial"/>
                        </a:rPr>
                        <a:t> 144 </a:t>
                      </a:r>
                      <a:r>
                        <a:rPr lang="en-US" sz="2000" dirty="0" err="1">
                          <a:solidFill>
                            <a:srgbClr val="000000"/>
                          </a:solidFill>
                          <a:latin typeface="Arial"/>
                          <a:ea typeface="Arial"/>
                          <a:cs typeface="Arial"/>
                          <a:sym typeface="Arial"/>
                        </a:rPr>
                        <a:t>Cộng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Hòa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Phường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Hiền</a:t>
                      </a:r>
                      <a:r>
                        <a:rPr lang="en-US" sz="2000" dirty="0">
                          <a:solidFill>
                            <a:srgbClr val="000000"/>
                          </a:solidFill>
                          <a:latin typeface="Arial"/>
                          <a:ea typeface="Arial"/>
                          <a:cs typeface="Arial"/>
                          <a:sym typeface="Arial"/>
                        </a:rPr>
                        <a:t>, TP.HCM.</a:t>
                      </a:r>
                    </a:p>
                    <a:p>
                      <a:pPr marL="817035" lvl="3" indent="-204259" algn="l">
                        <a:lnSpc>
                          <a:spcPts val="3110"/>
                        </a:lnSpc>
                      </a:pPr>
                      <a:endParaRPr lang="en-US" sz="2000" dirty="0">
                        <a:solidFill>
                          <a:srgbClr val="000000"/>
                        </a:solidFill>
                        <a:latin typeface="Arial"/>
                        <a:ea typeface="Arial"/>
                        <a:cs typeface="Arial"/>
                        <a:sym typeface="Arial"/>
                      </a:endParaRPr>
                    </a:p>
                    <a:p>
                      <a:pPr algn="l">
                        <a:lnSpc>
                          <a:spcPts val="3110"/>
                        </a:lnSpc>
                      </a:pPr>
                      <a:r>
                        <a:rPr lang="en-US" sz="2000" b="1" dirty="0">
                          <a:solidFill>
                            <a:srgbClr val="000000"/>
                          </a:solidFill>
                          <a:latin typeface="Arial Bold"/>
                          <a:ea typeface="Arial Bold"/>
                          <a:cs typeface="Arial Bold"/>
                          <a:sym typeface="Arial Bold"/>
                        </a:rPr>
                        <a:t>3. </a:t>
                      </a:r>
                      <a:r>
                        <a:rPr lang="en-US" sz="2000" b="1" dirty="0" err="1">
                          <a:solidFill>
                            <a:srgbClr val="000000"/>
                          </a:solidFill>
                          <a:latin typeface="Arial Bold"/>
                          <a:ea typeface="Arial Bold"/>
                          <a:cs typeface="Arial Bold"/>
                          <a:sym typeface="Arial Bold"/>
                        </a:rPr>
                        <a:t>Thông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báo</a:t>
                      </a:r>
                      <a:r>
                        <a:rPr lang="en-US" sz="2000" b="1" dirty="0">
                          <a:solidFill>
                            <a:srgbClr val="000000"/>
                          </a:solidFill>
                          <a:latin typeface="Arial Bold"/>
                          <a:ea typeface="Arial Bold"/>
                          <a:cs typeface="Arial Bold"/>
                          <a:sym typeface="Arial Bold"/>
                        </a:rPr>
                        <a:t>:</a:t>
                      </a:r>
                      <a:r>
                        <a:rPr lang="en-US" sz="2000" dirty="0">
                          <a:solidFill>
                            <a:srgbClr val="000000"/>
                          </a:solidFill>
                          <a:latin typeface="Arial"/>
                          <a:ea typeface="Arial"/>
                          <a:cs typeface="Arial"/>
                          <a:sym typeface="Arial"/>
                        </a:rPr>
                        <a:t> "Khi </a:t>
                      </a:r>
                      <a:r>
                        <a:rPr lang="en-US" sz="2000" dirty="0" err="1">
                          <a:solidFill>
                            <a:srgbClr val="000000"/>
                          </a:solidFill>
                          <a:latin typeface="Arial"/>
                          <a:ea typeface="Arial"/>
                          <a:cs typeface="Arial"/>
                          <a:sym typeface="Arial"/>
                        </a:rPr>
                        <a:t>gửi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hồ</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sơ</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về</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em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là</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anh</a:t>
                      </a:r>
                      <a:r>
                        <a:rPr lang="en-US" sz="2000" dirty="0">
                          <a:solidFill>
                            <a:srgbClr val="000000"/>
                          </a:solidFill>
                          <a:latin typeface="Arial"/>
                          <a:ea typeface="Arial"/>
                          <a:cs typeface="Arial"/>
                          <a:sym typeface="Arial"/>
                        </a:rPr>
                        <a:t>/</a:t>
                      </a:r>
                      <a:r>
                        <a:rPr lang="en-US" sz="2000" dirty="0" err="1">
                          <a:solidFill>
                            <a:srgbClr val="000000"/>
                          </a:solidFill>
                          <a:latin typeface="Arial"/>
                          <a:ea typeface="Arial"/>
                          <a:cs typeface="Arial"/>
                          <a:sym typeface="Arial"/>
                        </a:rPr>
                        <a:t>chị</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đã</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đồng</a:t>
                      </a:r>
                      <a:r>
                        <a:rPr lang="en-US" sz="2000" dirty="0">
                          <a:solidFill>
                            <a:srgbClr val="000000"/>
                          </a:solidFill>
                          <a:latin typeface="Arial"/>
                          <a:ea typeface="Arial"/>
                          <a:cs typeface="Arial"/>
                          <a:sym typeface="Arial"/>
                        </a:rPr>
                        <a:t> ý </a:t>
                      </a:r>
                      <a:r>
                        <a:rPr lang="en-US" sz="2000" dirty="0" err="1">
                          <a:solidFill>
                            <a:srgbClr val="000000"/>
                          </a:solidFill>
                          <a:latin typeface="Arial"/>
                          <a:ea typeface="Arial"/>
                          <a:cs typeface="Arial"/>
                          <a:sym typeface="Arial"/>
                        </a:rPr>
                        <a:t>cho</a:t>
                      </a:r>
                      <a:r>
                        <a:rPr lang="en-US" sz="2000" dirty="0">
                          <a:solidFill>
                            <a:srgbClr val="000000"/>
                          </a:solidFill>
                          <a:latin typeface="Arial"/>
                          <a:ea typeface="Arial"/>
                          <a:cs typeface="Arial"/>
                          <a:sym typeface="Arial"/>
                        </a:rPr>
                        <a:t> Fe Credit </a:t>
                      </a:r>
                      <a:r>
                        <a:rPr lang="en-US" sz="2000" dirty="0" err="1">
                          <a:solidFill>
                            <a:srgbClr val="000000"/>
                          </a:solidFill>
                          <a:latin typeface="Arial"/>
                          <a:ea typeface="Arial"/>
                          <a:cs typeface="Arial"/>
                          <a:sym typeface="Arial"/>
                        </a:rPr>
                        <a:t>chuyển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 </a:t>
                      </a:r>
                      <a:r>
                        <a:rPr lang="en-US" sz="2000" dirty="0" err="1">
                          <a:solidFill>
                            <a:srgbClr val="000000"/>
                          </a:solidFill>
                          <a:latin typeface="Arial"/>
                          <a:ea typeface="Arial"/>
                          <a:cs typeface="Arial"/>
                          <a:sym typeface="Arial"/>
                        </a:rPr>
                        <a:t>của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anh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chị</a:t>
                      </a:r>
                      <a:r>
                        <a:rPr lang="en-US" sz="2000" dirty="0">
                          <a:solidFill>
                            <a:srgbClr val="000000"/>
                          </a:solidFill>
                          <a:latin typeface="Arial"/>
                          <a:ea typeface="Arial"/>
                          <a:cs typeface="Arial"/>
                          <a:sym typeface="Arial"/>
                        </a:rPr>
                        <a:t> sang </a:t>
                      </a:r>
                      <a:r>
                        <a:rPr lang="en-US" sz="2000" dirty="0" err="1">
                          <a:solidFill>
                            <a:srgbClr val="000000"/>
                          </a:solidFill>
                          <a:latin typeface="Arial"/>
                          <a:ea typeface="Arial"/>
                          <a:cs typeface="Arial"/>
                          <a:sym typeface="Arial"/>
                        </a:rPr>
                        <a:t>công</a:t>
                      </a:r>
                      <a:r>
                        <a:rPr lang="en-US" sz="2000" dirty="0">
                          <a:solidFill>
                            <a:srgbClr val="000000"/>
                          </a:solidFill>
                          <a:latin typeface="Arial"/>
                          <a:ea typeface="Arial"/>
                          <a:cs typeface="Arial"/>
                          <a:sym typeface="Arial"/>
                        </a:rPr>
                        <a:t> ty </a:t>
                      </a:r>
                      <a:r>
                        <a:rPr lang="en-US" sz="2000" dirty="0" err="1">
                          <a:solidFill>
                            <a:srgbClr val="000000"/>
                          </a:solidFill>
                          <a:latin typeface="Arial"/>
                          <a:ea typeface="Arial"/>
                          <a:cs typeface="Arial"/>
                          <a:sym typeface="Arial"/>
                        </a:rPr>
                        <a:t>Bảo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hiểm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để</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liên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hệ</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về</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các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vấn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đề</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liên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quan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đến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xử</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lý</a:t>
                      </a:r>
                      <a:r>
                        <a:rPr lang="en-US" sz="2000" dirty="0">
                          <a:solidFill>
                            <a:srgbClr val="000000"/>
                          </a:solidFill>
                          <a:latin typeface="Arial"/>
                          <a:ea typeface="Arial"/>
                          <a:cs typeface="Arial"/>
                          <a:sym typeface="Arial"/>
                        </a:rPr>
                        <a:t> BH </a:t>
                      </a:r>
                      <a:r>
                        <a:rPr lang="en-US" sz="2000" dirty="0" err="1">
                          <a:solidFill>
                            <a:srgbClr val="000000"/>
                          </a:solidFill>
                          <a:latin typeface="Arial"/>
                          <a:ea typeface="Arial"/>
                          <a:cs typeface="Arial"/>
                          <a:sym typeface="Arial"/>
                        </a:rPr>
                        <a:t>cho</a:t>
                      </a:r>
                      <a:r>
                        <a:rPr lang="en-US" sz="2000" dirty="0">
                          <a:solidFill>
                            <a:srgbClr val="000000"/>
                          </a:solidFill>
                          <a:latin typeface="Arial"/>
                          <a:ea typeface="Arial"/>
                          <a:cs typeface="Arial"/>
                          <a:sym typeface="Arial"/>
                        </a:rPr>
                        <a:t> KH."</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110"/>
                        </a:lnSpc>
                        <a:defRPr/>
                      </a:pPr>
                      <a:r>
                        <a:rPr lang="en-US" sz="2000" b="1" dirty="0">
                          <a:solidFill>
                            <a:srgbClr val="000000"/>
                          </a:solidFill>
                          <a:latin typeface="Arial Bold"/>
                          <a:ea typeface="Arial Bold"/>
                          <a:cs typeface="Arial Bold"/>
                          <a:sym typeface="Arial Bold"/>
                        </a:rPr>
                        <a:t>Code:</a:t>
                      </a:r>
                      <a:r>
                        <a:rPr lang="en-US" sz="2000" dirty="0">
                          <a:solidFill>
                            <a:srgbClr val="000000"/>
                          </a:solidFill>
                          <a:latin typeface="Arial"/>
                          <a:ea typeface="Arial"/>
                          <a:cs typeface="Arial"/>
                          <a:sym typeface="Arial"/>
                        </a:rPr>
                        <a:t> IL13-Bảo </a:t>
                      </a:r>
                      <a:r>
                        <a:rPr lang="en-US" sz="2000" dirty="0" err="1">
                          <a:solidFill>
                            <a:srgbClr val="000000"/>
                          </a:solidFill>
                          <a:latin typeface="Arial"/>
                          <a:ea typeface="Arial"/>
                          <a:cs typeface="Arial"/>
                          <a:sym typeface="Arial"/>
                        </a:rPr>
                        <a:t>hiểm</a:t>
                      </a:r>
                      <a:endParaRPr lang="en-US" sz="1100" dirty="0"/>
                    </a:p>
                    <a:p>
                      <a:pPr algn="l">
                        <a:lnSpc>
                          <a:spcPts val="3110"/>
                        </a:lnSpc>
                      </a:pPr>
                      <a:r>
                        <a:rPr lang="en-US" sz="2000" b="1" dirty="0">
                          <a:solidFill>
                            <a:srgbClr val="000000"/>
                          </a:solidFill>
                          <a:latin typeface="Arial Bold"/>
                          <a:ea typeface="Arial Bold"/>
                          <a:cs typeface="Arial Bold"/>
                          <a:sym typeface="Arial Bold"/>
                        </a:rPr>
                        <a:t>Sub:</a:t>
                      </a:r>
                      <a:r>
                        <a:rPr lang="en-US" sz="2000" dirty="0">
                          <a:solidFill>
                            <a:srgbClr val="000000"/>
                          </a:solidFill>
                          <a:latin typeface="Arial"/>
                          <a:ea typeface="Arial"/>
                          <a:cs typeface="Arial"/>
                          <a:sym typeface="Arial"/>
                        </a:rPr>
                        <a:t> IL13.02-Thủ </a:t>
                      </a:r>
                      <a:r>
                        <a:rPr lang="en-US" sz="2000" dirty="0" err="1">
                          <a:solidFill>
                            <a:srgbClr val="000000"/>
                          </a:solidFill>
                          <a:latin typeface="Arial"/>
                          <a:ea typeface="Arial"/>
                          <a:cs typeface="Arial"/>
                          <a:sym typeface="Arial"/>
                        </a:rPr>
                        <a:t>tục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bồi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thường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hiểm</a:t>
                      </a:r>
                      <a:endParaRPr lang="en-US" sz="2000" dirty="0">
                        <a:solidFill>
                          <a:srgbClr val="000000"/>
                        </a:solidFill>
                        <a:latin typeface="Arial"/>
                        <a:ea typeface="Arial"/>
                        <a:cs typeface="Arial"/>
                        <a:sym typeface="Arial"/>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grpSp>
        <p:nvGrpSpPr>
          <p:cNvPr id="3" name="Group 3"/>
          <p:cNvGrpSpPr/>
          <p:nvPr/>
        </p:nvGrpSpPr>
        <p:grpSpPr>
          <a:xfrm>
            <a:off x="15691018" y="9790919"/>
            <a:ext cx="2421922" cy="346996"/>
            <a:chOff x="0" y="0"/>
            <a:chExt cx="3229229" cy="462661"/>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145" r="-145"/>
              </a:stretch>
            </a:blipFill>
          </p:spPr>
        </p:sp>
      </p:grpSp>
      <p:sp>
        <p:nvSpPr>
          <p:cNvPr id="5" name="Freeform 5"/>
          <p:cNvSpPr/>
          <p:nvPr/>
        </p:nvSpPr>
        <p:spPr>
          <a:xfrm>
            <a:off x="5858" y="-328298"/>
            <a:ext cx="20000147" cy="1306449"/>
          </a:xfrm>
          <a:custGeom>
            <a:avLst/>
            <a:gdLst/>
            <a:ahLst/>
            <a:cxnLst/>
            <a:rect l="l" t="t" r="r" b="b"/>
            <a:pathLst>
              <a:path w="20000147" h="1306449">
                <a:moveTo>
                  <a:pt x="0" y="0"/>
                </a:moveTo>
                <a:lnTo>
                  <a:pt x="20000147" y="0"/>
                </a:lnTo>
                <a:lnTo>
                  <a:pt x="20000147"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t="-300" b="-300"/>
            </a:stretch>
          </a:blipFill>
        </p:spPr>
      </p:sp>
      <p:sp>
        <p:nvSpPr>
          <p:cNvPr id="6" name="TextBox 6"/>
          <p:cNvSpPr txBox="1"/>
          <p:nvPr/>
        </p:nvSpPr>
        <p:spPr>
          <a:xfrm>
            <a:off x="2940584" y="210626"/>
            <a:ext cx="12406833" cy="663530"/>
          </a:xfrm>
          <a:prstGeom prst="rect">
            <a:avLst/>
          </a:prstGeom>
        </p:spPr>
        <p:txBody>
          <a:bodyPr lIns="0" tIns="0" rIns="0" bIns="0" rtlCol="0" anchor="t">
            <a:spAutoFit/>
          </a:bodyPr>
          <a:lstStyle/>
          <a:p>
            <a:pPr algn="ctr">
              <a:lnSpc>
                <a:spcPts val="5200"/>
              </a:lnSpc>
            </a:pPr>
            <a:r>
              <a:rPr lang="en-US" sz="3999" b="1">
                <a:solidFill>
                  <a:srgbClr val="000000"/>
                </a:solidFill>
                <a:latin typeface="Arial Bold"/>
                <a:ea typeface="Arial Bold"/>
                <a:cs typeface="Arial Bold"/>
                <a:sym typeface="Arial Bold"/>
              </a:rPr>
              <a:t>THỦ TỤC BỒI THƯỜNG BẢO HIỂM- KH TỬ VONG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2317441243"/>
              </p:ext>
            </p:extLst>
          </p:nvPr>
        </p:nvGraphicFramePr>
        <p:xfrm>
          <a:off x="182323" y="1528379"/>
          <a:ext cx="17923354" cy="7010400"/>
        </p:xfrm>
        <a:graphic>
          <a:graphicData uri="http://schemas.openxmlformats.org/drawingml/2006/table">
            <a:tbl>
              <a:tblPr/>
              <a:tblGrid>
                <a:gridCol w="8709798">
                  <a:extLst>
                    <a:ext uri="{9D8B030D-6E8A-4147-A177-3AD203B41FA5}">
                      <a16:colId xmlns:a16="http://schemas.microsoft.com/office/drawing/2014/main" val="20000"/>
                    </a:ext>
                  </a:extLst>
                </a:gridCol>
                <a:gridCol w="5949857">
                  <a:extLst>
                    <a:ext uri="{9D8B030D-6E8A-4147-A177-3AD203B41FA5}">
                      <a16:colId xmlns:a16="http://schemas.microsoft.com/office/drawing/2014/main" val="20001"/>
                    </a:ext>
                  </a:extLst>
                </a:gridCol>
                <a:gridCol w="3263699">
                  <a:extLst>
                    <a:ext uri="{9D8B030D-6E8A-4147-A177-3AD203B41FA5}">
                      <a16:colId xmlns:a16="http://schemas.microsoft.com/office/drawing/2014/main" val="20002"/>
                    </a:ext>
                  </a:extLst>
                </a:gridCol>
              </a:tblGrid>
              <a:tr h="822282">
                <a:tc gridSpan="2">
                  <a:txBody>
                    <a:bodyPr/>
                    <a:lstStyle/>
                    <a:p>
                      <a:pPr algn="ctr">
                        <a:lnSpc>
                          <a:spcPts val="3751"/>
                        </a:lnSpc>
                        <a:defRPr/>
                      </a:pPr>
                      <a:r>
                        <a:rPr lang="en-US" sz="2000" b="1" spc="11">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hMerge="1">
                  <a:txBody>
                    <a:bodyPr/>
                    <a:lstStyle/>
                    <a:p>
                      <a:pPr algn="ctr">
                        <a:lnSpc>
                          <a:spcPts val="3751"/>
                        </a:lnSpc>
                        <a:defRPr/>
                      </a:pPr>
                      <a:r>
                        <a:rPr lang="en-US" sz="2000" b="1" spc="11">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1"/>
                        </a:lnSpc>
                        <a:defRPr/>
                      </a:pPr>
                      <a:r>
                        <a:rPr lang="en-US" sz="2000" b="1" spc="11">
                          <a:solidFill>
                            <a:srgbClr val="FFFFFF"/>
                          </a:solidFill>
                          <a:latin typeface="Arial Bold"/>
                          <a:ea typeface="Arial Bold"/>
                          <a:cs typeface="Arial Bold"/>
                          <a:sym typeface="Arial Bold"/>
                        </a:rPr>
                        <a:t>CODE/ REMARK</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6188118">
                <a:tc>
                  <a:txBody>
                    <a:bodyPr/>
                    <a:lstStyle/>
                    <a:p>
                      <a:pPr algn="l">
                        <a:lnSpc>
                          <a:spcPts val="3110"/>
                        </a:lnSpc>
                        <a:defRPr/>
                      </a:pPr>
                      <a:r>
                        <a:rPr lang="en-US" sz="2000" b="1" dirty="0">
                          <a:solidFill>
                            <a:srgbClr val="000000"/>
                          </a:solidFill>
                          <a:latin typeface="Arial Bold"/>
                          <a:ea typeface="Arial Bold"/>
                          <a:cs typeface="Arial Bold"/>
                          <a:sym typeface="Arial Bold"/>
                        </a:rPr>
                        <a:t>1. </a:t>
                      </a:r>
                      <a:r>
                        <a:rPr lang="en-US" sz="2000" b="1" dirty="0" err="1">
                          <a:solidFill>
                            <a:srgbClr val="000000"/>
                          </a:solidFill>
                          <a:latin typeface="Arial Bold"/>
                          <a:ea typeface="Arial Bold"/>
                          <a:cs typeface="Arial Bold"/>
                          <a:sym typeface="Arial Bold"/>
                        </a:rPr>
                        <a:t>Hướng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dẫn</a:t>
                      </a:r>
                      <a:r>
                        <a:rPr lang="en-US" sz="2000" b="1" dirty="0">
                          <a:solidFill>
                            <a:srgbClr val="000000"/>
                          </a:solidFill>
                          <a:latin typeface="Arial Bold"/>
                          <a:ea typeface="Arial Bold"/>
                          <a:cs typeface="Arial Bold"/>
                          <a:sym typeface="Arial Bold"/>
                        </a:rPr>
                        <a:t> KH </a:t>
                      </a:r>
                      <a:r>
                        <a:rPr lang="en-US" sz="2000" b="1" dirty="0" err="1">
                          <a:solidFill>
                            <a:srgbClr val="000000"/>
                          </a:solidFill>
                          <a:latin typeface="Arial Bold"/>
                          <a:ea typeface="Arial Bold"/>
                          <a:cs typeface="Arial Bold"/>
                          <a:sym typeface="Arial Bold"/>
                        </a:rPr>
                        <a:t>chuẩn</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bị</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chứng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từ</a:t>
                      </a:r>
                      <a:endParaRPr lang="en-US" sz="1100" dirty="0"/>
                    </a:p>
                    <a:p>
                      <a:pPr marL="431801" lvl="1" indent="-215900" algn="l">
                        <a:lnSpc>
                          <a:spcPts val="3110"/>
                        </a:lnSpc>
                        <a:buFont typeface="Arial"/>
                        <a:buChar char="•"/>
                      </a:pPr>
                      <a:r>
                        <a:rPr lang="en-US" sz="2000" dirty="0">
                          <a:solidFill>
                            <a:srgbClr val="000000"/>
                          </a:solidFill>
                          <a:latin typeface="Arial"/>
                          <a:ea typeface="Arial"/>
                          <a:cs typeface="Arial"/>
                          <a:sym typeface="Arial"/>
                        </a:rPr>
                        <a:t>CMND/ CCCD </a:t>
                      </a:r>
                      <a:r>
                        <a:rPr lang="en-US" sz="2000" dirty="0" err="1">
                          <a:solidFill>
                            <a:srgbClr val="000000"/>
                          </a:solidFill>
                          <a:latin typeface="Arial"/>
                          <a:ea typeface="Arial"/>
                          <a:cs typeface="Arial"/>
                          <a:sym typeface="Arial"/>
                        </a:rPr>
                        <a:t>sao</a:t>
                      </a:r>
                      <a:r>
                        <a:rPr lang="en-US" sz="2000" dirty="0">
                          <a:solidFill>
                            <a:srgbClr val="000000"/>
                          </a:solidFill>
                          <a:latin typeface="Arial"/>
                          <a:ea typeface="Arial"/>
                          <a:cs typeface="Arial"/>
                          <a:sym typeface="Arial"/>
                        </a:rPr>
                        <a:t> y HOẶC </a:t>
                      </a:r>
                      <a:r>
                        <a:rPr lang="en-US" sz="2000" dirty="0" err="1">
                          <a:solidFill>
                            <a:srgbClr val="000000"/>
                          </a:solidFill>
                          <a:latin typeface="Arial"/>
                          <a:ea typeface="Arial"/>
                          <a:cs typeface="Arial"/>
                          <a:sym typeface="Arial"/>
                        </a:rPr>
                        <a:t>Giấy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định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danh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điện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tử</a:t>
                      </a:r>
                      <a:r>
                        <a:rPr lang="en-US" sz="2000" dirty="0">
                          <a:solidFill>
                            <a:srgbClr val="000000"/>
                          </a:solidFill>
                          <a:latin typeface="Arial"/>
                          <a:ea typeface="Arial"/>
                          <a:cs typeface="Arial"/>
                          <a:sym typeface="Arial"/>
                        </a:rPr>
                        <a:t> </a:t>
                      </a:r>
                    </a:p>
                    <a:p>
                      <a:pPr marL="431801" lvl="1" indent="-215900" algn="l">
                        <a:lnSpc>
                          <a:spcPts val="3455"/>
                        </a:lnSpc>
                        <a:buFont typeface="Arial"/>
                        <a:buChar char="•"/>
                      </a:pPr>
                      <a:r>
                        <a:rPr lang="en-US" sz="2000" dirty="0" err="1">
                          <a:solidFill>
                            <a:srgbClr val="000000"/>
                          </a:solidFill>
                          <a:latin typeface="Arial"/>
                          <a:ea typeface="Arial"/>
                          <a:cs typeface="Arial"/>
                          <a:sym typeface="Arial"/>
                        </a:rPr>
                        <a:t>Giấy</a:t>
                      </a:r>
                      <a:r>
                        <a:rPr lang="en-US" sz="2000" dirty="0">
                          <a:solidFill>
                            <a:srgbClr val="000000"/>
                          </a:solidFill>
                          <a:latin typeface="Arial"/>
                          <a:ea typeface="Arial"/>
                          <a:cs typeface="Arial"/>
                          <a:sym typeface="Arial"/>
                        </a:rPr>
                        <a:t> ra </a:t>
                      </a:r>
                      <a:r>
                        <a:rPr lang="en-US" sz="2000" dirty="0" err="1">
                          <a:solidFill>
                            <a:srgbClr val="000000"/>
                          </a:solidFill>
                          <a:latin typeface="Arial"/>
                          <a:ea typeface="Arial"/>
                          <a:cs typeface="Arial"/>
                          <a:sym typeface="Arial"/>
                        </a:rPr>
                        <a:t>viện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hoặc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chứng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từ</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nêu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rõ</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bệnh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án</a:t>
                      </a:r>
                      <a:r>
                        <a:rPr lang="en-US" sz="2000" dirty="0">
                          <a:solidFill>
                            <a:srgbClr val="000000"/>
                          </a:solidFill>
                          <a:latin typeface="Arial"/>
                          <a:ea typeface="Arial"/>
                          <a:cs typeface="Arial"/>
                          <a:sym typeface="Arial"/>
                        </a:rPr>
                        <a:t> do </a:t>
                      </a:r>
                      <a:r>
                        <a:rPr lang="en-US" sz="2000" dirty="0" err="1">
                          <a:solidFill>
                            <a:srgbClr val="000000"/>
                          </a:solidFill>
                          <a:latin typeface="Arial"/>
                          <a:ea typeface="Arial"/>
                          <a:cs typeface="Arial"/>
                          <a:sym typeface="Arial"/>
                        </a:rPr>
                        <a:t>bệnh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viện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cung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cấp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sao</a:t>
                      </a:r>
                      <a:r>
                        <a:rPr lang="en-US" sz="2000" dirty="0">
                          <a:solidFill>
                            <a:srgbClr val="000000"/>
                          </a:solidFill>
                          <a:latin typeface="Arial"/>
                          <a:ea typeface="Arial"/>
                          <a:cs typeface="Arial"/>
                          <a:sym typeface="Arial"/>
                        </a:rPr>
                        <a:t> y)</a:t>
                      </a:r>
                    </a:p>
                    <a:p>
                      <a:pPr marL="431801" lvl="1" indent="-215900" algn="l">
                        <a:lnSpc>
                          <a:spcPts val="3455"/>
                        </a:lnSpc>
                        <a:buFont typeface="Arial"/>
                        <a:buChar char="•"/>
                      </a:pPr>
                      <a:r>
                        <a:rPr lang="en-US" sz="2000" dirty="0" err="1">
                          <a:solidFill>
                            <a:srgbClr val="000000"/>
                          </a:solidFill>
                          <a:latin typeface="Arial"/>
                          <a:ea typeface="Arial"/>
                          <a:cs typeface="Arial"/>
                          <a:sym typeface="Arial"/>
                        </a:rPr>
                        <a:t>Giấy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giám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định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khách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hàng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mất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khả</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năng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lao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động</a:t>
                      </a:r>
                      <a:r>
                        <a:rPr lang="en-US" sz="2000" dirty="0">
                          <a:solidFill>
                            <a:srgbClr val="000000"/>
                          </a:solidFill>
                          <a:latin typeface="Arial"/>
                          <a:ea typeface="Arial"/>
                          <a:cs typeface="Arial"/>
                          <a:sym typeface="Arial"/>
                        </a:rPr>
                        <a:t> của </a:t>
                      </a:r>
                      <a:r>
                        <a:rPr lang="en-US" sz="2000" dirty="0" err="1">
                          <a:solidFill>
                            <a:srgbClr val="000000"/>
                          </a:solidFill>
                          <a:latin typeface="Arial"/>
                          <a:ea typeface="Arial"/>
                          <a:cs typeface="Arial"/>
                          <a:sym typeface="Arial"/>
                        </a:rPr>
                        <a:t>Hội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Đồng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giám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định</a:t>
                      </a:r>
                      <a:r>
                        <a:rPr lang="en-US" sz="2000" dirty="0">
                          <a:solidFill>
                            <a:srgbClr val="000000"/>
                          </a:solidFill>
                          <a:latin typeface="Arial"/>
                          <a:ea typeface="Arial"/>
                          <a:cs typeface="Arial"/>
                          <a:sym typeface="Arial"/>
                        </a:rPr>
                        <a:t> y khoa – </a:t>
                      </a:r>
                      <a:r>
                        <a:rPr lang="en-US" sz="2000" dirty="0" err="1">
                          <a:solidFill>
                            <a:srgbClr val="000000"/>
                          </a:solidFill>
                          <a:latin typeface="Arial"/>
                          <a:ea typeface="Arial"/>
                          <a:cs typeface="Arial"/>
                          <a:sym typeface="Arial"/>
                        </a:rPr>
                        <a:t>Sở</a:t>
                      </a:r>
                      <a:r>
                        <a:rPr lang="en-US" sz="2000" dirty="0">
                          <a:solidFill>
                            <a:srgbClr val="000000"/>
                          </a:solidFill>
                          <a:latin typeface="Arial"/>
                          <a:ea typeface="Arial"/>
                          <a:cs typeface="Arial"/>
                          <a:sym typeface="Arial"/>
                        </a:rPr>
                        <a:t> Y </a:t>
                      </a:r>
                      <a:r>
                        <a:rPr lang="en-US" sz="2000" dirty="0" err="1">
                          <a:solidFill>
                            <a:srgbClr val="000000"/>
                          </a:solidFill>
                          <a:latin typeface="Arial"/>
                          <a:ea typeface="Arial"/>
                          <a:cs typeface="Arial"/>
                          <a:sym typeface="Arial"/>
                        </a:rPr>
                        <a:t>Tế</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tỷ</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lệ</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tổn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thương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cơ</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thể</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vĩnh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viễn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từ</a:t>
                      </a:r>
                      <a:r>
                        <a:rPr lang="en-US" sz="2000" dirty="0">
                          <a:solidFill>
                            <a:srgbClr val="000000"/>
                          </a:solidFill>
                          <a:latin typeface="Arial"/>
                          <a:ea typeface="Arial"/>
                          <a:cs typeface="Arial"/>
                          <a:sym typeface="Arial"/>
                        </a:rPr>
                        <a:t> 81% </a:t>
                      </a:r>
                      <a:r>
                        <a:rPr lang="en-US" sz="2000" dirty="0" err="1">
                          <a:solidFill>
                            <a:srgbClr val="000000"/>
                          </a:solidFill>
                          <a:latin typeface="Arial"/>
                          <a:ea typeface="Arial"/>
                          <a:cs typeface="Arial"/>
                          <a:sym typeface="Arial"/>
                        </a:rPr>
                        <a:t>trở</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sao</a:t>
                      </a:r>
                      <a:r>
                        <a:rPr lang="en-US" sz="2000" dirty="0">
                          <a:solidFill>
                            <a:srgbClr val="000000"/>
                          </a:solidFill>
                          <a:latin typeface="Arial"/>
                          <a:ea typeface="Arial"/>
                          <a:cs typeface="Arial"/>
                          <a:sym typeface="Arial"/>
                        </a:rPr>
                        <a:t> y (</a:t>
                      </a:r>
                      <a:r>
                        <a:rPr lang="en-US" sz="2000" dirty="0" err="1">
                          <a:solidFill>
                            <a:srgbClr val="000000"/>
                          </a:solidFill>
                          <a:latin typeface="Arial"/>
                          <a:ea typeface="Arial"/>
                          <a:cs typeface="Arial"/>
                          <a:sym typeface="Arial"/>
                        </a:rPr>
                        <a:t>Công</a:t>
                      </a:r>
                      <a:r>
                        <a:rPr lang="en-US" sz="2000" dirty="0">
                          <a:solidFill>
                            <a:srgbClr val="000000"/>
                          </a:solidFill>
                          <a:latin typeface="Arial"/>
                          <a:ea typeface="Arial"/>
                          <a:cs typeface="Arial"/>
                          <a:sym typeface="Arial"/>
                        </a:rPr>
                        <a:t> ty </a:t>
                      </a:r>
                      <a:r>
                        <a:rPr lang="en-US" sz="2000" dirty="0" err="1">
                          <a:solidFill>
                            <a:srgbClr val="000000"/>
                          </a:solidFill>
                          <a:latin typeface="Arial"/>
                          <a:ea typeface="Arial"/>
                          <a:cs typeface="Arial"/>
                          <a:sym typeface="Arial"/>
                        </a:rPr>
                        <a:t>bảo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hiểm</a:t>
                      </a:r>
                      <a:r>
                        <a:rPr lang="en-US" sz="2000" dirty="0">
                          <a:solidFill>
                            <a:srgbClr val="000000"/>
                          </a:solidFill>
                          <a:latin typeface="Arial"/>
                          <a:ea typeface="Arial"/>
                          <a:cs typeface="Arial"/>
                          <a:sym typeface="Arial"/>
                        </a:rPr>
                        <a:t> PTI </a:t>
                      </a:r>
                      <a:r>
                        <a:rPr lang="en-US" sz="2000" dirty="0" err="1">
                          <a:solidFill>
                            <a:srgbClr val="000000"/>
                          </a:solidFill>
                          <a:latin typeface="Arial"/>
                          <a:ea typeface="Arial"/>
                          <a:cs typeface="Arial"/>
                          <a:sym typeface="Arial"/>
                        </a:rPr>
                        <a:t>từ</a:t>
                      </a:r>
                      <a:r>
                        <a:rPr lang="en-US" sz="2000" dirty="0">
                          <a:solidFill>
                            <a:srgbClr val="000000"/>
                          </a:solidFill>
                          <a:latin typeface="Arial"/>
                          <a:ea typeface="Arial"/>
                          <a:cs typeface="Arial"/>
                          <a:sym typeface="Arial"/>
                        </a:rPr>
                        <a:t> 60%).</a:t>
                      </a:r>
                    </a:p>
                    <a:p>
                      <a:pPr marL="431801" lvl="1" indent="-215900" algn="l">
                        <a:lnSpc>
                          <a:spcPts val="3455"/>
                        </a:lnSpc>
                        <a:buFont typeface="Arial"/>
                        <a:buChar char="•"/>
                      </a:pPr>
                      <a:r>
                        <a:rPr lang="en-US" sz="2000" dirty="0" err="1">
                          <a:solidFill>
                            <a:srgbClr val="000000"/>
                          </a:solidFill>
                          <a:latin typeface="Arial"/>
                          <a:ea typeface="Arial"/>
                          <a:cs typeface="Arial"/>
                          <a:sym typeface="Arial"/>
                        </a:rPr>
                        <a:t>Trường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hợp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khách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hàng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muốn</a:t>
                      </a:r>
                      <a:r>
                        <a:rPr lang="en-US" sz="2000" dirty="0">
                          <a:solidFill>
                            <a:srgbClr val="000000"/>
                          </a:solidFill>
                          <a:latin typeface="Arial"/>
                          <a:ea typeface="Arial"/>
                          <a:cs typeface="Arial"/>
                          <a:sym typeface="Arial"/>
                        </a:rPr>
                        <a:t> đi </a:t>
                      </a:r>
                      <a:r>
                        <a:rPr lang="en-US" sz="2000" dirty="0" err="1">
                          <a:solidFill>
                            <a:srgbClr val="000000"/>
                          </a:solidFill>
                          <a:latin typeface="Arial"/>
                          <a:ea typeface="Arial"/>
                          <a:cs typeface="Arial"/>
                          <a:sym typeface="Arial"/>
                        </a:rPr>
                        <a:t>giám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định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tỷ</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lệ</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thương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tật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cần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xin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giấy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giới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thiệu</a:t>
                      </a:r>
                      <a:r>
                        <a:rPr lang="en-US" sz="2000" dirty="0">
                          <a:solidFill>
                            <a:srgbClr val="000000"/>
                          </a:solidFill>
                          <a:latin typeface="Arial"/>
                          <a:ea typeface="Arial"/>
                          <a:cs typeface="Arial"/>
                          <a:sym typeface="Arial"/>
                        </a:rPr>
                        <a:t> thì </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hướng</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dẫn</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đây</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a:t>
                      </a:r>
                      <a:endParaRPr lang="en-US" sz="2000" b="1" i="1" u="sng" kern="1200" dirty="0">
                        <a:solidFill>
                          <a:srgbClr val="65B444"/>
                        </a:solidFill>
                        <a:latin typeface="Arial Bold Italics"/>
                        <a:ea typeface="Arial Bold Italics"/>
                        <a:cs typeface="Arial Bold Italics"/>
                        <a:sym typeface="Arial Bold Italics"/>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110"/>
                        </a:lnSpc>
                        <a:defRPr/>
                      </a:pPr>
                      <a:r>
                        <a:rPr lang="en-US" sz="2000" b="1" dirty="0">
                          <a:solidFill>
                            <a:srgbClr val="000000"/>
                          </a:solidFill>
                          <a:latin typeface="Arial Bold"/>
                          <a:ea typeface="Arial Bold"/>
                          <a:cs typeface="Arial Bold"/>
                          <a:sym typeface="Arial Bold"/>
                        </a:rPr>
                        <a:t>2. </a:t>
                      </a:r>
                      <a:r>
                        <a:rPr lang="en-US" sz="2000" b="1" dirty="0" err="1">
                          <a:solidFill>
                            <a:srgbClr val="000000"/>
                          </a:solidFill>
                          <a:latin typeface="Arial Bold"/>
                          <a:ea typeface="Arial Bold"/>
                          <a:cs typeface="Arial Bold"/>
                          <a:sym typeface="Arial Bold"/>
                        </a:rPr>
                        <a:t>Gửi</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hồ</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sơ</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theo</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hướng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dẫn</a:t>
                      </a:r>
                      <a:r>
                        <a:rPr lang="en-US" sz="2000" b="1" dirty="0">
                          <a:solidFill>
                            <a:srgbClr val="000000"/>
                          </a:solidFill>
                          <a:latin typeface="Arial Bold"/>
                          <a:ea typeface="Arial Bold"/>
                          <a:cs typeface="Arial Bold"/>
                          <a:sym typeface="Arial Bold"/>
                        </a:rPr>
                        <a:t> </a:t>
                      </a:r>
                      <a:endParaRPr lang="en-US" sz="1100" dirty="0"/>
                    </a:p>
                    <a:p>
                      <a:pPr marL="431801" lvl="1" indent="-215900" algn="l">
                        <a:lnSpc>
                          <a:spcPts val="3110"/>
                        </a:lnSpc>
                        <a:buFont typeface="Arial"/>
                        <a:buChar char="•"/>
                      </a:pPr>
                      <a:r>
                        <a:rPr lang="en-US" sz="2000" dirty="0" err="1">
                          <a:solidFill>
                            <a:srgbClr val="000000"/>
                          </a:solidFill>
                          <a:latin typeface="Arial"/>
                          <a:ea typeface="Arial"/>
                          <a:cs typeface="Arial"/>
                          <a:sym typeface="Arial"/>
                        </a:rPr>
                        <a:t>Người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gửi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Ghi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rõ</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Họ</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tên</a:t>
                      </a:r>
                      <a:r>
                        <a:rPr lang="en-US" sz="2000" dirty="0">
                          <a:solidFill>
                            <a:srgbClr val="000000"/>
                          </a:solidFill>
                          <a:latin typeface="Arial"/>
                          <a:ea typeface="Arial"/>
                          <a:cs typeface="Arial"/>
                          <a:sym typeface="Arial"/>
                        </a:rPr>
                        <a:t>, SĐT, </a:t>
                      </a:r>
                      <a:r>
                        <a:rPr lang="en-US" sz="2000" dirty="0" err="1">
                          <a:solidFill>
                            <a:srgbClr val="000000"/>
                          </a:solidFill>
                          <a:latin typeface="Arial"/>
                          <a:ea typeface="Arial"/>
                          <a:cs typeface="Arial"/>
                          <a:sym typeface="Arial"/>
                        </a:rPr>
                        <a:t>Địa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Chỉ</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Số</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Hợp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đồng</a:t>
                      </a:r>
                      <a:endParaRPr lang="en-US" sz="2000" dirty="0">
                        <a:solidFill>
                          <a:srgbClr val="000000"/>
                        </a:solidFill>
                        <a:latin typeface="Arial"/>
                        <a:ea typeface="Arial"/>
                        <a:cs typeface="Arial"/>
                        <a:sym typeface="Arial"/>
                      </a:endParaRPr>
                    </a:p>
                    <a:p>
                      <a:pPr marL="431801" lvl="1" indent="-215900" algn="l">
                        <a:lnSpc>
                          <a:spcPts val="3110"/>
                        </a:lnSpc>
                        <a:buFont typeface="Arial"/>
                        <a:buChar char="•"/>
                      </a:pPr>
                      <a:r>
                        <a:rPr lang="en-US" sz="2000" dirty="0" err="1">
                          <a:solidFill>
                            <a:srgbClr val="000000"/>
                          </a:solidFill>
                          <a:latin typeface="Arial"/>
                          <a:ea typeface="Arial"/>
                          <a:cs typeface="Arial"/>
                          <a:sym typeface="Arial"/>
                        </a:rPr>
                        <a:t>Người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nhận</a:t>
                      </a:r>
                      <a:r>
                        <a:rPr lang="en-US" sz="2000" dirty="0">
                          <a:solidFill>
                            <a:srgbClr val="000000"/>
                          </a:solidFill>
                          <a:latin typeface="Arial"/>
                          <a:ea typeface="Arial"/>
                          <a:cs typeface="Arial"/>
                          <a:sym typeface="Arial"/>
                        </a:rPr>
                        <a:t>: </a:t>
                      </a:r>
                    </a:p>
                    <a:p>
                      <a:pPr marL="863601" lvl="2" indent="-287867" algn="l">
                        <a:lnSpc>
                          <a:spcPts val="3110"/>
                        </a:lnSpc>
                        <a:buFont typeface="Arial"/>
                        <a:buChar char="⚬"/>
                      </a:pPr>
                      <a:r>
                        <a:rPr lang="en-US" sz="2000" dirty="0">
                          <a:solidFill>
                            <a:srgbClr val="000000"/>
                          </a:solidFill>
                          <a:latin typeface="Arial"/>
                          <a:ea typeface="Arial"/>
                          <a:cs typeface="Arial"/>
                          <a:sym typeface="Arial"/>
                        </a:rPr>
                        <a:t>Phan </a:t>
                      </a:r>
                      <a:r>
                        <a:rPr lang="en-US" sz="2000" dirty="0" err="1">
                          <a:solidFill>
                            <a:srgbClr val="000000"/>
                          </a:solidFill>
                          <a:latin typeface="Arial"/>
                          <a:ea typeface="Arial"/>
                          <a:cs typeface="Arial"/>
                          <a:sym typeface="Arial"/>
                        </a:rPr>
                        <a:t>Thị</a:t>
                      </a:r>
                      <a:r>
                        <a:rPr lang="en-US" sz="2000" dirty="0">
                          <a:solidFill>
                            <a:srgbClr val="000000"/>
                          </a:solidFill>
                          <a:latin typeface="Arial"/>
                          <a:ea typeface="Arial"/>
                          <a:cs typeface="Arial"/>
                          <a:sym typeface="Arial"/>
                        </a:rPr>
                        <a:t> Anh </a:t>
                      </a:r>
                      <a:r>
                        <a:rPr lang="en-US" sz="2000" dirty="0" err="1">
                          <a:solidFill>
                            <a:srgbClr val="000000"/>
                          </a:solidFill>
                          <a:latin typeface="Arial"/>
                          <a:ea typeface="Arial"/>
                          <a:cs typeface="Arial"/>
                          <a:sym typeface="Arial"/>
                        </a:rPr>
                        <a:t>Đài</a:t>
                      </a:r>
                      <a:endParaRPr lang="en-US" sz="2000" dirty="0">
                        <a:solidFill>
                          <a:srgbClr val="000000"/>
                        </a:solidFill>
                        <a:latin typeface="Arial"/>
                        <a:ea typeface="Arial"/>
                        <a:cs typeface="Arial"/>
                        <a:sym typeface="Arial"/>
                      </a:endParaRPr>
                    </a:p>
                    <a:p>
                      <a:pPr marL="863601" lvl="2" indent="-287867" algn="l">
                        <a:lnSpc>
                          <a:spcPts val="3110"/>
                        </a:lnSpc>
                        <a:buFont typeface="Arial"/>
                        <a:buChar char="⚬"/>
                      </a:pPr>
                      <a:r>
                        <a:rPr lang="en-US" sz="2000" dirty="0" err="1">
                          <a:solidFill>
                            <a:srgbClr val="000000"/>
                          </a:solidFill>
                          <a:latin typeface="Arial"/>
                          <a:ea typeface="Arial"/>
                          <a:cs typeface="Arial"/>
                          <a:sym typeface="Arial"/>
                        </a:rPr>
                        <a:t>Công</a:t>
                      </a:r>
                      <a:r>
                        <a:rPr lang="en-US" sz="2000" dirty="0">
                          <a:solidFill>
                            <a:srgbClr val="000000"/>
                          </a:solidFill>
                          <a:latin typeface="Arial"/>
                          <a:ea typeface="Arial"/>
                          <a:cs typeface="Arial"/>
                          <a:sym typeface="Arial"/>
                        </a:rPr>
                        <a:t> ty </a:t>
                      </a:r>
                      <a:r>
                        <a:rPr lang="en-US" sz="2000" dirty="0" err="1">
                          <a:solidFill>
                            <a:srgbClr val="000000"/>
                          </a:solidFill>
                          <a:latin typeface="Arial"/>
                          <a:ea typeface="Arial"/>
                          <a:cs typeface="Arial"/>
                          <a:sym typeface="Arial"/>
                        </a:rPr>
                        <a:t>Tài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chính</a:t>
                      </a:r>
                      <a:r>
                        <a:rPr lang="en-US" sz="2000" dirty="0">
                          <a:solidFill>
                            <a:srgbClr val="000000"/>
                          </a:solidFill>
                          <a:latin typeface="Arial"/>
                          <a:ea typeface="Arial"/>
                          <a:cs typeface="Arial"/>
                          <a:sym typeface="Arial"/>
                        </a:rPr>
                        <a:t> TNHH </a:t>
                      </a:r>
                      <a:r>
                        <a:rPr lang="en-US" sz="2000" dirty="0" err="1">
                          <a:solidFill>
                            <a:srgbClr val="000000"/>
                          </a:solidFill>
                          <a:latin typeface="Arial"/>
                          <a:ea typeface="Arial"/>
                          <a:cs typeface="Arial"/>
                          <a:sym typeface="Arial"/>
                        </a:rPr>
                        <a:t>Ngân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hàng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Việt</a:t>
                      </a:r>
                      <a:r>
                        <a:rPr lang="en-US" sz="2000" dirty="0">
                          <a:solidFill>
                            <a:srgbClr val="000000"/>
                          </a:solidFill>
                          <a:latin typeface="Arial"/>
                          <a:ea typeface="Arial"/>
                          <a:cs typeface="Arial"/>
                          <a:sym typeface="Arial"/>
                        </a:rPr>
                        <a:t> Nam </a:t>
                      </a:r>
                      <a:r>
                        <a:rPr lang="en-US" sz="2000" dirty="0" err="1">
                          <a:solidFill>
                            <a:srgbClr val="000000"/>
                          </a:solidFill>
                          <a:latin typeface="Arial"/>
                          <a:ea typeface="Arial"/>
                          <a:cs typeface="Arial"/>
                          <a:sym typeface="Arial"/>
                        </a:rPr>
                        <a:t>Thịnh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Vượng</a:t>
                      </a:r>
                      <a:r>
                        <a:rPr lang="en-US" sz="2000" dirty="0">
                          <a:solidFill>
                            <a:srgbClr val="000000"/>
                          </a:solidFill>
                          <a:latin typeface="Arial"/>
                          <a:ea typeface="Arial"/>
                          <a:cs typeface="Arial"/>
                          <a:sym typeface="Arial"/>
                        </a:rPr>
                        <a:t> SMBC</a:t>
                      </a:r>
                    </a:p>
                    <a:p>
                      <a:pPr marL="863601" lvl="2" indent="-287867" algn="l">
                        <a:lnSpc>
                          <a:spcPts val="3110"/>
                        </a:lnSpc>
                        <a:buFont typeface="Arial"/>
                        <a:buChar char="⚬"/>
                      </a:pPr>
                      <a:r>
                        <a:rPr lang="en-US" sz="2000" dirty="0" err="1">
                          <a:solidFill>
                            <a:srgbClr val="000000"/>
                          </a:solidFill>
                          <a:latin typeface="Arial"/>
                          <a:ea typeface="Arial"/>
                          <a:cs typeface="Arial"/>
                          <a:sym typeface="Arial"/>
                        </a:rPr>
                        <a:t>Tòa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nhà</a:t>
                      </a:r>
                      <a:r>
                        <a:rPr lang="en-US" sz="2000" dirty="0">
                          <a:solidFill>
                            <a:srgbClr val="000000"/>
                          </a:solidFill>
                          <a:latin typeface="Arial"/>
                          <a:ea typeface="Arial"/>
                          <a:cs typeface="Arial"/>
                          <a:sym typeface="Arial"/>
                        </a:rPr>
                        <a:t> FE Credit, </a:t>
                      </a:r>
                      <a:r>
                        <a:rPr lang="en-US" sz="2000" dirty="0" err="1">
                          <a:solidFill>
                            <a:srgbClr val="000000"/>
                          </a:solidFill>
                          <a:latin typeface="Arial"/>
                          <a:ea typeface="Arial"/>
                          <a:cs typeface="Arial"/>
                          <a:sym typeface="Arial"/>
                        </a:rPr>
                        <a:t>Số</a:t>
                      </a:r>
                      <a:r>
                        <a:rPr lang="en-US" sz="2000" dirty="0">
                          <a:solidFill>
                            <a:srgbClr val="000000"/>
                          </a:solidFill>
                          <a:latin typeface="Arial"/>
                          <a:ea typeface="Arial"/>
                          <a:cs typeface="Arial"/>
                          <a:sym typeface="Arial"/>
                        </a:rPr>
                        <a:t> 144 </a:t>
                      </a:r>
                      <a:r>
                        <a:rPr lang="en-US" sz="2000" dirty="0" err="1">
                          <a:solidFill>
                            <a:srgbClr val="000000"/>
                          </a:solidFill>
                          <a:latin typeface="Arial"/>
                          <a:ea typeface="Arial"/>
                          <a:cs typeface="Arial"/>
                          <a:sym typeface="Arial"/>
                        </a:rPr>
                        <a:t>Cộng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Hòa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Phường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Hiền</a:t>
                      </a:r>
                      <a:r>
                        <a:rPr lang="en-US" sz="2000" dirty="0">
                          <a:solidFill>
                            <a:srgbClr val="000000"/>
                          </a:solidFill>
                          <a:latin typeface="Arial"/>
                          <a:ea typeface="Arial"/>
                          <a:cs typeface="Arial"/>
                          <a:sym typeface="Arial"/>
                        </a:rPr>
                        <a:t>, TP.HCM.</a:t>
                      </a:r>
                    </a:p>
                    <a:p>
                      <a:pPr marL="817035" lvl="3" indent="-204259" algn="l">
                        <a:lnSpc>
                          <a:spcPts val="3110"/>
                        </a:lnSpc>
                      </a:pPr>
                      <a:endParaRPr lang="en-US" sz="2000" dirty="0">
                        <a:solidFill>
                          <a:srgbClr val="000000"/>
                        </a:solidFill>
                        <a:latin typeface="Arial"/>
                        <a:ea typeface="Arial"/>
                        <a:cs typeface="Arial"/>
                        <a:sym typeface="Arial"/>
                      </a:endParaRPr>
                    </a:p>
                    <a:p>
                      <a:pPr algn="l">
                        <a:lnSpc>
                          <a:spcPts val="3110"/>
                        </a:lnSpc>
                      </a:pPr>
                      <a:r>
                        <a:rPr lang="en-US" sz="2000" b="1" dirty="0">
                          <a:solidFill>
                            <a:srgbClr val="000000"/>
                          </a:solidFill>
                          <a:latin typeface="Arial Bold"/>
                          <a:ea typeface="Arial Bold"/>
                          <a:cs typeface="Arial Bold"/>
                          <a:sym typeface="Arial Bold"/>
                        </a:rPr>
                        <a:t>3. </a:t>
                      </a:r>
                      <a:r>
                        <a:rPr lang="en-US" sz="2000" b="1" dirty="0" err="1">
                          <a:solidFill>
                            <a:srgbClr val="000000"/>
                          </a:solidFill>
                          <a:latin typeface="Arial Bold"/>
                          <a:ea typeface="Arial Bold"/>
                          <a:cs typeface="Arial Bold"/>
                          <a:sym typeface="Arial Bold"/>
                        </a:rPr>
                        <a:t>Thông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báo</a:t>
                      </a:r>
                      <a:r>
                        <a:rPr lang="en-US" sz="2000" b="1" dirty="0">
                          <a:solidFill>
                            <a:srgbClr val="000000"/>
                          </a:solidFill>
                          <a:latin typeface="Arial Bold"/>
                          <a:ea typeface="Arial Bold"/>
                          <a:cs typeface="Arial Bold"/>
                          <a:sym typeface="Arial Bold"/>
                        </a:rPr>
                        <a:t>:</a:t>
                      </a:r>
                      <a:r>
                        <a:rPr lang="en-US" sz="2000" dirty="0">
                          <a:solidFill>
                            <a:srgbClr val="000000"/>
                          </a:solidFill>
                          <a:latin typeface="Arial"/>
                          <a:ea typeface="Arial"/>
                          <a:cs typeface="Arial"/>
                          <a:sym typeface="Arial"/>
                        </a:rPr>
                        <a:t> "Khi </a:t>
                      </a:r>
                      <a:r>
                        <a:rPr lang="en-US" sz="2000" dirty="0" err="1">
                          <a:solidFill>
                            <a:srgbClr val="000000"/>
                          </a:solidFill>
                          <a:latin typeface="Arial"/>
                          <a:ea typeface="Arial"/>
                          <a:cs typeface="Arial"/>
                          <a:sym typeface="Arial"/>
                        </a:rPr>
                        <a:t>gửi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hồ</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sơ</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về</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em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là</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anh</a:t>
                      </a:r>
                      <a:r>
                        <a:rPr lang="en-US" sz="2000" dirty="0">
                          <a:solidFill>
                            <a:srgbClr val="000000"/>
                          </a:solidFill>
                          <a:latin typeface="Arial"/>
                          <a:ea typeface="Arial"/>
                          <a:cs typeface="Arial"/>
                          <a:sym typeface="Arial"/>
                        </a:rPr>
                        <a:t>/</a:t>
                      </a:r>
                      <a:r>
                        <a:rPr lang="en-US" sz="2000" dirty="0" err="1">
                          <a:solidFill>
                            <a:srgbClr val="000000"/>
                          </a:solidFill>
                          <a:latin typeface="Arial"/>
                          <a:ea typeface="Arial"/>
                          <a:cs typeface="Arial"/>
                          <a:sym typeface="Arial"/>
                        </a:rPr>
                        <a:t>chị</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đã</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đồng</a:t>
                      </a:r>
                      <a:r>
                        <a:rPr lang="en-US" sz="2000" dirty="0">
                          <a:solidFill>
                            <a:srgbClr val="000000"/>
                          </a:solidFill>
                          <a:latin typeface="Arial"/>
                          <a:ea typeface="Arial"/>
                          <a:cs typeface="Arial"/>
                          <a:sym typeface="Arial"/>
                        </a:rPr>
                        <a:t> ý </a:t>
                      </a:r>
                      <a:r>
                        <a:rPr lang="en-US" sz="2000" dirty="0" err="1">
                          <a:solidFill>
                            <a:srgbClr val="000000"/>
                          </a:solidFill>
                          <a:latin typeface="Arial"/>
                          <a:ea typeface="Arial"/>
                          <a:cs typeface="Arial"/>
                          <a:sym typeface="Arial"/>
                        </a:rPr>
                        <a:t>cho</a:t>
                      </a:r>
                      <a:r>
                        <a:rPr lang="en-US" sz="2000" dirty="0">
                          <a:solidFill>
                            <a:srgbClr val="000000"/>
                          </a:solidFill>
                          <a:latin typeface="Arial"/>
                          <a:ea typeface="Arial"/>
                          <a:cs typeface="Arial"/>
                          <a:sym typeface="Arial"/>
                        </a:rPr>
                        <a:t> Fe Credit </a:t>
                      </a:r>
                      <a:r>
                        <a:rPr lang="en-US" sz="2000" dirty="0" err="1">
                          <a:solidFill>
                            <a:srgbClr val="000000"/>
                          </a:solidFill>
                          <a:latin typeface="Arial"/>
                          <a:ea typeface="Arial"/>
                          <a:cs typeface="Arial"/>
                          <a:sym typeface="Arial"/>
                        </a:rPr>
                        <a:t>chuyển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 </a:t>
                      </a:r>
                      <a:r>
                        <a:rPr lang="en-US" sz="2000" dirty="0" err="1">
                          <a:solidFill>
                            <a:srgbClr val="000000"/>
                          </a:solidFill>
                          <a:latin typeface="Arial"/>
                          <a:ea typeface="Arial"/>
                          <a:cs typeface="Arial"/>
                          <a:sym typeface="Arial"/>
                        </a:rPr>
                        <a:t>của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anh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chị</a:t>
                      </a:r>
                      <a:r>
                        <a:rPr lang="en-US" sz="2000" dirty="0">
                          <a:solidFill>
                            <a:srgbClr val="000000"/>
                          </a:solidFill>
                          <a:latin typeface="Arial"/>
                          <a:ea typeface="Arial"/>
                          <a:cs typeface="Arial"/>
                          <a:sym typeface="Arial"/>
                        </a:rPr>
                        <a:t> sang </a:t>
                      </a:r>
                      <a:r>
                        <a:rPr lang="en-US" sz="2000" dirty="0" err="1">
                          <a:solidFill>
                            <a:srgbClr val="000000"/>
                          </a:solidFill>
                          <a:latin typeface="Arial"/>
                          <a:ea typeface="Arial"/>
                          <a:cs typeface="Arial"/>
                          <a:sym typeface="Arial"/>
                        </a:rPr>
                        <a:t>công</a:t>
                      </a:r>
                      <a:r>
                        <a:rPr lang="en-US" sz="2000" dirty="0">
                          <a:solidFill>
                            <a:srgbClr val="000000"/>
                          </a:solidFill>
                          <a:latin typeface="Arial"/>
                          <a:ea typeface="Arial"/>
                          <a:cs typeface="Arial"/>
                          <a:sym typeface="Arial"/>
                        </a:rPr>
                        <a:t> ty </a:t>
                      </a:r>
                      <a:r>
                        <a:rPr lang="en-US" sz="2000" dirty="0" err="1">
                          <a:solidFill>
                            <a:srgbClr val="000000"/>
                          </a:solidFill>
                          <a:latin typeface="Arial"/>
                          <a:ea typeface="Arial"/>
                          <a:cs typeface="Arial"/>
                          <a:sym typeface="Arial"/>
                        </a:rPr>
                        <a:t>Bảo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hiểm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để</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liên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hệ</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về</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các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vấn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đề</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liên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quan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đến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xử</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lý</a:t>
                      </a:r>
                      <a:r>
                        <a:rPr lang="en-US" sz="2000" dirty="0">
                          <a:solidFill>
                            <a:srgbClr val="000000"/>
                          </a:solidFill>
                          <a:latin typeface="Arial"/>
                          <a:ea typeface="Arial"/>
                          <a:cs typeface="Arial"/>
                          <a:sym typeface="Arial"/>
                        </a:rPr>
                        <a:t> BH </a:t>
                      </a:r>
                      <a:r>
                        <a:rPr lang="en-US" sz="2000" dirty="0" err="1">
                          <a:solidFill>
                            <a:srgbClr val="000000"/>
                          </a:solidFill>
                          <a:latin typeface="Arial"/>
                          <a:ea typeface="Arial"/>
                          <a:cs typeface="Arial"/>
                          <a:sym typeface="Arial"/>
                        </a:rPr>
                        <a:t>cho</a:t>
                      </a:r>
                      <a:r>
                        <a:rPr lang="en-US" sz="2000" dirty="0">
                          <a:solidFill>
                            <a:srgbClr val="000000"/>
                          </a:solidFill>
                          <a:latin typeface="Arial"/>
                          <a:ea typeface="Arial"/>
                          <a:cs typeface="Arial"/>
                          <a:sym typeface="Arial"/>
                        </a:rPr>
                        <a:t> KH."</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110"/>
                        </a:lnSpc>
                        <a:defRPr/>
                      </a:pPr>
                      <a:r>
                        <a:rPr lang="en-US" sz="2000" b="1" dirty="0">
                          <a:solidFill>
                            <a:srgbClr val="000000"/>
                          </a:solidFill>
                          <a:latin typeface="Arial Bold"/>
                          <a:ea typeface="Arial Bold"/>
                          <a:cs typeface="Arial Bold"/>
                          <a:sym typeface="Arial Bold"/>
                        </a:rPr>
                        <a:t>Code:</a:t>
                      </a:r>
                      <a:r>
                        <a:rPr lang="en-US" sz="2000" dirty="0">
                          <a:solidFill>
                            <a:srgbClr val="000000"/>
                          </a:solidFill>
                          <a:latin typeface="Arial"/>
                          <a:ea typeface="Arial"/>
                          <a:cs typeface="Arial"/>
                          <a:sym typeface="Arial"/>
                        </a:rPr>
                        <a:t> IL13-Bảo </a:t>
                      </a:r>
                      <a:r>
                        <a:rPr lang="en-US" sz="2000" dirty="0" err="1">
                          <a:solidFill>
                            <a:srgbClr val="000000"/>
                          </a:solidFill>
                          <a:latin typeface="Arial"/>
                          <a:ea typeface="Arial"/>
                          <a:cs typeface="Arial"/>
                          <a:sym typeface="Arial"/>
                        </a:rPr>
                        <a:t>hiểm</a:t>
                      </a:r>
                      <a:endParaRPr lang="en-US" sz="1100" dirty="0"/>
                    </a:p>
                    <a:p>
                      <a:pPr algn="l">
                        <a:lnSpc>
                          <a:spcPts val="3110"/>
                        </a:lnSpc>
                      </a:pPr>
                      <a:r>
                        <a:rPr lang="en-US" sz="2000" b="1" dirty="0">
                          <a:solidFill>
                            <a:srgbClr val="000000"/>
                          </a:solidFill>
                          <a:latin typeface="Arial Bold"/>
                          <a:ea typeface="Arial Bold"/>
                          <a:cs typeface="Arial Bold"/>
                          <a:sym typeface="Arial Bold"/>
                        </a:rPr>
                        <a:t>Sub:</a:t>
                      </a:r>
                      <a:r>
                        <a:rPr lang="en-US" sz="2000" dirty="0">
                          <a:solidFill>
                            <a:srgbClr val="000000"/>
                          </a:solidFill>
                          <a:latin typeface="Arial"/>
                          <a:ea typeface="Arial"/>
                          <a:cs typeface="Arial"/>
                          <a:sym typeface="Arial"/>
                        </a:rPr>
                        <a:t> IL13.02-Thủ </a:t>
                      </a:r>
                      <a:r>
                        <a:rPr lang="en-US" sz="2000" dirty="0" err="1">
                          <a:solidFill>
                            <a:srgbClr val="000000"/>
                          </a:solidFill>
                          <a:latin typeface="Arial"/>
                          <a:ea typeface="Arial"/>
                          <a:cs typeface="Arial"/>
                          <a:sym typeface="Arial"/>
                        </a:rPr>
                        <a:t>tục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bồi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thường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hiểm</a:t>
                      </a:r>
                      <a:endParaRPr lang="en-US" sz="2000" dirty="0">
                        <a:solidFill>
                          <a:srgbClr val="000000"/>
                        </a:solidFill>
                        <a:latin typeface="Arial"/>
                        <a:ea typeface="Arial"/>
                        <a:cs typeface="Arial"/>
                        <a:sym typeface="Arial"/>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grpSp>
        <p:nvGrpSpPr>
          <p:cNvPr id="3" name="Group 3"/>
          <p:cNvGrpSpPr/>
          <p:nvPr/>
        </p:nvGrpSpPr>
        <p:grpSpPr>
          <a:xfrm>
            <a:off x="15691018" y="9790919"/>
            <a:ext cx="2421922" cy="346996"/>
            <a:chOff x="0" y="0"/>
            <a:chExt cx="3229229" cy="462661"/>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3"/>
              <a:stretch>
                <a:fillRect l="-145" r="-145"/>
              </a:stretch>
            </a:blipFill>
          </p:spPr>
        </p:sp>
      </p:grpSp>
      <p:sp>
        <p:nvSpPr>
          <p:cNvPr id="5" name="Freeform 5"/>
          <p:cNvSpPr/>
          <p:nvPr/>
        </p:nvSpPr>
        <p:spPr>
          <a:xfrm>
            <a:off x="5858" y="-328298"/>
            <a:ext cx="20000147" cy="1306449"/>
          </a:xfrm>
          <a:custGeom>
            <a:avLst/>
            <a:gdLst/>
            <a:ahLst/>
            <a:cxnLst/>
            <a:rect l="l" t="t" r="r" b="b"/>
            <a:pathLst>
              <a:path w="20000147" h="1306449">
                <a:moveTo>
                  <a:pt x="0" y="0"/>
                </a:moveTo>
                <a:lnTo>
                  <a:pt x="20000147" y="0"/>
                </a:lnTo>
                <a:lnTo>
                  <a:pt x="20000147" y="1306449"/>
                </a:lnTo>
                <a:lnTo>
                  <a:pt x="0" y="1306449"/>
                </a:lnTo>
                <a:lnTo>
                  <a:pt x="0" y="0"/>
                </a:lnTo>
                <a:close/>
              </a:path>
            </a:pathLst>
          </a:custGeom>
          <a:blipFill>
            <a:blip r:embed="rId4">
              <a:extLst>
                <a:ext uri="{96DAC541-7B7A-43D3-8B79-37D633B846F1}">
                  <asvg:svgBlip xmlns:asvg="http://schemas.microsoft.com/office/drawing/2016/SVG/main" r:embed="rId5"/>
                </a:ext>
              </a:extLst>
            </a:blip>
            <a:stretch>
              <a:fillRect t="-300" b="-300"/>
            </a:stretch>
          </a:blipFill>
        </p:spPr>
      </p:sp>
      <p:sp>
        <p:nvSpPr>
          <p:cNvPr id="6" name="TextBox 6"/>
          <p:cNvSpPr txBox="1"/>
          <p:nvPr/>
        </p:nvSpPr>
        <p:spPr>
          <a:xfrm>
            <a:off x="182323" y="171557"/>
            <a:ext cx="17923354" cy="579596"/>
          </a:xfrm>
          <a:prstGeom prst="rect">
            <a:avLst/>
          </a:prstGeom>
        </p:spPr>
        <p:txBody>
          <a:bodyPr lIns="0" tIns="0" rIns="0" bIns="0" rtlCol="0" anchor="t">
            <a:spAutoFit/>
          </a:bodyPr>
          <a:lstStyle/>
          <a:p>
            <a:pPr algn="ctr">
              <a:lnSpc>
                <a:spcPts val="4419"/>
              </a:lnSpc>
            </a:pPr>
            <a:r>
              <a:rPr lang="en-US" sz="3399" b="1">
                <a:solidFill>
                  <a:srgbClr val="000000"/>
                </a:solidFill>
                <a:latin typeface="Arial Bold"/>
                <a:ea typeface="Arial Bold"/>
                <a:cs typeface="Arial Bold"/>
                <a:sym typeface="Arial Bold"/>
              </a:rPr>
              <a:t>THỦ TỤC BỒI THƯỜNG BẢO HIỂM- KH BỊ THƯƠNG TẬT MẤT KHẢ NĂNG LAO ĐỘNG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215838" y="1369756"/>
          <a:ext cx="17897103" cy="5910144"/>
        </p:xfrm>
        <a:graphic>
          <a:graphicData uri="http://schemas.openxmlformats.org/drawingml/2006/table">
            <a:tbl>
              <a:tblPr/>
              <a:tblGrid>
                <a:gridCol w="2732017">
                  <a:extLst>
                    <a:ext uri="{9D8B030D-6E8A-4147-A177-3AD203B41FA5}">
                      <a16:colId xmlns:a16="http://schemas.microsoft.com/office/drawing/2014/main" val="20000"/>
                    </a:ext>
                  </a:extLst>
                </a:gridCol>
                <a:gridCol w="6879833">
                  <a:extLst>
                    <a:ext uri="{9D8B030D-6E8A-4147-A177-3AD203B41FA5}">
                      <a16:colId xmlns:a16="http://schemas.microsoft.com/office/drawing/2014/main" val="20001"/>
                    </a:ext>
                  </a:extLst>
                </a:gridCol>
                <a:gridCol w="2826984">
                  <a:extLst>
                    <a:ext uri="{9D8B030D-6E8A-4147-A177-3AD203B41FA5}">
                      <a16:colId xmlns:a16="http://schemas.microsoft.com/office/drawing/2014/main" val="20002"/>
                    </a:ext>
                  </a:extLst>
                </a:gridCol>
                <a:gridCol w="5458269">
                  <a:extLst>
                    <a:ext uri="{9D8B030D-6E8A-4147-A177-3AD203B41FA5}">
                      <a16:colId xmlns:a16="http://schemas.microsoft.com/office/drawing/2014/main" val="20003"/>
                    </a:ext>
                  </a:extLst>
                </a:gridCol>
              </a:tblGrid>
              <a:tr h="776531">
                <a:tc gridSpan="2">
                  <a:txBody>
                    <a:bodyPr/>
                    <a:lstStyle/>
                    <a:p>
                      <a:pPr algn="ctr">
                        <a:lnSpc>
                          <a:spcPts val="3750"/>
                        </a:lnSpc>
                        <a:defRPr/>
                      </a:pPr>
                      <a:r>
                        <a:rPr lang="en-US" sz="2000" b="1" spc="12">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hMerge="1">
                  <a:txBody>
                    <a:bodyPr/>
                    <a:lstStyle/>
                    <a:p>
                      <a:pPr algn="ctr">
                        <a:lnSpc>
                          <a:spcPts val="3750"/>
                        </a:lnSpc>
                        <a:defRPr/>
                      </a:pPr>
                      <a:r>
                        <a:rPr lang="en-US" sz="2000" b="1" spc="12">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a:solidFill>
                            <a:srgbClr val="FFFFFF"/>
                          </a:solidFill>
                          <a:latin typeface="Arial Bold"/>
                          <a:ea typeface="Arial Bold"/>
                          <a:cs typeface="Arial Bold"/>
                          <a:sym typeface="Arial Bold"/>
                        </a:rPr>
                        <a:t>TAT</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a:solidFill>
                            <a:srgbClr val="FFFFFF"/>
                          </a:solidFill>
                          <a:latin typeface="Arial Bold"/>
                          <a:ea typeface="Arial Bold"/>
                          <a:cs typeface="Arial Bold"/>
                          <a:sym typeface="Arial Bold"/>
                        </a:rPr>
                        <a:t>CODE/ REMARK</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1605670">
                <a:tc rowSpan="2">
                  <a:txBody>
                    <a:bodyPr/>
                    <a:lstStyle/>
                    <a:p>
                      <a:pPr algn="l">
                        <a:lnSpc>
                          <a:spcPts val="3456"/>
                        </a:lnSpc>
                        <a:defRPr/>
                      </a:pPr>
                      <a:r>
                        <a:rPr lang="en-US" sz="2000" b="1">
                          <a:solidFill>
                            <a:srgbClr val="000000"/>
                          </a:solidFill>
                          <a:latin typeface="Arial Bold"/>
                          <a:ea typeface="Arial Bold"/>
                          <a:cs typeface="Arial Bold"/>
                          <a:sym typeface="Arial Bold"/>
                        </a:rPr>
                        <a:t>CS xác nhận KH đã biết công ty bảo hiểm mình đang tham gia chưa?</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110"/>
                        </a:lnSpc>
                        <a:defRPr/>
                      </a:pPr>
                      <a:r>
                        <a:rPr lang="en-US" sz="2000" b="1">
                          <a:solidFill>
                            <a:srgbClr val="000000"/>
                          </a:solidFill>
                          <a:latin typeface="Arial Bold"/>
                          <a:ea typeface="Arial Bold"/>
                          <a:cs typeface="Arial Bold"/>
                          <a:sym typeface="Arial Bold"/>
                        </a:rPr>
                        <a:t>Nếu KH đã biết:</a:t>
                      </a:r>
                      <a:r>
                        <a:rPr lang="en-US" sz="2000">
                          <a:solidFill>
                            <a:srgbClr val="000000"/>
                          </a:solidFill>
                          <a:latin typeface="Arial"/>
                          <a:ea typeface="Arial"/>
                          <a:cs typeface="Arial"/>
                          <a:sym typeface="Arial"/>
                        </a:rPr>
                        <a:t> CS cung cấp số điện thoại công ty bảo hiểm KH tham gia, báo KH liên hệ công ty Bảo hiểm để được hướng dẫn làm giấy giám định</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2665"/>
                        </a:lnSpc>
                        <a:defRPr/>
                      </a:pPr>
                      <a:r>
                        <a:rPr lang="en-US" sz="2000">
                          <a:solidFill>
                            <a:srgbClr val="000000"/>
                          </a:solidFill>
                          <a:latin typeface="Arial"/>
                          <a:ea typeface="Arial"/>
                          <a:cs typeface="Arial"/>
                          <a:sym typeface="Arial"/>
                        </a:rPr>
                        <a:t>N/A</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400"/>
                        </a:lnSpc>
                        <a:defRPr/>
                      </a:pPr>
                      <a:endParaRPr lang="en-US" sz="1100"/>
                    </a:p>
                    <a:p>
                      <a:pPr algn="l">
                        <a:lnSpc>
                          <a:spcPts val="2400"/>
                        </a:lnSpc>
                      </a:pPr>
                      <a:r>
                        <a:rPr lang="en-US" sz="2000" b="1">
                          <a:solidFill>
                            <a:srgbClr val="000000"/>
                          </a:solidFill>
                          <a:latin typeface="Arial Bold"/>
                          <a:ea typeface="Arial Bold"/>
                          <a:cs typeface="Arial Bold"/>
                          <a:sym typeface="Arial Bold"/>
                        </a:rPr>
                        <a:t>Code:</a:t>
                      </a:r>
                      <a:r>
                        <a:rPr lang="en-US" sz="2000">
                          <a:solidFill>
                            <a:srgbClr val="000000"/>
                          </a:solidFill>
                          <a:latin typeface="Arial"/>
                          <a:ea typeface="Arial"/>
                          <a:cs typeface="Arial"/>
                          <a:sym typeface="Arial"/>
                        </a:rPr>
                        <a:t> IL13-Bảo hiểm</a:t>
                      </a:r>
                    </a:p>
                    <a:p>
                      <a:pPr algn="l">
                        <a:lnSpc>
                          <a:spcPts val="2400"/>
                        </a:lnSpc>
                      </a:pPr>
                      <a:r>
                        <a:rPr lang="en-US" sz="2000" b="1">
                          <a:solidFill>
                            <a:srgbClr val="000000"/>
                          </a:solidFill>
                          <a:latin typeface="Arial Bold"/>
                          <a:ea typeface="Arial Bold"/>
                          <a:cs typeface="Arial Bold"/>
                          <a:sym typeface="Arial Bold"/>
                        </a:rPr>
                        <a:t>Sub:</a:t>
                      </a:r>
                      <a:r>
                        <a:rPr lang="en-US" sz="2000">
                          <a:solidFill>
                            <a:srgbClr val="000000"/>
                          </a:solidFill>
                          <a:latin typeface="Arial"/>
                          <a:ea typeface="Arial"/>
                          <a:cs typeface="Arial"/>
                          <a:sym typeface="Arial"/>
                        </a:rPr>
                        <a:t> IL13.02-Thủ tục bồi thường bảo hiểm</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3527943">
                <a:tc vMerge="1">
                  <a:txBody>
                    <a:bodyPr/>
                    <a:lstStyle/>
                    <a:p>
                      <a:pPr algn="l">
                        <a:lnSpc>
                          <a:spcPts val="3456"/>
                        </a:lnSpc>
                        <a:defRPr/>
                      </a:pPr>
                      <a:r>
                        <a:rPr lang="en-US" sz="2000" b="1">
                          <a:solidFill>
                            <a:srgbClr val="000000"/>
                          </a:solidFill>
                          <a:latin typeface="Arial Bold"/>
                          <a:ea typeface="Arial Bold"/>
                          <a:cs typeface="Arial Bold"/>
                          <a:sym typeface="Arial Bold"/>
                        </a:rPr>
                        <a:t>CS xác nhận KH đã biết công ty bảo hiểm mình đang tham gia chưa?</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110"/>
                        </a:lnSpc>
                        <a:defRPr/>
                      </a:pPr>
                      <a:r>
                        <a:rPr lang="en-US" sz="2000" b="1">
                          <a:solidFill>
                            <a:srgbClr val="000000"/>
                          </a:solidFill>
                          <a:latin typeface="Arial Bold"/>
                          <a:ea typeface="Arial Bold"/>
                          <a:cs typeface="Arial Bold"/>
                          <a:sym typeface="Arial Bold"/>
                        </a:rPr>
                        <a:t>Nếu KH không biết: </a:t>
                      </a:r>
                      <a:r>
                        <a:rPr lang="en-US" sz="2000">
                          <a:solidFill>
                            <a:srgbClr val="000000"/>
                          </a:solidFill>
                          <a:latin typeface="Arial"/>
                          <a:ea typeface="Arial"/>
                          <a:cs typeface="Arial"/>
                          <a:sym typeface="Arial"/>
                        </a:rPr>
                        <a:t>CS khai thác thông tin để chuyển PBLQ kiểm tra công ty bảo hiểm KH tham gia:</a:t>
                      </a:r>
                      <a:endParaRPr lang="en-US" sz="1100"/>
                    </a:p>
                    <a:p>
                      <a:pPr marL="431801" lvl="1" indent="-215900" algn="l">
                        <a:lnSpc>
                          <a:spcPts val="3110"/>
                        </a:lnSpc>
                        <a:buFont typeface="Arial"/>
                        <a:buChar char="•"/>
                      </a:pPr>
                      <a:r>
                        <a:rPr lang="en-US" sz="2000">
                          <a:solidFill>
                            <a:srgbClr val="000000"/>
                          </a:solidFill>
                          <a:latin typeface="Arial"/>
                          <a:ea typeface="Arial"/>
                          <a:cs typeface="Arial"/>
                          <a:sym typeface="Arial"/>
                        </a:rPr>
                        <a:t>Tên KH:</a:t>
                      </a:r>
                    </a:p>
                    <a:p>
                      <a:pPr marL="431801" lvl="1" indent="-215900" algn="l">
                        <a:lnSpc>
                          <a:spcPts val="3110"/>
                        </a:lnSpc>
                        <a:buFont typeface="Arial"/>
                        <a:buChar char="•"/>
                      </a:pPr>
                      <a:r>
                        <a:rPr lang="en-US" sz="2000">
                          <a:solidFill>
                            <a:srgbClr val="000000"/>
                          </a:solidFill>
                          <a:latin typeface="Arial"/>
                          <a:ea typeface="Arial"/>
                          <a:cs typeface="Arial"/>
                          <a:sym typeface="Arial"/>
                        </a:rPr>
                        <a:t>SĐT liên hệ:</a:t>
                      </a:r>
                    </a:p>
                    <a:p>
                      <a:pPr marL="431801" lvl="1" indent="-215900" algn="l">
                        <a:lnSpc>
                          <a:spcPts val="3110"/>
                        </a:lnSpc>
                        <a:buFont typeface="Arial"/>
                        <a:buChar char="•"/>
                      </a:pPr>
                      <a:r>
                        <a:rPr lang="en-US" sz="2000">
                          <a:solidFill>
                            <a:srgbClr val="000000"/>
                          </a:solidFill>
                          <a:latin typeface="Arial"/>
                          <a:ea typeface="Arial"/>
                          <a:cs typeface="Arial"/>
                          <a:sym typeface="Arial"/>
                        </a:rPr>
                        <a:t>Nội dung KH cần hỗ trợ:</a:t>
                      </a:r>
                    </a:p>
                    <a:p>
                      <a:pPr algn="l">
                        <a:lnSpc>
                          <a:spcPts val="3110"/>
                        </a:lnSpc>
                      </a:pPr>
                      <a:r>
                        <a:rPr lang="en-US" sz="2000">
                          <a:solidFill>
                            <a:srgbClr val="000000"/>
                          </a:solidFill>
                          <a:latin typeface="Arial"/>
                          <a:ea typeface="Arial"/>
                          <a:cs typeface="Arial"/>
                          <a:sym typeface="Arial"/>
                        </a:rPr>
                        <a:t>CS thông báo với KH: Sau khi có NV liên hệ báo thông tin công ty bảo hiểm,  KH liên hệ công ty Bảo hiểm để được hướng dẫn làm giấy giám định.</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2664"/>
                        </a:lnSpc>
                        <a:defRPr/>
                      </a:pPr>
                      <a:r>
                        <a:rPr lang="en-US" sz="2000">
                          <a:solidFill>
                            <a:srgbClr val="000000"/>
                          </a:solidFill>
                          <a:latin typeface="Arial"/>
                          <a:ea typeface="Arial"/>
                          <a:cs typeface="Arial"/>
                          <a:sym typeface="Arial"/>
                        </a:rPr>
                        <a:t>4 ngày làm việc</a:t>
                      </a:r>
                      <a:endParaRPr lang="en-US" sz="1100"/>
                    </a:p>
                    <a:p>
                      <a:pPr algn="ctr">
                        <a:lnSpc>
                          <a:spcPts val="2665"/>
                        </a:lnSpc>
                      </a:pPr>
                      <a:r>
                        <a:rPr lang="en-US" sz="2000">
                          <a:solidFill>
                            <a:srgbClr val="000000"/>
                          </a:solidFill>
                          <a:latin typeface="Arial"/>
                          <a:ea typeface="Arial"/>
                          <a:cs typeface="Arial"/>
                          <a:sym typeface="Arial"/>
                        </a:rPr>
                        <a:t>(có nhân viên liên hệ)</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400"/>
                        </a:lnSpc>
                        <a:defRPr/>
                      </a:pPr>
                      <a:r>
                        <a:rPr lang="en-US" sz="2000" b="1">
                          <a:solidFill>
                            <a:srgbClr val="000000"/>
                          </a:solidFill>
                          <a:latin typeface="Arial Bold"/>
                          <a:ea typeface="Arial Bold"/>
                          <a:cs typeface="Arial Bold"/>
                          <a:sym typeface="Arial Bold"/>
                        </a:rPr>
                        <a:t>Code:</a:t>
                      </a:r>
                      <a:r>
                        <a:rPr lang="en-US" sz="2000">
                          <a:solidFill>
                            <a:srgbClr val="000000"/>
                          </a:solidFill>
                          <a:latin typeface="Arial"/>
                          <a:ea typeface="Arial"/>
                          <a:cs typeface="Arial"/>
                          <a:sym typeface="Arial"/>
                        </a:rPr>
                        <a:t> RL07-Tình trạng xử lý hồ sơ bảo hiểm</a:t>
                      </a:r>
                      <a:endParaRPr lang="en-US" sz="1100"/>
                    </a:p>
                    <a:p>
                      <a:pPr algn="l">
                        <a:lnSpc>
                          <a:spcPts val="2400"/>
                        </a:lnSpc>
                      </a:pPr>
                      <a:r>
                        <a:rPr lang="en-US" sz="2000" b="1">
                          <a:solidFill>
                            <a:srgbClr val="000000"/>
                          </a:solidFill>
                          <a:latin typeface="Arial Bold"/>
                          <a:ea typeface="Arial Bold"/>
                          <a:cs typeface="Arial Bold"/>
                          <a:sym typeface="Arial Bold"/>
                        </a:rPr>
                        <a:t>Sub:</a:t>
                      </a:r>
                      <a:r>
                        <a:rPr lang="en-US" sz="2000">
                          <a:solidFill>
                            <a:srgbClr val="000000"/>
                          </a:solidFill>
                          <a:latin typeface="Arial"/>
                          <a:ea typeface="Arial"/>
                          <a:cs typeface="Arial"/>
                          <a:sym typeface="Arial"/>
                        </a:rPr>
                        <a:t> RL07.03-Kiểm tra loại bảo hiểm</a:t>
                      </a:r>
                    </a:p>
                    <a:p>
                      <a:pPr algn="l">
                        <a:lnSpc>
                          <a:spcPts val="2400"/>
                        </a:lnSpc>
                      </a:pPr>
                      <a:r>
                        <a:rPr lang="en-US" sz="2000" b="1">
                          <a:solidFill>
                            <a:srgbClr val="000000"/>
                          </a:solidFill>
                          <a:latin typeface="Arial Bold"/>
                          <a:ea typeface="Arial Bold"/>
                          <a:cs typeface="Arial Bold"/>
                          <a:sym typeface="Arial Bold"/>
                        </a:rPr>
                        <a:t>Properties:</a:t>
                      </a:r>
                      <a:r>
                        <a:rPr lang="en-US" sz="2000">
                          <a:solidFill>
                            <a:srgbClr val="000000"/>
                          </a:solidFill>
                          <a:latin typeface="Arial"/>
                          <a:ea typeface="Arial"/>
                          <a:cs typeface="Arial"/>
                          <a:sym typeface="Arial"/>
                        </a:rPr>
                        <a:t> nhập theo yêu cầu</a:t>
                      </a:r>
                    </a:p>
                    <a:p>
                      <a:pPr algn="l">
                        <a:lnSpc>
                          <a:spcPts val="2400"/>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nội dung hỗ trợ</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bl>
          </a:graphicData>
        </a:graphic>
      </p:graphicFrame>
      <p:grpSp>
        <p:nvGrpSpPr>
          <p:cNvPr id="3" name="Group 3"/>
          <p:cNvGrpSpPr/>
          <p:nvPr/>
        </p:nvGrpSpPr>
        <p:grpSpPr>
          <a:xfrm>
            <a:off x="15691018" y="9790919"/>
            <a:ext cx="2421922" cy="346996"/>
            <a:chOff x="0" y="0"/>
            <a:chExt cx="3229229" cy="462661"/>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145" r="-145"/>
              </a:stretch>
            </a:blipFill>
          </p:spPr>
        </p:sp>
      </p:grpSp>
      <p:sp>
        <p:nvSpPr>
          <p:cNvPr id="5" name="Freeform 5"/>
          <p:cNvSpPr/>
          <p:nvPr/>
        </p:nvSpPr>
        <p:spPr>
          <a:xfrm>
            <a:off x="-30480" y="-246574"/>
            <a:ext cx="20000147" cy="1306449"/>
          </a:xfrm>
          <a:custGeom>
            <a:avLst/>
            <a:gdLst/>
            <a:ahLst/>
            <a:cxnLst/>
            <a:rect l="l" t="t" r="r" b="b"/>
            <a:pathLst>
              <a:path w="20000147" h="1306449">
                <a:moveTo>
                  <a:pt x="0" y="0"/>
                </a:moveTo>
                <a:lnTo>
                  <a:pt x="20000147" y="0"/>
                </a:lnTo>
                <a:lnTo>
                  <a:pt x="20000147"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t="-300" b="-300"/>
            </a:stretch>
          </a:blipFill>
        </p:spPr>
      </p:sp>
      <p:sp>
        <p:nvSpPr>
          <p:cNvPr id="6" name="TextBox 6"/>
          <p:cNvSpPr txBox="1"/>
          <p:nvPr/>
        </p:nvSpPr>
        <p:spPr>
          <a:xfrm>
            <a:off x="3152180" y="208817"/>
            <a:ext cx="11983641" cy="663530"/>
          </a:xfrm>
          <a:prstGeom prst="rect">
            <a:avLst/>
          </a:prstGeom>
        </p:spPr>
        <p:txBody>
          <a:bodyPr lIns="0" tIns="0" rIns="0" bIns="0" rtlCol="0" anchor="t">
            <a:spAutoFit/>
          </a:bodyPr>
          <a:lstStyle/>
          <a:p>
            <a:pPr algn="ctr">
              <a:lnSpc>
                <a:spcPts val="5200"/>
              </a:lnSpc>
            </a:pPr>
            <a:r>
              <a:rPr lang="en-US" sz="3999" b="1">
                <a:solidFill>
                  <a:srgbClr val="000000"/>
                </a:solidFill>
                <a:latin typeface="Arial Bold"/>
                <a:ea typeface="Arial Bold"/>
                <a:cs typeface="Arial Bold"/>
                <a:sym typeface="Arial Bold"/>
              </a:rPr>
              <a:t>HƯỚNG DẪN NHẬN GIẤY GIỚI THIỆU GIÁM ĐỊNH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3783309343"/>
              </p:ext>
            </p:extLst>
          </p:nvPr>
        </p:nvGraphicFramePr>
        <p:xfrm>
          <a:off x="444500" y="1394958"/>
          <a:ext cx="17398999" cy="7010400"/>
        </p:xfrm>
        <a:graphic>
          <a:graphicData uri="http://schemas.openxmlformats.org/drawingml/2006/table">
            <a:tbl>
              <a:tblPr/>
              <a:tblGrid>
                <a:gridCol w="6875432">
                  <a:extLst>
                    <a:ext uri="{9D8B030D-6E8A-4147-A177-3AD203B41FA5}">
                      <a16:colId xmlns:a16="http://schemas.microsoft.com/office/drawing/2014/main" val="20000"/>
                    </a:ext>
                  </a:extLst>
                </a:gridCol>
                <a:gridCol w="6972010">
                  <a:extLst>
                    <a:ext uri="{9D8B030D-6E8A-4147-A177-3AD203B41FA5}">
                      <a16:colId xmlns:a16="http://schemas.microsoft.com/office/drawing/2014/main" val="20001"/>
                    </a:ext>
                  </a:extLst>
                </a:gridCol>
                <a:gridCol w="3551557">
                  <a:extLst>
                    <a:ext uri="{9D8B030D-6E8A-4147-A177-3AD203B41FA5}">
                      <a16:colId xmlns:a16="http://schemas.microsoft.com/office/drawing/2014/main" val="20002"/>
                    </a:ext>
                  </a:extLst>
                </a:gridCol>
              </a:tblGrid>
              <a:tr h="822282">
                <a:tc gridSpan="2">
                  <a:txBody>
                    <a:bodyPr/>
                    <a:lstStyle/>
                    <a:p>
                      <a:pPr algn="ctr">
                        <a:lnSpc>
                          <a:spcPts val="3751"/>
                        </a:lnSpc>
                        <a:defRPr/>
                      </a:pPr>
                      <a:r>
                        <a:rPr lang="en-US" sz="2000" b="1" spc="11">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hMerge="1">
                  <a:txBody>
                    <a:bodyPr/>
                    <a:lstStyle/>
                    <a:p>
                      <a:pPr algn="ctr">
                        <a:lnSpc>
                          <a:spcPts val="3751"/>
                        </a:lnSpc>
                        <a:defRPr/>
                      </a:pPr>
                      <a:r>
                        <a:rPr lang="en-US" sz="2000" b="1" spc="11">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1"/>
                        </a:lnSpc>
                        <a:defRPr/>
                      </a:pPr>
                      <a:r>
                        <a:rPr lang="en-US" sz="2000" b="1" spc="11">
                          <a:solidFill>
                            <a:srgbClr val="FFFFFF"/>
                          </a:solidFill>
                          <a:latin typeface="Arial Bold"/>
                          <a:ea typeface="Arial Bold"/>
                          <a:cs typeface="Arial Bold"/>
                          <a:sym typeface="Arial Bold"/>
                        </a:rPr>
                        <a:t>CODE/ REMARK</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6188118">
                <a:tc>
                  <a:txBody>
                    <a:bodyPr/>
                    <a:lstStyle/>
                    <a:p>
                      <a:pPr marL="457200" indent="-457200" algn="l">
                        <a:lnSpc>
                          <a:spcPts val="3110"/>
                        </a:lnSpc>
                        <a:buAutoNum type="arabicPeriod"/>
                        <a:defRPr/>
                      </a:pPr>
                      <a:r>
                        <a:rPr lang="en-US" sz="2000" b="1" dirty="0" err="1">
                          <a:solidFill>
                            <a:srgbClr val="000000"/>
                          </a:solidFill>
                          <a:latin typeface="Arial Bold"/>
                          <a:ea typeface="Arial Bold"/>
                          <a:cs typeface="Arial Bold"/>
                          <a:sym typeface="Arial Bold"/>
                        </a:rPr>
                        <a:t>Hướng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dẫn</a:t>
                      </a:r>
                      <a:r>
                        <a:rPr lang="en-US" sz="2000" b="1" dirty="0">
                          <a:solidFill>
                            <a:srgbClr val="000000"/>
                          </a:solidFill>
                          <a:latin typeface="Arial Bold"/>
                          <a:ea typeface="Arial Bold"/>
                          <a:cs typeface="Arial Bold"/>
                          <a:sym typeface="Arial Bold"/>
                        </a:rPr>
                        <a:t> KH </a:t>
                      </a:r>
                      <a:r>
                        <a:rPr lang="en-US" sz="2000" b="1" dirty="0" err="1">
                          <a:solidFill>
                            <a:srgbClr val="000000"/>
                          </a:solidFill>
                          <a:latin typeface="Arial Bold"/>
                          <a:ea typeface="Arial Bold"/>
                          <a:cs typeface="Arial Bold"/>
                          <a:sym typeface="Arial Bold"/>
                        </a:rPr>
                        <a:t>chuẩn</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bị</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chứng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từ</a:t>
                      </a:r>
                      <a:endParaRPr lang="en-US" sz="1100" b="1" dirty="0">
                        <a:solidFill>
                          <a:schemeClr val="tx1"/>
                        </a:solidFill>
                        <a:latin typeface="+mn-lt"/>
                        <a:ea typeface="+mn-ea"/>
                        <a:cs typeface="+mn-cs"/>
                        <a:sym typeface="Arial Bold"/>
                      </a:endParaRPr>
                    </a:p>
                    <a:p>
                      <a:pPr marL="342900" indent="-342900" algn="l">
                        <a:lnSpc>
                          <a:spcPts val="3110"/>
                        </a:lnSpc>
                        <a:buFont typeface="Arial" panose="020B0604020202020204" pitchFamily="34" charset="0"/>
                        <a:buChar char="•"/>
                        <a:defRPr/>
                      </a:pPr>
                      <a:r>
                        <a:rPr lang="en-US" sz="2000" dirty="0">
                          <a:solidFill>
                            <a:srgbClr val="000000"/>
                          </a:solidFill>
                          <a:latin typeface="Arial"/>
                          <a:ea typeface="Arial"/>
                          <a:cs typeface="Arial"/>
                          <a:sym typeface="Arial"/>
                        </a:rPr>
                        <a:t>CMND/ CCCD </a:t>
                      </a:r>
                      <a:r>
                        <a:rPr lang="en-US" sz="2000" dirty="0" err="1">
                          <a:solidFill>
                            <a:srgbClr val="000000"/>
                          </a:solidFill>
                          <a:latin typeface="Arial"/>
                          <a:ea typeface="Arial"/>
                          <a:cs typeface="Arial"/>
                          <a:sym typeface="Arial"/>
                        </a:rPr>
                        <a:t>sao</a:t>
                      </a:r>
                      <a:r>
                        <a:rPr lang="en-US" sz="2000" dirty="0">
                          <a:solidFill>
                            <a:srgbClr val="000000"/>
                          </a:solidFill>
                          <a:latin typeface="Arial"/>
                          <a:ea typeface="Arial"/>
                          <a:cs typeface="Arial"/>
                          <a:sym typeface="Arial"/>
                        </a:rPr>
                        <a:t> y HOẶC </a:t>
                      </a:r>
                      <a:r>
                        <a:rPr lang="en-US" sz="2000" dirty="0" err="1">
                          <a:solidFill>
                            <a:srgbClr val="000000"/>
                          </a:solidFill>
                          <a:latin typeface="Arial"/>
                          <a:ea typeface="Arial"/>
                          <a:cs typeface="Arial"/>
                          <a:sym typeface="Arial"/>
                        </a:rPr>
                        <a:t>Giấy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định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danh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điện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tử</a:t>
                      </a:r>
                      <a:r>
                        <a:rPr lang="en-US" sz="2000" dirty="0">
                          <a:solidFill>
                            <a:srgbClr val="000000"/>
                          </a:solidFill>
                          <a:latin typeface="Arial"/>
                          <a:ea typeface="Arial"/>
                          <a:cs typeface="Arial"/>
                          <a:sym typeface="Arial"/>
                        </a:rPr>
                        <a:t> </a:t>
                      </a:r>
                    </a:p>
                    <a:p>
                      <a:pPr marL="342900" indent="-342900" algn="l">
                        <a:lnSpc>
                          <a:spcPts val="3110"/>
                        </a:lnSpc>
                        <a:buFont typeface="Arial" panose="020B0604020202020204" pitchFamily="34" charset="0"/>
                        <a:buChar char="•"/>
                        <a:defRPr/>
                      </a:pPr>
                      <a:r>
                        <a:rPr lang="en-US" sz="2000" dirty="0" err="1">
                          <a:solidFill>
                            <a:srgbClr val="000000"/>
                          </a:solidFill>
                          <a:latin typeface="Arial"/>
                          <a:ea typeface="Arial"/>
                          <a:cs typeface="Arial"/>
                          <a:sym typeface="Arial"/>
                        </a:rPr>
                        <a:t>Quyết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định</a:t>
                      </a:r>
                      <a:r>
                        <a:rPr lang="en-US" sz="2000" dirty="0">
                          <a:solidFill>
                            <a:srgbClr val="000000"/>
                          </a:solidFill>
                          <a:latin typeface="Arial"/>
                          <a:ea typeface="Arial"/>
                          <a:cs typeface="Arial"/>
                          <a:sym typeface="Arial"/>
                        </a:rPr>
                        <a:t>/</a:t>
                      </a:r>
                      <a:r>
                        <a:rPr lang="en-US" sz="2000" dirty="0" err="1">
                          <a:solidFill>
                            <a:srgbClr val="000000"/>
                          </a:solidFill>
                          <a:latin typeface="Arial"/>
                          <a:ea typeface="Arial"/>
                          <a:cs typeface="Arial"/>
                          <a:sym typeface="Arial"/>
                        </a:rPr>
                        <a:t>Tuyên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bố</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của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Toà</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Án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thẩm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quyền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về</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việc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người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được</a:t>
                      </a:r>
                      <a:r>
                        <a:rPr lang="en-US" sz="2000" dirty="0">
                          <a:solidFill>
                            <a:srgbClr val="000000"/>
                          </a:solidFill>
                          <a:latin typeface="Arial"/>
                          <a:ea typeface="Arial"/>
                          <a:cs typeface="Arial"/>
                          <a:sym typeface="Arial"/>
                        </a:rPr>
                        <a:t> BH </a:t>
                      </a:r>
                      <a:r>
                        <a:rPr lang="en-US" sz="2000" dirty="0" err="1">
                          <a:solidFill>
                            <a:srgbClr val="000000"/>
                          </a:solidFill>
                          <a:latin typeface="Arial"/>
                          <a:ea typeface="Arial"/>
                          <a:cs typeface="Arial"/>
                          <a:sym typeface="Arial"/>
                        </a:rPr>
                        <a:t>bị</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mất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tích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sao</a:t>
                      </a:r>
                      <a:r>
                        <a:rPr lang="en-US" sz="2000" dirty="0">
                          <a:solidFill>
                            <a:srgbClr val="000000"/>
                          </a:solidFill>
                          <a:latin typeface="Arial"/>
                          <a:ea typeface="Arial"/>
                          <a:cs typeface="Arial"/>
                          <a:sym typeface="Arial"/>
                        </a:rPr>
                        <a:t>(</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kèm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diễn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dãi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nguyên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nhân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mất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tích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từ</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thời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điểm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nào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đến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thời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điểm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nào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bị</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mất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tích</a:t>
                      </a:r>
                      <a:r>
                        <a:rPr lang="en-US" sz="2000" dirty="0">
                          <a:solidFill>
                            <a:srgbClr val="000000"/>
                          </a:solidFill>
                          <a:latin typeface="Arial"/>
                          <a:ea typeface="Arial"/>
                          <a:cs typeface="Arial"/>
                          <a:sym typeface="Arial"/>
                        </a:rPr>
                        <a:t>).</a:t>
                      </a:r>
                    </a:p>
                    <a:p>
                      <a:pPr marL="342900" indent="-342900" algn="l">
                        <a:lnSpc>
                          <a:spcPts val="3110"/>
                        </a:lnSpc>
                        <a:buFont typeface="Arial" panose="020B0604020202020204" pitchFamily="34" charset="0"/>
                        <a:buChar char="•"/>
                        <a:defRPr/>
                      </a:pPr>
                      <a:r>
                        <a:rPr lang="en-US" sz="2000" dirty="0" err="1">
                          <a:solidFill>
                            <a:srgbClr val="000000"/>
                          </a:solidFill>
                          <a:latin typeface="Arial"/>
                          <a:ea typeface="Arial"/>
                          <a:cs typeface="Arial"/>
                          <a:sym typeface="Arial"/>
                        </a:rPr>
                        <a:t>Chứng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từ</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khai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báo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mất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tích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sao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nếu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110"/>
                        </a:lnSpc>
                        <a:defRPr/>
                      </a:pPr>
                      <a:r>
                        <a:rPr lang="en-US" sz="2000" b="1" dirty="0">
                          <a:solidFill>
                            <a:srgbClr val="000000"/>
                          </a:solidFill>
                          <a:latin typeface="Arial Bold"/>
                          <a:ea typeface="Arial Bold"/>
                          <a:cs typeface="Arial Bold"/>
                          <a:sym typeface="Arial Bold"/>
                        </a:rPr>
                        <a:t>2. </a:t>
                      </a:r>
                      <a:r>
                        <a:rPr lang="en-US" sz="2000" b="1" dirty="0" err="1">
                          <a:solidFill>
                            <a:srgbClr val="000000"/>
                          </a:solidFill>
                          <a:latin typeface="Arial Bold"/>
                          <a:ea typeface="Arial Bold"/>
                          <a:cs typeface="Arial Bold"/>
                          <a:sym typeface="Arial Bold"/>
                        </a:rPr>
                        <a:t>Gửi</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hồ</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sơ</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theo</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hướng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dẫn</a:t>
                      </a:r>
                      <a:r>
                        <a:rPr lang="en-US" sz="2000" dirty="0">
                          <a:solidFill>
                            <a:srgbClr val="000000"/>
                          </a:solidFill>
                          <a:latin typeface="Arial"/>
                          <a:ea typeface="Arial"/>
                          <a:cs typeface="Arial"/>
                          <a:sym typeface="Arial"/>
                        </a:rPr>
                        <a:t> </a:t>
                      </a:r>
                      <a:endParaRPr lang="en-US" sz="1100" dirty="0"/>
                    </a:p>
                    <a:p>
                      <a:pPr marL="431801" lvl="1" indent="-215900" algn="l">
                        <a:lnSpc>
                          <a:spcPts val="3110"/>
                        </a:lnSpc>
                        <a:buFont typeface="Arial"/>
                        <a:buChar char="•"/>
                      </a:pPr>
                      <a:r>
                        <a:rPr lang="en-US" sz="2000" dirty="0" err="1">
                          <a:solidFill>
                            <a:srgbClr val="000000"/>
                          </a:solidFill>
                          <a:latin typeface="Arial"/>
                          <a:ea typeface="Arial"/>
                          <a:cs typeface="Arial"/>
                          <a:sym typeface="Arial"/>
                        </a:rPr>
                        <a:t>Người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gửi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Ghi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rõ</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Họ</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tên</a:t>
                      </a:r>
                      <a:r>
                        <a:rPr lang="en-US" sz="2000" dirty="0">
                          <a:solidFill>
                            <a:srgbClr val="000000"/>
                          </a:solidFill>
                          <a:latin typeface="Arial"/>
                          <a:ea typeface="Arial"/>
                          <a:cs typeface="Arial"/>
                          <a:sym typeface="Arial"/>
                        </a:rPr>
                        <a:t>, SĐT, </a:t>
                      </a:r>
                      <a:r>
                        <a:rPr lang="en-US" sz="2000" dirty="0" err="1">
                          <a:solidFill>
                            <a:srgbClr val="000000"/>
                          </a:solidFill>
                          <a:latin typeface="Arial"/>
                          <a:ea typeface="Arial"/>
                          <a:cs typeface="Arial"/>
                          <a:sym typeface="Arial"/>
                        </a:rPr>
                        <a:t>Địa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Chỉ</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Số</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Hợp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đồng</a:t>
                      </a:r>
                      <a:endParaRPr lang="en-US" sz="2000" dirty="0">
                        <a:solidFill>
                          <a:srgbClr val="000000"/>
                        </a:solidFill>
                        <a:latin typeface="Arial"/>
                        <a:ea typeface="Arial"/>
                        <a:cs typeface="Arial"/>
                        <a:sym typeface="Arial"/>
                      </a:endParaRPr>
                    </a:p>
                    <a:p>
                      <a:pPr marL="431801" lvl="1" indent="-215900" algn="l">
                        <a:lnSpc>
                          <a:spcPts val="3110"/>
                        </a:lnSpc>
                        <a:buFont typeface="Arial"/>
                        <a:buChar char="•"/>
                      </a:pPr>
                      <a:r>
                        <a:rPr lang="en-US" sz="2000" dirty="0" err="1">
                          <a:solidFill>
                            <a:srgbClr val="000000"/>
                          </a:solidFill>
                          <a:latin typeface="Arial"/>
                          <a:ea typeface="Arial"/>
                          <a:cs typeface="Arial"/>
                          <a:sym typeface="Arial"/>
                        </a:rPr>
                        <a:t>Người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nhận</a:t>
                      </a:r>
                      <a:r>
                        <a:rPr lang="en-US" sz="2000" dirty="0">
                          <a:solidFill>
                            <a:srgbClr val="000000"/>
                          </a:solidFill>
                          <a:latin typeface="Arial"/>
                          <a:ea typeface="Arial"/>
                          <a:cs typeface="Arial"/>
                          <a:sym typeface="Arial"/>
                        </a:rPr>
                        <a:t>: </a:t>
                      </a:r>
                    </a:p>
                    <a:p>
                      <a:pPr marL="863601" lvl="2" indent="-287867" algn="l">
                        <a:lnSpc>
                          <a:spcPts val="3110"/>
                        </a:lnSpc>
                        <a:buFont typeface="Arial"/>
                        <a:buChar char="⚬"/>
                      </a:pPr>
                      <a:r>
                        <a:rPr lang="en-US" sz="2000" dirty="0">
                          <a:solidFill>
                            <a:srgbClr val="000000"/>
                          </a:solidFill>
                          <a:latin typeface="Arial"/>
                          <a:ea typeface="Arial"/>
                          <a:cs typeface="Arial"/>
                          <a:sym typeface="Arial"/>
                        </a:rPr>
                        <a:t>Phan </a:t>
                      </a:r>
                      <a:r>
                        <a:rPr lang="en-US" sz="2000" dirty="0" err="1">
                          <a:solidFill>
                            <a:srgbClr val="000000"/>
                          </a:solidFill>
                          <a:latin typeface="Arial"/>
                          <a:ea typeface="Arial"/>
                          <a:cs typeface="Arial"/>
                          <a:sym typeface="Arial"/>
                        </a:rPr>
                        <a:t>Thị</a:t>
                      </a:r>
                      <a:r>
                        <a:rPr lang="en-US" sz="2000" dirty="0">
                          <a:solidFill>
                            <a:srgbClr val="000000"/>
                          </a:solidFill>
                          <a:latin typeface="Arial"/>
                          <a:ea typeface="Arial"/>
                          <a:cs typeface="Arial"/>
                          <a:sym typeface="Arial"/>
                        </a:rPr>
                        <a:t> Anh </a:t>
                      </a:r>
                      <a:r>
                        <a:rPr lang="en-US" sz="2000" dirty="0" err="1">
                          <a:solidFill>
                            <a:srgbClr val="000000"/>
                          </a:solidFill>
                          <a:latin typeface="Arial"/>
                          <a:ea typeface="Arial"/>
                          <a:cs typeface="Arial"/>
                          <a:sym typeface="Arial"/>
                        </a:rPr>
                        <a:t>Đài</a:t>
                      </a:r>
                      <a:endParaRPr lang="en-US" sz="2000" dirty="0">
                        <a:solidFill>
                          <a:srgbClr val="000000"/>
                        </a:solidFill>
                        <a:latin typeface="Arial"/>
                        <a:ea typeface="Arial"/>
                        <a:cs typeface="Arial"/>
                        <a:sym typeface="Arial"/>
                      </a:endParaRPr>
                    </a:p>
                    <a:p>
                      <a:pPr marL="863601" lvl="2" indent="-287867" algn="l">
                        <a:lnSpc>
                          <a:spcPts val="3110"/>
                        </a:lnSpc>
                        <a:buFont typeface="Arial"/>
                        <a:buChar char="⚬"/>
                      </a:pPr>
                      <a:r>
                        <a:rPr lang="en-US" sz="2000" dirty="0" err="1">
                          <a:solidFill>
                            <a:srgbClr val="000000"/>
                          </a:solidFill>
                          <a:latin typeface="Arial"/>
                          <a:ea typeface="Arial"/>
                          <a:cs typeface="Arial"/>
                          <a:sym typeface="Arial"/>
                        </a:rPr>
                        <a:t>Công</a:t>
                      </a:r>
                      <a:r>
                        <a:rPr lang="en-US" sz="2000" dirty="0">
                          <a:solidFill>
                            <a:srgbClr val="000000"/>
                          </a:solidFill>
                          <a:latin typeface="Arial"/>
                          <a:ea typeface="Arial"/>
                          <a:cs typeface="Arial"/>
                          <a:sym typeface="Arial"/>
                        </a:rPr>
                        <a:t> ty </a:t>
                      </a:r>
                      <a:r>
                        <a:rPr lang="en-US" sz="2000" dirty="0" err="1">
                          <a:solidFill>
                            <a:srgbClr val="000000"/>
                          </a:solidFill>
                          <a:latin typeface="Arial"/>
                          <a:ea typeface="Arial"/>
                          <a:cs typeface="Arial"/>
                          <a:sym typeface="Arial"/>
                        </a:rPr>
                        <a:t>Tài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chính</a:t>
                      </a:r>
                      <a:r>
                        <a:rPr lang="en-US" sz="2000" dirty="0">
                          <a:solidFill>
                            <a:srgbClr val="000000"/>
                          </a:solidFill>
                          <a:latin typeface="Arial"/>
                          <a:ea typeface="Arial"/>
                          <a:cs typeface="Arial"/>
                          <a:sym typeface="Arial"/>
                        </a:rPr>
                        <a:t> TNHH </a:t>
                      </a:r>
                      <a:r>
                        <a:rPr lang="en-US" sz="2000" dirty="0" err="1">
                          <a:solidFill>
                            <a:srgbClr val="000000"/>
                          </a:solidFill>
                          <a:latin typeface="Arial"/>
                          <a:ea typeface="Arial"/>
                          <a:cs typeface="Arial"/>
                          <a:sym typeface="Arial"/>
                        </a:rPr>
                        <a:t>Ngân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hàng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Việt</a:t>
                      </a:r>
                      <a:r>
                        <a:rPr lang="en-US" sz="2000" dirty="0">
                          <a:solidFill>
                            <a:srgbClr val="000000"/>
                          </a:solidFill>
                          <a:latin typeface="Arial"/>
                          <a:ea typeface="Arial"/>
                          <a:cs typeface="Arial"/>
                          <a:sym typeface="Arial"/>
                        </a:rPr>
                        <a:t> Nam </a:t>
                      </a:r>
                      <a:r>
                        <a:rPr lang="en-US" sz="2000" dirty="0" err="1">
                          <a:solidFill>
                            <a:srgbClr val="000000"/>
                          </a:solidFill>
                          <a:latin typeface="Arial"/>
                          <a:ea typeface="Arial"/>
                          <a:cs typeface="Arial"/>
                          <a:sym typeface="Arial"/>
                        </a:rPr>
                        <a:t>Thịnh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Vượng</a:t>
                      </a:r>
                      <a:r>
                        <a:rPr lang="en-US" sz="2000" dirty="0">
                          <a:solidFill>
                            <a:srgbClr val="000000"/>
                          </a:solidFill>
                          <a:latin typeface="Arial"/>
                          <a:ea typeface="Arial"/>
                          <a:cs typeface="Arial"/>
                          <a:sym typeface="Arial"/>
                        </a:rPr>
                        <a:t> SMBC</a:t>
                      </a:r>
                    </a:p>
                    <a:p>
                      <a:pPr marL="863601" lvl="2" indent="-287867" algn="l">
                        <a:lnSpc>
                          <a:spcPts val="3110"/>
                        </a:lnSpc>
                        <a:buFont typeface="Arial"/>
                        <a:buChar char="⚬"/>
                      </a:pPr>
                      <a:r>
                        <a:rPr lang="en-US" sz="2000" dirty="0" err="1">
                          <a:solidFill>
                            <a:srgbClr val="000000"/>
                          </a:solidFill>
                          <a:latin typeface="Arial"/>
                          <a:ea typeface="Arial"/>
                          <a:cs typeface="Arial"/>
                          <a:sym typeface="Arial"/>
                        </a:rPr>
                        <a:t>Tòa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nhà</a:t>
                      </a:r>
                      <a:r>
                        <a:rPr lang="en-US" sz="2000" dirty="0">
                          <a:solidFill>
                            <a:srgbClr val="000000"/>
                          </a:solidFill>
                          <a:latin typeface="Arial"/>
                          <a:ea typeface="Arial"/>
                          <a:cs typeface="Arial"/>
                          <a:sym typeface="Arial"/>
                        </a:rPr>
                        <a:t> FE Credit, </a:t>
                      </a:r>
                      <a:r>
                        <a:rPr lang="en-US" sz="2000" dirty="0" err="1">
                          <a:solidFill>
                            <a:srgbClr val="000000"/>
                          </a:solidFill>
                          <a:latin typeface="Arial"/>
                          <a:ea typeface="Arial"/>
                          <a:cs typeface="Arial"/>
                          <a:sym typeface="Arial"/>
                        </a:rPr>
                        <a:t>Số</a:t>
                      </a:r>
                      <a:r>
                        <a:rPr lang="en-US" sz="2000" dirty="0">
                          <a:solidFill>
                            <a:srgbClr val="000000"/>
                          </a:solidFill>
                          <a:latin typeface="Arial"/>
                          <a:ea typeface="Arial"/>
                          <a:cs typeface="Arial"/>
                          <a:sym typeface="Arial"/>
                        </a:rPr>
                        <a:t> 144 </a:t>
                      </a:r>
                      <a:r>
                        <a:rPr lang="en-US" sz="2000" dirty="0" err="1">
                          <a:solidFill>
                            <a:srgbClr val="000000"/>
                          </a:solidFill>
                          <a:latin typeface="Arial"/>
                          <a:ea typeface="Arial"/>
                          <a:cs typeface="Arial"/>
                          <a:sym typeface="Arial"/>
                        </a:rPr>
                        <a:t>Cộng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Hòa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Phường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Hiền</a:t>
                      </a:r>
                      <a:r>
                        <a:rPr lang="en-US" sz="2000" dirty="0">
                          <a:solidFill>
                            <a:srgbClr val="000000"/>
                          </a:solidFill>
                          <a:latin typeface="Arial"/>
                          <a:ea typeface="Arial"/>
                          <a:cs typeface="Arial"/>
                          <a:sym typeface="Arial"/>
                        </a:rPr>
                        <a:t>, TP.HCM.</a:t>
                      </a:r>
                    </a:p>
                    <a:p>
                      <a:pPr marL="817035" lvl="3" indent="-204259" algn="l">
                        <a:lnSpc>
                          <a:spcPts val="3110"/>
                        </a:lnSpc>
                      </a:pPr>
                      <a:endParaRPr lang="en-US" sz="2000" dirty="0">
                        <a:solidFill>
                          <a:srgbClr val="000000"/>
                        </a:solidFill>
                        <a:latin typeface="Arial"/>
                        <a:ea typeface="Arial"/>
                        <a:cs typeface="Arial"/>
                        <a:sym typeface="Arial"/>
                      </a:endParaRPr>
                    </a:p>
                    <a:p>
                      <a:pPr algn="l">
                        <a:lnSpc>
                          <a:spcPts val="3110"/>
                        </a:lnSpc>
                      </a:pPr>
                      <a:r>
                        <a:rPr lang="en-US" sz="2000" b="1" dirty="0">
                          <a:solidFill>
                            <a:srgbClr val="000000"/>
                          </a:solidFill>
                          <a:latin typeface="Arial Bold"/>
                          <a:ea typeface="Arial Bold"/>
                          <a:cs typeface="Arial Bold"/>
                          <a:sym typeface="Arial Bold"/>
                        </a:rPr>
                        <a:t>3. </a:t>
                      </a:r>
                      <a:r>
                        <a:rPr lang="en-US" sz="2000" b="1" dirty="0" err="1">
                          <a:solidFill>
                            <a:srgbClr val="000000"/>
                          </a:solidFill>
                          <a:latin typeface="Arial Bold"/>
                          <a:ea typeface="Arial Bold"/>
                          <a:cs typeface="Arial Bold"/>
                          <a:sym typeface="Arial Bold"/>
                        </a:rPr>
                        <a:t>Thông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báo</a:t>
                      </a:r>
                      <a:r>
                        <a:rPr lang="en-US" sz="2000" b="1" dirty="0">
                          <a:solidFill>
                            <a:srgbClr val="000000"/>
                          </a:solidFill>
                          <a:latin typeface="Arial Bold"/>
                          <a:ea typeface="Arial Bold"/>
                          <a:cs typeface="Arial Bold"/>
                          <a:sym typeface="Arial Bold"/>
                        </a:rPr>
                        <a:t>:</a:t>
                      </a:r>
                      <a:r>
                        <a:rPr lang="en-US" sz="2000" dirty="0">
                          <a:solidFill>
                            <a:srgbClr val="000000"/>
                          </a:solidFill>
                          <a:latin typeface="Arial"/>
                          <a:ea typeface="Arial"/>
                          <a:cs typeface="Arial"/>
                          <a:sym typeface="Arial"/>
                        </a:rPr>
                        <a:t> "Khi </a:t>
                      </a:r>
                      <a:r>
                        <a:rPr lang="en-US" sz="2000" dirty="0" err="1">
                          <a:solidFill>
                            <a:srgbClr val="000000"/>
                          </a:solidFill>
                          <a:latin typeface="Arial"/>
                          <a:ea typeface="Arial"/>
                          <a:cs typeface="Arial"/>
                          <a:sym typeface="Arial"/>
                        </a:rPr>
                        <a:t>gửi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hồ</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sơ</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về</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em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là</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anh</a:t>
                      </a:r>
                      <a:r>
                        <a:rPr lang="en-US" sz="2000" dirty="0">
                          <a:solidFill>
                            <a:srgbClr val="000000"/>
                          </a:solidFill>
                          <a:latin typeface="Arial"/>
                          <a:ea typeface="Arial"/>
                          <a:cs typeface="Arial"/>
                          <a:sym typeface="Arial"/>
                        </a:rPr>
                        <a:t>/</a:t>
                      </a:r>
                      <a:r>
                        <a:rPr lang="en-US" sz="2000" dirty="0" err="1">
                          <a:solidFill>
                            <a:srgbClr val="000000"/>
                          </a:solidFill>
                          <a:latin typeface="Arial"/>
                          <a:ea typeface="Arial"/>
                          <a:cs typeface="Arial"/>
                          <a:sym typeface="Arial"/>
                        </a:rPr>
                        <a:t>chị</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đã</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đồng</a:t>
                      </a:r>
                      <a:r>
                        <a:rPr lang="en-US" sz="2000" dirty="0">
                          <a:solidFill>
                            <a:srgbClr val="000000"/>
                          </a:solidFill>
                          <a:latin typeface="Arial"/>
                          <a:ea typeface="Arial"/>
                          <a:cs typeface="Arial"/>
                          <a:sym typeface="Arial"/>
                        </a:rPr>
                        <a:t> ý </a:t>
                      </a:r>
                      <a:r>
                        <a:rPr lang="en-US" sz="2000" dirty="0" err="1">
                          <a:solidFill>
                            <a:srgbClr val="000000"/>
                          </a:solidFill>
                          <a:latin typeface="Arial"/>
                          <a:ea typeface="Arial"/>
                          <a:cs typeface="Arial"/>
                          <a:sym typeface="Arial"/>
                        </a:rPr>
                        <a:t>cho</a:t>
                      </a:r>
                      <a:r>
                        <a:rPr lang="en-US" sz="2000" dirty="0">
                          <a:solidFill>
                            <a:srgbClr val="000000"/>
                          </a:solidFill>
                          <a:latin typeface="Arial"/>
                          <a:ea typeface="Arial"/>
                          <a:cs typeface="Arial"/>
                          <a:sym typeface="Arial"/>
                        </a:rPr>
                        <a:t> Fe Credit </a:t>
                      </a:r>
                      <a:r>
                        <a:rPr lang="en-US" sz="2000" dirty="0" err="1">
                          <a:solidFill>
                            <a:srgbClr val="000000"/>
                          </a:solidFill>
                          <a:latin typeface="Arial"/>
                          <a:ea typeface="Arial"/>
                          <a:cs typeface="Arial"/>
                          <a:sym typeface="Arial"/>
                        </a:rPr>
                        <a:t>chuyển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 </a:t>
                      </a:r>
                      <a:r>
                        <a:rPr lang="en-US" sz="2000" dirty="0" err="1">
                          <a:solidFill>
                            <a:srgbClr val="000000"/>
                          </a:solidFill>
                          <a:latin typeface="Arial"/>
                          <a:ea typeface="Arial"/>
                          <a:cs typeface="Arial"/>
                          <a:sym typeface="Arial"/>
                        </a:rPr>
                        <a:t>của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anh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chị</a:t>
                      </a:r>
                      <a:r>
                        <a:rPr lang="en-US" sz="2000" dirty="0">
                          <a:solidFill>
                            <a:srgbClr val="000000"/>
                          </a:solidFill>
                          <a:latin typeface="Arial"/>
                          <a:ea typeface="Arial"/>
                          <a:cs typeface="Arial"/>
                          <a:sym typeface="Arial"/>
                        </a:rPr>
                        <a:t> sang </a:t>
                      </a:r>
                      <a:r>
                        <a:rPr lang="en-US" sz="2000" dirty="0" err="1">
                          <a:solidFill>
                            <a:srgbClr val="000000"/>
                          </a:solidFill>
                          <a:latin typeface="Arial"/>
                          <a:ea typeface="Arial"/>
                          <a:cs typeface="Arial"/>
                          <a:sym typeface="Arial"/>
                        </a:rPr>
                        <a:t>công</a:t>
                      </a:r>
                      <a:r>
                        <a:rPr lang="en-US" sz="2000" dirty="0">
                          <a:solidFill>
                            <a:srgbClr val="000000"/>
                          </a:solidFill>
                          <a:latin typeface="Arial"/>
                          <a:ea typeface="Arial"/>
                          <a:cs typeface="Arial"/>
                          <a:sym typeface="Arial"/>
                        </a:rPr>
                        <a:t> ty </a:t>
                      </a:r>
                      <a:r>
                        <a:rPr lang="en-US" sz="2000" dirty="0" err="1">
                          <a:solidFill>
                            <a:srgbClr val="000000"/>
                          </a:solidFill>
                          <a:latin typeface="Arial"/>
                          <a:ea typeface="Arial"/>
                          <a:cs typeface="Arial"/>
                          <a:sym typeface="Arial"/>
                        </a:rPr>
                        <a:t>Bảo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hiểm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để</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liên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hệ</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về</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các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vấn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đề</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liên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quan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đến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xử</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lý</a:t>
                      </a:r>
                      <a:r>
                        <a:rPr lang="en-US" sz="2000" dirty="0">
                          <a:solidFill>
                            <a:srgbClr val="000000"/>
                          </a:solidFill>
                          <a:latin typeface="Arial"/>
                          <a:ea typeface="Arial"/>
                          <a:cs typeface="Arial"/>
                          <a:sym typeface="Arial"/>
                        </a:rPr>
                        <a:t> BH </a:t>
                      </a:r>
                      <a:r>
                        <a:rPr lang="en-US" sz="2000" dirty="0" err="1">
                          <a:solidFill>
                            <a:srgbClr val="000000"/>
                          </a:solidFill>
                          <a:latin typeface="Arial"/>
                          <a:ea typeface="Arial"/>
                          <a:cs typeface="Arial"/>
                          <a:sym typeface="Arial"/>
                        </a:rPr>
                        <a:t>cho</a:t>
                      </a:r>
                      <a:r>
                        <a:rPr lang="en-US" sz="2000" dirty="0">
                          <a:solidFill>
                            <a:srgbClr val="000000"/>
                          </a:solidFill>
                          <a:latin typeface="Arial"/>
                          <a:ea typeface="Arial"/>
                          <a:cs typeface="Arial"/>
                          <a:sym typeface="Arial"/>
                        </a:rPr>
                        <a:t> KH."</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110"/>
                        </a:lnSpc>
                        <a:defRPr/>
                      </a:pPr>
                      <a:r>
                        <a:rPr lang="en-US" sz="2000" b="1" dirty="0">
                          <a:solidFill>
                            <a:srgbClr val="000000"/>
                          </a:solidFill>
                          <a:latin typeface="Arial Bold"/>
                          <a:ea typeface="Arial Bold"/>
                          <a:cs typeface="Arial Bold"/>
                          <a:sym typeface="Arial Bold"/>
                        </a:rPr>
                        <a:t>Code:</a:t>
                      </a:r>
                      <a:r>
                        <a:rPr lang="en-US" sz="2000" dirty="0">
                          <a:solidFill>
                            <a:srgbClr val="000000"/>
                          </a:solidFill>
                          <a:latin typeface="Arial"/>
                          <a:ea typeface="Arial"/>
                          <a:cs typeface="Arial"/>
                          <a:sym typeface="Arial"/>
                        </a:rPr>
                        <a:t> IL13-Bảo </a:t>
                      </a:r>
                      <a:r>
                        <a:rPr lang="en-US" sz="2000" dirty="0" err="1">
                          <a:solidFill>
                            <a:srgbClr val="000000"/>
                          </a:solidFill>
                          <a:latin typeface="Arial"/>
                          <a:ea typeface="Arial"/>
                          <a:cs typeface="Arial"/>
                          <a:sym typeface="Arial"/>
                        </a:rPr>
                        <a:t>hiểm</a:t>
                      </a:r>
                      <a:endParaRPr lang="en-US" sz="1100" dirty="0"/>
                    </a:p>
                    <a:p>
                      <a:pPr algn="l">
                        <a:lnSpc>
                          <a:spcPts val="3110"/>
                        </a:lnSpc>
                      </a:pPr>
                      <a:r>
                        <a:rPr lang="en-US" sz="2000" b="1" dirty="0">
                          <a:solidFill>
                            <a:srgbClr val="000000"/>
                          </a:solidFill>
                          <a:latin typeface="Arial Bold"/>
                          <a:ea typeface="Arial Bold"/>
                          <a:cs typeface="Arial Bold"/>
                          <a:sym typeface="Arial Bold"/>
                        </a:rPr>
                        <a:t>Sub:</a:t>
                      </a:r>
                      <a:r>
                        <a:rPr lang="en-US" sz="2000" dirty="0">
                          <a:solidFill>
                            <a:srgbClr val="000000"/>
                          </a:solidFill>
                          <a:latin typeface="Arial"/>
                          <a:ea typeface="Arial"/>
                          <a:cs typeface="Arial"/>
                          <a:sym typeface="Arial"/>
                        </a:rPr>
                        <a:t> IL13.02-Thủ </a:t>
                      </a:r>
                      <a:r>
                        <a:rPr lang="en-US" sz="2000" dirty="0" err="1">
                          <a:solidFill>
                            <a:srgbClr val="000000"/>
                          </a:solidFill>
                          <a:latin typeface="Arial"/>
                          <a:ea typeface="Arial"/>
                          <a:cs typeface="Arial"/>
                          <a:sym typeface="Arial"/>
                        </a:rPr>
                        <a:t>tục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bồi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thường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hiểm</a:t>
                      </a:r>
                      <a:endParaRPr lang="en-US" sz="2000" dirty="0">
                        <a:solidFill>
                          <a:srgbClr val="000000"/>
                        </a:solidFill>
                        <a:latin typeface="Arial"/>
                        <a:ea typeface="Arial"/>
                        <a:cs typeface="Arial"/>
                        <a:sym typeface="Arial"/>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grpSp>
        <p:nvGrpSpPr>
          <p:cNvPr id="3" name="Group 3"/>
          <p:cNvGrpSpPr/>
          <p:nvPr/>
        </p:nvGrpSpPr>
        <p:grpSpPr>
          <a:xfrm>
            <a:off x="15691018" y="9790919"/>
            <a:ext cx="2421922" cy="346996"/>
            <a:chOff x="0" y="0"/>
            <a:chExt cx="3229229" cy="462661"/>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145" r="-145"/>
              </a:stretch>
            </a:blipFill>
          </p:spPr>
        </p:sp>
      </p:grpSp>
      <p:sp>
        <p:nvSpPr>
          <p:cNvPr id="5" name="Freeform 5"/>
          <p:cNvSpPr/>
          <p:nvPr/>
        </p:nvSpPr>
        <p:spPr>
          <a:xfrm>
            <a:off x="5858" y="-328298"/>
            <a:ext cx="20000147" cy="1306449"/>
          </a:xfrm>
          <a:custGeom>
            <a:avLst/>
            <a:gdLst/>
            <a:ahLst/>
            <a:cxnLst/>
            <a:rect l="l" t="t" r="r" b="b"/>
            <a:pathLst>
              <a:path w="20000147" h="1306449">
                <a:moveTo>
                  <a:pt x="0" y="0"/>
                </a:moveTo>
                <a:lnTo>
                  <a:pt x="20000147" y="0"/>
                </a:lnTo>
                <a:lnTo>
                  <a:pt x="20000147"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t="-300" b="-300"/>
            </a:stretch>
          </a:blipFill>
        </p:spPr>
      </p:sp>
      <p:sp>
        <p:nvSpPr>
          <p:cNvPr id="6" name="TextBox 6"/>
          <p:cNvSpPr txBox="1"/>
          <p:nvPr/>
        </p:nvSpPr>
        <p:spPr>
          <a:xfrm>
            <a:off x="182323" y="171557"/>
            <a:ext cx="17923354" cy="579596"/>
          </a:xfrm>
          <a:prstGeom prst="rect">
            <a:avLst/>
          </a:prstGeom>
        </p:spPr>
        <p:txBody>
          <a:bodyPr lIns="0" tIns="0" rIns="0" bIns="0" rtlCol="0" anchor="t">
            <a:spAutoFit/>
          </a:bodyPr>
          <a:lstStyle/>
          <a:p>
            <a:pPr algn="ctr">
              <a:lnSpc>
                <a:spcPts val="4419"/>
              </a:lnSpc>
            </a:pPr>
            <a:r>
              <a:rPr lang="en-US" sz="3399" b="1">
                <a:solidFill>
                  <a:srgbClr val="000000"/>
                </a:solidFill>
                <a:latin typeface="Arial Bold"/>
                <a:ea typeface="Arial Bold"/>
                <a:cs typeface="Arial Bold"/>
                <a:sym typeface="Arial Bold"/>
              </a:rPr>
              <a:t>THỦ TỤC BỒI THƯỜNG BẢO HIỂM- KH MẤT TÍCH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2629050836"/>
              </p:ext>
            </p:extLst>
          </p:nvPr>
        </p:nvGraphicFramePr>
        <p:xfrm>
          <a:off x="293269" y="1528559"/>
          <a:ext cx="17665701" cy="7384697"/>
        </p:xfrm>
        <a:graphic>
          <a:graphicData uri="http://schemas.openxmlformats.org/drawingml/2006/table">
            <a:tbl>
              <a:tblPr/>
              <a:tblGrid>
                <a:gridCol w="3847387">
                  <a:extLst>
                    <a:ext uri="{9D8B030D-6E8A-4147-A177-3AD203B41FA5}">
                      <a16:colId xmlns:a16="http://schemas.microsoft.com/office/drawing/2014/main" val="20000"/>
                    </a:ext>
                  </a:extLst>
                </a:gridCol>
                <a:gridCol w="7404166">
                  <a:extLst>
                    <a:ext uri="{9D8B030D-6E8A-4147-A177-3AD203B41FA5}">
                      <a16:colId xmlns:a16="http://schemas.microsoft.com/office/drawing/2014/main" val="20001"/>
                    </a:ext>
                  </a:extLst>
                </a:gridCol>
                <a:gridCol w="2380863">
                  <a:extLst>
                    <a:ext uri="{9D8B030D-6E8A-4147-A177-3AD203B41FA5}">
                      <a16:colId xmlns:a16="http://schemas.microsoft.com/office/drawing/2014/main" val="20002"/>
                    </a:ext>
                  </a:extLst>
                </a:gridCol>
                <a:gridCol w="4033285">
                  <a:extLst>
                    <a:ext uri="{9D8B030D-6E8A-4147-A177-3AD203B41FA5}">
                      <a16:colId xmlns:a16="http://schemas.microsoft.com/office/drawing/2014/main" val="20003"/>
                    </a:ext>
                  </a:extLst>
                </a:gridCol>
              </a:tblGrid>
              <a:tr h="775526">
                <a:tc gridSpan="2">
                  <a:txBody>
                    <a:bodyPr/>
                    <a:lstStyle/>
                    <a:p>
                      <a:pPr algn="ctr">
                        <a:lnSpc>
                          <a:spcPts val="3750"/>
                        </a:lnSpc>
                        <a:defRPr/>
                      </a:pPr>
                      <a:r>
                        <a:rPr lang="en-US" sz="2000" b="1" spc="12">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hMerge="1">
                  <a:txBody>
                    <a:bodyPr/>
                    <a:lstStyle/>
                    <a:p>
                      <a:pPr algn="ctr">
                        <a:lnSpc>
                          <a:spcPts val="3750"/>
                        </a:lnSpc>
                        <a:defRPr/>
                      </a:pPr>
                      <a:r>
                        <a:rPr lang="en-US" sz="2000" b="1" spc="12">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a:solidFill>
                            <a:srgbClr val="FFFFFF"/>
                          </a:solidFill>
                          <a:latin typeface="Arial Bold"/>
                          <a:ea typeface="Arial Bold"/>
                          <a:cs typeface="Arial Bold"/>
                          <a:sym typeface="Arial Bold"/>
                        </a:rPr>
                        <a:t>TAT</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a:solidFill>
                            <a:srgbClr val="FFFFFF"/>
                          </a:solidFill>
                          <a:latin typeface="Arial Bold"/>
                          <a:ea typeface="Arial Bold"/>
                          <a:cs typeface="Arial Bold"/>
                          <a:sym typeface="Arial Bold"/>
                        </a:rPr>
                        <a:t>CODE/ REMARK</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3890042">
                <a:tc rowSpan="2">
                  <a:txBody>
                    <a:bodyPr/>
                    <a:lstStyle/>
                    <a:p>
                      <a:pPr algn="l">
                        <a:lnSpc>
                          <a:spcPts val="2800"/>
                        </a:lnSpc>
                        <a:defRPr/>
                      </a:pPr>
                      <a:r>
                        <a:rPr lang="en-US" sz="2000" b="1">
                          <a:solidFill>
                            <a:srgbClr val="000000"/>
                          </a:solidFill>
                          <a:latin typeface="Arial Bold"/>
                          <a:ea typeface="Arial Bold"/>
                          <a:cs typeface="Arial Bold"/>
                          <a:sym typeface="Arial Bold"/>
                        </a:rPr>
                        <a:t>CS khai thác:</a:t>
                      </a:r>
                      <a:endParaRPr lang="en-US" sz="1100"/>
                    </a:p>
                    <a:p>
                      <a:pPr marL="431801" lvl="1" indent="-215900" algn="l">
                        <a:lnSpc>
                          <a:spcPts val="2800"/>
                        </a:lnSpc>
                        <a:buFont typeface="Arial"/>
                        <a:buChar char="•"/>
                      </a:pPr>
                      <a:r>
                        <a:rPr lang="en-US" sz="2000">
                          <a:solidFill>
                            <a:srgbClr val="000000"/>
                          </a:solidFill>
                          <a:latin typeface="Arial"/>
                          <a:ea typeface="Arial"/>
                          <a:cs typeface="Arial"/>
                          <a:sym typeface="Arial"/>
                        </a:rPr>
                        <a:t>Mã bưu phẩm (kiểm tra trên biên lai lúc gửi thư cho công ty) </a:t>
                      </a:r>
                    </a:p>
                    <a:p>
                      <a:pPr marL="431801" lvl="1" indent="-215900" algn="l">
                        <a:lnSpc>
                          <a:spcPts val="2800"/>
                        </a:lnSpc>
                        <a:buFont typeface="Arial"/>
                        <a:buChar char="•"/>
                      </a:pPr>
                      <a:r>
                        <a:rPr lang="en-US" sz="2000">
                          <a:solidFill>
                            <a:srgbClr val="000000"/>
                          </a:solidFill>
                          <a:latin typeface="Arial"/>
                          <a:ea typeface="Arial"/>
                          <a:cs typeface="Arial"/>
                          <a:sym typeface="Arial"/>
                        </a:rPr>
                        <a:t>Tên người gửi thư</a:t>
                      </a:r>
                    </a:p>
                    <a:p>
                      <a:pPr marL="431801" lvl="1" indent="-215900" algn="l">
                        <a:lnSpc>
                          <a:spcPts val="2800"/>
                        </a:lnSpc>
                        <a:buFont typeface="Arial"/>
                        <a:buChar char="•"/>
                      </a:pPr>
                      <a:r>
                        <a:rPr lang="en-US" sz="2000">
                          <a:solidFill>
                            <a:srgbClr val="000000"/>
                          </a:solidFill>
                          <a:latin typeface="Arial"/>
                          <a:ea typeface="Arial"/>
                          <a:cs typeface="Arial"/>
                          <a:sym typeface="Arial"/>
                        </a:rPr>
                        <a:t>Thời gian gửi</a:t>
                      </a:r>
                    </a:p>
                    <a:p>
                      <a:pPr marL="431801" lvl="1" indent="-215900" algn="l">
                        <a:lnSpc>
                          <a:spcPts val="2800"/>
                        </a:lnSpc>
                        <a:buFont typeface="Arial"/>
                        <a:buChar char="•"/>
                      </a:pPr>
                      <a:r>
                        <a:rPr lang="en-US" sz="2000">
                          <a:solidFill>
                            <a:srgbClr val="000000"/>
                          </a:solidFill>
                          <a:latin typeface="Arial"/>
                          <a:ea typeface="Arial"/>
                          <a:cs typeface="Arial"/>
                          <a:sym typeface="Arial"/>
                        </a:rPr>
                        <a:t>Thông tin người ký nhận thành công (nếu có)</a:t>
                      </a:r>
                    </a:p>
                    <a:p>
                      <a:pPr marL="431801" lvl="1" indent="-215900" algn="l">
                        <a:lnSpc>
                          <a:spcPts val="2800"/>
                        </a:lnSpc>
                        <a:buFont typeface="Arial"/>
                        <a:buChar char="•"/>
                      </a:pPr>
                      <a:r>
                        <a:rPr lang="en-US" sz="2000">
                          <a:solidFill>
                            <a:srgbClr val="000000"/>
                          </a:solidFill>
                          <a:latin typeface="Arial"/>
                          <a:ea typeface="Arial"/>
                          <a:cs typeface="Arial"/>
                          <a:sym typeface="Arial"/>
                        </a:rPr>
                        <a:t>Số ĐT liên lạc</a:t>
                      </a:r>
                    </a:p>
                    <a:p>
                      <a:pPr algn="l">
                        <a:lnSpc>
                          <a:spcPts val="3110"/>
                        </a:lnSpc>
                      </a:pPr>
                      <a:endParaRPr lang="en-US" sz="2000">
                        <a:solidFill>
                          <a:srgbClr val="000000"/>
                        </a:solidFill>
                        <a:latin typeface="Arial"/>
                        <a:ea typeface="Arial"/>
                        <a:cs typeface="Arial"/>
                        <a:sym typeface="Arial"/>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110"/>
                        </a:lnSpc>
                        <a:defRPr/>
                      </a:pPr>
                      <a:r>
                        <a:rPr lang="en-US" sz="2000" b="1" dirty="0">
                          <a:solidFill>
                            <a:srgbClr val="000000"/>
                          </a:solidFill>
                          <a:latin typeface="Arial Bold"/>
                          <a:ea typeface="Arial Bold"/>
                          <a:cs typeface="Arial Bold"/>
                          <a:sym typeface="Arial Bold"/>
                        </a:rPr>
                        <a:t>KH </a:t>
                      </a:r>
                      <a:r>
                        <a:rPr lang="en-US" sz="2000" b="1" dirty="0" err="1">
                          <a:solidFill>
                            <a:srgbClr val="000000"/>
                          </a:solidFill>
                          <a:latin typeface="Arial Bold"/>
                          <a:ea typeface="Arial Bold"/>
                          <a:cs typeface="Arial Bold"/>
                          <a:sym typeface="Arial Bold"/>
                        </a:rPr>
                        <a:t>cung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cấp</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đầy</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đủ</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thông</a:t>
                      </a:r>
                      <a:r>
                        <a:rPr lang="en-US" sz="2000" b="1" dirty="0">
                          <a:solidFill>
                            <a:srgbClr val="000000"/>
                          </a:solidFill>
                          <a:latin typeface="Arial Bold"/>
                          <a:ea typeface="Arial Bold"/>
                          <a:cs typeface="Arial Bold"/>
                          <a:sym typeface="Arial Bold"/>
                        </a:rPr>
                        <a:t> tin, </a:t>
                      </a:r>
                      <a:r>
                        <a:rPr lang="en-US" sz="2000" dirty="0">
                          <a:solidFill>
                            <a:srgbClr val="000000"/>
                          </a:solidFill>
                          <a:latin typeface="Arial"/>
                          <a:ea typeface="Arial"/>
                          <a:cs typeface="Arial"/>
                          <a:sym typeface="Arial"/>
                        </a:rPr>
                        <a:t>CS </a:t>
                      </a:r>
                      <a:r>
                        <a:rPr lang="en-US" sz="2000" dirty="0" err="1">
                          <a:solidFill>
                            <a:srgbClr val="000000"/>
                          </a:solidFill>
                          <a:latin typeface="Arial"/>
                          <a:ea typeface="Arial"/>
                          <a:cs typeface="Arial"/>
                          <a:sym typeface="Arial"/>
                        </a:rPr>
                        <a:t>xác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nhận</a:t>
                      </a:r>
                      <a:r>
                        <a:rPr lang="en-US" sz="2000" dirty="0">
                          <a:solidFill>
                            <a:srgbClr val="000000"/>
                          </a:solidFill>
                          <a:latin typeface="Arial"/>
                          <a:ea typeface="Arial"/>
                          <a:cs typeface="Arial"/>
                          <a:sym typeface="Arial"/>
                        </a:rPr>
                        <a:t>: Anh/</a:t>
                      </a:r>
                      <a:r>
                        <a:rPr lang="en-US" sz="2000" dirty="0" err="1">
                          <a:solidFill>
                            <a:srgbClr val="000000"/>
                          </a:solidFill>
                          <a:latin typeface="Arial"/>
                          <a:ea typeface="Arial"/>
                          <a:cs typeface="Arial"/>
                          <a:sym typeface="Arial"/>
                        </a:rPr>
                        <a:t>chị</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đồng</a:t>
                      </a:r>
                      <a:r>
                        <a:rPr lang="en-US" sz="2000" dirty="0">
                          <a:solidFill>
                            <a:srgbClr val="000000"/>
                          </a:solidFill>
                          <a:latin typeface="Arial"/>
                          <a:ea typeface="Arial"/>
                          <a:cs typeface="Arial"/>
                          <a:sym typeface="Arial"/>
                        </a:rPr>
                        <a:t> ý </a:t>
                      </a:r>
                      <a:r>
                        <a:rPr lang="en-US" sz="2000" dirty="0" err="1">
                          <a:solidFill>
                            <a:srgbClr val="000000"/>
                          </a:solidFill>
                          <a:latin typeface="Arial"/>
                          <a:ea typeface="Arial"/>
                          <a:cs typeface="Arial"/>
                          <a:sym typeface="Arial"/>
                        </a:rPr>
                        <a:t>cho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em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hoặc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công</a:t>
                      </a:r>
                      <a:r>
                        <a:rPr lang="en-US" sz="2000" dirty="0">
                          <a:solidFill>
                            <a:srgbClr val="000000"/>
                          </a:solidFill>
                          <a:latin typeface="Arial"/>
                          <a:ea typeface="Arial"/>
                          <a:cs typeface="Arial"/>
                          <a:sym typeface="Arial"/>
                        </a:rPr>
                        <a:t> ty </a:t>
                      </a:r>
                      <a:r>
                        <a:rPr lang="en-US" sz="2000" dirty="0" err="1">
                          <a:solidFill>
                            <a:srgbClr val="000000"/>
                          </a:solidFill>
                          <a:latin typeface="Arial"/>
                          <a:ea typeface="Arial"/>
                          <a:cs typeface="Arial"/>
                          <a:sym typeface="Arial"/>
                        </a:rPr>
                        <a:t>Bảo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hiểm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liên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hệ</a:t>
                      </a:r>
                      <a:r>
                        <a:rPr lang="en-US" sz="2000" dirty="0">
                          <a:solidFill>
                            <a:srgbClr val="000000"/>
                          </a:solidFill>
                          <a:latin typeface="Arial"/>
                          <a:ea typeface="Arial"/>
                          <a:cs typeface="Arial"/>
                          <a:sym typeface="Arial"/>
                        </a:rPr>
                        <a:t> qua SĐT </a:t>
                      </a:r>
                      <a:r>
                        <a:rPr lang="en-US" sz="2000" dirty="0" err="1">
                          <a:solidFill>
                            <a:srgbClr val="000000"/>
                          </a:solidFill>
                          <a:latin typeface="Arial"/>
                          <a:ea typeface="Arial"/>
                          <a:cs typeface="Arial"/>
                          <a:sym typeface="Arial"/>
                        </a:rPr>
                        <a:t>này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để</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cung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cấp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 </a:t>
                      </a:r>
                      <a:r>
                        <a:rPr lang="en-US" sz="2000" dirty="0" err="1">
                          <a:solidFill>
                            <a:srgbClr val="000000"/>
                          </a:solidFill>
                          <a:latin typeface="Arial"/>
                          <a:ea typeface="Arial"/>
                          <a:cs typeface="Arial"/>
                          <a:sym typeface="Arial"/>
                        </a:rPr>
                        <a:t>quan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đến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vấn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đề</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xử</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lý</a:t>
                      </a:r>
                      <a:r>
                        <a:rPr lang="en-US" sz="2000" dirty="0">
                          <a:solidFill>
                            <a:srgbClr val="000000"/>
                          </a:solidFill>
                          <a:latin typeface="Arial"/>
                          <a:ea typeface="Arial"/>
                          <a:cs typeface="Arial"/>
                          <a:sym typeface="Arial"/>
                        </a:rPr>
                        <a:t> BH </a:t>
                      </a:r>
                      <a:r>
                        <a:rPr lang="en-US" sz="2000" dirty="0" err="1">
                          <a:solidFill>
                            <a:srgbClr val="000000"/>
                          </a:solidFill>
                          <a:latin typeface="Arial"/>
                          <a:ea typeface="Arial"/>
                          <a:cs typeface="Arial"/>
                          <a:sym typeface="Arial"/>
                        </a:rPr>
                        <a:t>cho</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đúng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ạ?</a:t>
                      </a:r>
                      <a:endParaRPr lang="en-US" sz="1100" dirty="0"/>
                    </a:p>
                    <a:p>
                      <a:pPr marL="431801" lvl="1" indent="-215900" algn="l">
                        <a:lnSpc>
                          <a:spcPts val="3110"/>
                        </a:lnSpc>
                        <a:buFont typeface="Arial"/>
                        <a:buChar char="•"/>
                      </a:pPr>
                      <a:r>
                        <a:rPr lang="en-US" sz="2000" dirty="0" err="1">
                          <a:solidFill>
                            <a:srgbClr val="000000"/>
                          </a:solidFill>
                          <a:latin typeface="Arial"/>
                          <a:ea typeface="Arial"/>
                          <a:cs typeface="Arial"/>
                          <a:sym typeface="Arial"/>
                        </a:rPr>
                        <a:t>Người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thân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đồng</a:t>
                      </a:r>
                      <a:r>
                        <a:rPr lang="en-US" sz="2000" dirty="0">
                          <a:solidFill>
                            <a:srgbClr val="000000"/>
                          </a:solidFill>
                          <a:latin typeface="Arial"/>
                          <a:ea typeface="Arial"/>
                          <a:cs typeface="Arial"/>
                          <a:sym typeface="Arial"/>
                        </a:rPr>
                        <a:t> ý: CS </a:t>
                      </a:r>
                      <a:r>
                        <a:rPr lang="en-US" sz="2000" dirty="0" err="1">
                          <a:solidFill>
                            <a:srgbClr val="000000"/>
                          </a:solidFill>
                          <a:latin typeface="Arial"/>
                          <a:ea typeface="Arial"/>
                          <a:cs typeface="Arial"/>
                          <a:sym typeface="Arial"/>
                        </a:rPr>
                        <a:t>báo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chuyển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hỗ</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trợ</a:t>
                      </a:r>
                      <a:r>
                        <a:rPr lang="en-US" sz="2000" dirty="0">
                          <a:solidFill>
                            <a:srgbClr val="000000"/>
                          </a:solidFill>
                          <a:latin typeface="Arial"/>
                          <a:ea typeface="Arial"/>
                          <a:cs typeface="Arial"/>
                          <a:sym typeface="Arial"/>
                        </a:rPr>
                        <a:t>.</a:t>
                      </a:r>
                    </a:p>
                    <a:p>
                      <a:pPr marL="431801" lvl="1" indent="-215900" algn="l">
                        <a:lnSpc>
                          <a:spcPts val="3112"/>
                        </a:lnSpc>
                        <a:buFont typeface="Arial"/>
                        <a:buChar char="•"/>
                      </a:pP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đồng</a:t>
                      </a:r>
                      <a:r>
                        <a:rPr lang="en-US" sz="2000" dirty="0">
                          <a:solidFill>
                            <a:srgbClr val="000000"/>
                          </a:solidFill>
                          <a:latin typeface="Arial"/>
                          <a:ea typeface="Arial"/>
                          <a:cs typeface="Arial"/>
                          <a:sym typeface="Arial"/>
                        </a:rPr>
                        <a:t> ý: CS </a:t>
                      </a:r>
                      <a:r>
                        <a:rPr lang="en-US" sz="2000" dirty="0" err="1">
                          <a:solidFill>
                            <a:srgbClr val="000000"/>
                          </a:solidFill>
                          <a:latin typeface="Arial"/>
                          <a:ea typeface="Arial"/>
                          <a:cs typeface="Arial"/>
                          <a:sym typeface="Arial"/>
                        </a:rPr>
                        <a:t>thuyết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phục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nếu</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vẫn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đồng</a:t>
                      </a:r>
                      <a:r>
                        <a:rPr lang="en-US" sz="2000" dirty="0">
                          <a:solidFill>
                            <a:srgbClr val="000000"/>
                          </a:solidFill>
                          <a:latin typeface="Arial"/>
                          <a:ea typeface="Arial"/>
                          <a:cs typeface="Arial"/>
                          <a:sym typeface="Arial"/>
                        </a:rPr>
                        <a:t> ý, </a:t>
                      </a:r>
                      <a:r>
                        <a:rPr lang="en-US" sz="2000" dirty="0" err="1">
                          <a:solidFill>
                            <a:srgbClr val="000000"/>
                          </a:solidFill>
                          <a:latin typeface="Arial"/>
                          <a:ea typeface="Arial"/>
                          <a:cs typeface="Arial"/>
                          <a:sym typeface="Arial"/>
                        </a:rPr>
                        <a:t>hướng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dẫn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liên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hệ</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sau</a:t>
                      </a:r>
                      <a:r>
                        <a:rPr lang="en-US" sz="2000" dirty="0">
                          <a:solidFill>
                            <a:srgbClr val="000000"/>
                          </a:solidFill>
                          <a:latin typeface="Arial"/>
                          <a:ea typeface="Arial"/>
                          <a:cs typeface="Arial"/>
                          <a:sym typeface="Arial"/>
                        </a:rPr>
                        <a:t>.</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3110"/>
                        </a:lnSpc>
                        <a:defRPr/>
                      </a:pPr>
                      <a:r>
                        <a:rPr lang="en-US" sz="2000" dirty="0">
                          <a:solidFill>
                            <a:srgbClr val="000000"/>
                          </a:solidFill>
                          <a:latin typeface="Arial"/>
                          <a:ea typeface="Arial"/>
                          <a:cs typeface="Arial"/>
                          <a:sym typeface="Arial"/>
                        </a:rPr>
                        <a:t>4 </a:t>
                      </a:r>
                      <a:r>
                        <a:rPr lang="en-US" sz="2000" dirty="0" err="1">
                          <a:solidFill>
                            <a:srgbClr val="000000"/>
                          </a:solidFill>
                          <a:latin typeface="Arial"/>
                          <a:ea typeface="Arial"/>
                          <a:cs typeface="Arial"/>
                          <a:sym typeface="Arial"/>
                        </a:rPr>
                        <a:t>ngày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làm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việc</a:t>
                      </a:r>
                      <a:endParaRPr lang="en-US" sz="1100" dirty="0"/>
                    </a:p>
                    <a:p>
                      <a:pPr algn="ctr">
                        <a:lnSpc>
                          <a:spcPts val="3110"/>
                        </a:lnSpc>
                      </a:pPr>
                      <a:r>
                        <a:rPr lang="en-US" sz="2000" dirty="0">
                          <a:solidFill>
                            <a:srgbClr val="000000"/>
                          </a:solidFill>
                          <a:latin typeface="Arial"/>
                          <a:ea typeface="Arial"/>
                          <a:cs typeface="Arial"/>
                          <a:sym typeface="Arial"/>
                        </a:rPr>
                        <a:t>(</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 NV </a:t>
                      </a:r>
                      <a:r>
                        <a:rPr lang="en-US" sz="2000" dirty="0" err="1">
                          <a:solidFill>
                            <a:srgbClr val="000000"/>
                          </a:solidFill>
                          <a:latin typeface="Arial"/>
                          <a:ea typeface="Arial"/>
                          <a:cs typeface="Arial"/>
                          <a:sym typeface="Arial"/>
                        </a:rPr>
                        <a:t>liên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hệ</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lại</a:t>
                      </a:r>
                      <a:r>
                        <a:rPr lang="en-US" sz="2000" dirty="0">
                          <a:solidFill>
                            <a:srgbClr val="000000"/>
                          </a:solidFill>
                          <a:latin typeface="Arial"/>
                          <a:ea typeface="Arial"/>
                          <a:cs typeface="Arial"/>
                          <a:sym typeface="Arial"/>
                        </a:rPr>
                        <a:t>)</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800"/>
                        </a:lnSpc>
                        <a:defRPr/>
                      </a:pPr>
                      <a:r>
                        <a:rPr lang="en-US" sz="2000" b="1">
                          <a:solidFill>
                            <a:srgbClr val="000000"/>
                          </a:solidFill>
                          <a:latin typeface="Arial Bold"/>
                          <a:ea typeface="Arial Bold"/>
                          <a:cs typeface="Arial Bold"/>
                          <a:sym typeface="Arial Bold"/>
                        </a:rPr>
                        <a:t>Code: </a:t>
                      </a:r>
                      <a:r>
                        <a:rPr lang="en-US" sz="2000">
                          <a:solidFill>
                            <a:srgbClr val="000000"/>
                          </a:solidFill>
                          <a:latin typeface="Arial"/>
                          <a:ea typeface="Arial"/>
                          <a:cs typeface="Arial"/>
                          <a:sym typeface="Arial"/>
                        </a:rPr>
                        <a:t>RL07-Tình trạng xử lý hồ sơ bảo hiểm </a:t>
                      </a:r>
                      <a:endParaRPr lang="en-US" sz="1100"/>
                    </a:p>
                    <a:p>
                      <a:pPr algn="l">
                        <a:lnSpc>
                          <a:spcPts val="2800"/>
                        </a:lnSpc>
                      </a:pPr>
                      <a:r>
                        <a:rPr lang="en-US" sz="2000" b="1">
                          <a:solidFill>
                            <a:srgbClr val="000000"/>
                          </a:solidFill>
                          <a:latin typeface="Arial Bold"/>
                          <a:ea typeface="Arial Bold"/>
                          <a:cs typeface="Arial Bold"/>
                          <a:sym typeface="Arial Bold"/>
                        </a:rPr>
                        <a:t>Sub: </a:t>
                      </a:r>
                      <a:r>
                        <a:rPr lang="en-US" sz="2000">
                          <a:solidFill>
                            <a:srgbClr val="000000"/>
                          </a:solidFill>
                          <a:latin typeface="Arial"/>
                          <a:ea typeface="Arial"/>
                          <a:cs typeface="Arial"/>
                          <a:sym typeface="Arial"/>
                        </a:rPr>
                        <a:t>RL07.01-Tình trạng hồ sơ bảo hiểm</a:t>
                      </a:r>
                    </a:p>
                    <a:p>
                      <a:pPr algn="l">
                        <a:lnSpc>
                          <a:spcPts val="2800"/>
                        </a:lnSpc>
                      </a:pPr>
                      <a:r>
                        <a:rPr lang="en-US" sz="2000" b="1">
                          <a:solidFill>
                            <a:srgbClr val="000000"/>
                          </a:solidFill>
                          <a:latin typeface="Arial Bold"/>
                          <a:ea typeface="Arial Bold"/>
                          <a:cs typeface="Arial Bold"/>
                          <a:sym typeface="Arial Bold"/>
                        </a:rPr>
                        <a:t>Properties:</a:t>
                      </a:r>
                      <a:r>
                        <a:rPr lang="en-US" sz="2000">
                          <a:solidFill>
                            <a:srgbClr val="000000"/>
                          </a:solidFill>
                          <a:latin typeface="Arial"/>
                          <a:ea typeface="Arial"/>
                          <a:cs typeface="Arial"/>
                          <a:sym typeface="Arial"/>
                        </a:rPr>
                        <a:t> nhập theo yêu cầu</a:t>
                      </a:r>
                    </a:p>
                    <a:p>
                      <a:pPr algn="l">
                        <a:lnSpc>
                          <a:spcPts val="2800"/>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nội dung hỗ trợ</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2719129">
                <a:tc vMerge="1">
                  <a:txBody>
                    <a:bodyPr/>
                    <a:lstStyle/>
                    <a:p>
                      <a:pPr algn="l">
                        <a:lnSpc>
                          <a:spcPts val="2800"/>
                        </a:lnSpc>
                        <a:defRPr/>
                      </a:pPr>
                      <a:r>
                        <a:rPr lang="en-US" sz="2000" b="1">
                          <a:solidFill>
                            <a:srgbClr val="000000"/>
                          </a:solidFill>
                          <a:latin typeface="Arial Bold"/>
                          <a:ea typeface="Arial Bold"/>
                          <a:cs typeface="Arial Bold"/>
                          <a:sym typeface="Arial Bold"/>
                        </a:rPr>
                        <a:t>CS khai thác:</a:t>
                      </a:r>
                      <a:endParaRPr lang="en-US" sz="1100"/>
                    </a:p>
                    <a:p>
                      <a:pPr marL="431801" lvl="1" indent="-215900" algn="l">
                        <a:lnSpc>
                          <a:spcPts val="2800"/>
                        </a:lnSpc>
                        <a:buFont typeface="Arial"/>
                        <a:buChar char="•"/>
                      </a:pPr>
                      <a:r>
                        <a:rPr lang="en-US" sz="2000">
                          <a:solidFill>
                            <a:srgbClr val="000000"/>
                          </a:solidFill>
                          <a:latin typeface="Arial"/>
                          <a:ea typeface="Arial"/>
                          <a:cs typeface="Arial"/>
                          <a:sym typeface="Arial"/>
                        </a:rPr>
                        <a:t>Mã bưu phẩm (kiểm tra trên biên lai lúc gửi thư cho công ty) </a:t>
                      </a:r>
                    </a:p>
                    <a:p>
                      <a:pPr marL="431801" lvl="1" indent="-215900" algn="l">
                        <a:lnSpc>
                          <a:spcPts val="2800"/>
                        </a:lnSpc>
                        <a:buFont typeface="Arial"/>
                        <a:buChar char="•"/>
                      </a:pPr>
                      <a:r>
                        <a:rPr lang="en-US" sz="2000">
                          <a:solidFill>
                            <a:srgbClr val="000000"/>
                          </a:solidFill>
                          <a:latin typeface="Arial"/>
                          <a:ea typeface="Arial"/>
                          <a:cs typeface="Arial"/>
                          <a:sym typeface="Arial"/>
                        </a:rPr>
                        <a:t>Tên người gửi thư</a:t>
                      </a:r>
                    </a:p>
                    <a:p>
                      <a:pPr marL="431801" lvl="1" indent="-215900" algn="l">
                        <a:lnSpc>
                          <a:spcPts val="2800"/>
                        </a:lnSpc>
                        <a:buFont typeface="Arial"/>
                        <a:buChar char="•"/>
                      </a:pPr>
                      <a:r>
                        <a:rPr lang="en-US" sz="2000">
                          <a:solidFill>
                            <a:srgbClr val="000000"/>
                          </a:solidFill>
                          <a:latin typeface="Arial"/>
                          <a:ea typeface="Arial"/>
                          <a:cs typeface="Arial"/>
                          <a:sym typeface="Arial"/>
                        </a:rPr>
                        <a:t>Thời gian gửi</a:t>
                      </a:r>
                    </a:p>
                    <a:p>
                      <a:pPr marL="431801" lvl="1" indent="-215900" algn="l">
                        <a:lnSpc>
                          <a:spcPts val="2800"/>
                        </a:lnSpc>
                        <a:buFont typeface="Arial"/>
                        <a:buChar char="•"/>
                      </a:pPr>
                      <a:r>
                        <a:rPr lang="en-US" sz="2000">
                          <a:solidFill>
                            <a:srgbClr val="000000"/>
                          </a:solidFill>
                          <a:latin typeface="Arial"/>
                          <a:ea typeface="Arial"/>
                          <a:cs typeface="Arial"/>
                          <a:sym typeface="Arial"/>
                        </a:rPr>
                        <a:t>Thông tin người ký nhận thành công (nếu có)</a:t>
                      </a:r>
                    </a:p>
                    <a:p>
                      <a:pPr marL="431801" lvl="1" indent="-215900" algn="l">
                        <a:lnSpc>
                          <a:spcPts val="2800"/>
                        </a:lnSpc>
                        <a:buFont typeface="Arial"/>
                        <a:buChar char="•"/>
                      </a:pPr>
                      <a:r>
                        <a:rPr lang="en-US" sz="2000">
                          <a:solidFill>
                            <a:srgbClr val="000000"/>
                          </a:solidFill>
                          <a:latin typeface="Arial"/>
                          <a:ea typeface="Arial"/>
                          <a:cs typeface="Arial"/>
                          <a:sym typeface="Arial"/>
                        </a:rPr>
                        <a:t>Số ĐT liên lạc</a:t>
                      </a:r>
                    </a:p>
                    <a:p>
                      <a:pPr algn="l">
                        <a:lnSpc>
                          <a:spcPts val="3110"/>
                        </a:lnSpc>
                      </a:pPr>
                      <a:endParaRPr lang="en-US" sz="2000">
                        <a:solidFill>
                          <a:srgbClr val="000000"/>
                        </a:solidFill>
                        <a:latin typeface="Arial"/>
                        <a:ea typeface="Arial"/>
                        <a:cs typeface="Arial"/>
                        <a:sym typeface="Arial"/>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800"/>
                        </a:lnSpc>
                        <a:defRPr/>
                      </a:pPr>
                      <a:r>
                        <a:rPr lang="en-US" sz="2000" b="1" dirty="0">
                          <a:solidFill>
                            <a:srgbClr val="000000"/>
                          </a:solidFill>
                          <a:latin typeface="Arial Bold"/>
                          <a:ea typeface="Arial Bold"/>
                          <a:cs typeface="Arial Bold"/>
                          <a:sym typeface="Arial Bold"/>
                        </a:rPr>
                        <a:t>KH </a:t>
                      </a:r>
                      <a:r>
                        <a:rPr lang="en-US" sz="2000" b="1" dirty="0" err="1">
                          <a:solidFill>
                            <a:srgbClr val="000000"/>
                          </a:solidFill>
                          <a:latin typeface="Arial Bold"/>
                          <a:ea typeface="Arial Bold"/>
                          <a:cs typeface="Arial Bold"/>
                          <a:sym typeface="Arial Bold"/>
                        </a:rPr>
                        <a:t>không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cung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cấp</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được</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đầy</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đủ</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thông</a:t>
                      </a:r>
                      <a:r>
                        <a:rPr lang="en-US" sz="2000" b="1" dirty="0">
                          <a:solidFill>
                            <a:srgbClr val="000000"/>
                          </a:solidFill>
                          <a:latin typeface="Arial Bold"/>
                          <a:ea typeface="Arial Bold"/>
                          <a:cs typeface="Arial Bold"/>
                          <a:sym typeface="Arial Bold"/>
                        </a:rPr>
                        <a:t> tin, </a:t>
                      </a:r>
                      <a:r>
                        <a:rPr lang="en-US" sz="2000" dirty="0">
                          <a:solidFill>
                            <a:srgbClr val="000000"/>
                          </a:solidFill>
                          <a:latin typeface="Arial"/>
                          <a:ea typeface="Arial"/>
                          <a:cs typeface="Arial"/>
                          <a:sym typeface="Arial"/>
                        </a:rPr>
                        <a:t>CS </a:t>
                      </a:r>
                      <a:r>
                        <a:rPr lang="en-US" sz="2000" dirty="0" err="1">
                          <a:solidFill>
                            <a:srgbClr val="000000"/>
                          </a:solidFill>
                          <a:latin typeface="Arial"/>
                          <a:ea typeface="Arial"/>
                          <a:cs typeface="Arial"/>
                          <a:sym typeface="Arial"/>
                        </a:rPr>
                        <a:t>hướng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dẫn</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kiểm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lại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a:t>
                      </a:r>
                      <a:endParaRPr lang="en-US" sz="1100" dirty="0"/>
                    </a:p>
                    <a:p>
                      <a:pPr marL="431801" lvl="1" indent="-215900" algn="l">
                        <a:lnSpc>
                          <a:spcPts val="2800"/>
                        </a:lnSpc>
                        <a:buFont typeface="Arial"/>
                        <a:buChar char="•"/>
                      </a:pPr>
                      <a:r>
                        <a:rPr lang="en-US" sz="2000" dirty="0" err="1">
                          <a:solidFill>
                            <a:srgbClr val="000000"/>
                          </a:solidFill>
                          <a:latin typeface="Arial"/>
                          <a:ea typeface="Arial"/>
                          <a:cs typeface="Arial"/>
                          <a:sym typeface="Arial"/>
                        </a:rPr>
                        <a:t>Mã</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bưu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phẩm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Kiểm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biên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lai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lúc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gửi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thư</a:t>
                      </a:r>
                      <a:endParaRPr lang="en-US" sz="2000" dirty="0">
                        <a:solidFill>
                          <a:srgbClr val="000000"/>
                        </a:solidFill>
                        <a:latin typeface="Arial"/>
                        <a:ea typeface="Arial"/>
                        <a:cs typeface="Arial"/>
                        <a:sym typeface="Arial"/>
                      </a:endParaRPr>
                    </a:p>
                    <a:p>
                      <a:pPr marL="431801" lvl="1" indent="-215900" algn="l">
                        <a:lnSpc>
                          <a:spcPts val="2800"/>
                        </a:lnSpc>
                        <a:buFont typeface="Arial"/>
                        <a:buChar char="•"/>
                      </a:pP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 </a:t>
                      </a:r>
                      <a:r>
                        <a:rPr lang="en-US" sz="2000" dirty="0" err="1">
                          <a:solidFill>
                            <a:srgbClr val="000000"/>
                          </a:solidFill>
                          <a:latin typeface="Arial"/>
                          <a:ea typeface="Arial"/>
                          <a:cs typeface="Arial"/>
                          <a:sym typeface="Arial"/>
                        </a:rPr>
                        <a:t>người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ký</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Kiểm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với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bưu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điện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bằng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mã</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bưu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phẩm</a:t>
                      </a:r>
                      <a:r>
                        <a:rPr lang="en-US" sz="2000" dirty="0">
                          <a:solidFill>
                            <a:srgbClr val="000000"/>
                          </a:solidFill>
                          <a:latin typeface="Arial"/>
                          <a:ea typeface="Arial"/>
                          <a:cs typeface="Arial"/>
                          <a:sym typeface="Arial"/>
                        </a:rPr>
                        <a:t>.</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2800"/>
                        </a:lnSpc>
                        <a:defRPr/>
                      </a:pPr>
                      <a:r>
                        <a:rPr lang="en-US" sz="2000">
                          <a:solidFill>
                            <a:srgbClr val="000000"/>
                          </a:solidFill>
                          <a:latin typeface="Arial"/>
                          <a:ea typeface="Arial"/>
                          <a:cs typeface="Arial"/>
                          <a:sym typeface="Arial"/>
                        </a:rPr>
                        <a:t> N/A</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400"/>
                        </a:lnSpc>
                        <a:defRPr/>
                      </a:pPr>
                      <a:r>
                        <a:rPr lang="en-US" sz="2000" b="1" dirty="0">
                          <a:solidFill>
                            <a:srgbClr val="000000"/>
                          </a:solidFill>
                          <a:latin typeface="Arial Bold"/>
                          <a:ea typeface="Arial Bold"/>
                          <a:cs typeface="Arial Bold"/>
                          <a:sym typeface="Arial Bold"/>
                        </a:rPr>
                        <a:t>Code:</a:t>
                      </a:r>
                      <a:r>
                        <a:rPr lang="en-US" sz="2000" dirty="0">
                          <a:solidFill>
                            <a:srgbClr val="000000"/>
                          </a:solidFill>
                          <a:latin typeface="Arial"/>
                          <a:ea typeface="Arial"/>
                          <a:cs typeface="Arial"/>
                          <a:sym typeface="Arial"/>
                        </a:rPr>
                        <a:t> IL13-Bảo </a:t>
                      </a:r>
                      <a:r>
                        <a:rPr lang="en-US" sz="2000" dirty="0" err="1">
                          <a:solidFill>
                            <a:srgbClr val="000000"/>
                          </a:solidFill>
                          <a:latin typeface="Arial"/>
                          <a:ea typeface="Arial"/>
                          <a:cs typeface="Arial"/>
                          <a:sym typeface="Arial"/>
                        </a:rPr>
                        <a:t>hiểm</a:t>
                      </a:r>
                      <a:endParaRPr lang="en-US" sz="1100" dirty="0"/>
                    </a:p>
                    <a:p>
                      <a:pPr algn="l">
                        <a:lnSpc>
                          <a:spcPts val="2400"/>
                        </a:lnSpc>
                      </a:pPr>
                      <a:r>
                        <a:rPr lang="en-US" sz="2000" b="1" dirty="0">
                          <a:solidFill>
                            <a:srgbClr val="000000"/>
                          </a:solidFill>
                          <a:latin typeface="Arial Bold"/>
                          <a:ea typeface="Arial Bold"/>
                          <a:cs typeface="Arial Bold"/>
                          <a:sym typeface="Arial Bold"/>
                        </a:rPr>
                        <a:t>Sub:</a:t>
                      </a:r>
                      <a:r>
                        <a:rPr lang="en-US" sz="2000" dirty="0">
                          <a:solidFill>
                            <a:srgbClr val="000000"/>
                          </a:solidFill>
                          <a:latin typeface="Arial"/>
                          <a:ea typeface="Arial"/>
                          <a:cs typeface="Arial"/>
                          <a:sym typeface="Arial"/>
                        </a:rPr>
                        <a:t> IL13.02-Thủ </a:t>
                      </a:r>
                      <a:r>
                        <a:rPr lang="en-US" sz="2000" dirty="0" err="1">
                          <a:solidFill>
                            <a:srgbClr val="000000"/>
                          </a:solidFill>
                          <a:latin typeface="Arial"/>
                          <a:ea typeface="Arial"/>
                          <a:cs typeface="Arial"/>
                          <a:sym typeface="Arial"/>
                        </a:rPr>
                        <a:t>tục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bồi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thường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hiểm</a:t>
                      </a:r>
                      <a:endParaRPr lang="en-US" sz="2000" dirty="0">
                        <a:solidFill>
                          <a:srgbClr val="000000"/>
                        </a:solidFill>
                        <a:latin typeface="Arial"/>
                        <a:ea typeface="Arial"/>
                        <a:cs typeface="Arial"/>
                        <a:sym typeface="Arial"/>
                      </a:endParaRPr>
                    </a:p>
                    <a:p>
                      <a:pPr algn="l">
                        <a:lnSpc>
                          <a:spcPts val="2400"/>
                        </a:lnSpc>
                      </a:pPr>
                      <a:r>
                        <a:rPr lang="en-US" sz="2000" b="1" dirty="0">
                          <a:solidFill>
                            <a:srgbClr val="000000"/>
                          </a:solidFill>
                          <a:latin typeface="Arial Bold"/>
                          <a:ea typeface="Arial Bold"/>
                          <a:cs typeface="Arial Bold"/>
                          <a:sym typeface="Arial Bold"/>
                        </a:rPr>
                        <a:t>Remark: </a:t>
                      </a:r>
                      <a:r>
                        <a:rPr lang="en-US" sz="2000" dirty="0" err="1">
                          <a:solidFill>
                            <a:srgbClr val="000000"/>
                          </a:solidFill>
                          <a:latin typeface="Arial"/>
                          <a:ea typeface="Arial"/>
                          <a:cs typeface="Arial"/>
                          <a:sym typeface="Arial"/>
                        </a:rPr>
                        <a:t>nội</a:t>
                      </a:r>
                      <a:r>
                        <a:rPr lang="en-US" sz="2000" dirty="0">
                          <a:solidFill>
                            <a:srgbClr val="000000"/>
                          </a:solidFill>
                          <a:latin typeface="Arial"/>
                          <a:ea typeface="Arial"/>
                          <a:cs typeface="Arial"/>
                          <a:sym typeface="Arial"/>
                        </a:rPr>
                        <a:t> dung </a:t>
                      </a:r>
                      <a:r>
                        <a:rPr lang="en-US" sz="2000" dirty="0" err="1">
                          <a:solidFill>
                            <a:srgbClr val="000000"/>
                          </a:solidFill>
                          <a:latin typeface="Arial"/>
                          <a:ea typeface="Arial"/>
                          <a:cs typeface="Arial"/>
                          <a:sym typeface="Arial"/>
                        </a:rPr>
                        <a:t>hỗ</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trợ</a:t>
                      </a:r>
                      <a:endParaRPr lang="en-US" sz="2000" dirty="0">
                        <a:solidFill>
                          <a:srgbClr val="000000"/>
                        </a:solidFill>
                        <a:latin typeface="Arial"/>
                        <a:ea typeface="Arial"/>
                        <a:cs typeface="Arial"/>
                        <a:sym typeface="Arial"/>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bl>
          </a:graphicData>
        </a:graphic>
      </p:graphicFrame>
      <p:grpSp>
        <p:nvGrpSpPr>
          <p:cNvPr id="3" name="Group 3"/>
          <p:cNvGrpSpPr/>
          <p:nvPr/>
        </p:nvGrpSpPr>
        <p:grpSpPr>
          <a:xfrm>
            <a:off x="15691018" y="9790919"/>
            <a:ext cx="2421922" cy="346996"/>
            <a:chOff x="0" y="0"/>
            <a:chExt cx="3229229" cy="462661"/>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145" r="-145"/>
              </a:stretch>
            </a:blipFill>
          </p:spPr>
        </p:sp>
      </p:grpSp>
      <p:sp>
        <p:nvSpPr>
          <p:cNvPr id="5" name="Freeform 5"/>
          <p:cNvSpPr/>
          <p:nvPr/>
        </p:nvSpPr>
        <p:spPr>
          <a:xfrm>
            <a:off x="5867" y="-266700"/>
            <a:ext cx="18282133" cy="1244851"/>
          </a:xfrm>
          <a:custGeom>
            <a:avLst/>
            <a:gdLst/>
            <a:ahLst/>
            <a:cxnLst/>
            <a:rect l="l" t="t" r="r" b="b"/>
            <a:pathLst>
              <a:path w="18282133" h="1244851">
                <a:moveTo>
                  <a:pt x="0" y="0"/>
                </a:moveTo>
                <a:lnTo>
                  <a:pt x="18282133" y="0"/>
                </a:lnTo>
                <a:lnTo>
                  <a:pt x="18282133" y="1244851"/>
                </a:lnTo>
                <a:lnTo>
                  <a:pt x="0" y="1244851"/>
                </a:lnTo>
                <a:lnTo>
                  <a:pt x="0" y="0"/>
                </a:lnTo>
                <a:close/>
              </a:path>
            </a:pathLst>
          </a:custGeom>
          <a:blipFill>
            <a:blip r:embed="rId3">
              <a:extLst>
                <a:ext uri="{96DAC541-7B7A-43D3-8B79-37D633B846F1}">
                  <asvg:svgBlip xmlns:asvg="http://schemas.microsoft.com/office/drawing/2016/SVG/main" r:embed="rId4"/>
                </a:ext>
              </a:extLst>
            </a:blip>
            <a:stretch>
              <a:fillRect l="-1692" r="-1692"/>
            </a:stretch>
          </a:blipFill>
        </p:spPr>
      </p:sp>
      <p:sp>
        <p:nvSpPr>
          <p:cNvPr id="6" name="TextBox 6"/>
          <p:cNvSpPr txBox="1"/>
          <p:nvPr/>
        </p:nvSpPr>
        <p:spPr>
          <a:xfrm>
            <a:off x="4084365" y="177708"/>
            <a:ext cx="10119271" cy="663530"/>
          </a:xfrm>
          <a:prstGeom prst="rect">
            <a:avLst/>
          </a:prstGeom>
        </p:spPr>
        <p:txBody>
          <a:bodyPr lIns="0" tIns="0" rIns="0" bIns="0" rtlCol="0" anchor="t">
            <a:spAutoFit/>
          </a:bodyPr>
          <a:lstStyle/>
          <a:p>
            <a:pPr algn="ctr">
              <a:lnSpc>
                <a:spcPts val="5200"/>
              </a:lnSpc>
            </a:pPr>
            <a:r>
              <a:rPr lang="en-US" sz="3999" b="1">
                <a:solidFill>
                  <a:srgbClr val="000000"/>
                </a:solidFill>
                <a:latin typeface="Arial Bold"/>
                <a:ea typeface="Arial Bold"/>
                <a:cs typeface="Arial Bold"/>
                <a:sym typeface="Arial Bold"/>
              </a:rPr>
              <a:t>TÌNH TRẠNG XỬ LÝ HỒ SƠ BỒI THƯỜNG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825500" y="1638300"/>
          <a:ext cx="16637000" cy="4250769"/>
        </p:xfrm>
        <a:graphic>
          <a:graphicData uri="http://schemas.openxmlformats.org/drawingml/2006/table">
            <a:tbl>
              <a:tblPr/>
              <a:tblGrid>
                <a:gridCol w="11086814">
                  <a:extLst>
                    <a:ext uri="{9D8B030D-6E8A-4147-A177-3AD203B41FA5}">
                      <a16:colId xmlns:a16="http://schemas.microsoft.com/office/drawing/2014/main" val="20000"/>
                    </a:ext>
                  </a:extLst>
                </a:gridCol>
                <a:gridCol w="2443983">
                  <a:extLst>
                    <a:ext uri="{9D8B030D-6E8A-4147-A177-3AD203B41FA5}">
                      <a16:colId xmlns:a16="http://schemas.microsoft.com/office/drawing/2014/main" val="20001"/>
                    </a:ext>
                  </a:extLst>
                </a:gridCol>
                <a:gridCol w="3106203">
                  <a:extLst>
                    <a:ext uri="{9D8B030D-6E8A-4147-A177-3AD203B41FA5}">
                      <a16:colId xmlns:a16="http://schemas.microsoft.com/office/drawing/2014/main" val="20002"/>
                    </a:ext>
                  </a:extLst>
                </a:gridCol>
              </a:tblGrid>
              <a:tr h="778503">
                <a:tc>
                  <a:txBody>
                    <a:bodyPr/>
                    <a:lstStyle/>
                    <a:p>
                      <a:pPr algn="ctr">
                        <a:lnSpc>
                          <a:spcPts val="3750"/>
                        </a:lnSpc>
                        <a:defRPr/>
                      </a:pPr>
                      <a:r>
                        <a:rPr lang="en-US" sz="2000" b="1" spc="12">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a:solidFill>
                            <a:srgbClr val="FFFFFF"/>
                          </a:solidFill>
                          <a:latin typeface="Arial Bold"/>
                          <a:ea typeface="Arial Bold"/>
                          <a:cs typeface="Arial Bold"/>
                          <a:sym typeface="Arial Bold"/>
                        </a:rPr>
                        <a:t>TAT</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a:solidFill>
                            <a:srgbClr val="FFFFFF"/>
                          </a:solidFill>
                          <a:latin typeface="Arial Bold"/>
                          <a:ea typeface="Arial Bold"/>
                          <a:cs typeface="Arial Bold"/>
                          <a:sym typeface="Arial Bold"/>
                        </a:rPr>
                        <a:t>CODE/ REMARK</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3472266">
                <a:tc>
                  <a:txBody>
                    <a:bodyPr/>
                    <a:lstStyle/>
                    <a:p>
                      <a:pPr algn="l">
                        <a:lnSpc>
                          <a:spcPts val="3110"/>
                        </a:lnSpc>
                        <a:defRPr/>
                      </a:pPr>
                      <a:r>
                        <a:rPr lang="en-US" sz="2000">
                          <a:solidFill>
                            <a:srgbClr val="000000"/>
                          </a:solidFill>
                          <a:latin typeface="Arial"/>
                          <a:ea typeface="Arial"/>
                          <a:cs typeface="Arial"/>
                          <a:sym typeface="Arial"/>
                        </a:rPr>
                        <a:t>CS thông báo KH thời gian hỗ trợ dự kiến là 45 ngày làm việc kể từ thời điểm nhận đầy đủ chứng từ hợp lệ. KH có thể liên hệ lại tổng đài sau thời gian này để kiểm tra lại.</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110"/>
                        </a:lnSpc>
                        <a:defRPr/>
                      </a:pPr>
                      <a:r>
                        <a:rPr lang="en-US" sz="2000">
                          <a:solidFill>
                            <a:srgbClr val="000000"/>
                          </a:solidFill>
                          <a:latin typeface="Arial"/>
                          <a:ea typeface="Arial"/>
                          <a:cs typeface="Arial"/>
                          <a:sym typeface="Arial"/>
                        </a:rPr>
                        <a:t>45 ngày làm việc</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400"/>
                        </a:lnSpc>
                        <a:defRPr/>
                      </a:pPr>
                      <a:r>
                        <a:rPr lang="en-US" sz="2000" b="1">
                          <a:solidFill>
                            <a:srgbClr val="000000"/>
                          </a:solidFill>
                          <a:latin typeface="Arial Bold"/>
                          <a:ea typeface="Arial Bold"/>
                          <a:cs typeface="Arial Bold"/>
                          <a:sym typeface="Arial Bold"/>
                        </a:rPr>
                        <a:t>Code:</a:t>
                      </a:r>
                      <a:r>
                        <a:rPr lang="en-US" sz="2000">
                          <a:solidFill>
                            <a:srgbClr val="000000"/>
                          </a:solidFill>
                          <a:latin typeface="Arial"/>
                          <a:ea typeface="Arial"/>
                          <a:cs typeface="Arial"/>
                          <a:sym typeface="Arial"/>
                        </a:rPr>
                        <a:t> IL18-Kết quả xử lý yêu cầu/khiếu nại</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grpSp>
        <p:nvGrpSpPr>
          <p:cNvPr id="3" name="Group 3"/>
          <p:cNvGrpSpPr/>
          <p:nvPr/>
        </p:nvGrpSpPr>
        <p:grpSpPr>
          <a:xfrm>
            <a:off x="15691018" y="9790919"/>
            <a:ext cx="2421922" cy="346996"/>
            <a:chOff x="0" y="0"/>
            <a:chExt cx="3229229" cy="462661"/>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145" r="-145"/>
              </a:stretch>
            </a:blipFill>
          </p:spPr>
        </p:sp>
      </p:grpSp>
      <p:sp>
        <p:nvSpPr>
          <p:cNvPr id="5" name="Freeform 5"/>
          <p:cNvSpPr/>
          <p:nvPr/>
        </p:nvSpPr>
        <p:spPr>
          <a:xfrm>
            <a:off x="5858" y="-328298"/>
            <a:ext cx="20000147" cy="1306449"/>
          </a:xfrm>
          <a:custGeom>
            <a:avLst/>
            <a:gdLst/>
            <a:ahLst/>
            <a:cxnLst/>
            <a:rect l="l" t="t" r="r" b="b"/>
            <a:pathLst>
              <a:path w="20000147" h="1306449">
                <a:moveTo>
                  <a:pt x="0" y="0"/>
                </a:moveTo>
                <a:lnTo>
                  <a:pt x="20000147" y="0"/>
                </a:lnTo>
                <a:lnTo>
                  <a:pt x="20000147"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t="-300" b="-300"/>
            </a:stretch>
          </a:blipFill>
        </p:spPr>
      </p:sp>
      <p:sp>
        <p:nvSpPr>
          <p:cNvPr id="6" name="TextBox 6"/>
          <p:cNvSpPr txBox="1"/>
          <p:nvPr/>
        </p:nvSpPr>
        <p:spPr>
          <a:xfrm>
            <a:off x="4285952" y="133350"/>
            <a:ext cx="10401895" cy="663530"/>
          </a:xfrm>
          <a:prstGeom prst="rect">
            <a:avLst/>
          </a:prstGeom>
        </p:spPr>
        <p:txBody>
          <a:bodyPr lIns="0" tIns="0" rIns="0" bIns="0" rtlCol="0" anchor="t">
            <a:spAutoFit/>
          </a:bodyPr>
          <a:lstStyle/>
          <a:p>
            <a:pPr algn="ctr">
              <a:lnSpc>
                <a:spcPts val="5200"/>
              </a:lnSpc>
            </a:pPr>
            <a:r>
              <a:rPr lang="en-US" sz="3999" b="1">
                <a:solidFill>
                  <a:srgbClr val="000000"/>
                </a:solidFill>
                <a:latin typeface="Arial Bold"/>
                <a:ea typeface="Arial Bold"/>
                <a:cs typeface="Arial Bold"/>
                <a:sym typeface="Arial Bold"/>
              </a:rPr>
              <a:t> THỜI GIAN XỬ LÝ YÊU CẦU BỒI THƯỜNG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86449" y="1467463"/>
          <a:ext cx="17915102" cy="6500642"/>
        </p:xfrm>
        <a:graphic>
          <a:graphicData uri="http://schemas.openxmlformats.org/drawingml/2006/table">
            <a:tbl>
              <a:tblPr/>
              <a:tblGrid>
                <a:gridCol w="2922381">
                  <a:extLst>
                    <a:ext uri="{9D8B030D-6E8A-4147-A177-3AD203B41FA5}">
                      <a16:colId xmlns:a16="http://schemas.microsoft.com/office/drawing/2014/main" val="20000"/>
                    </a:ext>
                  </a:extLst>
                </a:gridCol>
                <a:gridCol w="7095343">
                  <a:extLst>
                    <a:ext uri="{9D8B030D-6E8A-4147-A177-3AD203B41FA5}">
                      <a16:colId xmlns:a16="http://schemas.microsoft.com/office/drawing/2014/main" val="20001"/>
                    </a:ext>
                  </a:extLst>
                </a:gridCol>
                <a:gridCol w="2422071">
                  <a:extLst>
                    <a:ext uri="{9D8B030D-6E8A-4147-A177-3AD203B41FA5}">
                      <a16:colId xmlns:a16="http://schemas.microsoft.com/office/drawing/2014/main" val="20002"/>
                    </a:ext>
                  </a:extLst>
                </a:gridCol>
                <a:gridCol w="5475307">
                  <a:extLst>
                    <a:ext uri="{9D8B030D-6E8A-4147-A177-3AD203B41FA5}">
                      <a16:colId xmlns:a16="http://schemas.microsoft.com/office/drawing/2014/main" val="20003"/>
                    </a:ext>
                  </a:extLst>
                </a:gridCol>
              </a:tblGrid>
              <a:tr h="776074">
                <a:tc gridSpan="2">
                  <a:txBody>
                    <a:bodyPr/>
                    <a:lstStyle/>
                    <a:p>
                      <a:pPr algn="ctr">
                        <a:lnSpc>
                          <a:spcPts val="3750"/>
                        </a:lnSpc>
                        <a:defRPr/>
                      </a:pPr>
                      <a:r>
                        <a:rPr lang="en-US" sz="2000" b="1" spc="12">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hMerge="1">
                  <a:txBody>
                    <a:bodyPr/>
                    <a:lstStyle/>
                    <a:p>
                      <a:pPr algn="ctr">
                        <a:lnSpc>
                          <a:spcPts val="3750"/>
                        </a:lnSpc>
                        <a:defRPr/>
                      </a:pPr>
                      <a:r>
                        <a:rPr lang="en-US" sz="2000" b="1" spc="12">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a:solidFill>
                            <a:srgbClr val="FFFFFF"/>
                          </a:solidFill>
                          <a:latin typeface="Arial Bold"/>
                          <a:ea typeface="Arial Bold"/>
                          <a:cs typeface="Arial Bold"/>
                          <a:sym typeface="Arial Bold"/>
                        </a:rPr>
                        <a:t>TAT</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a:solidFill>
                            <a:srgbClr val="FFFFFF"/>
                          </a:solidFill>
                          <a:latin typeface="Arial Bold"/>
                          <a:ea typeface="Arial Bold"/>
                          <a:cs typeface="Arial Bold"/>
                          <a:sym typeface="Arial Bold"/>
                        </a:rPr>
                        <a:t>CODE/ REMARK</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3530484">
                <a:tc rowSpan="2">
                  <a:txBody>
                    <a:bodyPr/>
                    <a:lstStyle/>
                    <a:p>
                      <a:pPr algn="l">
                        <a:lnSpc>
                          <a:spcPts val="2800"/>
                        </a:lnSpc>
                        <a:defRPr/>
                      </a:pPr>
                      <a:r>
                        <a:rPr lang="en-US" sz="2000" b="1">
                          <a:solidFill>
                            <a:srgbClr val="000000"/>
                          </a:solidFill>
                          <a:latin typeface="Arial Bold"/>
                          <a:ea typeface="Arial Bold"/>
                          <a:cs typeface="Arial Bold"/>
                          <a:sym typeface="Arial Bold"/>
                        </a:rPr>
                        <a:t>CS khai thác</a:t>
                      </a:r>
                      <a:endParaRPr lang="en-US" sz="1100"/>
                    </a:p>
                    <a:p>
                      <a:pPr marL="431801" lvl="1" indent="-215900" algn="l">
                        <a:lnSpc>
                          <a:spcPts val="2800"/>
                        </a:lnSpc>
                        <a:buFont typeface="Arial"/>
                        <a:buChar char="•"/>
                      </a:pPr>
                      <a:r>
                        <a:rPr lang="en-US" sz="2000">
                          <a:solidFill>
                            <a:srgbClr val="000000"/>
                          </a:solidFill>
                          <a:latin typeface="Arial"/>
                          <a:ea typeface="Arial"/>
                          <a:cs typeface="Arial"/>
                          <a:sym typeface="Arial"/>
                        </a:rPr>
                        <a:t>Họ tên người nhận</a:t>
                      </a:r>
                    </a:p>
                    <a:p>
                      <a:pPr marL="431801" lvl="1" indent="-215900" algn="l">
                        <a:lnSpc>
                          <a:spcPts val="2800"/>
                        </a:lnSpc>
                        <a:buFont typeface="Arial"/>
                        <a:buChar char="•"/>
                      </a:pPr>
                      <a:r>
                        <a:rPr lang="en-US" sz="2000">
                          <a:solidFill>
                            <a:srgbClr val="000000"/>
                          </a:solidFill>
                          <a:latin typeface="Arial"/>
                          <a:ea typeface="Arial"/>
                          <a:cs typeface="Arial"/>
                          <a:sym typeface="Arial"/>
                        </a:rPr>
                        <a:t>SĐT liên hệ</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110"/>
                        </a:lnSpc>
                        <a:defRPr/>
                      </a:pPr>
                      <a:r>
                        <a:rPr lang="en-US" sz="2000" b="1" dirty="0">
                          <a:solidFill>
                            <a:srgbClr val="000000"/>
                          </a:solidFill>
                          <a:latin typeface="Arial Bold"/>
                          <a:ea typeface="Arial Bold"/>
                          <a:cs typeface="Arial Bold"/>
                          <a:sym typeface="Arial Bold"/>
                        </a:rPr>
                        <a:t>KH </a:t>
                      </a:r>
                      <a:r>
                        <a:rPr lang="en-US" sz="2000" b="1" dirty="0" err="1">
                          <a:solidFill>
                            <a:srgbClr val="000000"/>
                          </a:solidFill>
                          <a:latin typeface="Arial Bold"/>
                          <a:ea typeface="Arial Bold"/>
                          <a:cs typeface="Arial Bold"/>
                          <a:sym typeface="Arial Bold"/>
                        </a:rPr>
                        <a:t>cung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cấp</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đầy</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đủ</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thông</a:t>
                      </a:r>
                      <a:r>
                        <a:rPr lang="en-US" sz="2000" b="1" dirty="0">
                          <a:solidFill>
                            <a:srgbClr val="000000"/>
                          </a:solidFill>
                          <a:latin typeface="Arial Bold"/>
                          <a:ea typeface="Arial Bold"/>
                          <a:cs typeface="Arial Bold"/>
                          <a:sym typeface="Arial Bold"/>
                        </a:rPr>
                        <a:t> tin, </a:t>
                      </a:r>
                      <a:r>
                        <a:rPr lang="en-US" sz="2000" dirty="0">
                          <a:solidFill>
                            <a:srgbClr val="000000"/>
                          </a:solidFill>
                          <a:latin typeface="Arial"/>
                          <a:ea typeface="Arial"/>
                          <a:cs typeface="Arial"/>
                          <a:sym typeface="Arial"/>
                        </a:rPr>
                        <a:t>CS </a:t>
                      </a:r>
                      <a:r>
                        <a:rPr lang="en-US" sz="2000" dirty="0" err="1">
                          <a:solidFill>
                            <a:srgbClr val="000000"/>
                          </a:solidFill>
                          <a:latin typeface="Arial"/>
                          <a:ea typeface="Arial"/>
                          <a:cs typeface="Arial"/>
                          <a:sym typeface="Arial"/>
                        </a:rPr>
                        <a:t>xác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nhận</a:t>
                      </a:r>
                      <a:r>
                        <a:rPr lang="en-US" sz="2000" dirty="0">
                          <a:solidFill>
                            <a:srgbClr val="000000"/>
                          </a:solidFill>
                          <a:latin typeface="Arial"/>
                          <a:ea typeface="Arial"/>
                          <a:cs typeface="Arial"/>
                          <a:sym typeface="Arial"/>
                        </a:rPr>
                        <a:t>: Anh/</a:t>
                      </a:r>
                      <a:r>
                        <a:rPr lang="en-US" sz="2000" dirty="0" err="1">
                          <a:solidFill>
                            <a:srgbClr val="000000"/>
                          </a:solidFill>
                          <a:latin typeface="Arial"/>
                          <a:ea typeface="Arial"/>
                          <a:cs typeface="Arial"/>
                          <a:sym typeface="Arial"/>
                        </a:rPr>
                        <a:t>chị</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đồng</a:t>
                      </a:r>
                      <a:r>
                        <a:rPr lang="en-US" sz="2000" dirty="0">
                          <a:solidFill>
                            <a:srgbClr val="000000"/>
                          </a:solidFill>
                          <a:latin typeface="Arial"/>
                          <a:ea typeface="Arial"/>
                          <a:cs typeface="Arial"/>
                          <a:sym typeface="Arial"/>
                        </a:rPr>
                        <a:t> ý </a:t>
                      </a:r>
                      <a:r>
                        <a:rPr lang="en-US" sz="2000" dirty="0" err="1">
                          <a:solidFill>
                            <a:srgbClr val="000000"/>
                          </a:solidFill>
                          <a:latin typeface="Arial"/>
                          <a:ea typeface="Arial"/>
                          <a:cs typeface="Arial"/>
                          <a:sym typeface="Arial"/>
                        </a:rPr>
                        <a:t>cho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em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hoặc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công</a:t>
                      </a:r>
                      <a:r>
                        <a:rPr lang="en-US" sz="2000" dirty="0">
                          <a:solidFill>
                            <a:srgbClr val="000000"/>
                          </a:solidFill>
                          <a:latin typeface="Arial"/>
                          <a:ea typeface="Arial"/>
                          <a:cs typeface="Arial"/>
                          <a:sym typeface="Arial"/>
                        </a:rPr>
                        <a:t> ty </a:t>
                      </a:r>
                      <a:r>
                        <a:rPr lang="en-US" sz="2000" dirty="0" err="1">
                          <a:solidFill>
                            <a:srgbClr val="000000"/>
                          </a:solidFill>
                          <a:latin typeface="Arial"/>
                          <a:ea typeface="Arial"/>
                          <a:cs typeface="Arial"/>
                          <a:sym typeface="Arial"/>
                        </a:rPr>
                        <a:t>Bảo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hiểm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liên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hệ</a:t>
                      </a:r>
                      <a:r>
                        <a:rPr lang="en-US" sz="2000" dirty="0">
                          <a:solidFill>
                            <a:srgbClr val="000000"/>
                          </a:solidFill>
                          <a:latin typeface="Arial"/>
                          <a:ea typeface="Arial"/>
                          <a:cs typeface="Arial"/>
                          <a:sym typeface="Arial"/>
                        </a:rPr>
                        <a:t> qua SĐT </a:t>
                      </a:r>
                      <a:r>
                        <a:rPr lang="en-US" sz="2000" dirty="0" err="1">
                          <a:solidFill>
                            <a:srgbClr val="000000"/>
                          </a:solidFill>
                          <a:latin typeface="Arial"/>
                          <a:ea typeface="Arial"/>
                          <a:cs typeface="Arial"/>
                          <a:sym typeface="Arial"/>
                        </a:rPr>
                        <a:t>này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để</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cung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cấp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 </a:t>
                      </a:r>
                      <a:r>
                        <a:rPr lang="en-US" sz="2000" dirty="0" err="1">
                          <a:solidFill>
                            <a:srgbClr val="000000"/>
                          </a:solidFill>
                          <a:latin typeface="Arial"/>
                          <a:ea typeface="Arial"/>
                          <a:cs typeface="Arial"/>
                          <a:sym typeface="Arial"/>
                        </a:rPr>
                        <a:t>quan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đến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vấn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đề</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xử</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lý</a:t>
                      </a:r>
                      <a:r>
                        <a:rPr lang="en-US" sz="2000" dirty="0">
                          <a:solidFill>
                            <a:srgbClr val="000000"/>
                          </a:solidFill>
                          <a:latin typeface="Arial"/>
                          <a:ea typeface="Arial"/>
                          <a:cs typeface="Arial"/>
                          <a:sym typeface="Arial"/>
                        </a:rPr>
                        <a:t> BH </a:t>
                      </a:r>
                      <a:r>
                        <a:rPr lang="en-US" sz="2000" dirty="0" err="1">
                          <a:solidFill>
                            <a:srgbClr val="000000"/>
                          </a:solidFill>
                          <a:latin typeface="Arial"/>
                          <a:ea typeface="Arial"/>
                          <a:cs typeface="Arial"/>
                          <a:sym typeface="Arial"/>
                        </a:rPr>
                        <a:t>cho</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đúng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ạ?</a:t>
                      </a:r>
                      <a:endParaRPr lang="en-US" sz="1100" dirty="0"/>
                    </a:p>
                    <a:p>
                      <a:pPr marL="431801" lvl="1" indent="-215900" algn="l">
                        <a:lnSpc>
                          <a:spcPts val="3110"/>
                        </a:lnSpc>
                        <a:buFont typeface="Arial"/>
                        <a:buChar char="•"/>
                      </a:pPr>
                      <a:r>
                        <a:rPr lang="en-US" sz="2000" dirty="0" err="1">
                          <a:solidFill>
                            <a:srgbClr val="000000"/>
                          </a:solidFill>
                          <a:latin typeface="Arial"/>
                          <a:ea typeface="Arial"/>
                          <a:cs typeface="Arial"/>
                          <a:sym typeface="Arial"/>
                        </a:rPr>
                        <a:t>Người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thân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đồng</a:t>
                      </a:r>
                      <a:r>
                        <a:rPr lang="en-US" sz="2000" dirty="0">
                          <a:solidFill>
                            <a:srgbClr val="000000"/>
                          </a:solidFill>
                          <a:latin typeface="Arial"/>
                          <a:ea typeface="Arial"/>
                          <a:cs typeface="Arial"/>
                          <a:sym typeface="Arial"/>
                        </a:rPr>
                        <a:t> ý: CS </a:t>
                      </a:r>
                      <a:r>
                        <a:rPr lang="en-US" sz="2000" dirty="0" err="1">
                          <a:solidFill>
                            <a:srgbClr val="000000"/>
                          </a:solidFill>
                          <a:latin typeface="Arial"/>
                          <a:ea typeface="Arial"/>
                          <a:cs typeface="Arial"/>
                          <a:sym typeface="Arial"/>
                        </a:rPr>
                        <a:t>báo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chuyển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hỗ</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trợ</a:t>
                      </a:r>
                      <a:r>
                        <a:rPr lang="en-US" sz="2000" dirty="0">
                          <a:solidFill>
                            <a:srgbClr val="000000"/>
                          </a:solidFill>
                          <a:latin typeface="Arial"/>
                          <a:ea typeface="Arial"/>
                          <a:cs typeface="Arial"/>
                          <a:sym typeface="Arial"/>
                        </a:rPr>
                        <a:t>.</a:t>
                      </a:r>
                    </a:p>
                    <a:p>
                      <a:pPr marL="431801" lvl="1" indent="-215900" algn="l">
                        <a:lnSpc>
                          <a:spcPts val="3112"/>
                        </a:lnSpc>
                        <a:buFont typeface="Arial"/>
                        <a:buChar char="•"/>
                      </a:pP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đồng</a:t>
                      </a:r>
                      <a:r>
                        <a:rPr lang="en-US" sz="2000" dirty="0">
                          <a:solidFill>
                            <a:srgbClr val="000000"/>
                          </a:solidFill>
                          <a:latin typeface="Arial"/>
                          <a:ea typeface="Arial"/>
                          <a:cs typeface="Arial"/>
                          <a:sym typeface="Arial"/>
                        </a:rPr>
                        <a:t> ý: CS </a:t>
                      </a:r>
                      <a:r>
                        <a:rPr lang="en-US" sz="2000" dirty="0" err="1">
                          <a:solidFill>
                            <a:srgbClr val="000000"/>
                          </a:solidFill>
                          <a:latin typeface="Arial"/>
                          <a:ea typeface="Arial"/>
                          <a:cs typeface="Arial"/>
                          <a:sym typeface="Arial"/>
                        </a:rPr>
                        <a:t>thuyết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phục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nếu</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vẫn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đồng</a:t>
                      </a:r>
                      <a:r>
                        <a:rPr lang="en-US" sz="2000" dirty="0">
                          <a:solidFill>
                            <a:srgbClr val="000000"/>
                          </a:solidFill>
                          <a:latin typeface="Arial"/>
                          <a:ea typeface="Arial"/>
                          <a:cs typeface="Arial"/>
                          <a:sym typeface="Arial"/>
                        </a:rPr>
                        <a:t> ý, </a:t>
                      </a:r>
                      <a:r>
                        <a:rPr lang="en-US" sz="2000" dirty="0" err="1">
                          <a:solidFill>
                            <a:srgbClr val="000000"/>
                          </a:solidFill>
                          <a:latin typeface="Arial"/>
                          <a:ea typeface="Arial"/>
                          <a:cs typeface="Arial"/>
                          <a:sym typeface="Arial"/>
                        </a:rPr>
                        <a:t>hướng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dẫn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liên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hệ</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sau</a:t>
                      </a:r>
                      <a:r>
                        <a:rPr lang="en-US" sz="2000" dirty="0">
                          <a:solidFill>
                            <a:srgbClr val="000000"/>
                          </a:solidFill>
                          <a:latin typeface="Arial"/>
                          <a:ea typeface="Arial"/>
                          <a:cs typeface="Arial"/>
                          <a:sym typeface="Arial"/>
                        </a:rPr>
                        <a:t>.</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3110"/>
                        </a:lnSpc>
                        <a:defRPr/>
                      </a:pPr>
                      <a:r>
                        <a:rPr lang="en-US" sz="2000">
                          <a:solidFill>
                            <a:srgbClr val="000000"/>
                          </a:solidFill>
                          <a:latin typeface="Arial"/>
                          <a:ea typeface="Arial"/>
                          <a:cs typeface="Arial"/>
                          <a:sym typeface="Arial"/>
                        </a:rPr>
                        <a:t>3 ngày làm việc</a:t>
                      </a:r>
                      <a:endParaRPr lang="en-US" sz="1100"/>
                    </a:p>
                    <a:p>
                      <a:pPr algn="ctr">
                        <a:lnSpc>
                          <a:spcPts val="3110"/>
                        </a:lnSpc>
                      </a:pPr>
                      <a:r>
                        <a:rPr lang="en-US" sz="2000">
                          <a:solidFill>
                            <a:srgbClr val="000000"/>
                          </a:solidFill>
                          <a:latin typeface="Arial"/>
                          <a:ea typeface="Arial"/>
                          <a:cs typeface="Arial"/>
                          <a:sym typeface="Arial"/>
                        </a:rPr>
                        <a:t>(Có NV liên hệ lại)</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800"/>
                        </a:lnSpc>
                        <a:defRPr/>
                      </a:pPr>
                      <a:r>
                        <a:rPr lang="en-US" sz="2000" b="1">
                          <a:solidFill>
                            <a:srgbClr val="000000"/>
                          </a:solidFill>
                          <a:latin typeface="Arial Bold"/>
                          <a:ea typeface="Arial Bold"/>
                          <a:cs typeface="Arial Bold"/>
                          <a:sym typeface="Arial Bold"/>
                        </a:rPr>
                        <a:t>Code:</a:t>
                      </a:r>
                      <a:r>
                        <a:rPr lang="en-US" sz="2000">
                          <a:solidFill>
                            <a:srgbClr val="000000"/>
                          </a:solidFill>
                          <a:latin typeface="Arial"/>
                          <a:ea typeface="Arial"/>
                          <a:cs typeface="Arial"/>
                          <a:sym typeface="Arial"/>
                        </a:rPr>
                        <a:t> RL07-Tình trạng xử lý hồ sơ bảo hiểm </a:t>
                      </a:r>
                      <a:endParaRPr lang="en-US" sz="1100"/>
                    </a:p>
                    <a:p>
                      <a:pPr algn="l">
                        <a:lnSpc>
                          <a:spcPts val="2800"/>
                        </a:lnSpc>
                      </a:pPr>
                      <a:r>
                        <a:rPr lang="en-US" sz="2000" b="1">
                          <a:solidFill>
                            <a:srgbClr val="000000"/>
                          </a:solidFill>
                          <a:latin typeface="Arial Bold"/>
                          <a:ea typeface="Arial Bold"/>
                          <a:cs typeface="Arial Bold"/>
                          <a:sym typeface="Arial Bold"/>
                        </a:rPr>
                        <a:t>Sub code:</a:t>
                      </a:r>
                      <a:r>
                        <a:rPr lang="en-US" sz="2000">
                          <a:solidFill>
                            <a:srgbClr val="000000"/>
                          </a:solidFill>
                          <a:latin typeface="Arial"/>
                          <a:ea typeface="Arial"/>
                          <a:cs typeface="Arial"/>
                          <a:sym typeface="Arial"/>
                        </a:rPr>
                        <a:t> RL07.02-Thanh lý nhận MRC</a:t>
                      </a:r>
                    </a:p>
                    <a:p>
                      <a:pPr algn="l">
                        <a:lnSpc>
                          <a:spcPts val="2800"/>
                        </a:lnSpc>
                      </a:pPr>
                      <a:r>
                        <a:rPr lang="en-US" sz="2000" b="1">
                          <a:solidFill>
                            <a:srgbClr val="000000"/>
                          </a:solidFill>
                          <a:latin typeface="Arial Bold"/>
                          <a:ea typeface="Arial Bold"/>
                          <a:cs typeface="Arial Bold"/>
                          <a:sym typeface="Arial Bold"/>
                        </a:rPr>
                        <a:t>Properties:</a:t>
                      </a:r>
                      <a:r>
                        <a:rPr lang="en-US" sz="2000">
                          <a:solidFill>
                            <a:srgbClr val="000000"/>
                          </a:solidFill>
                          <a:latin typeface="Arial"/>
                          <a:ea typeface="Arial"/>
                          <a:cs typeface="Arial"/>
                          <a:sym typeface="Arial"/>
                        </a:rPr>
                        <a:t> nhập theoyêu cầu</a:t>
                      </a:r>
                    </a:p>
                    <a:p>
                      <a:pPr algn="l">
                        <a:lnSpc>
                          <a:spcPts val="2800"/>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nội dung hỗ trợ</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2194084">
                <a:tc vMerge="1">
                  <a:txBody>
                    <a:bodyPr/>
                    <a:lstStyle/>
                    <a:p>
                      <a:pPr algn="l">
                        <a:lnSpc>
                          <a:spcPts val="2800"/>
                        </a:lnSpc>
                        <a:defRPr/>
                      </a:pPr>
                      <a:r>
                        <a:rPr lang="en-US" sz="2000" b="1">
                          <a:solidFill>
                            <a:srgbClr val="000000"/>
                          </a:solidFill>
                          <a:latin typeface="Arial Bold"/>
                          <a:ea typeface="Arial Bold"/>
                          <a:cs typeface="Arial Bold"/>
                          <a:sym typeface="Arial Bold"/>
                        </a:rPr>
                        <a:t>CS khai thác</a:t>
                      </a:r>
                      <a:endParaRPr lang="en-US" sz="1100"/>
                    </a:p>
                    <a:p>
                      <a:pPr marL="431801" lvl="1" indent="-215900" algn="l">
                        <a:lnSpc>
                          <a:spcPts val="2800"/>
                        </a:lnSpc>
                        <a:buFont typeface="Arial"/>
                        <a:buChar char="•"/>
                      </a:pPr>
                      <a:r>
                        <a:rPr lang="en-US" sz="2000">
                          <a:solidFill>
                            <a:srgbClr val="000000"/>
                          </a:solidFill>
                          <a:latin typeface="Arial"/>
                          <a:ea typeface="Arial"/>
                          <a:cs typeface="Arial"/>
                          <a:sym typeface="Arial"/>
                        </a:rPr>
                        <a:t>Họ tên người nhận</a:t>
                      </a:r>
                    </a:p>
                    <a:p>
                      <a:pPr marL="431801" lvl="1" indent="-215900" algn="l">
                        <a:lnSpc>
                          <a:spcPts val="2800"/>
                        </a:lnSpc>
                        <a:buFont typeface="Arial"/>
                        <a:buChar char="•"/>
                      </a:pPr>
                      <a:r>
                        <a:rPr lang="en-US" sz="2000">
                          <a:solidFill>
                            <a:srgbClr val="000000"/>
                          </a:solidFill>
                          <a:latin typeface="Arial"/>
                          <a:ea typeface="Arial"/>
                          <a:cs typeface="Arial"/>
                          <a:sym typeface="Arial"/>
                        </a:rPr>
                        <a:t>SĐT liên hệ</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800"/>
                        </a:lnSpc>
                        <a:defRPr/>
                      </a:pPr>
                      <a:r>
                        <a:rPr lang="en-US" sz="2000" b="1" dirty="0">
                          <a:solidFill>
                            <a:srgbClr val="000000"/>
                          </a:solidFill>
                          <a:latin typeface="Arial Bold"/>
                          <a:ea typeface="Arial Bold"/>
                          <a:cs typeface="Arial Bold"/>
                          <a:sym typeface="Arial Bold"/>
                        </a:rPr>
                        <a:t>KH </a:t>
                      </a:r>
                      <a:r>
                        <a:rPr lang="en-US" sz="2000" b="1" dirty="0" err="1">
                          <a:solidFill>
                            <a:srgbClr val="000000"/>
                          </a:solidFill>
                          <a:latin typeface="Arial Bold"/>
                          <a:ea typeface="Arial Bold"/>
                          <a:cs typeface="Arial Bold"/>
                          <a:sym typeface="Arial Bold"/>
                        </a:rPr>
                        <a:t>không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cung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cấp</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được</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đầy</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đủ</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thông</a:t>
                      </a:r>
                      <a:r>
                        <a:rPr lang="en-US" sz="2000" b="1" dirty="0">
                          <a:solidFill>
                            <a:srgbClr val="000000"/>
                          </a:solidFill>
                          <a:latin typeface="Arial Bold"/>
                          <a:ea typeface="Arial Bold"/>
                          <a:cs typeface="Arial Bold"/>
                          <a:sym typeface="Arial Bold"/>
                        </a:rPr>
                        <a:t> tin, </a:t>
                      </a:r>
                      <a:r>
                        <a:rPr lang="en-US" sz="2000" dirty="0">
                          <a:solidFill>
                            <a:srgbClr val="000000"/>
                          </a:solidFill>
                          <a:latin typeface="Arial"/>
                          <a:ea typeface="Arial"/>
                          <a:cs typeface="Arial"/>
                          <a:sym typeface="Arial"/>
                        </a:rPr>
                        <a:t>CS </a:t>
                      </a:r>
                      <a:r>
                        <a:rPr lang="en-US" sz="2000" dirty="0" err="1">
                          <a:solidFill>
                            <a:srgbClr val="000000"/>
                          </a:solidFill>
                          <a:latin typeface="Arial"/>
                          <a:ea typeface="Arial"/>
                          <a:cs typeface="Arial"/>
                          <a:sym typeface="Arial"/>
                        </a:rPr>
                        <a:t>hướng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dẫn</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kiểm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lại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a:t>
                      </a:r>
                      <a:endParaRPr lang="en-US" sz="1100" dirty="0"/>
                    </a:p>
                    <a:p>
                      <a:pPr marL="431801" lvl="1" indent="-215900" algn="l">
                        <a:lnSpc>
                          <a:spcPts val="2800"/>
                        </a:lnSpc>
                        <a:buFont typeface="Arial"/>
                        <a:buChar char="•"/>
                      </a:pPr>
                      <a:r>
                        <a:rPr lang="en-US" sz="2000" dirty="0" err="1">
                          <a:solidFill>
                            <a:srgbClr val="000000"/>
                          </a:solidFill>
                          <a:latin typeface="Arial"/>
                          <a:ea typeface="Arial"/>
                          <a:cs typeface="Arial"/>
                          <a:sym typeface="Arial"/>
                        </a:rPr>
                        <a:t>Mã</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bưu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phẩm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Kiểm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biên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lai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lúc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gửi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thư</a:t>
                      </a:r>
                      <a:endParaRPr lang="en-US" sz="2000" dirty="0">
                        <a:solidFill>
                          <a:srgbClr val="000000"/>
                        </a:solidFill>
                        <a:latin typeface="Arial"/>
                        <a:ea typeface="Arial"/>
                        <a:cs typeface="Arial"/>
                        <a:sym typeface="Arial"/>
                      </a:endParaRPr>
                    </a:p>
                    <a:p>
                      <a:pPr marL="431801" lvl="1" indent="-215900" algn="l">
                        <a:lnSpc>
                          <a:spcPts val="2800"/>
                        </a:lnSpc>
                        <a:buFont typeface="Arial"/>
                        <a:buChar char="•"/>
                      </a:pP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 </a:t>
                      </a:r>
                      <a:r>
                        <a:rPr lang="en-US" sz="2000" dirty="0" err="1">
                          <a:solidFill>
                            <a:srgbClr val="000000"/>
                          </a:solidFill>
                          <a:latin typeface="Arial"/>
                          <a:ea typeface="Arial"/>
                          <a:cs typeface="Arial"/>
                          <a:sym typeface="Arial"/>
                        </a:rPr>
                        <a:t>người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ký</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Kiểm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với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bưu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điện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bằng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mã</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bưu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phẩm</a:t>
                      </a:r>
                      <a:r>
                        <a:rPr lang="en-US" sz="2000" dirty="0">
                          <a:solidFill>
                            <a:srgbClr val="000000"/>
                          </a:solidFill>
                          <a:latin typeface="Arial"/>
                          <a:ea typeface="Arial"/>
                          <a:cs typeface="Arial"/>
                          <a:sym typeface="Arial"/>
                        </a:rPr>
                        <a:t>.</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2800"/>
                        </a:lnSpc>
                        <a:defRPr/>
                      </a:pPr>
                      <a:r>
                        <a:rPr lang="en-US" sz="2000">
                          <a:solidFill>
                            <a:srgbClr val="000000"/>
                          </a:solidFill>
                          <a:latin typeface="Arial"/>
                          <a:ea typeface="Arial"/>
                          <a:cs typeface="Arial"/>
                          <a:sym typeface="Arial"/>
                        </a:rPr>
                        <a:t>N/A </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400"/>
                        </a:lnSpc>
                        <a:defRPr/>
                      </a:pPr>
                      <a:r>
                        <a:rPr lang="en-US" sz="2000" b="1" dirty="0">
                          <a:solidFill>
                            <a:srgbClr val="000000"/>
                          </a:solidFill>
                          <a:latin typeface="Arial Bold"/>
                          <a:ea typeface="Arial Bold"/>
                          <a:cs typeface="Arial Bold"/>
                          <a:sym typeface="Arial Bold"/>
                        </a:rPr>
                        <a:t>Code:</a:t>
                      </a:r>
                      <a:r>
                        <a:rPr lang="en-US" sz="2000" dirty="0">
                          <a:solidFill>
                            <a:srgbClr val="000000"/>
                          </a:solidFill>
                          <a:latin typeface="Arial"/>
                          <a:ea typeface="Arial"/>
                          <a:cs typeface="Arial"/>
                          <a:sym typeface="Arial"/>
                        </a:rPr>
                        <a:t> IL13-Bảo </a:t>
                      </a:r>
                      <a:r>
                        <a:rPr lang="en-US" sz="2000" dirty="0" err="1">
                          <a:solidFill>
                            <a:srgbClr val="000000"/>
                          </a:solidFill>
                          <a:latin typeface="Arial"/>
                          <a:ea typeface="Arial"/>
                          <a:cs typeface="Arial"/>
                          <a:sym typeface="Arial"/>
                        </a:rPr>
                        <a:t>hiểm</a:t>
                      </a:r>
                      <a:endParaRPr lang="en-US" sz="1100" dirty="0"/>
                    </a:p>
                    <a:p>
                      <a:pPr algn="l">
                        <a:lnSpc>
                          <a:spcPts val="2400"/>
                        </a:lnSpc>
                      </a:pPr>
                      <a:r>
                        <a:rPr lang="en-US" sz="2000" b="1" dirty="0">
                          <a:solidFill>
                            <a:srgbClr val="000000"/>
                          </a:solidFill>
                          <a:latin typeface="Arial Bold"/>
                          <a:ea typeface="Arial Bold"/>
                          <a:cs typeface="Arial Bold"/>
                          <a:sym typeface="Arial Bold"/>
                        </a:rPr>
                        <a:t>Sub:</a:t>
                      </a:r>
                      <a:r>
                        <a:rPr lang="en-US" sz="2000" dirty="0">
                          <a:solidFill>
                            <a:srgbClr val="000000"/>
                          </a:solidFill>
                          <a:latin typeface="Arial"/>
                          <a:ea typeface="Arial"/>
                          <a:cs typeface="Arial"/>
                          <a:sym typeface="Arial"/>
                        </a:rPr>
                        <a:t> IL13.02-Thủ </a:t>
                      </a:r>
                      <a:r>
                        <a:rPr lang="en-US" sz="2000" dirty="0" err="1">
                          <a:solidFill>
                            <a:srgbClr val="000000"/>
                          </a:solidFill>
                          <a:latin typeface="Arial"/>
                          <a:ea typeface="Arial"/>
                          <a:cs typeface="Arial"/>
                          <a:sym typeface="Arial"/>
                        </a:rPr>
                        <a:t>tục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bồi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thường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hiểm</a:t>
                      </a:r>
                      <a:endParaRPr lang="en-US" sz="2000" dirty="0">
                        <a:solidFill>
                          <a:srgbClr val="000000"/>
                        </a:solidFill>
                        <a:latin typeface="Arial"/>
                        <a:ea typeface="Arial"/>
                        <a:cs typeface="Arial"/>
                        <a:sym typeface="Arial"/>
                      </a:endParaRPr>
                    </a:p>
                    <a:p>
                      <a:pPr algn="l">
                        <a:lnSpc>
                          <a:spcPts val="2400"/>
                        </a:lnSpc>
                      </a:pPr>
                      <a:r>
                        <a:rPr lang="en-US" sz="2000" b="1" dirty="0">
                          <a:solidFill>
                            <a:srgbClr val="000000"/>
                          </a:solidFill>
                          <a:latin typeface="Arial Bold"/>
                          <a:ea typeface="Arial Bold"/>
                          <a:cs typeface="Arial Bold"/>
                          <a:sym typeface="Arial Bold"/>
                        </a:rPr>
                        <a:t>Remark:</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nội</a:t>
                      </a:r>
                      <a:r>
                        <a:rPr lang="en-US" sz="2000" dirty="0">
                          <a:solidFill>
                            <a:srgbClr val="000000"/>
                          </a:solidFill>
                          <a:latin typeface="Arial"/>
                          <a:ea typeface="Arial"/>
                          <a:cs typeface="Arial"/>
                          <a:sym typeface="Arial"/>
                        </a:rPr>
                        <a:t> dung </a:t>
                      </a:r>
                      <a:r>
                        <a:rPr lang="en-US" sz="2000" dirty="0" err="1">
                          <a:solidFill>
                            <a:srgbClr val="000000"/>
                          </a:solidFill>
                          <a:latin typeface="Arial"/>
                          <a:ea typeface="Arial"/>
                          <a:cs typeface="Arial"/>
                          <a:sym typeface="Arial"/>
                        </a:rPr>
                        <a:t>hỗ</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trợ</a:t>
                      </a:r>
                      <a:endParaRPr lang="en-US" sz="2000" dirty="0">
                        <a:solidFill>
                          <a:srgbClr val="000000"/>
                        </a:solidFill>
                        <a:latin typeface="Arial"/>
                        <a:ea typeface="Arial"/>
                        <a:cs typeface="Arial"/>
                        <a:sym typeface="Arial"/>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bl>
          </a:graphicData>
        </a:graphic>
      </p:graphicFrame>
      <p:grpSp>
        <p:nvGrpSpPr>
          <p:cNvPr id="3" name="Group 3"/>
          <p:cNvGrpSpPr/>
          <p:nvPr/>
        </p:nvGrpSpPr>
        <p:grpSpPr>
          <a:xfrm>
            <a:off x="15691018" y="9790919"/>
            <a:ext cx="2421922" cy="346996"/>
            <a:chOff x="0" y="0"/>
            <a:chExt cx="3229229" cy="462661"/>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145" r="-145"/>
              </a:stretch>
            </a:blipFill>
          </p:spPr>
        </p:sp>
      </p:grpSp>
      <p:sp>
        <p:nvSpPr>
          <p:cNvPr id="5" name="Freeform 5"/>
          <p:cNvSpPr/>
          <p:nvPr/>
        </p:nvSpPr>
        <p:spPr>
          <a:xfrm>
            <a:off x="5858" y="-328298"/>
            <a:ext cx="20000147" cy="1306449"/>
          </a:xfrm>
          <a:custGeom>
            <a:avLst/>
            <a:gdLst/>
            <a:ahLst/>
            <a:cxnLst/>
            <a:rect l="l" t="t" r="r" b="b"/>
            <a:pathLst>
              <a:path w="20000147" h="1306449">
                <a:moveTo>
                  <a:pt x="0" y="0"/>
                </a:moveTo>
                <a:lnTo>
                  <a:pt x="20000147" y="0"/>
                </a:lnTo>
                <a:lnTo>
                  <a:pt x="20000147"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t="-300" b="-300"/>
            </a:stretch>
          </a:blipFill>
        </p:spPr>
      </p:sp>
      <p:sp>
        <p:nvSpPr>
          <p:cNvPr id="6" name="TextBox 6"/>
          <p:cNvSpPr txBox="1"/>
          <p:nvPr/>
        </p:nvSpPr>
        <p:spPr>
          <a:xfrm>
            <a:off x="-239097" y="172231"/>
            <a:ext cx="18329605" cy="579596"/>
          </a:xfrm>
          <a:prstGeom prst="rect">
            <a:avLst/>
          </a:prstGeom>
        </p:spPr>
        <p:txBody>
          <a:bodyPr lIns="0" tIns="0" rIns="0" bIns="0" rtlCol="0" anchor="t">
            <a:spAutoFit/>
          </a:bodyPr>
          <a:lstStyle/>
          <a:p>
            <a:pPr algn="ctr">
              <a:lnSpc>
                <a:spcPts val="4419"/>
              </a:lnSpc>
            </a:pPr>
            <a:r>
              <a:rPr lang="en-US" sz="3399" b="1">
                <a:solidFill>
                  <a:srgbClr val="000000"/>
                </a:solidFill>
                <a:latin typeface="Arial Bold"/>
                <a:ea typeface="Arial Bold"/>
                <a:cs typeface="Arial Bold"/>
                <a:sym typeface="Arial Bold"/>
              </a:rPr>
              <a:t>KIỂM TRA DƯ NỢ CẦN BỔ SUNG ĐỂ NHẬN MRC/ CLOSED HĐ – HĐ ACTIVE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91018" y="9790919"/>
            <a:ext cx="2421922" cy="346996"/>
            <a:chOff x="0" y="0"/>
            <a:chExt cx="3229229" cy="462661"/>
          </a:xfrm>
        </p:grpSpPr>
        <p:sp>
          <p:nvSpPr>
            <p:cNvPr id="3" name="Freeform 3"/>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145" r="-145"/>
              </a:stretch>
            </a:blipFill>
          </p:spPr>
        </p:sp>
      </p:grpSp>
      <p:sp>
        <p:nvSpPr>
          <p:cNvPr id="4" name="Freeform 4"/>
          <p:cNvSpPr/>
          <p:nvPr/>
        </p:nvSpPr>
        <p:spPr>
          <a:xfrm>
            <a:off x="5858" y="-328298"/>
            <a:ext cx="20000147" cy="1306449"/>
          </a:xfrm>
          <a:custGeom>
            <a:avLst/>
            <a:gdLst/>
            <a:ahLst/>
            <a:cxnLst/>
            <a:rect l="l" t="t" r="r" b="b"/>
            <a:pathLst>
              <a:path w="20000147" h="1306449">
                <a:moveTo>
                  <a:pt x="0" y="0"/>
                </a:moveTo>
                <a:lnTo>
                  <a:pt x="20000147" y="0"/>
                </a:lnTo>
                <a:lnTo>
                  <a:pt x="20000147"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t="-300" b="-300"/>
            </a:stretch>
          </a:blipFill>
        </p:spPr>
      </p:sp>
      <p:sp>
        <p:nvSpPr>
          <p:cNvPr id="5" name="TextBox 5"/>
          <p:cNvSpPr txBox="1"/>
          <p:nvPr/>
        </p:nvSpPr>
        <p:spPr>
          <a:xfrm>
            <a:off x="2493764" y="133350"/>
            <a:ext cx="13300472" cy="663530"/>
          </a:xfrm>
          <a:prstGeom prst="rect">
            <a:avLst/>
          </a:prstGeom>
        </p:spPr>
        <p:txBody>
          <a:bodyPr lIns="0" tIns="0" rIns="0" bIns="0" rtlCol="0" anchor="t">
            <a:spAutoFit/>
          </a:bodyPr>
          <a:lstStyle/>
          <a:p>
            <a:pPr algn="ctr">
              <a:lnSpc>
                <a:spcPts val="5200"/>
              </a:lnSpc>
            </a:pPr>
            <a:r>
              <a:rPr lang="en-US" sz="3999" b="1">
                <a:solidFill>
                  <a:srgbClr val="000000"/>
                </a:solidFill>
                <a:latin typeface="Arial Bold"/>
                <a:ea typeface="Arial Bold"/>
                <a:cs typeface="Arial Bold"/>
                <a:sym typeface="Arial Bold"/>
              </a:rPr>
              <a:t>KH ĐÃ BỔ SUNG DƯ NỢ ĐỂ NHẬN MRC – HĐ CLOSED</a:t>
            </a:r>
          </a:p>
        </p:txBody>
      </p:sp>
      <p:graphicFrame>
        <p:nvGraphicFramePr>
          <p:cNvPr id="6" name="Table 6"/>
          <p:cNvGraphicFramePr>
            <a:graphicFrameLocks noGrp="1"/>
          </p:cNvGraphicFramePr>
          <p:nvPr>
            <p:extLst>
              <p:ext uri="{D42A27DB-BD31-4B8C-83A1-F6EECF244321}">
                <p14:modId xmlns:p14="http://schemas.microsoft.com/office/powerpoint/2010/main" val="2066908842"/>
              </p:ext>
            </p:extLst>
          </p:nvPr>
        </p:nvGraphicFramePr>
        <p:xfrm>
          <a:off x="190299" y="1333500"/>
          <a:ext cx="17907402" cy="6421788"/>
        </p:xfrm>
        <a:graphic>
          <a:graphicData uri="http://schemas.openxmlformats.org/drawingml/2006/table">
            <a:tbl>
              <a:tblPr/>
              <a:tblGrid>
                <a:gridCol w="2966227">
                  <a:extLst>
                    <a:ext uri="{9D8B030D-6E8A-4147-A177-3AD203B41FA5}">
                      <a16:colId xmlns:a16="http://schemas.microsoft.com/office/drawing/2014/main" val="20000"/>
                    </a:ext>
                  </a:extLst>
                </a:gridCol>
                <a:gridCol w="6336516">
                  <a:extLst>
                    <a:ext uri="{9D8B030D-6E8A-4147-A177-3AD203B41FA5}">
                      <a16:colId xmlns:a16="http://schemas.microsoft.com/office/drawing/2014/main" val="20001"/>
                    </a:ext>
                  </a:extLst>
                </a:gridCol>
                <a:gridCol w="2316604">
                  <a:extLst>
                    <a:ext uri="{9D8B030D-6E8A-4147-A177-3AD203B41FA5}">
                      <a16:colId xmlns:a16="http://schemas.microsoft.com/office/drawing/2014/main" val="20002"/>
                    </a:ext>
                  </a:extLst>
                </a:gridCol>
                <a:gridCol w="6288055">
                  <a:extLst>
                    <a:ext uri="{9D8B030D-6E8A-4147-A177-3AD203B41FA5}">
                      <a16:colId xmlns:a16="http://schemas.microsoft.com/office/drawing/2014/main" val="20003"/>
                    </a:ext>
                  </a:extLst>
                </a:gridCol>
              </a:tblGrid>
              <a:tr h="776130">
                <a:tc gridSpan="2">
                  <a:txBody>
                    <a:bodyPr/>
                    <a:lstStyle/>
                    <a:p>
                      <a:pPr algn="ctr">
                        <a:lnSpc>
                          <a:spcPts val="3750"/>
                        </a:lnSpc>
                        <a:defRPr/>
                      </a:pPr>
                      <a:r>
                        <a:rPr lang="en-US" sz="2000" b="1" spc="12">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hMerge="1">
                  <a:txBody>
                    <a:bodyPr/>
                    <a:lstStyle/>
                    <a:p>
                      <a:pPr algn="ctr">
                        <a:lnSpc>
                          <a:spcPts val="3750"/>
                        </a:lnSpc>
                        <a:defRPr/>
                      </a:pPr>
                      <a:r>
                        <a:rPr lang="en-US" sz="2000" b="1" spc="12">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a:solidFill>
                            <a:srgbClr val="FFFFFF"/>
                          </a:solidFill>
                          <a:latin typeface="Arial Bold"/>
                          <a:ea typeface="Arial Bold"/>
                          <a:cs typeface="Arial Bold"/>
                          <a:sym typeface="Arial Bold"/>
                        </a:rPr>
                        <a:t>TAT</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a:solidFill>
                            <a:srgbClr val="FFFFFF"/>
                          </a:solidFill>
                          <a:latin typeface="Arial Bold"/>
                          <a:ea typeface="Arial Bold"/>
                          <a:cs typeface="Arial Bold"/>
                          <a:sym typeface="Arial Bold"/>
                        </a:rPr>
                        <a:t>CODE/ REMARK</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3451415">
                <a:tc rowSpan="2">
                  <a:txBody>
                    <a:bodyPr/>
                    <a:lstStyle/>
                    <a:p>
                      <a:pPr algn="l">
                        <a:lnSpc>
                          <a:spcPts val="2800"/>
                        </a:lnSpc>
                        <a:defRPr/>
                      </a:pPr>
                      <a:r>
                        <a:rPr lang="en-US" sz="2000" b="1">
                          <a:solidFill>
                            <a:srgbClr val="000000"/>
                          </a:solidFill>
                          <a:latin typeface="Arial Bold"/>
                          <a:ea typeface="Arial Bold"/>
                          <a:cs typeface="Arial Bold"/>
                          <a:sym typeface="Arial Bold"/>
                        </a:rPr>
                        <a:t>CS khai thác</a:t>
                      </a:r>
                      <a:endParaRPr lang="en-US" sz="1100"/>
                    </a:p>
                    <a:p>
                      <a:pPr marL="431801" lvl="1" indent="-215900" algn="l">
                        <a:lnSpc>
                          <a:spcPts val="2800"/>
                        </a:lnSpc>
                        <a:buFont typeface="Arial"/>
                        <a:buChar char="•"/>
                      </a:pPr>
                      <a:r>
                        <a:rPr lang="en-US" sz="2000">
                          <a:solidFill>
                            <a:srgbClr val="000000"/>
                          </a:solidFill>
                          <a:latin typeface="Arial"/>
                          <a:ea typeface="Arial"/>
                          <a:cs typeface="Arial"/>
                          <a:sym typeface="Arial"/>
                        </a:rPr>
                        <a:t>Họ tên người nhận</a:t>
                      </a:r>
                    </a:p>
                    <a:p>
                      <a:pPr marL="431801" lvl="1" indent="-215900" algn="l">
                        <a:lnSpc>
                          <a:spcPts val="2800"/>
                        </a:lnSpc>
                        <a:buFont typeface="Arial"/>
                        <a:buChar char="•"/>
                      </a:pPr>
                      <a:r>
                        <a:rPr lang="en-US" sz="2000">
                          <a:solidFill>
                            <a:srgbClr val="000000"/>
                          </a:solidFill>
                          <a:latin typeface="Arial"/>
                          <a:ea typeface="Arial"/>
                          <a:cs typeface="Arial"/>
                          <a:sym typeface="Arial"/>
                        </a:rPr>
                        <a:t>Địa chỉ</a:t>
                      </a:r>
                    </a:p>
                    <a:p>
                      <a:pPr marL="431801" lvl="1" indent="-215900" algn="l">
                        <a:lnSpc>
                          <a:spcPts val="2800"/>
                        </a:lnSpc>
                        <a:buFont typeface="Arial"/>
                        <a:buChar char="•"/>
                      </a:pPr>
                      <a:r>
                        <a:rPr lang="en-US" sz="2000">
                          <a:solidFill>
                            <a:srgbClr val="000000"/>
                          </a:solidFill>
                          <a:latin typeface="Arial"/>
                          <a:ea typeface="Arial"/>
                          <a:cs typeface="Arial"/>
                          <a:sym typeface="Arial"/>
                        </a:rPr>
                        <a:t>SĐT liên hệ</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110"/>
                        </a:lnSpc>
                        <a:defRPr/>
                      </a:pPr>
                      <a:r>
                        <a:rPr lang="en-US" sz="2000" b="1" dirty="0">
                          <a:solidFill>
                            <a:srgbClr val="000000"/>
                          </a:solidFill>
                          <a:latin typeface="Arial Bold"/>
                          <a:ea typeface="Arial Bold"/>
                          <a:cs typeface="Arial Bold"/>
                          <a:sym typeface="Arial Bold"/>
                        </a:rPr>
                        <a:t>KH </a:t>
                      </a:r>
                      <a:r>
                        <a:rPr lang="en-US" sz="2000" b="1" dirty="0" err="1">
                          <a:solidFill>
                            <a:srgbClr val="000000"/>
                          </a:solidFill>
                          <a:latin typeface="Arial Bold"/>
                          <a:ea typeface="Arial Bold"/>
                          <a:cs typeface="Arial Bold"/>
                          <a:sym typeface="Arial Bold"/>
                        </a:rPr>
                        <a:t>cung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cấp</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đầy</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đủ</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thông</a:t>
                      </a:r>
                      <a:r>
                        <a:rPr lang="en-US" sz="2000" b="1" dirty="0">
                          <a:solidFill>
                            <a:srgbClr val="000000"/>
                          </a:solidFill>
                          <a:latin typeface="Arial Bold"/>
                          <a:ea typeface="Arial Bold"/>
                          <a:cs typeface="Arial Bold"/>
                          <a:sym typeface="Arial Bold"/>
                        </a:rPr>
                        <a:t> tin, </a:t>
                      </a:r>
                      <a:r>
                        <a:rPr lang="en-US" sz="2000" dirty="0">
                          <a:solidFill>
                            <a:srgbClr val="000000"/>
                          </a:solidFill>
                          <a:latin typeface="Arial"/>
                          <a:ea typeface="Arial"/>
                          <a:cs typeface="Arial"/>
                          <a:sym typeface="Arial"/>
                        </a:rPr>
                        <a:t>CS </a:t>
                      </a:r>
                      <a:r>
                        <a:rPr lang="en-US" sz="2000" dirty="0" err="1">
                          <a:solidFill>
                            <a:srgbClr val="000000"/>
                          </a:solidFill>
                          <a:latin typeface="Arial"/>
                          <a:ea typeface="Arial"/>
                          <a:cs typeface="Arial"/>
                          <a:sym typeface="Arial"/>
                        </a:rPr>
                        <a:t>xác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nhận</a:t>
                      </a:r>
                      <a:r>
                        <a:rPr lang="en-US" sz="2000" dirty="0">
                          <a:solidFill>
                            <a:srgbClr val="000000"/>
                          </a:solidFill>
                          <a:latin typeface="Arial"/>
                          <a:ea typeface="Arial"/>
                          <a:cs typeface="Arial"/>
                          <a:sym typeface="Arial"/>
                        </a:rPr>
                        <a:t>: Anh/</a:t>
                      </a:r>
                      <a:r>
                        <a:rPr lang="en-US" sz="2000" dirty="0" err="1">
                          <a:solidFill>
                            <a:srgbClr val="000000"/>
                          </a:solidFill>
                          <a:latin typeface="Arial"/>
                          <a:ea typeface="Arial"/>
                          <a:cs typeface="Arial"/>
                          <a:sym typeface="Arial"/>
                        </a:rPr>
                        <a:t>chị</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đồng</a:t>
                      </a:r>
                      <a:r>
                        <a:rPr lang="en-US" sz="2000" dirty="0">
                          <a:solidFill>
                            <a:srgbClr val="000000"/>
                          </a:solidFill>
                          <a:latin typeface="Arial"/>
                          <a:ea typeface="Arial"/>
                          <a:cs typeface="Arial"/>
                          <a:sym typeface="Arial"/>
                        </a:rPr>
                        <a:t> ý </a:t>
                      </a:r>
                      <a:r>
                        <a:rPr lang="en-US" sz="2000" dirty="0" err="1">
                          <a:solidFill>
                            <a:srgbClr val="000000"/>
                          </a:solidFill>
                          <a:latin typeface="Arial"/>
                          <a:ea typeface="Arial"/>
                          <a:cs typeface="Arial"/>
                          <a:sym typeface="Arial"/>
                        </a:rPr>
                        <a:t>cho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em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hoặc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công</a:t>
                      </a:r>
                      <a:r>
                        <a:rPr lang="en-US" sz="2000" dirty="0">
                          <a:solidFill>
                            <a:srgbClr val="000000"/>
                          </a:solidFill>
                          <a:latin typeface="Arial"/>
                          <a:ea typeface="Arial"/>
                          <a:cs typeface="Arial"/>
                          <a:sym typeface="Arial"/>
                        </a:rPr>
                        <a:t> ty </a:t>
                      </a:r>
                      <a:r>
                        <a:rPr lang="en-US" sz="2000" dirty="0" err="1">
                          <a:solidFill>
                            <a:srgbClr val="000000"/>
                          </a:solidFill>
                          <a:latin typeface="Arial"/>
                          <a:ea typeface="Arial"/>
                          <a:cs typeface="Arial"/>
                          <a:sym typeface="Arial"/>
                        </a:rPr>
                        <a:t>Bảo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hiểm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liên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hệ</a:t>
                      </a:r>
                      <a:r>
                        <a:rPr lang="en-US" sz="2000" dirty="0">
                          <a:solidFill>
                            <a:srgbClr val="000000"/>
                          </a:solidFill>
                          <a:latin typeface="Arial"/>
                          <a:ea typeface="Arial"/>
                          <a:cs typeface="Arial"/>
                          <a:sym typeface="Arial"/>
                        </a:rPr>
                        <a:t> qua SĐT </a:t>
                      </a:r>
                      <a:r>
                        <a:rPr lang="en-US" sz="2000" dirty="0" err="1">
                          <a:solidFill>
                            <a:srgbClr val="000000"/>
                          </a:solidFill>
                          <a:latin typeface="Arial"/>
                          <a:ea typeface="Arial"/>
                          <a:cs typeface="Arial"/>
                          <a:sym typeface="Arial"/>
                        </a:rPr>
                        <a:t>này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để</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cung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cấp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 </a:t>
                      </a:r>
                      <a:r>
                        <a:rPr lang="en-US" sz="2000" dirty="0" err="1">
                          <a:solidFill>
                            <a:srgbClr val="000000"/>
                          </a:solidFill>
                          <a:latin typeface="Arial"/>
                          <a:ea typeface="Arial"/>
                          <a:cs typeface="Arial"/>
                          <a:sym typeface="Arial"/>
                        </a:rPr>
                        <a:t>quan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đến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vấn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đề</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xử</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lý</a:t>
                      </a:r>
                      <a:r>
                        <a:rPr lang="en-US" sz="2000" dirty="0">
                          <a:solidFill>
                            <a:srgbClr val="000000"/>
                          </a:solidFill>
                          <a:latin typeface="Arial"/>
                          <a:ea typeface="Arial"/>
                          <a:cs typeface="Arial"/>
                          <a:sym typeface="Arial"/>
                        </a:rPr>
                        <a:t> BH </a:t>
                      </a:r>
                      <a:r>
                        <a:rPr lang="en-US" sz="2000" dirty="0" err="1">
                          <a:solidFill>
                            <a:srgbClr val="000000"/>
                          </a:solidFill>
                          <a:latin typeface="Arial"/>
                          <a:ea typeface="Arial"/>
                          <a:cs typeface="Arial"/>
                          <a:sym typeface="Arial"/>
                        </a:rPr>
                        <a:t>cho</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đúng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ạ?”</a:t>
                      </a:r>
                      <a:endParaRPr lang="en-US" sz="1100" dirty="0"/>
                    </a:p>
                    <a:p>
                      <a:pPr marL="431801" lvl="1" indent="-215900" algn="l">
                        <a:lnSpc>
                          <a:spcPts val="3110"/>
                        </a:lnSpc>
                        <a:buFont typeface="Arial"/>
                        <a:buChar char="•"/>
                      </a:pPr>
                      <a:r>
                        <a:rPr lang="en-US" sz="2000" dirty="0" err="1">
                          <a:solidFill>
                            <a:srgbClr val="000000"/>
                          </a:solidFill>
                          <a:latin typeface="Arial"/>
                          <a:ea typeface="Arial"/>
                          <a:cs typeface="Arial"/>
                          <a:sym typeface="Arial"/>
                        </a:rPr>
                        <a:t>Người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thân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đồng</a:t>
                      </a:r>
                      <a:r>
                        <a:rPr lang="en-US" sz="2000" dirty="0">
                          <a:solidFill>
                            <a:srgbClr val="000000"/>
                          </a:solidFill>
                          <a:latin typeface="Arial"/>
                          <a:ea typeface="Arial"/>
                          <a:cs typeface="Arial"/>
                          <a:sym typeface="Arial"/>
                        </a:rPr>
                        <a:t> ý: CS </a:t>
                      </a:r>
                      <a:r>
                        <a:rPr lang="en-US" sz="2000" dirty="0" err="1">
                          <a:solidFill>
                            <a:srgbClr val="000000"/>
                          </a:solidFill>
                          <a:latin typeface="Arial"/>
                          <a:ea typeface="Arial"/>
                          <a:cs typeface="Arial"/>
                          <a:sym typeface="Arial"/>
                        </a:rPr>
                        <a:t>báo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chuyển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hỗ</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trợ</a:t>
                      </a:r>
                      <a:r>
                        <a:rPr lang="en-US" sz="2000" dirty="0">
                          <a:solidFill>
                            <a:srgbClr val="000000"/>
                          </a:solidFill>
                          <a:latin typeface="Arial"/>
                          <a:ea typeface="Arial"/>
                          <a:cs typeface="Arial"/>
                          <a:sym typeface="Arial"/>
                        </a:rPr>
                        <a:t>.</a:t>
                      </a:r>
                    </a:p>
                    <a:p>
                      <a:pPr marL="431801" lvl="1" indent="-215900" algn="l">
                        <a:lnSpc>
                          <a:spcPts val="3112"/>
                        </a:lnSpc>
                        <a:buFont typeface="Arial"/>
                        <a:buChar char="•"/>
                      </a:pP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đồng</a:t>
                      </a:r>
                      <a:r>
                        <a:rPr lang="en-US" sz="2000" dirty="0">
                          <a:solidFill>
                            <a:srgbClr val="000000"/>
                          </a:solidFill>
                          <a:latin typeface="Arial"/>
                          <a:ea typeface="Arial"/>
                          <a:cs typeface="Arial"/>
                          <a:sym typeface="Arial"/>
                        </a:rPr>
                        <a:t> ý: CS </a:t>
                      </a:r>
                      <a:r>
                        <a:rPr lang="en-US" sz="2000" dirty="0" err="1">
                          <a:solidFill>
                            <a:srgbClr val="000000"/>
                          </a:solidFill>
                          <a:latin typeface="Arial"/>
                          <a:ea typeface="Arial"/>
                          <a:cs typeface="Arial"/>
                          <a:sym typeface="Arial"/>
                        </a:rPr>
                        <a:t>thuyết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phục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nếu</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vẫn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đồng</a:t>
                      </a:r>
                      <a:r>
                        <a:rPr lang="en-US" sz="2000" dirty="0">
                          <a:solidFill>
                            <a:srgbClr val="000000"/>
                          </a:solidFill>
                          <a:latin typeface="Arial"/>
                          <a:ea typeface="Arial"/>
                          <a:cs typeface="Arial"/>
                          <a:sym typeface="Arial"/>
                        </a:rPr>
                        <a:t> ý, </a:t>
                      </a:r>
                      <a:r>
                        <a:rPr lang="en-US" sz="2000" dirty="0" err="1">
                          <a:solidFill>
                            <a:srgbClr val="000000"/>
                          </a:solidFill>
                          <a:latin typeface="Arial"/>
                          <a:ea typeface="Arial"/>
                          <a:cs typeface="Arial"/>
                          <a:sym typeface="Arial"/>
                        </a:rPr>
                        <a:t>hướng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dẫn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liên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hệ</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sau</a:t>
                      </a:r>
                      <a:r>
                        <a:rPr lang="en-US" sz="2000" dirty="0">
                          <a:solidFill>
                            <a:srgbClr val="000000"/>
                          </a:solidFill>
                          <a:latin typeface="Arial"/>
                          <a:ea typeface="Arial"/>
                          <a:cs typeface="Arial"/>
                          <a:sym typeface="Arial"/>
                        </a:rPr>
                        <a:t>.</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3454"/>
                        </a:lnSpc>
                        <a:defRPr/>
                      </a:pPr>
                      <a:r>
                        <a:rPr lang="en-US" sz="2000">
                          <a:solidFill>
                            <a:srgbClr val="000000"/>
                          </a:solidFill>
                          <a:latin typeface="Arial"/>
                          <a:ea typeface="Arial"/>
                          <a:cs typeface="Arial"/>
                          <a:sym typeface="Arial"/>
                        </a:rPr>
                        <a:t>30 ngày làm việc</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800"/>
                        </a:lnSpc>
                        <a:defRPr/>
                      </a:pPr>
                      <a:r>
                        <a:rPr lang="en-US" sz="2000" b="1">
                          <a:solidFill>
                            <a:srgbClr val="000000"/>
                          </a:solidFill>
                          <a:latin typeface="Arial Bold"/>
                          <a:ea typeface="Arial Bold"/>
                          <a:cs typeface="Arial Bold"/>
                          <a:sym typeface="Arial Bold"/>
                        </a:rPr>
                        <a:t>Code: </a:t>
                      </a:r>
                      <a:r>
                        <a:rPr lang="en-US" sz="2000">
                          <a:solidFill>
                            <a:srgbClr val="000000"/>
                          </a:solidFill>
                          <a:latin typeface="Arial"/>
                          <a:ea typeface="Arial"/>
                          <a:cs typeface="Arial"/>
                          <a:sym typeface="Arial"/>
                        </a:rPr>
                        <a:t>RL07-Tình trạng xử lý hồ sơ bảo hiểm</a:t>
                      </a:r>
                      <a:endParaRPr lang="en-US" sz="1100"/>
                    </a:p>
                    <a:p>
                      <a:pPr algn="l">
                        <a:lnSpc>
                          <a:spcPts val="2800"/>
                        </a:lnSpc>
                      </a:pPr>
                      <a:r>
                        <a:rPr lang="en-US" sz="2000" b="1">
                          <a:solidFill>
                            <a:srgbClr val="000000"/>
                          </a:solidFill>
                          <a:latin typeface="Arial Bold"/>
                          <a:ea typeface="Arial Bold"/>
                          <a:cs typeface="Arial Bold"/>
                          <a:sym typeface="Arial Bold"/>
                        </a:rPr>
                        <a:t>Sub:</a:t>
                      </a:r>
                      <a:r>
                        <a:rPr lang="en-US" sz="2000">
                          <a:solidFill>
                            <a:srgbClr val="000000"/>
                          </a:solidFill>
                          <a:latin typeface="Arial"/>
                          <a:ea typeface="Arial"/>
                          <a:cs typeface="Arial"/>
                          <a:sym typeface="Arial"/>
                        </a:rPr>
                        <a:t> RL07.02-Thanh lý nhận MRC</a:t>
                      </a:r>
                    </a:p>
                    <a:p>
                      <a:pPr algn="l">
                        <a:lnSpc>
                          <a:spcPts val="2800"/>
                        </a:lnSpc>
                      </a:pPr>
                      <a:r>
                        <a:rPr lang="en-US" sz="2000" b="1">
                          <a:solidFill>
                            <a:srgbClr val="000000"/>
                          </a:solidFill>
                          <a:latin typeface="Arial Bold"/>
                          <a:ea typeface="Arial Bold"/>
                          <a:cs typeface="Arial Bold"/>
                          <a:sym typeface="Arial Bold"/>
                        </a:rPr>
                        <a:t>Properties: </a:t>
                      </a:r>
                      <a:r>
                        <a:rPr lang="en-US" sz="2000">
                          <a:solidFill>
                            <a:srgbClr val="000000"/>
                          </a:solidFill>
                          <a:latin typeface="Arial"/>
                          <a:ea typeface="Arial"/>
                          <a:cs typeface="Arial"/>
                          <a:sym typeface="Arial"/>
                        </a:rPr>
                        <a:t>nhập theo yêu cầu</a:t>
                      </a:r>
                    </a:p>
                    <a:p>
                      <a:pPr algn="l">
                        <a:lnSpc>
                          <a:spcPts val="2800"/>
                        </a:lnSpc>
                      </a:pPr>
                      <a:r>
                        <a:rPr lang="en-US" sz="2000" b="1">
                          <a:solidFill>
                            <a:srgbClr val="000000"/>
                          </a:solidFill>
                          <a:latin typeface="Arial Bold"/>
                          <a:ea typeface="Arial Bold"/>
                          <a:cs typeface="Arial Bold"/>
                          <a:sym typeface="Arial Bold"/>
                        </a:rPr>
                        <a:t>Remark: </a:t>
                      </a:r>
                      <a:r>
                        <a:rPr lang="en-US" sz="2000">
                          <a:solidFill>
                            <a:srgbClr val="000000"/>
                          </a:solidFill>
                          <a:latin typeface="Arial"/>
                          <a:ea typeface="Arial"/>
                          <a:cs typeface="Arial"/>
                          <a:sym typeface="Arial"/>
                        </a:rPr>
                        <a:t>nội dung hỗ trợ</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2194243">
                <a:tc vMerge="1">
                  <a:txBody>
                    <a:bodyPr/>
                    <a:lstStyle/>
                    <a:p>
                      <a:pPr algn="l">
                        <a:lnSpc>
                          <a:spcPts val="2800"/>
                        </a:lnSpc>
                        <a:defRPr/>
                      </a:pPr>
                      <a:r>
                        <a:rPr lang="en-US" sz="2000" b="1">
                          <a:solidFill>
                            <a:srgbClr val="000000"/>
                          </a:solidFill>
                          <a:latin typeface="Arial Bold"/>
                          <a:ea typeface="Arial Bold"/>
                          <a:cs typeface="Arial Bold"/>
                          <a:sym typeface="Arial Bold"/>
                        </a:rPr>
                        <a:t>CS khai thác</a:t>
                      </a:r>
                      <a:endParaRPr lang="en-US" sz="1100"/>
                    </a:p>
                    <a:p>
                      <a:pPr marL="431801" lvl="1" indent="-215900" algn="l">
                        <a:lnSpc>
                          <a:spcPts val="2800"/>
                        </a:lnSpc>
                        <a:buFont typeface="Arial"/>
                        <a:buChar char="•"/>
                      </a:pPr>
                      <a:r>
                        <a:rPr lang="en-US" sz="2000">
                          <a:solidFill>
                            <a:srgbClr val="000000"/>
                          </a:solidFill>
                          <a:latin typeface="Arial"/>
                          <a:ea typeface="Arial"/>
                          <a:cs typeface="Arial"/>
                          <a:sym typeface="Arial"/>
                        </a:rPr>
                        <a:t>Họ tên người nhận</a:t>
                      </a:r>
                    </a:p>
                    <a:p>
                      <a:pPr marL="431801" lvl="1" indent="-215900" algn="l">
                        <a:lnSpc>
                          <a:spcPts val="2800"/>
                        </a:lnSpc>
                        <a:buFont typeface="Arial"/>
                        <a:buChar char="•"/>
                      </a:pPr>
                      <a:r>
                        <a:rPr lang="en-US" sz="2000">
                          <a:solidFill>
                            <a:srgbClr val="000000"/>
                          </a:solidFill>
                          <a:latin typeface="Arial"/>
                          <a:ea typeface="Arial"/>
                          <a:cs typeface="Arial"/>
                          <a:sym typeface="Arial"/>
                        </a:rPr>
                        <a:t>Địa chỉ</a:t>
                      </a:r>
                    </a:p>
                    <a:p>
                      <a:pPr marL="431801" lvl="1" indent="-215900" algn="l">
                        <a:lnSpc>
                          <a:spcPts val="2800"/>
                        </a:lnSpc>
                        <a:buFont typeface="Arial"/>
                        <a:buChar char="•"/>
                      </a:pPr>
                      <a:r>
                        <a:rPr lang="en-US" sz="2000">
                          <a:solidFill>
                            <a:srgbClr val="000000"/>
                          </a:solidFill>
                          <a:latin typeface="Arial"/>
                          <a:ea typeface="Arial"/>
                          <a:cs typeface="Arial"/>
                          <a:sym typeface="Arial"/>
                        </a:rPr>
                        <a:t>SĐT liên hệ</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800"/>
                        </a:lnSpc>
                        <a:defRPr/>
                      </a:pPr>
                      <a:r>
                        <a:rPr lang="en-US" sz="2000" b="1">
                          <a:solidFill>
                            <a:srgbClr val="000000"/>
                          </a:solidFill>
                          <a:latin typeface="Arial Bold"/>
                          <a:ea typeface="Arial Bold"/>
                          <a:cs typeface="Arial Bold"/>
                          <a:sym typeface="Arial Bold"/>
                        </a:rPr>
                        <a:t>KH không cung cấp được đầy đủ thông tin,</a:t>
                      </a:r>
                      <a:r>
                        <a:rPr lang="en-US" sz="2000">
                          <a:solidFill>
                            <a:srgbClr val="000000"/>
                          </a:solidFill>
                          <a:latin typeface="Arial"/>
                          <a:ea typeface="Arial"/>
                          <a:cs typeface="Arial"/>
                          <a:sym typeface="Arial"/>
                        </a:rPr>
                        <a:t> CS hướng dẫn KH kiểm tra lại thông tin:</a:t>
                      </a:r>
                      <a:endParaRPr lang="en-US" sz="1100"/>
                    </a:p>
                    <a:p>
                      <a:pPr marL="241300" lvl="1" indent="-120650" algn="l">
                        <a:lnSpc>
                          <a:spcPts val="2800"/>
                        </a:lnSpc>
                        <a:buFont typeface="Arial"/>
                        <a:buChar char="•"/>
                      </a:pPr>
                      <a:r>
                        <a:rPr lang="en-US" sz="2000">
                          <a:solidFill>
                            <a:srgbClr val="000000"/>
                          </a:solidFill>
                          <a:latin typeface="Arial"/>
                          <a:ea typeface="Arial"/>
                          <a:cs typeface="Arial"/>
                          <a:sym typeface="Arial"/>
                        </a:rPr>
                        <a:t> Mã bưu phẩm: Kiểm tra trên biên lai lúc gửi thư </a:t>
                      </a:r>
                    </a:p>
                    <a:p>
                      <a:pPr marL="241046" lvl="1" indent="-120523" algn="l">
                        <a:lnSpc>
                          <a:spcPts val="2800"/>
                        </a:lnSpc>
                        <a:buFont typeface="Arial"/>
                        <a:buChar char="•"/>
                      </a:pPr>
                      <a:r>
                        <a:rPr lang="en-US" sz="2000">
                          <a:solidFill>
                            <a:srgbClr val="000000"/>
                          </a:solidFill>
                          <a:latin typeface="Arial"/>
                          <a:ea typeface="Arial"/>
                          <a:cs typeface="Arial"/>
                          <a:sym typeface="Arial"/>
                        </a:rPr>
                        <a:t>Thông tin người ký nhận: Kiểm tra với bưu điện bằng mã bưu phẩm.</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2800"/>
                        </a:lnSpc>
                        <a:defRPr/>
                      </a:pPr>
                      <a:r>
                        <a:rPr lang="en-US" sz="2000">
                          <a:solidFill>
                            <a:srgbClr val="000000"/>
                          </a:solidFill>
                          <a:latin typeface="Arial"/>
                          <a:ea typeface="Arial"/>
                          <a:cs typeface="Arial"/>
                          <a:sym typeface="Arial"/>
                        </a:rPr>
                        <a:t>N/A</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400"/>
                        </a:lnSpc>
                        <a:defRPr/>
                      </a:pPr>
                      <a:r>
                        <a:rPr lang="en-US" sz="2000" b="1" dirty="0">
                          <a:solidFill>
                            <a:srgbClr val="000000"/>
                          </a:solidFill>
                          <a:latin typeface="Arial Bold"/>
                          <a:ea typeface="Arial Bold"/>
                          <a:cs typeface="Arial Bold"/>
                          <a:sym typeface="Arial Bold"/>
                        </a:rPr>
                        <a:t>Code:</a:t>
                      </a:r>
                      <a:r>
                        <a:rPr lang="en-US" sz="2000" dirty="0">
                          <a:solidFill>
                            <a:srgbClr val="000000"/>
                          </a:solidFill>
                          <a:latin typeface="Arial"/>
                          <a:ea typeface="Arial"/>
                          <a:cs typeface="Arial"/>
                          <a:sym typeface="Arial"/>
                        </a:rPr>
                        <a:t> IL13-Bảo </a:t>
                      </a:r>
                      <a:r>
                        <a:rPr lang="en-US" sz="2000" dirty="0" err="1">
                          <a:solidFill>
                            <a:srgbClr val="000000"/>
                          </a:solidFill>
                          <a:latin typeface="Arial"/>
                          <a:ea typeface="Arial"/>
                          <a:cs typeface="Arial"/>
                          <a:sym typeface="Arial"/>
                        </a:rPr>
                        <a:t>hiểm</a:t>
                      </a:r>
                      <a:endParaRPr lang="en-US" sz="1100" dirty="0"/>
                    </a:p>
                    <a:p>
                      <a:pPr algn="l">
                        <a:lnSpc>
                          <a:spcPts val="2400"/>
                        </a:lnSpc>
                      </a:pPr>
                      <a:r>
                        <a:rPr lang="en-US" sz="2000" b="1" dirty="0">
                          <a:solidFill>
                            <a:srgbClr val="000000"/>
                          </a:solidFill>
                          <a:latin typeface="Arial Bold"/>
                          <a:ea typeface="Arial Bold"/>
                          <a:cs typeface="Arial Bold"/>
                          <a:sym typeface="Arial Bold"/>
                        </a:rPr>
                        <a:t>Sub: </a:t>
                      </a:r>
                      <a:r>
                        <a:rPr lang="en-US" sz="2000" dirty="0">
                          <a:solidFill>
                            <a:srgbClr val="000000"/>
                          </a:solidFill>
                          <a:latin typeface="Arial"/>
                          <a:ea typeface="Arial"/>
                          <a:cs typeface="Arial"/>
                          <a:sym typeface="Arial"/>
                        </a:rPr>
                        <a:t>IL13.02-Thủ </a:t>
                      </a:r>
                      <a:r>
                        <a:rPr lang="en-US" sz="2000" dirty="0" err="1">
                          <a:solidFill>
                            <a:srgbClr val="000000"/>
                          </a:solidFill>
                          <a:latin typeface="Arial"/>
                          <a:ea typeface="Arial"/>
                          <a:cs typeface="Arial"/>
                          <a:sym typeface="Arial"/>
                        </a:rPr>
                        <a:t>tục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bồi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thường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hiểm</a:t>
                      </a:r>
                      <a:endParaRPr lang="en-US" sz="2000" dirty="0">
                        <a:solidFill>
                          <a:srgbClr val="000000"/>
                        </a:solidFill>
                        <a:latin typeface="Arial"/>
                        <a:ea typeface="Arial"/>
                        <a:cs typeface="Arial"/>
                        <a:sym typeface="Arial"/>
                      </a:endParaRPr>
                    </a:p>
                    <a:p>
                      <a:pPr algn="l">
                        <a:lnSpc>
                          <a:spcPts val="2400"/>
                        </a:lnSpc>
                      </a:pPr>
                      <a:r>
                        <a:rPr lang="en-US" sz="2000" b="1" dirty="0">
                          <a:solidFill>
                            <a:srgbClr val="000000"/>
                          </a:solidFill>
                          <a:latin typeface="Arial Bold"/>
                          <a:ea typeface="Arial Bold"/>
                          <a:cs typeface="Arial Bold"/>
                          <a:sym typeface="Arial Bold"/>
                        </a:rPr>
                        <a:t>Remark:</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nội</a:t>
                      </a:r>
                      <a:r>
                        <a:rPr lang="en-US" sz="2000" dirty="0">
                          <a:solidFill>
                            <a:srgbClr val="000000"/>
                          </a:solidFill>
                          <a:latin typeface="Arial"/>
                          <a:ea typeface="Arial"/>
                          <a:cs typeface="Arial"/>
                          <a:sym typeface="Arial"/>
                        </a:rPr>
                        <a:t> dung </a:t>
                      </a:r>
                      <a:r>
                        <a:rPr lang="en-US" sz="2000" dirty="0" err="1">
                          <a:solidFill>
                            <a:srgbClr val="000000"/>
                          </a:solidFill>
                          <a:latin typeface="Arial"/>
                          <a:ea typeface="Arial"/>
                          <a:cs typeface="Arial"/>
                          <a:sym typeface="Arial"/>
                        </a:rPr>
                        <a:t>hỗ</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trợ</a:t>
                      </a:r>
                      <a:endParaRPr lang="en-US" sz="2000" dirty="0">
                        <a:solidFill>
                          <a:srgbClr val="000000"/>
                        </a:solidFill>
                        <a:latin typeface="Arial"/>
                        <a:ea typeface="Arial"/>
                        <a:cs typeface="Arial"/>
                        <a:sym typeface="Arial"/>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30249" y="9680162"/>
            <a:ext cx="2421922" cy="346996"/>
            <a:chOff x="0" y="0"/>
            <a:chExt cx="3229229" cy="462661"/>
          </a:xfrm>
        </p:grpSpPr>
        <p:sp>
          <p:nvSpPr>
            <p:cNvPr id="3" name="Freeform 3"/>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145" r="-145"/>
              </a:stretch>
            </a:blipFill>
          </p:spPr>
        </p:sp>
      </p:grpSp>
      <p:sp>
        <p:nvSpPr>
          <p:cNvPr id="4" name="Freeform 4"/>
          <p:cNvSpPr/>
          <p:nvPr/>
        </p:nvSpPr>
        <p:spPr>
          <a:xfrm>
            <a:off x="-710946" y="213141"/>
            <a:ext cx="19709892" cy="1885074"/>
          </a:xfrm>
          <a:custGeom>
            <a:avLst/>
            <a:gdLst/>
            <a:ahLst/>
            <a:cxnLst/>
            <a:rect l="l" t="t" r="r" b="b"/>
            <a:pathLst>
              <a:path w="19709892" h="1885074">
                <a:moveTo>
                  <a:pt x="0" y="0"/>
                </a:moveTo>
                <a:lnTo>
                  <a:pt x="19709892" y="0"/>
                </a:lnTo>
                <a:lnTo>
                  <a:pt x="19709892" y="1885074"/>
                </a:lnTo>
                <a:lnTo>
                  <a:pt x="0" y="1885074"/>
                </a:lnTo>
                <a:lnTo>
                  <a:pt x="0" y="0"/>
                </a:lnTo>
                <a:close/>
              </a:path>
            </a:pathLst>
          </a:custGeom>
          <a:blipFill>
            <a:blip r:embed="rId3">
              <a:extLst>
                <a:ext uri="{96DAC541-7B7A-43D3-8B79-37D633B846F1}">
                  <asvg:svgBlip xmlns:asvg="http://schemas.microsoft.com/office/drawing/2016/SVG/main" r:embed="rId4"/>
                </a:ext>
              </a:extLst>
            </a:blip>
            <a:stretch>
              <a:fillRect t="-6" b="-5"/>
            </a:stretch>
          </a:blipFill>
        </p:spPr>
      </p:sp>
      <p:sp>
        <p:nvSpPr>
          <p:cNvPr id="5" name="TextBox 5"/>
          <p:cNvSpPr txBox="1"/>
          <p:nvPr/>
        </p:nvSpPr>
        <p:spPr>
          <a:xfrm>
            <a:off x="6077749" y="500686"/>
            <a:ext cx="6546294" cy="1167108"/>
          </a:xfrm>
          <a:prstGeom prst="rect">
            <a:avLst/>
          </a:prstGeom>
        </p:spPr>
        <p:txBody>
          <a:bodyPr lIns="0" tIns="0" rIns="0" bIns="0" rtlCol="0" anchor="t">
            <a:spAutoFit/>
          </a:bodyPr>
          <a:lstStyle/>
          <a:p>
            <a:pPr algn="ctr">
              <a:lnSpc>
                <a:spcPts val="8117"/>
              </a:lnSpc>
            </a:pPr>
            <a:r>
              <a:rPr lang="en-US" sz="5798" b="1">
                <a:solidFill>
                  <a:srgbClr val="FFFFFF"/>
                </a:solidFill>
                <a:latin typeface="Arial Bold"/>
                <a:ea typeface="Arial Bold"/>
                <a:cs typeface="Arial Bold"/>
                <a:sym typeface="Arial Bold"/>
              </a:rPr>
              <a:t>BẢO HIỂM BANCA</a:t>
            </a:r>
          </a:p>
        </p:txBody>
      </p:sp>
      <p:sp>
        <p:nvSpPr>
          <p:cNvPr id="6" name="TextBox 6"/>
          <p:cNvSpPr txBox="1"/>
          <p:nvPr/>
        </p:nvSpPr>
        <p:spPr>
          <a:xfrm>
            <a:off x="3512982" y="2857897"/>
            <a:ext cx="11262036" cy="3632175"/>
          </a:xfrm>
          <a:prstGeom prst="rect">
            <a:avLst/>
          </a:prstGeom>
        </p:spPr>
        <p:txBody>
          <a:bodyPr lIns="0" tIns="0" rIns="0" bIns="0" rtlCol="0" anchor="t">
            <a:spAutoFit/>
          </a:bodyPr>
          <a:lstStyle/>
          <a:p>
            <a:pPr marL="928168" lvl="3" indent="-232042" algn="l">
              <a:lnSpc>
                <a:spcPts val="5779"/>
              </a:lnSpc>
              <a:buFont typeface="Arial"/>
              <a:buChar char="￭"/>
            </a:pPr>
            <a:r>
              <a:rPr lang="en-US" sz="3399" b="1" dirty="0">
                <a:solidFill>
                  <a:srgbClr val="00974E"/>
                </a:solidFill>
                <a:latin typeface="Arial Bold"/>
                <a:ea typeface="Arial Bold"/>
                <a:cs typeface="Arial Bold"/>
                <a:sym typeface="Arial Bold"/>
              </a:rPr>
              <a:t>SẢN PHẨM/ ĐỐI TÁC</a:t>
            </a:r>
          </a:p>
          <a:p>
            <a:pPr marL="928168" lvl="3" indent="-232042" algn="l">
              <a:lnSpc>
                <a:spcPts val="5779"/>
              </a:lnSpc>
              <a:buFont typeface="Arial"/>
              <a:buChar char="￭"/>
            </a:pPr>
            <a:r>
              <a:rPr lang="en-US" sz="3399" b="1" dirty="0">
                <a:solidFill>
                  <a:srgbClr val="00974E"/>
                </a:solidFill>
                <a:latin typeface="Arial Bold"/>
                <a:ea typeface="Arial Bold"/>
                <a:cs typeface="Arial Bold"/>
                <a:sym typeface="Arial Bold"/>
              </a:rPr>
              <a:t>ĐĂNG KÝ MUA BH/ TÁI TỤC BH</a:t>
            </a:r>
          </a:p>
          <a:p>
            <a:pPr marL="928096" lvl="3" indent="-232024" algn="l">
              <a:lnSpc>
                <a:spcPts val="5778"/>
              </a:lnSpc>
              <a:buFont typeface="Arial"/>
              <a:buChar char="￭"/>
            </a:pPr>
            <a:r>
              <a:rPr lang="en-US" sz="3399" b="1" dirty="0">
                <a:solidFill>
                  <a:srgbClr val="00974E"/>
                </a:solidFill>
                <a:latin typeface="Arial Bold"/>
                <a:ea typeface="Arial Bold"/>
                <a:cs typeface="Arial Bold"/>
                <a:sym typeface="Arial Bold"/>
              </a:rPr>
              <a:t>QUY TRÌNH ĐĂNG KÝ BH</a:t>
            </a:r>
          </a:p>
          <a:p>
            <a:pPr marL="928096" lvl="3" indent="-232024" algn="l">
              <a:lnSpc>
                <a:spcPts val="5778"/>
              </a:lnSpc>
              <a:buFont typeface="Arial"/>
              <a:buChar char="￭"/>
            </a:pPr>
            <a:r>
              <a:rPr lang="en-US" sz="3399" b="1" dirty="0">
                <a:solidFill>
                  <a:srgbClr val="00974E"/>
                </a:solidFill>
                <a:latin typeface="Arial Bold"/>
                <a:ea typeface="Arial Bold"/>
                <a:cs typeface="Arial Bold"/>
                <a:sym typeface="Arial Bold"/>
              </a:rPr>
              <a:t>THẮC MẮC/ YÊU CẦU LIÊN QUAN ĐẾN HĐBH </a:t>
            </a:r>
          </a:p>
          <a:p>
            <a:pPr marL="928168" lvl="3" indent="-232042" algn="l">
              <a:lnSpc>
                <a:spcPts val="5779"/>
              </a:lnSpc>
              <a:buFont typeface="Arial"/>
              <a:buChar char="￭"/>
            </a:pPr>
            <a:r>
              <a:rPr lang="en-US" sz="3399" b="1" dirty="0">
                <a:solidFill>
                  <a:srgbClr val="00974E"/>
                </a:solidFill>
                <a:latin typeface="Arial Bold"/>
                <a:ea typeface="Arial Bold"/>
                <a:cs typeface="Arial Bold"/>
                <a:sym typeface="Arial Bold"/>
              </a:rPr>
              <a:t>PHẢN ÁNH/ KHIẾU NẠI LIÊN QUAN HĐBH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380283445"/>
              </p:ext>
            </p:extLst>
          </p:nvPr>
        </p:nvGraphicFramePr>
        <p:xfrm>
          <a:off x="165666" y="1095313"/>
          <a:ext cx="17956668" cy="8850630"/>
        </p:xfrm>
        <a:graphic>
          <a:graphicData uri="http://schemas.openxmlformats.org/drawingml/2006/table">
            <a:tbl>
              <a:tblPr/>
              <a:tblGrid>
                <a:gridCol w="1756309">
                  <a:extLst>
                    <a:ext uri="{9D8B030D-6E8A-4147-A177-3AD203B41FA5}">
                      <a16:colId xmlns:a16="http://schemas.microsoft.com/office/drawing/2014/main" val="20000"/>
                    </a:ext>
                  </a:extLst>
                </a:gridCol>
                <a:gridCol w="10178298">
                  <a:extLst>
                    <a:ext uri="{9D8B030D-6E8A-4147-A177-3AD203B41FA5}">
                      <a16:colId xmlns:a16="http://schemas.microsoft.com/office/drawing/2014/main" val="20001"/>
                    </a:ext>
                  </a:extLst>
                </a:gridCol>
                <a:gridCol w="2490885">
                  <a:extLst>
                    <a:ext uri="{9D8B030D-6E8A-4147-A177-3AD203B41FA5}">
                      <a16:colId xmlns:a16="http://schemas.microsoft.com/office/drawing/2014/main" val="20002"/>
                    </a:ext>
                  </a:extLst>
                </a:gridCol>
                <a:gridCol w="3531176">
                  <a:extLst>
                    <a:ext uri="{9D8B030D-6E8A-4147-A177-3AD203B41FA5}">
                      <a16:colId xmlns:a16="http://schemas.microsoft.com/office/drawing/2014/main" val="20003"/>
                    </a:ext>
                  </a:extLst>
                </a:gridCol>
              </a:tblGrid>
              <a:tr h="961898">
                <a:tc>
                  <a:txBody>
                    <a:bodyPr/>
                    <a:lstStyle/>
                    <a:p>
                      <a:pPr algn="ctr">
                        <a:lnSpc>
                          <a:spcPts val="1000"/>
                        </a:lnSpc>
                        <a:defRPr/>
                      </a:pPr>
                      <a:r>
                        <a:rPr lang="en-US" sz="2000" b="1" spc="12">
                          <a:solidFill>
                            <a:srgbClr val="FFFFFF"/>
                          </a:solidFill>
                          <a:latin typeface="Arial Bold"/>
                          <a:ea typeface="Arial Bold"/>
                          <a:cs typeface="Arial Bold"/>
                          <a:sym typeface="Arial Bold"/>
                        </a:rPr>
                        <a:t>ĐỐI TÁC</a:t>
                      </a:r>
                      <a:endParaRPr lang="en-US" sz="1100"/>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1000"/>
                        </a:lnSpc>
                        <a:defRPr/>
                      </a:pPr>
                      <a:r>
                        <a:rPr lang="en-US" sz="2000" b="1" spc="12">
                          <a:solidFill>
                            <a:srgbClr val="FFFFFF"/>
                          </a:solidFill>
                          <a:latin typeface="Arial Bold"/>
                          <a:ea typeface="Arial Bold"/>
                          <a:cs typeface="Arial Bold"/>
                          <a:sym typeface="Arial Bold"/>
                        </a:rPr>
                        <a:t>SẢN PHẨM</a:t>
                      </a:r>
                      <a:endParaRPr lang="en-US" sz="1100"/>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1000"/>
                        </a:lnSpc>
                        <a:defRPr/>
                      </a:pPr>
                      <a:r>
                        <a:rPr lang="en-US" sz="2000" b="1" spc="12">
                          <a:solidFill>
                            <a:srgbClr val="FFFFFF"/>
                          </a:solidFill>
                          <a:latin typeface="Arial Bold"/>
                          <a:ea typeface="Arial Bold"/>
                          <a:cs typeface="Arial Bold"/>
                          <a:sym typeface="Arial Bold"/>
                        </a:rPr>
                        <a:t>THÔNG TIN</a:t>
                      </a:r>
                      <a:endParaRPr lang="en-US" sz="1100"/>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1000"/>
                        </a:lnSpc>
                        <a:defRPr/>
                      </a:pPr>
                      <a:r>
                        <a:rPr lang="en-US" sz="2000" b="1" spc="12">
                          <a:solidFill>
                            <a:srgbClr val="FFFFFF"/>
                          </a:solidFill>
                          <a:latin typeface="Arial Bold"/>
                          <a:ea typeface="Arial Bold"/>
                          <a:cs typeface="Arial Bold"/>
                          <a:sym typeface="Arial Bold"/>
                        </a:rPr>
                        <a:t>CODE/ REMARK</a:t>
                      </a:r>
                      <a:endParaRPr lang="en-US" sz="1100"/>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732829">
                <a:tc rowSpan="6">
                  <a:txBody>
                    <a:bodyPr/>
                    <a:lstStyle/>
                    <a:p>
                      <a:pPr algn="ctr">
                        <a:lnSpc>
                          <a:spcPts val="1000"/>
                        </a:lnSpc>
                        <a:defRPr/>
                      </a:pPr>
                      <a:r>
                        <a:rPr lang="en-US" sz="2000" b="1">
                          <a:solidFill>
                            <a:srgbClr val="000000"/>
                          </a:solidFill>
                          <a:latin typeface="Arial Bold"/>
                          <a:ea typeface="Arial Bold"/>
                          <a:cs typeface="Arial Bold"/>
                          <a:sym typeface="Arial Bold"/>
                        </a:rPr>
                        <a:t>BMI</a:t>
                      </a:r>
                      <a:endParaRPr lang="en-US" sz="1100"/>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1000"/>
                        </a:lnSpc>
                        <a:defRPr/>
                      </a:pPr>
                      <a:r>
                        <a:rPr lang="en-US" sz="2000">
                          <a:solidFill>
                            <a:srgbClr val="000000"/>
                          </a:solidFill>
                          <a:latin typeface="Arial"/>
                          <a:ea typeface="Arial"/>
                          <a:cs typeface="Arial"/>
                          <a:sym typeface="Arial"/>
                        </a:rPr>
                        <a:t>Bảo hiểm sức khỏe cá nhân (Single Health)</a:t>
                      </a:r>
                      <a:endParaRPr lang="en-US" sz="1100"/>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0" algn="ctr" defTabSz="914400" rtl="0" eaLnBrk="1" latinLnBrk="0" hangingPunct="1">
                        <a:lnSpc>
                          <a:spcPts val="1000"/>
                        </a:lnSpc>
                        <a:defRPr/>
                      </a:pPr>
                      <a:r>
                        <a:rPr lang="en-US" sz="2000" b="1" i="1" u="sng" kern="1200" dirty="0" err="1">
                          <a:solidFill>
                            <a:srgbClr val="65B444"/>
                          </a:solidFill>
                          <a:latin typeface="Arial Bold Italics"/>
                          <a:ea typeface="+mn-ea"/>
                          <a:cs typeface="Arial Bold Italics"/>
                          <a:sym typeface="Arial Bold Italics"/>
                          <a:hlinkClick r:id="rId2"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mn-ea"/>
                          <a:cs typeface="Arial Bold Italics"/>
                          <a:sym typeface="Arial Bold Italics"/>
                          <a:hlinkClick r:id="rId2"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mn-ea"/>
                          <a:cs typeface="Arial Bold Italics"/>
                          <a:sym typeface="Arial Bold Italics"/>
                          <a:hlinkClick r:id="rId2"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mn-ea"/>
                          <a:cs typeface="Arial Bold Italics"/>
                          <a:sym typeface="Arial Bold Italics"/>
                          <a:hlinkClick r:id="rId2"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mn-ea"/>
                          <a:cs typeface="Arial Bold Italics"/>
                          <a:sym typeface="Arial Bold Italics"/>
                          <a:hlinkClick r:id="rId2" action="ppaction://hlinkfile">
                            <a:extLst>
                              <a:ext uri="{A12FA001-AC4F-418D-AE19-62706E023703}">
                                <ahyp:hlinkClr xmlns:ahyp="http://schemas.microsoft.com/office/drawing/2018/hyperlinkcolor" val="tx"/>
                              </a:ext>
                            </a:extLst>
                          </a:hlinkClick>
                        </a:rPr>
                        <a:t>đây</a:t>
                      </a:r>
                      <a:endParaRPr lang="en-US" sz="2000" b="1" i="1" u="sng" kern="1200" dirty="0">
                        <a:solidFill>
                          <a:srgbClr val="65B444"/>
                        </a:solidFill>
                        <a:latin typeface="Arial Bold Italics"/>
                        <a:ea typeface="+mn-ea"/>
                        <a:cs typeface="Arial Bold Italics"/>
                      </a:endParaRP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rowSpan="12">
                  <a:txBody>
                    <a:bodyPr/>
                    <a:lstStyle/>
                    <a:p>
                      <a:pPr algn="l">
                        <a:lnSpc>
                          <a:spcPts val="3160"/>
                        </a:lnSpc>
                        <a:defRPr/>
                      </a:pPr>
                      <a:r>
                        <a:rPr lang="en-US" sz="2000" b="1" dirty="0">
                          <a:solidFill>
                            <a:srgbClr val="000000"/>
                          </a:solidFill>
                          <a:latin typeface="Arial Bold"/>
                          <a:ea typeface="Arial Bold"/>
                          <a:cs typeface="Arial Bold"/>
                          <a:sym typeface="Arial Bold"/>
                        </a:rPr>
                        <a:t>Code:</a:t>
                      </a:r>
                      <a:r>
                        <a:rPr lang="en-US" sz="2000" dirty="0">
                          <a:solidFill>
                            <a:srgbClr val="000000"/>
                          </a:solidFill>
                          <a:latin typeface="Arial"/>
                          <a:ea typeface="Arial"/>
                          <a:cs typeface="Arial"/>
                          <a:sym typeface="Arial"/>
                        </a:rPr>
                        <a:t> IB01-Bảo </a:t>
                      </a:r>
                      <a:r>
                        <a:rPr lang="en-US" sz="2000" dirty="0" err="1">
                          <a:solidFill>
                            <a:srgbClr val="000000"/>
                          </a:solidFill>
                          <a:latin typeface="Arial"/>
                          <a:ea typeface="Arial"/>
                          <a:cs typeface="Arial"/>
                          <a:sym typeface="Arial"/>
                        </a:rPr>
                        <a:t>hiểm</a:t>
                      </a:r>
                      <a:r>
                        <a:rPr lang="en-US" sz="2000" dirty="0">
                          <a:solidFill>
                            <a:srgbClr val="000000"/>
                          </a:solidFill>
                          <a:latin typeface="Arial"/>
                          <a:ea typeface="Arial"/>
                          <a:cs typeface="Arial"/>
                          <a:sym typeface="Arial"/>
                        </a:rPr>
                        <a:t> Banca</a:t>
                      </a:r>
                      <a:endParaRPr lang="en-US" sz="1100" dirty="0"/>
                    </a:p>
                    <a:p>
                      <a:pPr algn="l">
                        <a:lnSpc>
                          <a:spcPts val="3160"/>
                        </a:lnSpc>
                      </a:pPr>
                      <a:r>
                        <a:rPr lang="en-US" sz="2000" b="1" dirty="0">
                          <a:solidFill>
                            <a:srgbClr val="000000"/>
                          </a:solidFill>
                          <a:latin typeface="Arial Bold"/>
                          <a:ea typeface="Arial Bold"/>
                          <a:cs typeface="Arial Bold"/>
                          <a:sym typeface="Arial Bold"/>
                        </a:rPr>
                        <a:t>Sub:</a:t>
                      </a:r>
                      <a:r>
                        <a:rPr lang="en-US" sz="2000" dirty="0">
                          <a:solidFill>
                            <a:srgbClr val="000000"/>
                          </a:solidFill>
                          <a:latin typeface="Arial"/>
                          <a:ea typeface="Arial"/>
                          <a:cs typeface="Arial"/>
                          <a:sym typeface="Arial"/>
                        </a:rPr>
                        <a:t> IB01.01-Sản </a:t>
                      </a:r>
                      <a:r>
                        <a:rPr lang="en-US" sz="2000" dirty="0" err="1">
                          <a:solidFill>
                            <a:srgbClr val="000000"/>
                          </a:solidFill>
                          <a:latin typeface="Arial"/>
                          <a:ea typeface="Arial"/>
                          <a:cs typeface="Arial"/>
                          <a:sym typeface="Arial"/>
                        </a:rPr>
                        <a:t>phẩm</a:t>
                      </a:r>
                      <a:r>
                        <a:rPr lang="en-US" sz="2000" dirty="0">
                          <a:solidFill>
                            <a:srgbClr val="000000"/>
                          </a:solidFill>
                          <a:latin typeface="Arial"/>
                          <a:ea typeface="Arial"/>
                          <a:cs typeface="Arial"/>
                          <a:sym typeface="Arial"/>
                        </a:rPr>
                        <a:t> - </a:t>
                      </a:r>
                      <a:r>
                        <a:rPr lang="en-US" sz="2000" dirty="0" err="1">
                          <a:solidFill>
                            <a:srgbClr val="000000"/>
                          </a:solidFill>
                          <a:latin typeface="Arial"/>
                          <a:ea typeface="Arial"/>
                          <a:cs typeface="Arial"/>
                          <a:sym typeface="Arial"/>
                        </a:rPr>
                        <a:t>đối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tác</a:t>
                      </a:r>
                      <a:endParaRPr lang="en-US" sz="2000" dirty="0">
                        <a:solidFill>
                          <a:srgbClr val="000000"/>
                        </a:solidFill>
                        <a:latin typeface="Arial"/>
                        <a:ea typeface="Arial"/>
                        <a:cs typeface="Arial"/>
                        <a:sym typeface="Arial"/>
                      </a:endParaRPr>
                    </a:p>
                    <a:p>
                      <a:pPr algn="l">
                        <a:lnSpc>
                          <a:spcPts val="3160"/>
                        </a:lnSpc>
                      </a:pPr>
                      <a:r>
                        <a:rPr lang="en-US" sz="2000" b="1" dirty="0">
                          <a:solidFill>
                            <a:srgbClr val="000000"/>
                          </a:solidFill>
                          <a:latin typeface="Arial Bold"/>
                          <a:ea typeface="Arial Bold"/>
                          <a:cs typeface="Arial Bold"/>
                          <a:sym typeface="Arial Bold"/>
                        </a:rPr>
                        <a:t>Remark</a:t>
                      </a:r>
                      <a:r>
                        <a:rPr lang="en-US" sz="2000" dirty="0">
                          <a:solidFill>
                            <a:srgbClr val="000000"/>
                          </a:solidFill>
                          <a:latin typeface="Arial"/>
                          <a:ea typeface="Arial"/>
                          <a:cs typeface="Arial"/>
                          <a:sym typeface="Arial"/>
                        </a:rPr>
                        <a:t>: SP BH KH </a:t>
                      </a:r>
                      <a:r>
                        <a:rPr lang="en-US" sz="2000" dirty="0" err="1">
                          <a:solidFill>
                            <a:srgbClr val="000000"/>
                          </a:solidFill>
                          <a:latin typeface="Arial"/>
                          <a:ea typeface="Arial"/>
                          <a:cs typeface="Arial"/>
                          <a:sym typeface="Arial"/>
                        </a:rPr>
                        <a:t>quan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tâm</a:t>
                      </a:r>
                      <a:r>
                        <a:rPr lang="en-US" sz="2000" dirty="0">
                          <a:solidFill>
                            <a:srgbClr val="000000"/>
                          </a:solidFill>
                          <a:latin typeface="Arial"/>
                          <a:ea typeface="Arial"/>
                          <a:cs typeface="Arial"/>
                          <a:sym typeface="Arial"/>
                        </a:rPr>
                        <a:t> - </a:t>
                      </a:r>
                      <a:r>
                        <a:rPr lang="en-US" sz="2000" dirty="0" err="1">
                          <a:solidFill>
                            <a:srgbClr val="000000"/>
                          </a:solidFill>
                          <a:latin typeface="Arial"/>
                          <a:ea typeface="Arial"/>
                          <a:cs typeface="Arial"/>
                          <a:sym typeface="Arial"/>
                        </a:rPr>
                        <a:t>nội</a:t>
                      </a:r>
                      <a:r>
                        <a:rPr lang="en-US" sz="2000" dirty="0">
                          <a:solidFill>
                            <a:srgbClr val="000000"/>
                          </a:solidFill>
                          <a:latin typeface="Arial"/>
                          <a:ea typeface="Arial"/>
                          <a:cs typeface="Arial"/>
                          <a:sym typeface="Arial"/>
                        </a:rPr>
                        <a:t> dung </a:t>
                      </a:r>
                      <a:r>
                        <a:rPr lang="en-US" sz="2000" dirty="0" err="1">
                          <a:solidFill>
                            <a:srgbClr val="000000"/>
                          </a:solidFill>
                          <a:latin typeface="Arial"/>
                          <a:ea typeface="Arial"/>
                          <a:cs typeface="Arial"/>
                          <a:sym typeface="Arial"/>
                        </a:rPr>
                        <a:t>hỗ</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trợ</a:t>
                      </a:r>
                      <a:endParaRPr lang="en-US" sz="2000" dirty="0">
                        <a:solidFill>
                          <a:srgbClr val="000000"/>
                        </a:solidFill>
                        <a:latin typeface="Arial"/>
                        <a:ea typeface="Arial"/>
                        <a:cs typeface="Arial"/>
                        <a:sym typeface="Arial"/>
                      </a:endParaRP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493533">
                <a:tc vMerge="1">
                  <a:txBody>
                    <a:bodyPr/>
                    <a:lstStyle/>
                    <a:p>
                      <a:pPr algn="ctr">
                        <a:lnSpc>
                          <a:spcPts val="1000"/>
                        </a:lnSpc>
                        <a:defRPr/>
                      </a:pPr>
                      <a:r>
                        <a:rPr lang="en-US" sz="2000" b="1">
                          <a:solidFill>
                            <a:srgbClr val="000000"/>
                          </a:solidFill>
                          <a:latin typeface="Arial Bold"/>
                          <a:ea typeface="Arial Bold"/>
                          <a:cs typeface="Arial Bold"/>
                          <a:sym typeface="Arial Bold"/>
                        </a:rPr>
                        <a:t>BMI</a:t>
                      </a:r>
                      <a:endParaRPr lang="en-US" sz="1100"/>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1000"/>
                        </a:lnSpc>
                        <a:defRPr/>
                      </a:pPr>
                      <a:r>
                        <a:rPr lang="en-US" sz="2000">
                          <a:solidFill>
                            <a:srgbClr val="000000"/>
                          </a:solidFill>
                          <a:latin typeface="Arial"/>
                          <a:ea typeface="Arial"/>
                          <a:cs typeface="Arial"/>
                          <a:sym typeface="Arial"/>
                        </a:rPr>
                        <a:t>Bảo hiểm trợ cấp tiền mặt (Hospital Cash)</a:t>
                      </a:r>
                      <a:endParaRPr lang="en-US" sz="1100"/>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1000"/>
                        </a:lnSpc>
                        <a:defRPr/>
                      </a:pPr>
                      <a:r>
                        <a:rPr lang="en-US" sz="2000" b="1" i="1" u="sng" kern="1200" dirty="0" err="1">
                          <a:solidFill>
                            <a:srgbClr val="65B444"/>
                          </a:solidFill>
                          <a:latin typeface="Arial Bold Italics"/>
                          <a:ea typeface="Arial Bold Italics"/>
                          <a:cs typeface="Arial Bold Italics"/>
                          <a:sym typeface="Arial Bold Italics"/>
                          <a:hlinkClick r:id="rId3"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3"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3"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3"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3" action="ppaction://hlinkfile">
                            <a:extLst>
                              <a:ext uri="{A12FA001-AC4F-418D-AE19-62706E023703}">
                                <ahyp:hlinkClr xmlns:ahyp="http://schemas.microsoft.com/office/drawing/2018/hyperlinkcolor" val="tx"/>
                              </a:ext>
                            </a:extLst>
                          </a:hlinkClick>
                        </a:rPr>
                        <a:t>đây</a:t>
                      </a:r>
                      <a:endParaRPr lang="en-US" sz="2000" b="1" i="1" u="sng" kern="1200" dirty="0">
                        <a:solidFill>
                          <a:srgbClr val="65B444"/>
                        </a:solidFill>
                        <a:latin typeface="Arial Bold Italics"/>
                        <a:cs typeface="Arial Bold Italics"/>
                      </a:endParaRP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3160"/>
                        </a:lnSpc>
                        <a:defRPr/>
                      </a:pPr>
                      <a:r>
                        <a:rPr lang="en-US" sz="2000" b="1">
                          <a:solidFill>
                            <a:srgbClr val="000000"/>
                          </a:solidFill>
                          <a:latin typeface="Arial Bold"/>
                          <a:ea typeface="Arial Bold"/>
                          <a:cs typeface="Arial Bold"/>
                          <a:sym typeface="Arial Bold"/>
                        </a:rPr>
                        <a:t>Code:</a:t>
                      </a:r>
                      <a:r>
                        <a:rPr lang="en-US" sz="2000">
                          <a:solidFill>
                            <a:srgbClr val="000000"/>
                          </a:solidFill>
                          <a:latin typeface="Arial"/>
                          <a:ea typeface="Arial"/>
                          <a:cs typeface="Arial"/>
                          <a:sym typeface="Arial"/>
                        </a:rPr>
                        <a:t> IB01-Bảo hiểm Banca</a:t>
                      </a:r>
                      <a:endParaRPr lang="en-US" sz="1100"/>
                    </a:p>
                    <a:p>
                      <a:pPr algn="l">
                        <a:lnSpc>
                          <a:spcPts val="3160"/>
                        </a:lnSpc>
                      </a:pPr>
                      <a:r>
                        <a:rPr lang="en-US" sz="2000" b="1">
                          <a:solidFill>
                            <a:srgbClr val="000000"/>
                          </a:solidFill>
                          <a:latin typeface="Arial Bold"/>
                          <a:ea typeface="Arial Bold"/>
                          <a:cs typeface="Arial Bold"/>
                          <a:sym typeface="Arial Bold"/>
                        </a:rPr>
                        <a:t>Sub:</a:t>
                      </a:r>
                      <a:r>
                        <a:rPr lang="en-US" sz="2000">
                          <a:solidFill>
                            <a:srgbClr val="000000"/>
                          </a:solidFill>
                          <a:latin typeface="Arial"/>
                          <a:ea typeface="Arial"/>
                          <a:cs typeface="Arial"/>
                          <a:sym typeface="Arial"/>
                        </a:rPr>
                        <a:t> IB01.01-Sản phẩm - đối tác</a:t>
                      </a:r>
                    </a:p>
                    <a:p>
                      <a:pPr algn="l">
                        <a:lnSpc>
                          <a:spcPts val="3160"/>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SP BH KH quan tâm - nội dung hỗ trợ</a:t>
                      </a: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r h="493533">
                <a:tc vMerge="1">
                  <a:txBody>
                    <a:bodyPr/>
                    <a:lstStyle/>
                    <a:p>
                      <a:pPr algn="ctr">
                        <a:lnSpc>
                          <a:spcPts val="1000"/>
                        </a:lnSpc>
                        <a:defRPr/>
                      </a:pPr>
                      <a:r>
                        <a:rPr lang="en-US" sz="2000" b="1">
                          <a:solidFill>
                            <a:srgbClr val="000000"/>
                          </a:solidFill>
                          <a:latin typeface="Arial Bold"/>
                          <a:ea typeface="Arial Bold"/>
                          <a:cs typeface="Arial Bold"/>
                          <a:sym typeface="Arial Bold"/>
                        </a:rPr>
                        <a:t>BMI</a:t>
                      </a:r>
                      <a:endParaRPr lang="en-US" sz="1100"/>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1000"/>
                        </a:lnSpc>
                        <a:defRPr/>
                      </a:pPr>
                      <a:r>
                        <a:rPr lang="en-US" sz="2000">
                          <a:solidFill>
                            <a:srgbClr val="000000"/>
                          </a:solidFill>
                          <a:latin typeface="Arial"/>
                          <a:ea typeface="Arial"/>
                          <a:cs typeface="Arial"/>
                          <a:sym typeface="Arial"/>
                        </a:rPr>
                        <a:t>Bảo hiểm nội trú và phẫu thuật (Inpatient and surgery Insurance)</a:t>
                      </a:r>
                      <a:endParaRPr lang="en-US" sz="1100"/>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1000"/>
                        </a:lnSpc>
                        <a:defRPr/>
                      </a:pPr>
                      <a:r>
                        <a:rPr lang="en-US" sz="2000" b="1" i="1" u="sng" kern="1200" dirty="0" err="1">
                          <a:solidFill>
                            <a:srgbClr val="65B444"/>
                          </a:solidFill>
                          <a:latin typeface="Arial Bold Italics"/>
                          <a:ea typeface="Arial Bold Italics"/>
                          <a:cs typeface="Arial Bold Italics"/>
                          <a:sym typeface="Arial Bold Italics"/>
                          <a:hlinkClick r:id="rId4"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4"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4"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4"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4" action="ppaction://hlinkfile">
                            <a:extLst>
                              <a:ext uri="{A12FA001-AC4F-418D-AE19-62706E023703}">
                                <ahyp:hlinkClr xmlns:ahyp="http://schemas.microsoft.com/office/drawing/2018/hyperlinkcolor" val="tx"/>
                              </a:ext>
                            </a:extLst>
                          </a:hlinkClick>
                        </a:rPr>
                        <a:t>đây</a:t>
                      </a:r>
                      <a:endParaRPr lang="en-US" sz="2000" b="1" i="1" u="sng" kern="1200" dirty="0">
                        <a:solidFill>
                          <a:srgbClr val="65B444"/>
                        </a:solidFill>
                        <a:latin typeface="Arial Bold Italics"/>
                        <a:cs typeface="Arial Bold Italics"/>
                      </a:endParaRP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3160"/>
                        </a:lnSpc>
                        <a:defRPr/>
                      </a:pPr>
                      <a:r>
                        <a:rPr lang="en-US" sz="2000" b="1">
                          <a:solidFill>
                            <a:srgbClr val="000000"/>
                          </a:solidFill>
                          <a:latin typeface="Arial Bold"/>
                          <a:ea typeface="Arial Bold"/>
                          <a:cs typeface="Arial Bold"/>
                          <a:sym typeface="Arial Bold"/>
                        </a:rPr>
                        <a:t>Code:</a:t>
                      </a:r>
                      <a:r>
                        <a:rPr lang="en-US" sz="2000">
                          <a:solidFill>
                            <a:srgbClr val="000000"/>
                          </a:solidFill>
                          <a:latin typeface="Arial"/>
                          <a:ea typeface="Arial"/>
                          <a:cs typeface="Arial"/>
                          <a:sym typeface="Arial"/>
                        </a:rPr>
                        <a:t> IB01-Bảo hiểm Banca</a:t>
                      </a:r>
                      <a:endParaRPr lang="en-US" sz="1100"/>
                    </a:p>
                    <a:p>
                      <a:pPr algn="l">
                        <a:lnSpc>
                          <a:spcPts val="3160"/>
                        </a:lnSpc>
                      </a:pPr>
                      <a:r>
                        <a:rPr lang="en-US" sz="2000" b="1">
                          <a:solidFill>
                            <a:srgbClr val="000000"/>
                          </a:solidFill>
                          <a:latin typeface="Arial Bold"/>
                          <a:ea typeface="Arial Bold"/>
                          <a:cs typeface="Arial Bold"/>
                          <a:sym typeface="Arial Bold"/>
                        </a:rPr>
                        <a:t>Sub:</a:t>
                      </a:r>
                      <a:r>
                        <a:rPr lang="en-US" sz="2000">
                          <a:solidFill>
                            <a:srgbClr val="000000"/>
                          </a:solidFill>
                          <a:latin typeface="Arial"/>
                          <a:ea typeface="Arial"/>
                          <a:cs typeface="Arial"/>
                          <a:sym typeface="Arial"/>
                        </a:rPr>
                        <a:t> IB01.01-Sản phẩm - đối tác</a:t>
                      </a:r>
                    </a:p>
                    <a:p>
                      <a:pPr algn="l">
                        <a:lnSpc>
                          <a:spcPts val="3160"/>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SP BH KH quan tâm - nội dung hỗ trợ</a:t>
                      </a: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3"/>
                  </a:ext>
                </a:extLst>
              </a:tr>
              <a:tr h="493533">
                <a:tc vMerge="1">
                  <a:txBody>
                    <a:bodyPr/>
                    <a:lstStyle/>
                    <a:p>
                      <a:pPr algn="ctr">
                        <a:lnSpc>
                          <a:spcPts val="1000"/>
                        </a:lnSpc>
                        <a:defRPr/>
                      </a:pPr>
                      <a:r>
                        <a:rPr lang="en-US" sz="2000" b="1">
                          <a:solidFill>
                            <a:srgbClr val="000000"/>
                          </a:solidFill>
                          <a:latin typeface="Arial Bold"/>
                          <a:ea typeface="Arial Bold"/>
                          <a:cs typeface="Arial Bold"/>
                          <a:sym typeface="Arial Bold"/>
                        </a:rPr>
                        <a:t>BMI</a:t>
                      </a:r>
                      <a:endParaRPr lang="en-US" sz="1100"/>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1000"/>
                        </a:lnSpc>
                        <a:defRPr/>
                      </a:pPr>
                      <a:r>
                        <a:rPr lang="en-US" sz="2000">
                          <a:solidFill>
                            <a:srgbClr val="000000"/>
                          </a:solidFill>
                          <a:latin typeface="Arial"/>
                          <a:ea typeface="Arial"/>
                          <a:cs typeface="Arial"/>
                          <a:sym typeface="Arial"/>
                        </a:rPr>
                        <a:t>Bảo hiểm tai nạn hộ sử dụng điện (Household Electric Accident Insurance)</a:t>
                      </a:r>
                      <a:endParaRPr lang="en-US" sz="1100"/>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1000"/>
                        </a:lnSpc>
                        <a:defRPr/>
                      </a:pPr>
                      <a:r>
                        <a:rPr lang="en-US" sz="2000" b="1" i="1" u="sng" kern="1200" dirty="0" err="1">
                          <a:solidFill>
                            <a:srgbClr val="65B444"/>
                          </a:solidFill>
                          <a:latin typeface="Arial Bold Italics"/>
                          <a:ea typeface="Arial Bold Italics"/>
                          <a:cs typeface="Arial Bold Italics"/>
                          <a:sym typeface="Arial Bold Italics"/>
                          <a:hlinkClick r:id="rId5"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5"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5"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5"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5" action="ppaction://hlinkfile">
                            <a:extLst>
                              <a:ext uri="{A12FA001-AC4F-418D-AE19-62706E023703}">
                                <ahyp:hlinkClr xmlns:ahyp="http://schemas.microsoft.com/office/drawing/2018/hyperlinkcolor" val="tx"/>
                              </a:ext>
                            </a:extLst>
                          </a:hlinkClick>
                        </a:rPr>
                        <a:t>đây</a:t>
                      </a:r>
                      <a:endParaRPr lang="en-US" sz="2000" b="1" i="1" u="sng" kern="1200" dirty="0">
                        <a:solidFill>
                          <a:srgbClr val="65B444"/>
                        </a:solidFill>
                        <a:latin typeface="Arial Bold Italics"/>
                        <a:cs typeface="Arial Bold Italics"/>
                      </a:endParaRP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3160"/>
                        </a:lnSpc>
                        <a:defRPr/>
                      </a:pPr>
                      <a:r>
                        <a:rPr lang="en-US" sz="2000" b="1">
                          <a:solidFill>
                            <a:srgbClr val="000000"/>
                          </a:solidFill>
                          <a:latin typeface="Arial Bold"/>
                          <a:ea typeface="Arial Bold"/>
                          <a:cs typeface="Arial Bold"/>
                          <a:sym typeface="Arial Bold"/>
                        </a:rPr>
                        <a:t>Code:</a:t>
                      </a:r>
                      <a:r>
                        <a:rPr lang="en-US" sz="2000">
                          <a:solidFill>
                            <a:srgbClr val="000000"/>
                          </a:solidFill>
                          <a:latin typeface="Arial"/>
                          <a:ea typeface="Arial"/>
                          <a:cs typeface="Arial"/>
                          <a:sym typeface="Arial"/>
                        </a:rPr>
                        <a:t> IB01-Bảo hiểm Banca</a:t>
                      </a:r>
                      <a:endParaRPr lang="en-US" sz="1100"/>
                    </a:p>
                    <a:p>
                      <a:pPr algn="l">
                        <a:lnSpc>
                          <a:spcPts val="3160"/>
                        </a:lnSpc>
                      </a:pPr>
                      <a:r>
                        <a:rPr lang="en-US" sz="2000" b="1">
                          <a:solidFill>
                            <a:srgbClr val="000000"/>
                          </a:solidFill>
                          <a:latin typeface="Arial Bold"/>
                          <a:ea typeface="Arial Bold"/>
                          <a:cs typeface="Arial Bold"/>
                          <a:sym typeface="Arial Bold"/>
                        </a:rPr>
                        <a:t>Sub:</a:t>
                      </a:r>
                      <a:r>
                        <a:rPr lang="en-US" sz="2000">
                          <a:solidFill>
                            <a:srgbClr val="000000"/>
                          </a:solidFill>
                          <a:latin typeface="Arial"/>
                          <a:ea typeface="Arial"/>
                          <a:cs typeface="Arial"/>
                          <a:sym typeface="Arial"/>
                        </a:rPr>
                        <a:t> IB01.01-Sản phẩm - đối tác</a:t>
                      </a:r>
                    </a:p>
                    <a:p>
                      <a:pPr algn="l">
                        <a:lnSpc>
                          <a:spcPts val="3160"/>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SP BH KH quan tâm - nội dung hỗ trợ</a:t>
                      </a: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4"/>
                  </a:ext>
                </a:extLst>
              </a:tr>
              <a:tr h="493533">
                <a:tc vMerge="1">
                  <a:txBody>
                    <a:bodyPr/>
                    <a:lstStyle/>
                    <a:p>
                      <a:pPr algn="ctr">
                        <a:lnSpc>
                          <a:spcPts val="1000"/>
                        </a:lnSpc>
                        <a:defRPr/>
                      </a:pPr>
                      <a:r>
                        <a:rPr lang="en-US" sz="2000" b="1">
                          <a:solidFill>
                            <a:srgbClr val="000000"/>
                          </a:solidFill>
                          <a:latin typeface="Arial Bold"/>
                          <a:ea typeface="Arial Bold"/>
                          <a:cs typeface="Arial Bold"/>
                          <a:sym typeface="Arial Bold"/>
                        </a:rPr>
                        <a:t>BMI</a:t>
                      </a:r>
                      <a:endParaRPr lang="en-US" sz="1100"/>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1000"/>
                        </a:lnSpc>
                        <a:defRPr/>
                      </a:pPr>
                      <a:r>
                        <a:rPr lang="en-US" sz="2000">
                          <a:solidFill>
                            <a:srgbClr val="000000"/>
                          </a:solidFill>
                          <a:latin typeface="Arial"/>
                          <a:ea typeface="Arial"/>
                          <a:cs typeface="Arial"/>
                          <a:sym typeface="Arial"/>
                        </a:rPr>
                        <a:t>Bảo hiểm sức khỏe gia đình (Family Health)</a:t>
                      </a:r>
                      <a:endParaRPr lang="en-US" sz="1100"/>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1000"/>
                        </a:lnSpc>
                        <a:defRPr/>
                      </a:pPr>
                      <a:r>
                        <a:rPr lang="en-US" sz="2000" b="1" i="1" u="sng" kern="1200" dirty="0" err="1">
                          <a:solidFill>
                            <a:srgbClr val="65B444"/>
                          </a:solidFill>
                          <a:latin typeface="Arial Bold Italics"/>
                          <a:ea typeface="Arial Bold Italics"/>
                          <a:cs typeface="Arial Bold Italics"/>
                          <a:sym typeface="Arial Bold Italics"/>
                          <a:hlinkClick r:id="rId6"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6"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6"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6"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6" action="ppaction://hlinkfile">
                            <a:extLst>
                              <a:ext uri="{A12FA001-AC4F-418D-AE19-62706E023703}">
                                <ahyp:hlinkClr xmlns:ahyp="http://schemas.microsoft.com/office/drawing/2018/hyperlinkcolor" val="tx"/>
                              </a:ext>
                            </a:extLst>
                          </a:hlinkClick>
                        </a:rPr>
                        <a:t>đây</a:t>
                      </a:r>
                      <a:endParaRPr lang="en-US" sz="2000" b="1" i="1" u="sng" kern="1200" dirty="0">
                        <a:solidFill>
                          <a:srgbClr val="65B444"/>
                        </a:solidFill>
                        <a:latin typeface="Arial Bold Italics"/>
                        <a:cs typeface="Arial Bold Italics"/>
                      </a:endParaRP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3160"/>
                        </a:lnSpc>
                        <a:defRPr/>
                      </a:pPr>
                      <a:r>
                        <a:rPr lang="en-US" sz="2000" b="1">
                          <a:solidFill>
                            <a:srgbClr val="000000"/>
                          </a:solidFill>
                          <a:latin typeface="Arial Bold"/>
                          <a:ea typeface="Arial Bold"/>
                          <a:cs typeface="Arial Bold"/>
                          <a:sym typeface="Arial Bold"/>
                        </a:rPr>
                        <a:t>Code:</a:t>
                      </a:r>
                      <a:r>
                        <a:rPr lang="en-US" sz="2000">
                          <a:solidFill>
                            <a:srgbClr val="000000"/>
                          </a:solidFill>
                          <a:latin typeface="Arial"/>
                          <a:ea typeface="Arial"/>
                          <a:cs typeface="Arial"/>
                          <a:sym typeface="Arial"/>
                        </a:rPr>
                        <a:t> IB01-Bảo hiểm Banca</a:t>
                      </a:r>
                      <a:endParaRPr lang="en-US" sz="1100"/>
                    </a:p>
                    <a:p>
                      <a:pPr algn="l">
                        <a:lnSpc>
                          <a:spcPts val="3160"/>
                        </a:lnSpc>
                      </a:pPr>
                      <a:r>
                        <a:rPr lang="en-US" sz="2000" b="1">
                          <a:solidFill>
                            <a:srgbClr val="000000"/>
                          </a:solidFill>
                          <a:latin typeface="Arial Bold"/>
                          <a:ea typeface="Arial Bold"/>
                          <a:cs typeface="Arial Bold"/>
                          <a:sym typeface="Arial Bold"/>
                        </a:rPr>
                        <a:t>Sub:</a:t>
                      </a:r>
                      <a:r>
                        <a:rPr lang="en-US" sz="2000">
                          <a:solidFill>
                            <a:srgbClr val="000000"/>
                          </a:solidFill>
                          <a:latin typeface="Arial"/>
                          <a:ea typeface="Arial"/>
                          <a:cs typeface="Arial"/>
                          <a:sym typeface="Arial"/>
                        </a:rPr>
                        <a:t> IB01.01-Sản phẩm - đối tác</a:t>
                      </a:r>
                    </a:p>
                    <a:p>
                      <a:pPr algn="l">
                        <a:lnSpc>
                          <a:spcPts val="3160"/>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SP BH KH quan tâm - nội dung hỗ trợ</a:t>
                      </a: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5"/>
                  </a:ext>
                </a:extLst>
              </a:tr>
              <a:tr h="493533">
                <a:tc vMerge="1">
                  <a:txBody>
                    <a:bodyPr/>
                    <a:lstStyle/>
                    <a:p>
                      <a:pPr algn="ctr">
                        <a:lnSpc>
                          <a:spcPts val="1000"/>
                        </a:lnSpc>
                        <a:defRPr/>
                      </a:pPr>
                      <a:r>
                        <a:rPr lang="en-US" sz="2000" b="1">
                          <a:solidFill>
                            <a:srgbClr val="000000"/>
                          </a:solidFill>
                          <a:latin typeface="Arial Bold"/>
                          <a:ea typeface="Arial Bold"/>
                          <a:cs typeface="Arial Bold"/>
                          <a:sym typeface="Arial Bold"/>
                        </a:rPr>
                        <a:t>BMI</a:t>
                      </a:r>
                      <a:endParaRPr lang="en-US" sz="1100"/>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1000"/>
                        </a:lnSpc>
                        <a:defRPr/>
                      </a:pPr>
                      <a:r>
                        <a:rPr lang="en-US" sz="2000">
                          <a:solidFill>
                            <a:srgbClr val="000000"/>
                          </a:solidFill>
                          <a:latin typeface="Arial"/>
                          <a:ea typeface="Arial"/>
                          <a:cs typeface="Arial"/>
                          <a:sym typeface="Arial"/>
                        </a:rPr>
                        <a:t>IZI An tâm tài chính (IZI Billing Protection)</a:t>
                      </a:r>
                      <a:endParaRPr lang="en-US" sz="1100"/>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1000"/>
                        </a:lnSpc>
                        <a:defRPr/>
                      </a:pPr>
                      <a:r>
                        <a:rPr lang="en-US" sz="2000" b="1" i="1" u="sng" kern="1200" dirty="0" err="1">
                          <a:solidFill>
                            <a:srgbClr val="65B444"/>
                          </a:solidFill>
                          <a:latin typeface="Arial Bold Italics"/>
                          <a:ea typeface="Arial Bold Italics"/>
                          <a:cs typeface="Arial Bold Italics"/>
                          <a:sym typeface="Arial Bold Italics"/>
                          <a:hlinkClick r:id="rId7"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7"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7"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7"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7" action="ppaction://hlinkfile">
                            <a:extLst>
                              <a:ext uri="{A12FA001-AC4F-418D-AE19-62706E023703}">
                                <ahyp:hlinkClr xmlns:ahyp="http://schemas.microsoft.com/office/drawing/2018/hyperlinkcolor" val="tx"/>
                              </a:ext>
                            </a:extLst>
                          </a:hlinkClick>
                        </a:rPr>
                        <a:t>đây</a:t>
                      </a:r>
                      <a:endParaRPr lang="en-US" sz="2000" b="1" i="1" u="sng" kern="1200" dirty="0">
                        <a:solidFill>
                          <a:srgbClr val="65B444"/>
                        </a:solidFill>
                        <a:latin typeface="Arial Bold Italics"/>
                        <a:cs typeface="Arial Bold Italics"/>
                      </a:endParaRP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3160"/>
                        </a:lnSpc>
                        <a:defRPr/>
                      </a:pPr>
                      <a:r>
                        <a:rPr lang="en-US" sz="2000" b="1">
                          <a:solidFill>
                            <a:srgbClr val="000000"/>
                          </a:solidFill>
                          <a:latin typeface="Arial Bold"/>
                          <a:ea typeface="Arial Bold"/>
                          <a:cs typeface="Arial Bold"/>
                          <a:sym typeface="Arial Bold"/>
                        </a:rPr>
                        <a:t>Code:</a:t>
                      </a:r>
                      <a:r>
                        <a:rPr lang="en-US" sz="2000">
                          <a:solidFill>
                            <a:srgbClr val="000000"/>
                          </a:solidFill>
                          <a:latin typeface="Arial"/>
                          <a:ea typeface="Arial"/>
                          <a:cs typeface="Arial"/>
                          <a:sym typeface="Arial"/>
                        </a:rPr>
                        <a:t> IB01-Bảo hiểm Banca</a:t>
                      </a:r>
                      <a:endParaRPr lang="en-US" sz="1100"/>
                    </a:p>
                    <a:p>
                      <a:pPr algn="l">
                        <a:lnSpc>
                          <a:spcPts val="3160"/>
                        </a:lnSpc>
                      </a:pPr>
                      <a:r>
                        <a:rPr lang="en-US" sz="2000" b="1">
                          <a:solidFill>
                            <a:srgbClr val="000000"/>
                          </a:solidFill>
                          <a:latin typeface="Arial Bold"/>
                          <a:ea typeface="Arial Bold"/>
                          <a:cs typeface="Arial Bold"/>
                          <a:sym typeface="Arial Bold"/>
                        </a:rPr>
                        <a:t>Sub:</a:t>
                      </a:r>
                      <a:r>
                        <a:rPr lang="en-US" sz="2000">
                          <a:solidFill>
                            <a:srgbClr val="000000"/>
                          </a:solidFill>
                          <a:latin typeface="Arial"/>
                          <a:ea typeface="Arial"/>
                          <a:cs typeface="Arial"/>
                          <a:sym typeface="Arial"/>
                        </a:rPr>
                        <a:t> IB01.01-Sản phẩm - đối tác</a:t>
                      </a:r>
                    </a:p>
                    <a:p>
                      <a:pPr algn="l">
                        <a:lnSpc>
                          <a:spcPts val="3160"/>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SP BH KH quan tâm - nội dung hỗ trợ</a:t>
                      </a: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6"/>
                  </a:ext>
                </a:extLst>
              </a:tr>
              <a:tr h="493533">
                <a:tc>
                  <a:txBody>
                    <a:bodyPr/>
                    <a:lstStyle/>
                    <a:p>
                      <a:pPr algn="ctr">
                        <a:lnSpc>
                          <a:spcPts val="1000"/>
                        </a:lnSpc>
                        <a:defRPr/>
                      </a:pPr>
                      <a:r>
                        <a:rPr lang="en-US" sz="2000" b="1">
                          <a:solidFill>
                            <a:srgbClr val="000000"/>
                          </a:solidFill>
                          <a:latin typeface="Arial Bold"/>
                          <a:ea typeface="Arial Bold"/>
                          <a:cs typeface="Arial Bold"/>
                          <a:sym typeface="Arial Bold"/>
                        </a:rPr>
                        <a:t>OPES</a:t>
                      </a:r>
                      <a:endParaRPr lang="en-US" sz="1100"/>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1000"/>
                        </a:lnSpc>
                        <a:defRPr/>
                      </a:pPr>
                      <a:r>
                        <a:rPr lang="en-US" sz="2000">
                          <a:solidFill>
                            <a:srgbClr val="000000"/>
                          </a:solidFill>
                          <a:latin typeface="Arial"/>
                          <a:ea typeface="Arial"/>
                          <a:cs typeface="Arial"/>
                          <a:sym typeface="Arial"/>
                        </a:rPr>
                        <a:t>Bảo hiểm tai nạn cá nhân (Personal Accident)</a:t>
                      </a:r>
                      <a:endParaRPr lang="en-US" sz="1100"/>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1000"/>
                        </a:lnSpc>
                        <a:defRPr/>
                      </a:pPr>
                      <a:r>
                        <a:rPr lang="en-US" sz="2000" b="1" i="1" u="sng" kern="1200" dirty="0" err="1">
                          <a:solidFill>
                            <a:srgbClr val="65B444"/>
                          </a:solidFill>
                          <a:latin typeface="Arial Bold Italics"/>
                          <a:ea typeface="Arial Bold Italics"/>
                          <a:cs typeface="Arial Bold Italics"/>
                          <a:sym typeface="Arial Bold Italics"/>
                          <a:hlinkClick r:id="rId8"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8"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8"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8"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8" action="ppaction://hlinkfile">
                            <a:extLst>
                              <a:ext uri="{A12FA001-AC4F-418D-AE19-62706E023703}">
                                <ahyp:hlinkClr xmlns:ahyp="http://schemas.microsoft.com/office/drawing/2018/hyperlinkcolor" val="tx"/>
                              </a:ext>
                            </a:extLst>
                          </a:hlinkClick>
                        </a:rPr>
                        <a:t>đây</a:t>
                      </a:r>
                      <a:endParaRPr lang="en-US" sz="2000" b="1" i="1" u="sng" kern="1200" dirty="0">
                        <a:solidFill>
                          <a:srgbClr val="65B444"/>
                        </a:solidFill>
                        <a:latin typeface="Arial Bold Italics"/>
                        <a:cs typeface="Arial Bold Italics"/>
                      </a:endParaRP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3160"/>
                        </a:lnSpc>
                        <a:defRPr/>
                      </a:pPr>
                      <a:r>
                        <a:rPr lang="en-US" sz="2000" b="1">
                          <a:solidFill>
                            <a:srgbClr val="000000"/>
                          </a:solidFill>
                          <a:latin typeface="Arial Bold"/>
                          <a:ea typeface="Arial Bold"/>
                          <a:cs typeface="Arial Bold"/>
                          <a:sym typeface="Arial Bold"/>
                        </a:rPr>
                        <a:t>Code:</a:t>
                      </a:r>
                      <a:r>
                        <a:rPr lang="en-US" sz="2000">
                          <a:solidFill>
                            <a:srgbClr val="000000"/>
                          </a:solidFill>
                          <a:latin typeface="Arial"/>
                          <a:ea typeface="Arial"/>
                          <a:cs typeface="Arial"/>
                          <a:sym typeface="Arial"/>
                        </a:rPr>
                        <a:t> IB01-Bảo hiểm Banca</a:t>
                      </a:r>
                      <a:endParaRPr lang="en-US" sz="1100"/>
                    </a:p>
                    <a:p>
                      <a:pPr algn="l">
                        <a:lnSpc>
                          <a:spcPts val="3160"/>
                        </a:lnSpc>
                      </a:pPr>
                      <a:r>
                        <a:rPr lang="en-US" sz="2000" b="1">
                          <a:solidFill>
                            <a:srgbClr val="000000"/>
                          </a:solidFill>
                          <a:latin typeface="Arial Bold"/>
                          <a:ea typeface="Arial Bold"/>
                          <a:cs typeface="Arial Bold"/>
                          <a:sym typeface="Arial Bold"/>
                        </a:rPr>
                        <a:t>Sub:</a:t>
                      </a:r>
                      <a:r>
                        <a:rPr lang="en-US" sz="2000">
                          <a:solidFill>
                            <a:srgbClr val="000000"/>
                          </a:solidFill>
                          <a:latin typeface="Arial"/>
                          <a:ea typeface="Arial"/>
                          <a:cs typeface="Arial"/>
                          <a:sym typeface="Arial"/>
                        </a:rPr>
                        <a:t> IB01.01-Sản phẩm - đối tác</a:t>
                      </a:r>
                    </a:p>
                    <a:p>
                      <a:pPr algn="l">
                        <a:lnSpc>
                          <a:spcPts val="3160"/>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SP BH KH quan tâm - nội dung hỗ trợ</a:t>
                      </a: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7"/>
                  </a:ext>
                </a:extLst>
              </a:tr>
              <a:tr h="540849">
                <a:tc rowSpan="3">
                  <a:txBody>
                    <a:bodyPr/>
                    <a:lstStyle/>
                    <a:p>
                      <a:pPr algn="ctr">
                        <a:lnSpc>
                          <a:spcPts val="1000"/>
                        </a:lnSpc>
                        <a:defRPr/>
                      </a:pPr>
                      <a:r>
                        <a:rPr lang="en-US" sz="2000" b="1">
                          <a:solidFill>
                            <a:srgbClr val="000000"/>
                          </a:solidFill>
                          <a:latin typeface="Arial Bold"/>
                          <a:ea typeface="Arial Bold"/>
                          <a:cs typeface="Arial Bold"/>
                          <a:sym typeface="Arial Bold"/>
                        </a:rPr>
                        <a:t>PVI</a:t>
                      </a:r>
                      <a:endParaRPr lang="en-US" sz="1100"/>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1000"/>
                        </a:lnSpc>
                        <a:defRPr/>
                      </a:pPr>
                      <a:r>
                        <a:rPr lang="en-US" sz="2000">
                          <a:solidFill>
                            <a:srgbClr val="000000"/>
                          </a:solidFill>
                          <a:latin typeface="Arial"/>
                          <a:ea typeface="Arial"/>
                          <a:cs typeface="Arial"/>
                          <a:sym typeface="Arial"/>
                        </a:rPr>
                        <a:t>Bảo hiểm tai nạn cá nhân (Personal Accident)</a:t>
                      </a:r>
                      <a:endParaRPr lang="en-US" sz="1100"/>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1000"/>
                        </a:lnSpc>
                        <a:defRPr/>
                      </a:pPr>
                      <a:r>
                        <a:rPr lang="en-US" sz="2000" b="1" i="1" u="sng" kern="1200" dirty="0" err="1">
                          <a:solidFill>
                            <a:srgbClr val="65B444"/>
                          </a:solidFill>
                          <a:latin typeface="Arial Bold Italics"/>
                          <a:ea typeface="Arial Bold Italics"/>
                          <a:cs typeface="Arial Bold Italics"/>
                          <a:sym typeface="Arial Bold Italics"/>
                          <a:hlinkClick r:id="rId9"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9"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9"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9"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9" action="ppaction://hlinkfile">
                            <a:extLst>
                              <a:ext uri="{A12FA001-AC4F-418D-AE19-62706E023703}">
                                <ahyp:hlinkClr xmlns:ahyp="http://schemas.microsoft.com/office/drawing/2018/hyperlinkcolor" val="tx"/>
                              </a:ext>
                            </a:extLst>
                          </a:hlinkClick>
                        </a:rPr>
                        <a:t>đây</a:t>
                      </a:r>
                      <a:endParaRPr lang="en-US" sz="2000" b="1" i="1" u="sng" kern="1200" dirty="0">
                        <a:solidFill>
                          <a:srgbClr val="65B444"/>
                        </a:solidFill>
                        <a:latin typeface="Arial Bold Italics"/>
                        <a:cs typeface="Arial Bold Italics"/>
                      </a:endParaRP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3160"/>
                        </a:lnSpc>
                        <a:defRPr/>
                      </a:pPr>
                      <a:r>
                        <a:rPr lang="en-US" sz="2000" b="1">
                          <a:solidFill>
                            <a:srgbClr val="000000"/>
                          </a:solidFill>
                          <a:latin typeface="Arial Bold"/>
                          <a:ea typeface="Arial Bold"/>
                          <a:cs typeface="Arial Bold"/>
                          <a:sym typeface="Arial Bold"/>
                        </a:rPr>
                        <a:t>Code:</a:t>
                      </a:r>
                      <a:r>
                        <a:rPr lang="en-US" sz="2000">
                          <a:solidFill>
                            <a:srgbClr val="000000"/>
                          </a:solidFill>
                          <a:latin typeface="Arial"/>
                          <a:ea typeface="Arial"/>
                          <a:cs typeface="Arial"/>
                          <a:sym typeface="Arial"/>
                        </a:rPr>
                        <a:t> IB01-Bảo hiểm Banca</a:t>
                      </a:r>
                      <a:endParaRPr lang="en-US" sz="1100"/>
                    </a:p>
                    <a:p>
                      <a:pPr algn="l">
                        <a:lnSpc>
                          <a:spcPts val="3160"/>
                        </a:lnSpc>
                      </a:pPr>
                      <a:r>
                        <a:rPr lang="en-US" sz="2000" b="1">
                          <a:solidFill>
                            <a:srgbClr val="000000"/>
                          </a:solidFill>
                          <a:latin typeface="Arial Bold"/>
                          <a:ea typeface="Arial Bold"/>
                          <a:cs typeface="Arial Bold"/>
                          <a:sym typeface="Arial Bold"/>
                        </a:rPr>
                        <a:t>Sub:</a:t>
                      </a:r>
                      <a:r>
                        <a:rPr lang="en-US" sz="2000">
                          <a:solidFill>
                            <a:srgbClr val="000000"/>
                          </a:solidFill>
                          <a:latin typeface="Arial"/>
                          <a:ea typeface="Arial"/>
                          <a:cs typeface="Arial"/>
                          <a:sym typeface="Arial"/>
                        </a:rPr>
                        <a:t> IB01.01-Sản phẩm - đối tác</a:t>
                      </a:r>
                    </a:p>
                    <a:p>
                      <a:pPr algn="l">
                        <a:lnSpc>
                          <a:spcPts val="3160"/>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SP BH KH quan tâm - nội dung hỗ trợ</a:t>
                      </a: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8"/>
                  </a:ext>
                </a:extLst>
              </a:tr>
              <a:tr h="595251">
                <a:tc vMerge="1">
                  <a:txBody>
                    <a:bodyPr/>
                    <a:lstStyle/>
                    <a:p>
                      <a:pPr algn="ctr">
                        <a:lnSpc>
                          <a:spcPts val="1000"/>
                        </a:lnSpc>
                        <a:defRPr/>
                      </a:pPr>
                      <a:r>
                        <a:rPr lang="en-US" sz="2000" b="1">
                          <a:solidFill>
                            <a:srgbClr val="000000"/>
                          </a:solidFill>
                          <a:latin typeface="Arial Bold"/>
                          <a:ea typeface="Arial Bold"/>
                          <a:cs typeface="Arial Bold"/>
                          <a:sym typeface="Arial Bold"/>
                        </a:rPr>
                        <a:t>PVI</a:t>
                      </a:r>
                      <a:endParaRPr lang="en-US" sz="1100"/>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760"/>
                        </a:lnSpc>
                        <a:defRPr/>
                      </a:pPr>
                      <a:r>
                        <a:rPr lang="en-US" sz="2000">
                          <a:solidFill>
                            <a:srgbClr val="000000"/>
                          </a:solidFill>
                          <a:latin typeface="Arial"/>
                          <a:ea typeface="Arial"/>
                          <a:cs typeface="Arial"/>
                          <a:sym typeface="Arial"/>
                        </a:rPr>
                        <a:t>Bảo hiểm bắt buộc Trách nhiệm dân sự của chủ xe môtô, xe máy (CTPL Motobike)</a:t>
                      </a:r>
                      <a:endParaRPr lang="en-US" sz="1100"/>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1000"/>
                        </a:lnSpc>
                        <a:defRPr/>
                      </a:pPr>
                      <a:r>
                        <a:rPr lang="en-US" sz="2000" b="1" i="1" u="sng" kern="1200" dirty="0" err="1">
                          <a:solidFill>
                            <a:srgbClr val="65B444"/>
                          </a:solidFill>
                          <a:latin typeface="Arial Bold Italics"/>
                          <a:ea typeface="Arial Bold Italics"/>
                          <a:cs typeface="Arial Bold Italics"/>
                          <a:sym typeface="Arial Bold Italics"/>
                          <a:hlinkClick r:id="rId10"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10"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10"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10"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10" action="ppaction://hlinkfile">
                            <a:extLst>
                              <a:ext uri="{A12FA001-AC4F-418D-AE19-62706E023703}">
                                <ahyp:hlinkClr xmlns:ahyp="http://schemas.microsoft.com/office/drawing/2018/hyperlinkcolor" val="tx"/>
                              </a:ext>
                            </a:extLst>
                          </a:hlinkClick>
                        </a:rPr>
                        <a:t>đây</a:t>
                      </a:r>
                      <a:endParaRPr lang="en-US" sz="2000" b="1" i="1" u="sng" kern="1200" dirty="0">
                        <a:solidFill>
                          <a:srgbClr val="65B444"/>
                        </a:solidFill>
                        <a:latin typeface="Arial Bold Italics"/>
                        <a:cs typeface="Arial Bold Italics"/>
                      </a:endParaRP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3160"/>
                        </a:lnSpc>
                        <a:defRPr/>
                      </a:pPr>
                      <a:r>
                        <a:rPr lang="en-US" sz="2000" b="1">
                          <a:solidFill>
                            <a:srgbClr val="000000"/>
                          </a:solidFill>
                          <a:latin typeface="Arial Bold"/>
                          <a:ea typeface="Arial Bold"/>
                          <a:cs typeface="Arial Bold"/>
                          <a:sym typeface="Arial Bold"/>
                        </a:rPr>
                        <a:t>Code:</a:t>
                      </a:r>
                      <a:r>
                        <a:rPr lang="en-US" sz="2000">
                          <a:solidFill>
                            <a:srgbClr val="000000"/>
                          </a:solidFill>
                          <a:latin typeface="Arial"/>
                          <a:ea typeface="Arial"/>
                          <a:cs typeface="Arial"/>
                          <a:sym typeface="Arial"/>
                        </a:rPr>
                        <a:t> IB01-Bảo hiểm Banca</a:t>
                      </a:r>
                      <a:endParaRPr lang="en-US" sz="1100"/>
                    </a:p>
                    <a:p>
                      <a:pPr algn="l">
                        <a:lnSpc>
                          <a:spcPts val="3160"/>
                        </a:lnSpc>
                      </a:pPr>
                      <a:r>
                        <a:rPr lang="en-US" sz="2000" b="1">
                          <a:solidFill>
                            <a:srgbClr val="000000"/>
                          </a:solidFill>
                          <a:latin typeface="Arial Bold"/>
                          <a:ea typeface="Arial Bold"/>
                          <a:cs typeface="Arial Bold"/>
                          <a:sym typeface="Arial Bold"/>
                        </a:rPr>
                        <a:t>Sub:</a:t>
                      </a:r>
                      <a:r>
                        <a:rPr lang="en-US" sz="2000">
                          <a:solidFill>
                            <a:srgbClr val="000000"/>
                          </a:solidFill>
                          <a:latin typeface="Arial"/>
                          <a:ea typeface="Arial"/>
                          <a:cs typeface="Arial"/>
                          <a:sym typeface="Arial"/>
                        </a:rPr>
                        <a:t> IB01.01-Sản phẩm - đối tác</a:t>
                      </a:r>
                    </a:p>
                    <a:p>
                      <a:pPr algn="l">
                        <a:lnSpc>
                          <a:spcPts val="3160"/>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SP BH KH quan tâm - nội dung hỗ trợ</a:t>
                      </a: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9"/>
                  </a:ext>
                </a:extLst>
              </a:tr>
              <a:tr h="595251">
                <a:tc vMerge="1">
                  <a:txBody>
                    <a:bodyPr/>
                    <a:lstStyle/>
                    <a:p>
                      <a:pPr algn="ctr">
                        <a:lnSpc>
                          <a:spcPts val="1000"/>
                        </a:lnSpc>
                        <a:defRPr/>
                      </a:pPr>
                      <a:r>
                        <a:rPr lang="en-US" sz="2000" b="1">
                          <a:solidFill>
                            <a:srgbClr val="000000"/>
                          </a:solidFill>
                          <a:latin typeface="Arial Bold"/>
                          <a:ea typeface="Arial Bold"/>
                          <a:cs typeface="Arial Bold"/>
                          <a:sym typeface="Arial Bold"/>
                        </a:rPr>
                        <a:t>PVI</a:t>
                      </a:r>
                      <a:endParaRPr lang="en-US" sz="1100"/>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760"/>
                        </a:lnSpc>
                        <a:defRPr/>
                      </a:pPr>
                      <a:r>
                        <a:rPr lang="en-US" sz="2000">
                          <a:solidFill>
                            <a:srgbClr val="000000"/>
                          </a:solidFill>
                          <a:latin typeface="Arial"/>
                          <a:ea typeface="Arial"/>
                          <a:cs typeface="Arial"/>
                          <a:sym typeface="Arial"/>
                        </a:rPr>
                        <a:t>Bảo hiểm Thiệt hại vật chất xe mô tô, xe máy (Physical Damage of Motorbike)</a:t>
                      </a:r>
                      <a:endParaRPr lang="en-US" sz="1100"/>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1000"/>
                        </a:lnSpc>
                        <a:defRPr/>
                      </a:pPr>
                      <a:r>
                        <a:rPr lang="en-US" sz="2000" b="1" i="1" u="sng" kern="1200" dirty="0" err="1">
                          <a:solidFill>
                            <a:srgbClr val="65B444"/>
                          </a:solidFill>
                          <a:latin typeface="Arial Bold Italics"/>
                          <a:ea typeface="Arial Bold Italics"/>
                          <a:cs typeface="Arial Bold Italics"/>
                          <a:sym typeface="Arial Bold Italics"/>
                          <a:hlinkClick r:id="rId11"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11"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11"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11"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11" action="ppaction://hlinkfile">
                            <a:extLst>
                              <a:ext uri="{A12FA001-AC4F-418D-AE19-62706E023703}">
                                <ahyp:hlinkClr xmlns:ahyp="http://schemas.microsoft.com/office/drawing/2018/hyperlinkcolor" val="tx"/>
                              </a:ext>
                            </a:extLst>
                          </a:hlinkClick>
                        </a:rPr>
                        <a:t>đây</a:t>
                      </a:r>
                      <a:endParaRPr lang="en-US" sz="2000" b="1" i="1" u="sng" kern="1200" dirty="0">
                        <a:solidFill>
                          <a:srgbClr val="65B444"/>
                        </a:solidFill>
                        <a:latin typeface="Arial Bold Italics"/>
                        <a:cs typeface="Arial Bold Italics"/>
                      </a:endParaRP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3160"/>
                        </a:lnSpc>
                        <a:defRPr/>
                      </a:pPr>
                      <a:r>
                        <a:rPr lang="en-US" sz="2000" b="1">
                          <a:solidFill>
                            <a:srgbClr val="000000"/>
                          </a:solidFill>
                          <a:latin typeface="Arial Bold"/>
                          <a:ea typeface="Arial Bold"/>
                          <a:cs typeface="Arial Bold"/>
                          <a:sym typeface="Arial Bold"/>
                        </a:rPr>
                        <a:t>Code:</a:t>
                      </a:r>
                      <a:r>
                        <a:rPr lang="en-US" sz="2000">
                          <a:solidFill>
                            <a:srgbClr val="000000"/>
                          </a:solidFill>
                          <a:latin typeface="Arial"/>
                          <a:ea typeface="Arial"/>
                          <a:cs typeface="Arial"/>
                          <a:sym typeface="Arial"/>
                        </a:rPr>
                        <a:t> IB01-Bảo hiểm Banca</a:t>
                      </a:r>
                      <a:endParaRPr lang="en-US" sz="1100"/>
                    </a:p>
                    <a:p>
                      <a:pPr algn="l">
                        <a:lnSpc>
                          <a:spcPts val="3160"/>
                        </a:lnSpc>
                      </a:pPr>
                      <a:r>
                        <a:rPr lang="en-US" sz="2000" b="1">
                          <a:solidFill>
                            <a:srgbClr val="000000"/>
                          </a:solidFill>
                          <a:latin typeface="Arial Bold"/>
                          <a:ea typeface="Arial Bold"/>
                          <a:cs typeface="Arial Bold"/>
                          <a:sym typeface="Arial Bold"/>
                        </a:rPr>
                        <a:t>Sub:</a:t>
                      </a:r>
                      <a:r>
                        <a:rPr lang="en-US" sz="2000">
                          <a:solidFill>
                            <a:srgbClr val="000000"/>
                          </a:solidFill>
                          <a:latin typeface="Arial"/>
                          <a:ea typeface="Arial"/>
                          <a:cs typeface="Arial"/>
                          <a:sym typeface="Arial"/>
                        </a:rPr>
                        <a:t> IB01.01-Sản phẩm - đối tác</a:t>
                      </a:r>
                    </a:p>
                    <a:p>
                      <a:pPr algn="l">
                        <a:lnSpc>
                          <a:spcPts val="3160"/>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SP BH KH quan tâm - nội dung hỗ trợ</a:t>
                      </a: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10"/>
                  </a:ext>
                </a:extLst>
              </a:tr>
              <a:tr h="1230755">
                <a:tc>
                  <a:txBody>
                    <a:bodyPr/>
                    <a:lstStyle/>
                    <a:p>
                      <a:pPr algn="ctr">
                        <a:lnSpc>
                          <a:spcPts val="1000"/>
                        </a:lnSpc>
                        <a:defRPr/>
                      </a:pPr>
                      <a:r>
                        <a:rPr lang="en-US" sz="2000" b="1" dirty="0">
                          <a:solidFill>
                            <a:srgbClr val="000000"/>
                          </a:solidFill>
                          <a:latin typeface="Arial Bold"/>
                          <a:ea typeface="Arial Bold"/>
                          <a:cs typeface="Arial Bold"/>
                          <a:sym typeface="Arial Bold"/>
                        </a:rPr>
                        <a:t>BSH</a:t>
                      </a:r>
                      <a:endParaRPr lang="en-US" sz="1100" dirty="0"/>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760"/>
                        </a:lnSpc>
                        <a:defRPr/>
                      </a:pPr>
                      <a:r>
                        <a:rPr lang="en-US" sz="2000" dirty="0" err="1">
                          <a:solidFill>
                            <a:srgbClr val="000000"/>
                          </a:solidFill>
                          <a:latin typeface="Arial"/>
                          <a:ea typeface="Arial"/>
                          <a:cs typeface="Arial"/>
                          <a:sym typeface="Arial"/>
                        </a:rPr>
                        <a:t>Cuộc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sống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diệu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kỳ</a:t>
                      </a:r>
                      <a:r>
                        <a:rPr lang="en-US" sz="2000" dirty="0">
                          <a:solidFill>
                            <a:srgbClr val="000000"/>
                          </a:solidFill>
                          <a:latin typeface="Arial"/>
                          <a:ea typeface="Arial"/>
                          <a:cs typeface="Arial"/>
                          <a:sym typeface="Arial"/>
                        </a:rPr>
                        <a:t> (Good Life)</a:t>
                      </a:r>
                      <a:endParaRPr lang="en-US" sz="1100" dirty="0"/>
                    </a:p>
                    <a:p>
                      <a:pPr algn="l">
                        <a:lnSpc>
                          <a:spcPts val="3000"/>
                        </a:lnSpc>
                      </a:pPr>
                      <a:r>
                        <a:rPr lang="en-US" sz="2000" b="1" i="1" u="sng" dirty="0" err="1">
                          <a:solidFill>
                            <a:srgbClr val="000000"/>
                          </a:solidFill>
                          <a:latin typeface="Arial Bold Italics"/>
                          <a:ea typeface="Arial Bold Italics"/>
                          <a:cs typeface="Arial Bold Italics"/>
                          <a:sym typeface="Arial Bold Italics"/>
                        </a:rPr>
                        <a:t>Lưu</a:t>
                      </a:r>
                      <a:r>
                        <a:rPr lang="en-US" sz="2000" b="1" i="1" u="sng" dirty="0">
                          <a:solidFill>
                            <a:srgbClr val="000000"/>
                          </a:solidFill>
                          <a:latin typeface="Arial Bold Italics"/>
                          <a:ea typeface="Arial Bold Italics"/>
                          <a:cs typeface="Arial Bold Italics"/>
                          <a:sym typeface="Arial Bold Italics"/>
                        </a:rPr>
                        <a:t> ý:</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Một</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thể</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 nhiều HĐ "BSH </a:t>
                      </a:r>
                      <a:r>
                        <a:rPr lang="en-US" sz="2000" dirty="0" err="1">
                          <a:solidFill>
                            <a:srgbClr val="000000"/>
                          </a:solidFill>
                          <a:latin typeface="Arial"/>
                          <a:ea typeface="Arial"/>
                          <a:cs typeface="Arial"/>
                          <a:sym typeface="Arial"/>
                        </a:rPr>
                        <a:t>Cuộc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sống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diệu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kỳ</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cùng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hiệu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lực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tối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đa</a:t>
                      </a:r>
                      <a:r>
                        <a:rPr lang="en-US" sz="2000" dirty="0">
                          <a:solidFill>
                            <a:srgbClr val="000000"/>
                          </a:solidFill>
                          <a:latin typeface="Arial"/>
                          <a:ea typeface="Arial"/>
                          <a:cs typeface="Arial"/>
                          <a:sym typeface="Arial"/>
                        </a:rPr>
                        <a:t> 5 HĐ. </a:t>
                      </a:r>
                      <a:r>
                        <a:rPr lang="en-US" sz="2000" dirty="0" err="1">
                          <a:solidFill>
                            <a:srgbClr val="000000"/>
                          </a:solidFill>
                          <a:latin typeface="Arial"/>
                          <a:ea typeface="Arial"/>
                          <a:cs typeface="Arial"/>
                          <a:sym typeface="Arial"/>
                        </a:rPr>
                        <a:t>Quyền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lợi</a:t>
                      </a:r>
                      <a:r>
                        <a:rPr lang="en-US" sz="2000" dirty="0">
                          <a:solidFill>
                            <a:srgbClr val="000000"/>
                          </a:solidFill>
                          <a:latin typeface="Arial"/>
                          <a:ea typeface="Arial"/>
                          <a:cs typeface="Arial"/>
                          <a:sym typeface="Arial"/>
                        </a:rPr>
                        <a:t> của KH </a:t>
                      </a:r>
                      <a:r>
                        <a:rPr lang="en-US" sz="2000" dirty="0" err="1">
                          <a:solidFill>
                            <a:srgbClr val="000000"/>
                          </a:solidFill>
                          <a:latin typeface="Arial"/>
                          <a:ea typeface="Arial"/>
                          <a:cs typeface="Arial"/>
                          <a:sym typeface="Arial"/>
                        </a:rPr>
                        <a:t>thay</a:t>
                      </a:r>
                      <a:r>
                        <a:rPr lang="en-US" sz="2000" dirty="0">
                          <a:solidFill>
                            <a:srgbClr val="000000"/>
                          </a:solidFill>
                          <a:latin typeface="Arial"/>
                          <a:ea typeface="Arial"/>
                          <a:cs typeface="Arial"/>
                          <a:sym typeface="Arial"/>
                        </a:rPr>
                        <a:t> đổi </a:t>
                      </a:r>
                      <a:r>
                        <a:rPr lang="en-US" sz="2000" dirty="0" err="1">
                          <a:solidFill>
                            <a:srgbClr val="000000"/>
                          </a:solidFill>
                          <a:latin typeface="Arial"/>
                          <a:ea typeface="Arial"/>
                          <a:cs typeface="Arial"/>
                          <a:sym typeface="Arial"/>
                        </a:rPr>
                        <a:t>khi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 nhiều HĐBH </a:t>
                      </a:r>
                      <a:r>
                        <a:rPr lang="en-US" sz="2000" dirty="0" err="1">
                          <a:solidFill>
                            <a:srgbClr val="000000"/>
                          </a:solidFill>
                          <a:latin typeface="Arial"/>
                          <a:ea typeface="Arial"/>
                          <a:cs typeface="Arial"/>
                          <a:sym typeface="Arial"/>
                        </a:rPr>
                        <a:t>Cuộc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sống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diệu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kỳ</a:t>
                      </a:r>
                      <a:r>
                        <a:rPr lang="en-US" sz="2000" dirty="0">
                          <a:solidFill>
                            <a:srgbClr val="000000"/>
                          </a:solidFill>
                          <a:latin typeface="Arial"/>
                          <a:ea typeface="Arial"/>
                          <a:cs typeface="Arial"/>
                          <a:sym typeface="Arial"/>
                        </a:rPr>
                        <a:t>: </a:t>
                      </a:r>
                      <a:r>
                        <a:rPr lang="en-US" sz="2000" b="1" i="1" u="sng" kern="1200" dirty="0" err="1">
                          <a:solidFill>
                            <a:srgbClr val="65B444"/>
                          </a:solidFill>
                          <a:latin typeface="Arial Bold Italics"/>
                          <a:ea typeface="+mn-ea"/>
                          <a:cs typeface="Arial Bold Italics"/>
                          <a:sym typeface="Arial Bold Italics"/>
                          <a:hlinkClick r:id="rId12"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mn-ea"/>
                          <a:cs typeface="Arial Bold Italics"/>
                          <a:sym typeface="Arial Bold Italics"/>
                          <a:hlinkClick r:id="rId12"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mn-ea"/>
                          <a:cs typeface="Arial Bold Italics"/>
                          <a:sym typeface="Arial Bold Italics"/>
                          <a:hlinkClick r:id="rId12"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mn-ea"/>
                          <a:cs typeface="Arial Bold Italics"/>
                          <a:sym typeface="Arial Bold Italics"/>
                          <a:hlinkClick r:id="rId12"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mn-ea"/>
                          <a:cs typeface="Arial Bold Italics"/>
                          <a:sym typeface="Arial Bold Italics"/>
                          <a:hlinkClick r:id="rId12" action="ppaction://hlinkfile">
                            <a:extLst>
                              <a:ext uri="{A12FA001-AC4F-418D-AE19-62706E023703}">
                                <ahyp:hlinkClr xmlns:ahyp="http://schemas.microsoft.com/office/drawing/2018/hyperlinkcolor" val="tx"/>
                              </a:ext>
                            </a:extLst>
                          </a:hlinkClick>
                        </a:rPr>
                        <a:t>đây</a:t>
                      </a:r>
                      <a:endParaRPr lang="en-US" sz="2000" b="1" i="1" u="sng" kern="1200" dirty="0">
                        <a:solidFill>
                          <a:srgbClr val="65B444"/>
                        </a:solidFill>
                        <a:latin typeface="Arial Bold Italics"/>
                        <a:ea typeface="+mn-ea"/>
                        <a:cs typeface="Arial Bold Italics"/>
                        <a:sym typeface="Arial Bold Italics"/>
                      </a:endParaRP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1000"/>
                        </a:lnSpc>
                        <a:defRPr/>
                      </a:pPr>
                      <a:r>
                        <a:rPr lang="en-US" sz="2000" b="1" i="1" u="sng" kern="1200" dirty="0" err="1">
                          <a:solidFill>
                            <a:srgbClr val="65B444"/>
                          </a:solidFill>
                          <a:latin typeface="Arial Bold Italics"/>
                          <a:ea typeface="Arial Bold Italics"/>
                          <a:cs typeface="Arial Bold Italics"/>
                          <a:sym typeface="Arial Bold Italics"/>
                          <a:hlinkClick r:id="rId13"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13"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13"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13"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13" action="ppaction://hlinkfile">
                            <a:extLst>
                              <a:ext uri="{A12FA001-AC4F-418D-AE19-62706E023703}">
                                <ahyp:hlinkClr xmlns:ahyp="http://schemas.microsoft.com/office/drawing/2018/hyperlinkcolor" val="tx"/>
                              </a:ext>
                            </a:extLst>
                          </a:hlinkClick>
                        </a:rPr>
                        <a:t>đây</a:t>
                      </a:r>
                      <a:endParaRPr lang="en-US" sz="2000" b="1" i="1" u="sng" kern="1200" dirty="0">
                        <a:solidFill>
                          <a:srgbClr val="65B444"/>
                        </a:solidFill>
                        <a:latin typeface="Arial Bold Italics"/>
                        <a:cs typeface="Arial Bold Italics"/>
                      </a:endParaRP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3160"/>
                        </a:lnSpc>
                        <a:defRPr/>
                      </a:pPr>
                      <a:r>
                        <a:rPr lang="en-US" sz="2000" b="1">
                          <a:solidFill>
                            <a:srgbClr val="000000"/>
                          </a:solidFill>
                          <a:latin typeface="Arial Bold"/>
                          <a:ea typeface="Arial Bold"/>
                          <a:cs typeface="Arial Bold"/>
                          <a:sym typeface="Arial Bold"/>
                        </a:rPr>
                        <a:t>Code:</a:t>
                      </a:r>
                      <a:r>
                        <a:rPr lang="en-US" sz="2000">
                          <a:solidFill>
                            <a:srgbClr val="000000"/>
                          </a:solidFill>
                          <a:latin typeface="Arial"/>
                          <a:ea typeface="Arial"/>
                          <a:cs typeface="Arial"/>
                          <a:sym typeface="Arial"/>
                        </a:rPr>
                        <a:t> IB01-Bảo hiểm Banca</a:t>
                      </a:r>
                      <a:endParaRPr lang="en-US" sz="1100"/>
                    </a:p>
                    <a:p>
                      <a:pPr algn="l">
                        <a:lnSpc>
                          <a:spcPts val="3160"/>
                        </a:lnSpc>
                      </a:pPr>
                      <a:r>
                        <a:rPr lang="en-US" sz="2000" b="1">
                          <a:solidFill>
                            <a:srgbClr val="000000"/>
                          </a:solidFill>
                          <a:latin typeface="Arial Bold"/>
                          <a:ea typeface="Arial Bold"/>
                          <a:cs typeface="Arial Bold"/>
                          <a:sym typeface="Arial Bold"/>
                        </a:rPr>
                        <a:t>Sub:</a:t>
                      </a:r>
                      <a:r>
                        <a:rPr lang="en-US" sz="2000">
                          <a:solidFill>
                            <a:srgbClr val="000000"/>
                          </a:solidFill>
                          <a:latin typeface="Arial"/>
                          <a:ea typeface="Arial"/>
                          <a:cs typeface="Arial"/>
                          <a:sym typeface="Arial"/>
                        </a:rPr>
                        <a:t> IB01.01-Sản phẩm - đối tác</a:t>
                      </a:r>
                    </a:p>
                    <a:p>
                      <a:pPr algn="l">
                        <a:lnSpc>
                          <a:spcPts val="3160"/>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SP BH KH quan tâm - nội dung hỗ trợ</a:t>
                      </a: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11"/>
                  </a:ext>
                </a:extLst>
              </a:tr>
              <a:tr h="1230755">
                <a:tc>
                  <a:txBody>
                    <a:bodyPr/>
                    <a:lstStyle/>
                    <a:p>
                      <a:pPr algn="ctr">
                        <a:lnSpc>
                          <a:spcPts val="1000"/>
                        </a:lnSpc>
                        <a:defRPr/>
                      </a:pPr>
                      <a:r>
                        <a:rPr lang="en-US" sz="2000" b="1" kern="1200" dirty="0">
                          <a:solidFill>
                            <a:srgbClr val="000000"/>
                          </a:solidFill>
                          <a:latin typeface="Arial Bold"/>
                          <a:cs typeface="Arial Bold"/>
                        </a:rPr>
                        <a:t>PJICO</a:t>
                      </a: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0" algn="l" defTabSz="914400" rtl="0" eaLnBrk="1" latinLnBrk="0" hangingPunct="1">
                        <a:lnSpc>
                          <a:spcPts val="2760"/>
                        </a:lnSpc>
                        <a:defRPr/>
                      </a:pPr>
                      <a:r>
                        <a:rPr lang="en-US" sz="2000" kern="1200" dirty="0" err="1">
                          <a:solidFill>
                            <a:srgbClr val="000000"/>
                          </a:solidFill>
                          <a:latin typeface="Arial"/>
                          <a:ea typeface="Arial Bold Italics"/>
                          <a:cs typeface="Arial"/>
                          <a:sym typeface="Arial Bold Italics"/>
                        </a:rPr>
                        <a:t>Bảo</a:t>
                      </a:r>
                      <a:r>
                        <a:rPr lang="en-US" sz="2000" kern="1200" dirty="0">
                          <a:solidFill>
                            <a:srgbClr val="000000"/>
                          </a:solidFill>
                          <a:latin typeface="Arial"/>
                          <a:ea typeface="Arial Bold Italics"/>
                          <a:cs typeface="Arial"/>
                          <a:sym typeface="Arial Bold Italics"/>
                        </a:rPr>
                        <a:t> </a:t>
                      </a:r>
                      <a:r>
                        <a:rPr lang="en-US" sz="2000" kern="1200" dirty="0" err="1">
                          <a:solidFill>
                            <a:srgbClr val="000000"/>
                          </a:solidFill>
                          <a:latin typeface="Arial"/>
                          <a:ea typeface="Arial Bold Italics"/>
                          <a:cs typeface="Arial"/>
                          <a:sym typeface="Arial Bold Italics"/>
                        </a:rPr>
                        <a:t>hiểm</a:t>
                      </a:r>
                      <a:r>
                        <a:rPr lang="en-US" sz="2000" kern="1200" dirty="0">
                          <a:solidFill>
                            <a:srgbClr val="000000"/>
                          </a:solidFill>
                          <a:latin typeface="Arial"/>
                          <a:ea typeface="Arial Bold Italics"/>
                          <a:cs typeface="Arial"/>
                          <a:sym typeface="Arial Bold Italics"/>
                        </a:rPr>
                        <a:t> an </a:t>
                      </a:r>
                      <a:r>
                        <a:rPr lang="en-US" sz="2000" kern="1200" dirty="0" err="1">
                          <a:solidFill>
                            <a:srgbClr val="000000"/>
                          </a:solidFill>
                          <a:latin typeface="Arial"/>
                          <a:ea typeface="Arial Bold Italics"/>
                          <a:cs typeface="Arial"/>
                          <a:sym typeface="Arial Bold Italics"/>
                        </a:rPr>
                        <a:t>tâm</a:t>
                      </a:r>
                      <a:r>
                        <a:rPr lang="en-US" sz="2000" kern="1200" dirty="0">
                          <a:solidFill>
                            <a:srgbClr val="000000"/>
                          </a:solidFill>
                          <a:latin typeface="Arial"/>
                          <a:ea typeface="Arial Bold Italics"/>
                          <a:cs typeface="Arial"/>
                          <a:sym typeface="Arial Bold Italics"/>
                        </a:rPr>
                        <a:t> </a:t>
                      </a:r>
                      <a:r>
                        <a:rPr lang="en-US" sz="2000" kern="1200" dirty="0" err="1">
                          <a:solidFill>
                            <a:srgbClr val="000000"/>
                          </a:solidFill>
                          <a:latin typeface="Arial"/>
                          <a:ea typeface="Arial Bold Italics"/>
                          <a:cs typeface="Arial"/>
                          <a:sym typeface="Arial Bold Italics"/>
                        </a:rPr>
                        <a:t>viện</a:t>
                      </a:r>
                      <a:r>
                        <a:rPr lang="en-US" sz="2000" kern="1200" dirty="0">
                          <a:solidFill>
                            <a:srgbClr val="000000"/>
                          </a:solidFill>
                          <a:latin typeface="Arial"/>
                          <a:ea typeface="Arial Bold Italics"/>
                          <a:cs typeface="Arial"/>
                          <a:sym typeface="Arial Bold Italics"/>
                        </a:rPr>
                        <a:t> </a:t>
                      </a:r>
                      <a:r>
                        <a:rPr lang="en-US" sz="2000" kern="1200" dirty="0" err="1">
                          <a:solidFill>
                            <a:srgbClr val="000000"/>
                          </a:solidFill>
                          <a:latin typeface="Arial"/>
                          <a:ea typeface="Arial Bold Italics"/>
                          <a:cs typeface="Arial"/>
                          <a:sym typeface="Arial Bold Italics"/>
                        </a:rPr>
                        <a:t>phí</a:t>
                      </a:r>
                      <a:r>
                        <a:rPr lang="en-US" sz="2000" kern="1200" dirty="0">
                          <a:solidFill>
                            <a:srgbClr val="000000"/>
                          </a:solidFill>
                          <a:latin typeface="Arial"/>
                          <a:ea typeface="Arial Bold Italics"/>
                          <a:cs typeface="Arial"/>
                          <a:sym typeface="Arial Bold Italics"/>
                        </a:rPr>
                        <a:t> (</a:t>
                      </a:r>
                      <a:r>
                        <a:rPr lang="en-US" sz="2000" kern="1200" dirty="0" err="1">
                          <a:solidFill>
                            <a:srgbClr val="000000"/>
                          </a:solidFill>
                          <a:latin typeface="Arial"/>
                          <a:ea typeface="Arial Bold Italics"/>
                          <a:cs typeface="Arial"/>
                          <a:sym typeface="Arial Bold Italics"/>
                        </a:rPr>
                        <a:t>MediCash</a:t>
                      </a:r>
                      <a:r>
                        <a:rPr lang="en-US" sz="2000" kern="1200" dirty="0">
                          <a:solidFill>
                            <a:srgbClr val="000000"/>
                          </a:solidFill>
                          <a:latin typeface="Arial"/>
                          <a:ea typeface="Arial Bold Italics"/>
                          <a:cs typeface="Arial"/>
                          <a:sym typeface="Arial Bold Italics"/>
                        </a:rPr>
                        <a:t> Care)</a:t>
                      </a: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1000"/>
                        </a:lnSpc>
                        <a:defRPr/>
                      </a:pPr>
                      <a:r>
                        <a:rPr lang="en-US" sz="2000" b="1" i="1" u="sng" kern="1200" dirty="0" err="1">
                          <a:solidFill>
                            <a:srgbClr val="65B444"/>
                          </a:solidFill>
                          <a:latin typeface="Arial Bold Italics"/>
                          <a:cs typeface="Arial Bold Italics"/>
                          <a:hlinkClick r:id="rId14"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cs typeface="Arial Bold Italics"/>
                          <a:hlinkClick r:id="rId14"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cs typeface="Arial Bold Italics"/>
                          <a:hlinkClick r:id="rId14"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cs typeface="Arial Bold Italics"/>
                          <a:hlinkClick r:id="rId14"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cs typeface="Arial Bold Italics"/>
                          <a:hlinkClick r:id="rId14" action="ppaction://hlinkfile">
                            <a:extLst>
                              <a:ext uri="{A12FA001-AC4F-418D-AE19-62706E023703}">
                                <ahyp:hlinkClr xmlns:ahyp="http://schemas.microsoft.com/office/drawing/2018/hyperlinkcolor" val="tx"/>
                              </a:ext>
                            </a:extLst>
                          </a:hlinkClick>
                        </a:rPr>
                        <a:t>đây</a:t>
                      </a:r>
                      <a:endParaRPr lang="en-US" sz="2000" b="1" i="1" u="sng" kern="1200" dirty="0">
                        <a:solidFill>
                          <a:srgbClr val="65B444"/>
                        </a:solidFill>
                        <a:latin typeface="Arial Bold Italics"/>
                        <a:cs typeface="Arial Bold Italics"/>
                      </a:endParaRP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3160"/>
                        </a:lnSpc>
                      </a:pPr>
                      <a:endParaRPr lang="en-US" sz="2000" dirty="0">
                        <a:solidFill>
                          <a:srgbClr val="000000"/>
                        </a:solidFill>
                        <a:latin typeface="Arial"/>
                        <a:ea typeface="Arial"/>
                        <a:cs typeface="Arial"/>
                        <a:sym typeface="Arial"/>
                      </a:endParaRPr>
                    </a:p>
                  </a:txBody>
                  <a:tcPr marL="76200" marR="76200" marT="76200" marB="762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2834230049"/>
                  </a:ext>
                </a:extLst>
              </a:tr>
            </a:tbl>
          </a:graphicData>
        </a:graphic>
      </p:graphicFrame>
      <p:grpSp>
        <p:nvGrpSpPr>
          <p:cNvPr id="3" name="Group 3"/>
          <p:cNvGrpSpPr/>
          <p:nvPr/>
        </p:nvGrpSpPr>
        <p:grpSpPr>
          <a:xfrm>
            <a:off x="15691018" y="9790919"/>
            <a:ext cx="2421922" cy="346996"/>
            <a:chOff x="0" y="0"/>
            <a:chExt cx="3229229" cy="462661"/>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15"/>
              <a:stretch>
                <a:fillRect l="-145" r="-145"/>
              </a:stretch>
            </a:blipFill>
          </p:spPr>
        </p:sp>
      </p:grpSp>
      <p:sp>
        <p:nvSpPr>
          <p:cNvPr id="5" name="Freeform 5"/>
          <p:cNvSpPr/>
          <p:nvPr/>
        </p:nvSpPr>
        <p:spPr>
          <a:xfrm>
            <a:off x="5858" y="-328298"/>
            <a:ext cx="20000147" cy="1306449"/>
          </a:xfrm>
          <a:custGeom>
            <a:avLst/>
            <a:gdLst/>
            <a:ahLst/>
            <a:cxnLst/>
            <a:rect l="l" t="t" r="r" b="b"/>
            <a:pathLst>
              <a:path w="20000147" h="1306449">
                <a:moveTo>
                  <a:pt x="0" y="0"/>
                </a:moveTo>
                <a:lnTo>
                  <a:pt x="20000147" y="0"/>
                </a:lnTo>
                <a:lnTo>
                  <a:pt x="20000147" y="1306449"/>
                </a:lnTo>
                <a:lnTo>
                  <a:pt x="0" y="1306449"/>
                </a:lnTo>
                <a:lnTo>
                  <a:pt x="0" y="0"/>
                </a:lnTo>
                <a:close/>
              </a:path>
            </a:pathLst>
          </a:custGeom>
          <a:blipFill>
            <a:blip r:embed="rId16">
              <a:extLst>
                <a:ext uri="{96DAC541-7B7A-43D3-8B79-37D633B846F1}">
                  <asvg:svgBlip xmlns:asvg="http://schemas.microsoft.com/office/drawing/2016/SVG/main" r:embed="rId17"/>
                </a:ext>
              </a:extLst>
            </a:blip>
            <a:stretch>
              <a:fillRect t="-300" b="-300"/>
            </a:stretch>
          </a:blipFill>
        </p:spPr>
      </p:sp>
      <p:sp>
        <p:nvSpPr>
          <p:cNvPr id="6" name="TextBox 6"/>
          <p:cNvSpPr txBox="1"/>
          <p:nvPr/>
        </p:nvSpPr>
        <p:spPr>
          <a:xfrm>
            <a:off x="5910649" y="88278"/>
            <a:ext cx="7788771" cy="663530"/>
          </a:xfrm>
          <a:prstGeom prst="rect">
            <a:avLst/>
          </a:prstGeom>
        </p:spPr>
        <p:txBody>
          <a:bodyPr lIns="0" tIns="0" rIns="0" bIns="0" rtlCol="0" anchor="t">
            <a:spAutoFit/>
          </a:bodyPr>
          <a:lstStyle/>
          <a:p>
            <a:pPr algn="ctr">
              <a:lnSpc>
                <a:spcPts val="5200"/>
              </a:lnSpc>
            </a:pPr>
            <a:r>
              <a:rPr lang="en-US" sz="3999" b="1">
                <a:solidFill>
                  <a:srgbClr val="000000"/>
                </a:solidFill>
                <a:latin typeface="Arial Bold"/>
                <a:ea typeface="Arial Bold"/>
                <a:cs typeface="Arial Bold"/>
                <a:sym typeface="Arial Bold"/>
              </a:rPr>
              <a:t>ĐỐI TÁC- SẢN PHẨM BẢO HIỂM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4023822772"/>
              </p:ext>
            </p:extLst>
          </p:nvPr>
        </p:nvGraphicFramePr>
        <p:xfrm>
          <a:off x="201830" y="1575063"/>
          <a:ext cx="17884341" cy="4467225"/>
        </p:xfrm>
        <a:graphic>
          <a:graphicData uri="http://schemas.openxmlformats.org/drawingml/2006/table">
            <a:tbl>
              <a:tblPr/>
              <a:tblGrid>
                <a:gridCol w="2269920">
                  <a:extLst>
                    <a:ext uri="{9D8B030D-6E8A-4147-A177-3AD203B41FA5}">
                      <a16:colId xmlns:a16="http://schemas.microsoft.com/office/drawing/2014/main" val="20000"/>
                    </a:ext>
                  </a:extLst>
                </a:gridCol>
                <a:gridCol w="9221241">
                  <a:extLst>
                    <a:ext uri="{9D8B030D-6E8A-4147-A177-3AD203B41FA5}">
                      <a16:colId xmlns:a16="http://schemas.microsoft.com/office/drawing/2014/main" val="20001"/>
                    </a:ext>
                  </a:extLst>
                </a:gridCol>
                <a:gridCol w="6393180">
                  <a:extLst>
                    <a:ext uri="{9D8B030D-6E8A-4147-A177-3AD203B41FA5}">
                      <a16:colId xmlns:a16="http://schemas.microsoft.com/office/drawing/2014/main" val="20002"/>
                    </a:ext>
                  </a:extLst>
                </a:gridCol>
              </a:tblGrid>
              <a:tr h="778162">
                <a:tc>
                  <a:txBody>
                    <a:bodyPr/>
                    <a:lstStyle/>
                    <a:p>
                      <a:pPr algn="ctr">
                        <a:lnSpc>
                          <a:spcPts val="3750"/>
                        </a:lnSpc>
                        <a:defRPr/>
                      </a:pPr>
                      <a:r>
                        <a:rPr lang="en-US" sz="2000" b="1" spc="12">
                          <a:solidFill>
                            <a:srgbClr val="FFFFFF"/>
                          </a:solidFill>
                          <a:latin typeface="Arial Bold"/>
                          <a:ea typeface="Arial Bold"/>
                          <a:cs typeface="Arial Bold"/>
                          <a:sym typeface="Arial Bold"/>
                        </a:rPr>
                        <a:t>KÊNH</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a:solidFill>
                            <a:srgbClr val="FFFFFF"/>
                          </a:solidFill>
                          <a:latin typeface="Arial Bold"/>
                          <a:ea typeface="Arial Bold"/>
                          <a:cs typeface="Arial Bold"/>
                          <a:sym typeface="Arial Bold"/>
                        </a:rPr>
                        <a:t>CODE/ REMARK</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1489075">
                <a:tc>
                  <a:txBody>
                    <a:bodyPr/>
                    <a:lstStyle/>
                    <a:p>
                      <a:pPr algn="ctr">
                        <a:lnSpc>
                          <a:spcPts val="2800"/>
                        </a:lnSpc>
                        <a:defRPr/>
                      </a:pPr>
                      <a:r>
                        <a:rPr lang="en-US" sz="2000" b="1">
                          <a:solidFill>
                            <a:srgbClr val="000000"/>
                          </a:solidFill>
                          <a:latin typeface="Arial Bold"/>
                          <a:ea typeface="Arial Bold"/>
                          <a:cs typeface="Arial Bold"/>
                          <a:sym typeface="Arial Bold"/>
                        </a:rPr>
                        <a:t>IB</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800"/>
                        </a:lnSpc>
                        <a:defRPr/>
                      </a:pPr>
                      <a:r>
                        <a:rPr lang="en-US" sz="2000" b="1" dirty="0" err="1">
                          <a:solidFill>
                            <a:srgbClr val="000000"/>
                          </a:solidFill>
                          <a:latin typeface="Arial Bold"/>
                          <a:ea typeface="Arial Bold"/>
                          <a:cs typeface="Arial Bold"/>
                          <a:sym typeface="Arial Bold"/>
                        </a:rPr>
                        <a:t>Thực</a:t>
                      </a:r>
                      <a:r>
                        <a:rPr lang="en-US" sz="2000" b="1" dirty="0">
                          <a:solidFill>
                            <a:srgbClr val="000000"/>
                          </a:solidFill>
                          <a:latin typeface="Arial Bold"/>
                          <a:ea typeface="Arial Bold"/>
                          <a:cs typeface="Arial Bold"/>
                          <a:sym typeface="Arial Bold"/>
                        </a:rPr>
                        <a:t> hiện transfer call sang </a:t>
                      </a:r>
                      <a:r>
                        <a:rPr lang="en-US" sz="2000" b="1" dirty="0" err="1">
                          <a:solidFill>
                            <a:srgbClr val="000000"/>
                          </a:solidFill>
                          <a:latin typeface="Arial Bold"/>
                          <a:ea typeface="Arial Bold"/>
                          <a:cs typeface="Arial Bold"/>
                          <a:sym typeface="Arial Bold"/>
                        </a:rPr>
                        <a:t>tổng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đài</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vay</a:t>
                      </a:r>
                      <a:r>
                        <a:rPr lang="en-US" sz="2000" b="1" dirty="0">
                          <a:solidFill>
                            <a:srgbClr val="000000"/>
                          </a:solidFill>
                          <a:latin typeface="Arial Bold"/>
                          <a:ea typeface="Arial Bold"/>
                          <a:cs typeface="Arial Bold"/>
                          <a:sym typeface="Arial Bold"/>
                        </a:rPr>
                        <a:t> </a:t>
                      </a:r>
                      <a:r>
                        <a:rPr lang="en-US" sz="2000" dirty="0">
                          <a:solidFill>
                            <a:srgbClr val="000000"/>
                          </a:solidFill>
                          <a:latin typeface="Arial"/>
                          <a:ea typeface="Arial"/>
                          <a:cs typeface="Arial"/>
                          <a:sym typeface="Arial"/>
                        </a:rPr>
                        <a:t>(</a:t>
                      </a:r>
                      <a:r>
                        <a:rPr lang="en-US" sz="2000" dirty="0" err="1">
                          <a:solidFill>
                            <a:srgbClr val="000000"/>
                          </a:solidFill>
                          <a:latin typeface="Arial"/>
                          <a:ea typeface="Arial"/>
                          <a:cs typeface="Arial"/>
                          <a:sym typeface="Arial"/>
                        </a:rPr>
                        <a:t>xem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hướng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dẫn</a:t>
                      </a:r>
                      <a:r>
                        <a:rPr lang="en-US" sz="2000" dirty="0">
                          <a:solidFill>
                            <a:srgbClr val="000000"/>
                          </a:solidFill>
                          <a:latin typeface="Arial"/>
                          <a:ea typeface="Arial"/>
                          <a:cs typeface="Arial"/>
                          <a:sym typeface="Arial"/>
                        </a:rPr>
                        <a:t> </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đây</a:t>
                      </a:r>
                      <a:r>
                        <a:rPr lang="en-US" sz="2000" dirty="0">
                          <a:solidFill>
                            <a:srgbClr val="000000"/>
                          </a:solidFill>
                          <a:latin typeface="Arial"/>
                          <a:ea typeface="Arial"/>
                          <a:cs typeface="Arial"/>
                          <a:sym typeface="Arial"/>
                        </a:rPr>
                        <a:t>)</a:t>
                      </a:r>
                      <a:endParaRPr lang="en-US" sz="1100" dirty="0"/>
                    </a:p>
                    <a:p>
                      <a:pPr algn="l">
                        <a:lnSpc>
                          <a:spcPts val="2800"/>
                        </a:lnSpc>
                      </a:pPr>
                      <a:r>
                        <a:rPr lang="en-US" sz="2000" b="1" i="1" u="sng" dirty="0" err="1">
                          <a:solidFill>
                            <a:srgbClr val="000000"/>
                          </a:solidFill>
                          <a:latin typeface="Arial Bold Italics"/>
                          <a:ea typeface="Arial Bold Italics"/>
                          <a:cs typeface="Arial Bold Italics"/>
                          <a:sym typeface="Arial Bold Italics"/>
                        </a:rPr>
                        <a:t>Lưu</a:t>
                      </a:r>
                      <a:r>
                        <a:rPr lang="en-US" sz="2000" b="1" i="1" u="sng" dirty="0">
                          <a:solidFill>
                            <a:srgbClr val="000000"/>
                          </a:solidFill>
                          <a:latin typeface="Arial Bold Italics"/>
                          <a:ea typeface="Arial Bold Italics"/>
                          <a:cs typeface="Arial Bold Italics"/>
                          <a:sym typeface="Arial Bold Italics"/>
                        </a:rPr>
                        <a:t> ý:</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Cần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xác</a:t>
                      </a:r>
                      <a:r>
                        <a:rPr lang="en-US" sz="2000" dirty="0">
                          <a:solidFill>
                            <a:srgbClr val="000000"/>
                          </a:solidFill>
                          <a:latin typeface="Arial"/>
                          <a:ea typeface="Arial"/>
                          <a:cs typeface="Arial"/>
                          <a:sym typeface="Arial"/>
                        </a:rPr>
                        <a:t> nhận KH </a:t>
                      </a: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còn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vấn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đề</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nào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khác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cần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hỗ</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trợ</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trước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thực</a:t>
                      </a:r>
                      <a:r>
                        <a:rPr lang="en-US" sz="2000" dirty="0">
                          <a:solidFill>
                            <a:srgbClr val="000000"/>
                          </a:solidFill>
                          <a:latin typeface="Arial"/>
                          <a:ea typeface="Arial"/>
                          <a:cs typeface="Arial"/>
                          <a:sym typeface="Arial"/>
                        </a:rPr>
                        <a:t> hiện transfer call.</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rowSpan="2">
                  <a:txBody>
                    <a:bodyPr/>
                    <a:lstStyle/>
                    <a:p>
                      <a:pPr algn="l">
                        <a:lnSpc>
                          <a:spcPts val="2666"/>
                        </a:lnSpc>
                        <a:defRPr/>
                      </a:pPr>
                      <a:r>
                        <a:rPr lang="en-US" sz="2000" b="1">
                          <a:solidFill>
                            <a:srgbClr val="000000"/>
                          </a:solidFill>
                          <a:latin typeface="Arial Bold"/>
                          <a:ea typeface="Arial Bold"/>
                          <a:cs typeface="Arial Bold"/>
                          <a:sym typeface="Arial Bold"/>
                        </a:rPr>
                        <a:t>Code: </a:t>
                      </a:r>
                      <a:r>
                        <a:rPr lang="en-US" sz="2000">
                          <a:solidFill>
                            <a:srgbClr val="000000"/>
                          </a:solidFill>
                          <a:latin typeface="Arial"/>
                          <a:ea typeface="Arial"/>
                          <a:cs typeface="Arial"/>
                          <a:sym typeface="Arial"/>
                        </a:rPr>
                        <a:t>RB01-Đăng ký mua BH Banca </a:t>
                      </a:r>
                      <a:r>
                        <a:rPr lang="en-US" sz="2000">
                          <a:solidFill>
                            <a:srgbClr val="FF0000"/>
                          </a:solidFill>
                          <a:latin typeface="Arial"/>
                          <a:ea typeface="Arial"/>
                          <a:cs typeface="Arial"/>
                          <a:sym typeface="Arial"/>
                        </a:rPr>
                        <a:t>=&gt; Close ticket</a:t>
                      </a:r>
                      <a:endParaRPr lang="en-US" sz="1100"/>
                    </a:p>
                    <a:p>
                      <a:pPr algn="l">
                        <a:lnSpc>
                          <a:spcPts val="2666"/>
                        </a:lnSpc>
                      </a:pPr>
                      <a:r>
                        <a:rPr lang="en-US" sz="2000" b="1">
                          <a:solidFill>
                            <a:srgbClr val="000000"/>
                          </a:solidFill>
                          <a:latin typeface="Arial Bold"/>
                          <a:ea typeface="Arial Bold"/>
                          <a:cs typeface="Arial Bold"/>
                          <a:sym typeface="Arial Bold"/>
                        </a:rPr>
                        <a:t>Subcode: </a:t>
                      </a:r>
                      <a:r>
                        <a:rPr lang="en-US" sz="2000">
                          <a:solidFill>
                            <a:srgbClr val="000000"/>
                          </a:solidFill>
                          <a:latin typeface="Arial"/>
                          <a:ea typeface="Arial"/>
                          <a:cs typeface="Arial"/>
                          <a:sym typeface="Arial"/>
                        </a:rPr>
                        <a:t>Tương ứng theo nội dung hỗ trợ</a:t>
                      </a:r>
                    </a:p>
                    <a:p>
                      <a:pPr algn="l">
                        <a:lnSpc>
                          <a:spcPts val="2666"/>
                        </a:lnSpc>
                      </a:pPr>
                      <a:r>
                        <a:rPr lang="en-US" sz="2000" b="1">
                          <a:solidFill>
                            <a:srgbClr val="000000"/>
                          </a:solidFill>
                          <a:latin typeface="Arial Bold"/>
                          <a:ea typeface="Arial Bold"/>
                          <a:cs typeface="Arial Bold"/>
                          <a:sym typeface="Arial Bold"/>
                        </a:rPr>
                        <a:t>Properties:</a:t>
                      </a:r>
                      <a:r>
                        <a:rPr lang="en-US" sz="2000">
                          <a:solidFill>
                            <a:srgbClr val="000000"/>
                          </a:solidFill>
                          <a:latin typeface="Arial"/>
                          <a:ea typeface="Arial"/>
                          <a:cs typeface="Arial"/>
                          <a:sym typeface="Arial"/>
                        </a:rPr>
                        <a:t> Nhập theo yêu cầu</a:t>
                      </a:r>
                    </a:p>
                    <a:p>
                      <a:pPr algn="l">
                        <a:lnSpc>
                          <a:spcPts val="2666"/>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SP BH KH quan tâm - nội dung hỗ trợ</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2199988">
                <a:tc>
                  <a:txBody>
                    <a:bodyPr/>
                    <a:lstStyle/>
                    <a:p>
                      <a:pPr algn="ctr">
                        <a:lnSpc>
                          <a:spcPts val="2800"/>
                        </a:lnSpc>
                        <a:defRPr/>
                      </a:pPr>
                      <a:r>
                        <a:rPr lang="en-US" sz="2000" b="1">
                          <a:solidFill>
                            <a:srgbClr val="000000"/>
                          </a:solidFill>
                          <a:latin typeface="Arial Bold"/>
                          <a:ea typeface="Arial Bold"/>
                          <a:cs typeface="Arial Bold"/>
                          <a:sym typeface="Arial Bold"/>
                        </a:rPr>
                        <a:t>ECOM</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800"/>
                        </a:lnSpc>
                        <a:defRPr/>
                      </a:pPr>
                      <a:r>
                        <a:rPr lang="en-US" sz="2000" b="1" dirty="0" err="1">
                          <a:solidFill>
                            <a:srgbClr val="000000"/>
                          </a:solidFill>
                          <a:latin typeface="Arial Bold"/>
                          <a:ea typeface="Arial Bold"/>
                          <a:cs typeface="Arial Bold"/>
                          <a:sym typeface="Arial Bold"/>
                        </a:rPr>
                        <a:t>Hướng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dẫn</a:t>
                      </a:r>
                      <a:r>
                        <a:rPr lang="en-US" sz="2000" b="1" dirty="0">
                          <a:solidFill>
                            <a:srgbClr val="000000"/>
                          </a:solidFill>
                          <a:latin typeface="Arial Bold"/>
                          <a:ea typeface="Arial Bold"/>
                          <a:cs typeface="Arial Bold"/>
                          <a:sym typeface="Arial Bold"/>
                        </a:rPr>
                        <a:t> KH </a:t>
                      </a:r>
                      <a:r>
                        <a:rPr lang="en-US" sz="2000" b="1" dirty="0" err="1">
                          <a:solidFill>
                            <a:srgbClr val="000000"/>
                          </a:solidFill>
                          <a:latin typeface="Arial Bold"/>
                          <a:ea typeface="Arial Bold"/>
                          <a:cs typeface="Arial Bold"/>
                          <a:sym typeface="Arial Bold"/>
                        </a:rPr>
                        <a:t>liên</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hệ</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tổng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đài</a:t>
                      </a:r>
                      <a:r>
                        <a:rPr lang="en-US" sz="2000" b="1" dirty="0">
                          <a:solidFill>
                            <a:srgbClr val="000000"/>
                          </a:solidFill>
                          <a:latin typeface="Arial Bold"/>
                          <a:ea typeface="Arial Bold"/>
                          <a:cs typeface="Arial Bold"/>
                          <a:sym typeface="Arial Bold"/>
                        </a:rPr>
                        <a:t> Sale </a:t>
                      </a:r>
                      <a:r>
                        <a:rPr lang="en-US" sz="2000" b="1" dirty="0" err="1">
                          <a:solidFill>
                            <a:srgbClr val="000000"/>
                          </a:solidFill>
                          <a:latin typeface="Arial Bold"/>
                          <a:ea typeface="Arial Bold"/>
                          <a:cs typeface="Arial Bold"/>
                          <a:sym typeface="Arial Bold"/>
                        </a:rPr>
                        <a:t>tư</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vấn</a:t>
                      </a:r>
                      <a:r>
                        <a:rPr lang="en-US" sz="2000" b="1" dirty="0">
                          <a:solidFill>
                            <a:srgbClr val="000000"/>
                          </a:solidFill>
                          <a:latin typeface="Arial Bold"/>
                          <a:ea typeface="Arial Bold"/>
                          <a:cs typeface="Arial Bold"/>
                          <a:sym typeface="Arial Bold"/>
                        </a:rPr>
                        <a:t> BH:</a:t>
                      </a:r>
                      <a:endParaRPr lang="en-US" sz="1100" dirty="0"/>
                    </a:p>
                    <a:p>
                      <a:pPr algn="l">
                        <a:lnSpc>
                          <a:spcPts val="2800"/>
                        </a:lnSpc>
                      </a:pPr>
                      <a:r>
                        <a:rPr lang="en-US" sz="2000" dirty="0">
                          <a:solidFill>
                            <a:srgbClr val="000000"/>
                          </a:solidFill>
                          <a:latin typeface="Arial"/>
                          <a:ea typeface="Arial"/>
                          <a:cs typeface="Arial"/>
                          <a:sym typeface="Arial"/>
                        </a:rPr>
                        <a:t>- *5678: </a:t>
                      </a:r>
                      <a:r>
                        <a:rPr lang="en-US" sz="2000" dirty="0" err="1">
                          <a:solidFill>
                            <a:srgbClr val="000000"/>
                          </a:solidFill>
                          <a:latin typeface="Arial"/>
                          <a:ea typeface="Arial"/>
                          <a:cs typeface="Arial"/>
                          <a:sym typeface="Arial"/>
                        </a:rPr>
                        <a:t>Thời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gian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hỗ</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trợ</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từ</a:t>
                      </a:r>
                      <a:r>
                        <a:rPr lang="en-US" sz="2000" dirty="0">
                          <a:solidFill>
                            <a:srgbClr val="000000"/>
                          </a:solidFill>
                          <a:latin typeface="Arial"/>
                          <a:ea typeface="Arial"/>
                          <a:cs typeface="Arial"/>
                          <a:sym typeface="Arial"/>
                        </a:rPr>
                        <a:t> 07:00 – 20:00</a:t>
                      </a:r>
                    </a:p>
                    <a:p>
                      <a:pPr algn="l">
                        <a:lnSpc>
                          <a:spcPts val="2800"/>
                        </a:lnSpc>
                      </a:pPr>
                      <a:r>
                        <a:rPr lang="en-US" sz="2000" dirty="0">
                          <a:solidFill>
                            <a:srgbClr val="000000"/>
                          </a:solidFill>
                          <a:latin typeface="Arial"/>
                          <a:ea typeface="Arial"/>
                          <a:cs typeface="Arial"/>
                          <a:sym typeface="Arial"/>
                        </a:rPr>
                        <a:t>- (028) 39 111 555 </a:t>
                      </a:r>
                      <a:r>
                        <a:rPr lang="en-US" sz="2000" dirty="0" err="1">
                          <a:solidFill>
                            <a:srgbClr val="000000"/>
                          </a:solidFill>
                          <a:latin typeface="Arial"/>
                          <a:ea typeface="Arial"/>
                          <a:cs typeface="Arial"/>
                          <a:sym typeface="Arial"/>
                        </a:rPr>
                        <a:t>hoặc</a:t>
                      </a:r>
                      <a:r>
                        <a:rPr lang="en-US" sz="2000" dirty="0">
                          <a:solidFill>
                            <a:srgbClr val="000000"/>
                          </a:solidFill>
                          <a:latin typeface="Arial"/>
                          <a:ea typeface="Arial"/>
                          <a:cs typeface="Arial"/>
                          <a:sym typeface="Arial"/>
                        </a:rPr>
                        <a:t> (028) 35 51 6868. </a:t>
                      </a:r>
                      <a:r>
                        <a:rPr lang="en-US" sz="2000" dirty="0" err="1">
                          <a:solidFill>
                            <a:srgbClr val="000000"/>
                          </a:solidFill>
                          <a:latin typeface="Arial"/>
                          <a:ea typeface="Arial"/>
                          <a:cs typeface="Arial"/>
                          <a:sym typeface="Arial"/>
                        </a:rPr>
                        <a:t>Thời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gian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hỗ</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trợ</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của</a:t>
                      </a:r>
                      <a:r>
                        <a:rPr lang="en-US" sz="2000" dirty="0">
                          <a:solidFill>
                            <a:srgbClr val="000000"/>
                          </a:solidFill>
                          <a:latin typeface="Arial"/>
                          <a:ea typeface="Arial"/>
                          <a:cs typeface="Arial"/>
                          <a:sym typeface="Arial"/>
                        </a:rPr>
                        <a:t> 2 TĐ </a:t>
                      </a:r>
                      <a:r>
                        <a:rPr lang="en-US" sz="2000" dirty="0" err="1">
                          <a:solidFill>
                            <a:srgbClr val="000000"/>
                          </a:solidFill>
                          <a:latin typeface="Arial"/>
                          <a:ea typeface="Arial"/>
                          <a:cs typeface="Arial"/>
                          <a:sym typeface="Arial"/>
                        </a:rPr>
                        <a:t>trên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Từ</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Thứ</a:t>
                      </a:r>
                      <a:r>
                        <a:rPr lang="en-US" sz="2000" dirty="0">
                          <a:solidFill>
                            <a:srgbClr val="000000"/>
                          </a:solidFill>
                          <a:latin typeface="Arial"/>
                          <a:ea typeface="Arial"/>
                          <a:cs typeface="Arial"/>
                          <a:sym typeface="Arial"/>
                        </a:rPr>
                        <a:t> 2 </a:t>
                      </a:r>
                      <a:r>
                        <a:rPr lang="en-US" sz="2000" dirty="0" err="1">
                          <a:solidFill>
                            <a:srgbClr val="000000"/>
                          </a:solidFill>
                          <a:latin typeface="Arial"/>
                          <a:ea typeface="Arial"/>
                          <a:cs typeface="Arial"/>
                          <a:sym typeface="Arial"/>
                        </a:rPr>
                        <a:t>đến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Thứ</a:t>
                      </a:r>
                      <a:r>
                        <a:rPr lang="en-US" sz="2000" dirty="0">
                          <a:solidFill>
                            <a:srgbClr val="000000"/>
                          </a:solidFill>
                          <a:latin typeface="Arial"/>
                          <a:ea typeface="Arial"/>
                          <a:cs typeface="Arial"/>
                          <a:sym typeface="Arial"/>
                        </a:rPr>
                        <a:t> 6 (08:30-21:00); </a:t>
                      </a:r>
                      <a:r>
                        <a:rPr lang="en-US" sz="2000" dirty="0" err="1">
                          <a:solidFill>
                            <a:srgbClr val="000000"/>
                          </a:solidFill>
                          <a:latin typeface="Arial"/>
                          <a:ea typeface="Arial"/>
                          <a:cs typeface="Arial"/>
                          <a:sym typeface="Arial"/>
                        </a:rPr>
                        <a:t>Thứ</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Chủ</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nhật</a:t>
                      </a:r>
                      <a:r>
                        <a:rPr lang="en-US" sz="2000" dirty="0">
                          <a:solidFill>
                            <a:srgbClr val="000000"/>
                          </a:solidFill>
                          <a:latin typeface="Arial"/>
                          <a:ea typeface="Arial"/>
                          <a:cs typeface="Arial"/>
                          <a:sym typeface="Arial"/>
                        </a:rPr>
                        <a:t> (08:30-19:00). </a:t>
                      </a:r>
                      <a:r>
                        <a:rPr lang="en-US" sz="2000" dirty="0" err="1">
                          <a:solidFill>
                            <a:srgbClr val="000000"/>
                          </a:solidFill>
                          <a:latin typeface="Arial"/>
                          <a:ea typeface="Arial"/>
                          <a:cs typeface="Arial"/>
                          <a:sym typeface="Arial"/>
                        </a:rPr>
                        <a:t>Trừ</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các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ngày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Lễ</a:t>
                      </a:r>
                      <a:r>
                        <a:rPr lang="en-US" sz="2000" dirty="0">
                          <a:solidFill>
                            <a:srgbClr val="000000"/>
                          </a:solidFill>
                          <a:latin typeface="Arial"/>
                          <a:ea typeface="Arial"/>
                          <a:cs typeface="Arial"/>
                          <a:sym typeface="Arial"/>
                        </a:rPr>
                        <a:t>/</a:t>
                      </a:r>
                      <a:r>
                        <a:rPr lang="en-US" sz="2000" dirty="0" err="1">
                          <a:solidFill>
                            <a:srgbClr val="000000"/>
                          </a:solidFill>
                          <a:latin typeface="Arial"/>
                          <a:ea typeface="Arial"/>
                          <a:cs typeface="Arial"/>
                          <a:sym typeface="Arial"/>
                        </a:rPr>
                        <a:t>Tết</a:t>
                      </a:r>
                      <a:r>
                        <a:rPr lang="en-US" sz="2000" dirty="0">
                          <a:solidFill>
                            <a:srgbClr val="000000"/>
                          </a:solidFill>
                          <a:latin typeface="Arial"/>
                          <a:ea typeface="Arial"/>
                          <a:cs typeface="Arial"/>
                          <a:sym typeface="Arial"/>
                        </a:rPr>
                        <a:t>.</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2666"/>
                        </a:lnSpc>
                        <a:defRPr/>
                      </a:pPr>
                      <a:r>
                        <a:rPr lang="en-US" sz="2000" b="1">
                          <a:solidFill>
                            <a:srgbClr val="000000"/>
                          </a:solidFill>
                          <a:latin typeface="Arial Bold"/>
                          <a:ea typeface="Arial Bold"/>
                          <a:cs typeface="Arial Bold"/>
                          <a:sym typeface="Arial Bold"/>
                        </a:rPr>
                        <a:t>Code: </a:t>
                      </a:r>
                      <a:r>
                        <a:rPr lang="en-US" sz="2000">
                          <a:solidFill>
                            <a:srgbClr val="000000"/>
                          </a:solidFill>
                          <a:latin typeface="Arial"/>
                          <a:ea typeface="Arial"/>
                          <a:cs typeface="Arial"/>
                          <a:sym typeface="Arial"/>
                        </a:rPr>
                        <a:t>RB01-Đăng ký mua BH Banca </a:t>
                      </a:r>
                      <a:r>
                        <a:rPr lang="en-US" sz="2000">
                          <a:solidFill>
                            <a:srgbClr val="FF0000"/>
                          </a:solidFill>
                          <a:latin typeface="Arial"/>
                          <a:ea typeface="Arial"/>
                          <a:cs typeface="Arial"/>
                          <a:sym typeface="Arial"/>
                        </a:rPr>
                        <a:t>=&gt; Close ticket</a:t>
                      </a:r>
                      <a:endParaRPr lang="en-US" sz="1100"/>
                    </a:p>
                    <a:p>
                      <a:pPr algn="l">
                        <a:lnSpc>
                          <a:spcPts val="2666"/>
                        </a:lnSpc>
                      </a:pPr>
                      <a:r>
                        <a:rPr lang="en-US" sz="2000" b="1">
                          <a:solidFill>
                            <a:srgbClr val="000000"/>
                          </a:solidFill>
                          <a:latin typeface="Arial Bold"/>
                          <a:ea typeface="Arial Bold"/>
                          <a:cs typeface="Arial Bold"/>
                          <a:sym typeface="Arial Bold"/>
                        </a:rPr>
                        <a:t>Subcode: </a:t>
                      </a:r>
                      <a:r>
                        <a:rPr lang="en-US" sz="2000">
                          <a:solidFill>
                            <a:srgbClr val="000000"/>
                          </a:solidFill>
                          <a:latin typeface="Arial"/>
                          <a:ea typeface="Arial"/>
                          <a:cs typeface="Arial"/>
                          <a:sym typeface="Arial"/>
                        </a:rPr>
                        <a:t>Tương ứng theo nội dung hỗ trợ</a:t>
                      </a:r>
                    </a:p>
                    <a:p>
                      <a:pPr algn="l">
                        <a:lnSpc>
                          <a:spcPts val="2666"/>
                        </a:lnSpc>
                      </a:pPr>
                      <a:r>
                        <a:rPr lang="en-US" sz="2000" b="1">
                          <a:solidFill>
                            <a:srgbClr val="000000"/>
                          </a:solidFill>
                          <a:latin typeface="Arial Bold"/>
                          <a:ea typeface="Arial Bold"/>
                          <a:cs typeface="Arial Bold"/>
                          <a:sym typeface="Arial Bold"/>
                        </a:rPr>
                        <a:t>Properties:</a:t>
                      </a:r>
                      <a:r>
                        <a:rPr lang="en-US" sz="2000">
                          <a:solidFill>
                            <a:srgbClr val="000000"/>
                          </a:solidFill>
                          <a:latin typeface="Arial"/>
                          <a:ea typeface="Arial"/>
                          <a:cs typeface="Arial"/>
                          <a:sym typeface="Arial"/>
                        </a:rPr>
                        <a:t> Nhập theo yêu cầu</a:t>
                      </a:r>
                    </a:p>
                    <a:p>
                      <a:pPr algn="l">
                        <a:lnSpc>
                          <a:spcPts val="2666"/>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SP BH KH quan tâm - nội dung hỗ trợ</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bl>
          </a:graphicData>
        </a:graphic>
      </p:graphicFrame>
      <p:grpSp>
        <p:nvGrpSpPr>
          <p:cNvPr id="3" name="Group 3"/>
          <p:cNvGrpSpPr/>
          <p:nvPr/>
        </p:nvGrpSpPr>
        <p:grpSpPr>
          <a:xfrm>
            <a:off x="15691018" y="9790919"/>
            <a:ext cx="2421922" cy="346996"/>
            <a:chOff x="0" y="0"/>
            <a:chExt cx="3229229" cy="462661"/>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3"/>
              <a:stretch>
                <a:fillRect l="-145" r="-145"/>
              </a:stretch>
            </a:blipFill>
          </p:spPr>
        </p:sp>
      </p:grpSp>
      <p:sp>
        <p:nvSpPr>
          <p:cNvPr id="5" name="Freeform 5"/>
          <p:cNvSpPr/>
          <p:nvPr/>
        </p:nvSpPr>
        <p:spPr>
          <a:xfrm>
            <a:off x="5858" y="-328298"/>
            <a:ext cx="20000147" cy="1306449"/>
          </a:xfrm>
          <a:custGeom>
            <a:avLst/>
            <a:gdLst/>
            <a:ahLst/>
            <a:cxnLst/>
            <a:rect l="l" t="t" r="r" b="b"/>
            <a:pathLst>
              <a:path w="20000147" h="1306449">
                <a:moveTo>
                  <a:pt x="0" y="0"/>
                </a:moveTo>
                <a:lnTo>
                  <a:pt x="20000147" y="0"/>
                </a:lnTo>
                <a:lnTo>
                  <a:pt x="20000147" y="1306449"/>
                </a:lnTo>
                <a:lnTo>
                  <a:pt x="0" y="1306449"/>
                </a:lnTo>
                <a:lnTo>
                  <a:pt x="0" y="0"/>
                </a:lnTo>
                <a:close/>
              </a:path>
            </a:pathLst>
          </a:custGeom>
          <a:blipFill>
            <a:blip r:embed="rId4">
              <a:extLst>
                <a:ext uri="{96DAC541-7B7A-43D3-8B79-37D633B846F1}">
                  <asvg:svgBlip xmlns:asvg="http://schemas.microsoft.com/office/drawing/2016/SVG/main" r:embed="rId5"/>
                </a:ext>
              </a:extLst>
            </a:blip>
            <a:stretch>
              <a:fillRect t="-300" b="-300"/>
            </a:stretch>
          </a:blipFill>
        </p:spPr>
      </p:sp>
      <p:sp>
        <p:nvSpPr>
          <p:cNvPr id="6" name="TextBox 6"/>
          <p:cNvSpPr txBox="1"/>
          <p:nvPr/>
        </p:nvSpPr>
        <p:spPr>
          <a:xfrm>
            <a:off x="4769941" y="133350"/>
            <a:ext cx="8748117" cy="663530"/>
          </a:xfrm>
          <a:prstGeom prst="rect">
            <a:avLst/>
          </a:prstGeom>
        </p:spPr>
        <p:txBody>
          <a:bodyPr lIns="0" tIns="0" rIns="0" bIns="0" rtlCol="0" anchor="t">
            <a:spAutoFit/>
          </a:bodyPr>
          <a:lstStyle/>
          <a:p>
            <a:pPr algn="ctr">
              <a:lnSpc>
                <a:spcPts val="5200"/>
              </a:lnSpc>
            </a:pPr>
            <a:r>
              <a:rPr lang="en-US" sz="3999" b="1">
                <a:solidFill>
                  <a:srgbClr val="000000"/>
                </a:solidFill>
                <a:latin typeface="Arial Bold"/>
                <a:ea typeface="Arial Bold"/>
                <a:cs typeface="Arial Bold"/>
                <a:sym typeface="Arial Bold"/>
              </a:rPr>
              <a:t>ĐĂNG KÝ MUA / TÁI TỤC BẢO HIỂM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572399902"/>
              </p:ext>
            </p:extLst>
          </p:nvPr>
        </p:nvGraphicFramePr>
        <p:xfrm>
          <a:off x="203200" y="1232949"/>
          <a:ext cx="17881601" cy="7814021"/>
        </p:xfrm>
        <a:graphic>
          <a:graphicData uri="http://schemas.openxmlformats.org/drawingml/2006/table">
            <a:tbl>
              <a:tblPr/>
              <a:tblGrid>
                <a:gridCol w="4406567">
                  <a:extLst>
                    <a:ext uri="{9D8B030D-6E8A-4147-A177-3AD203B41FA5}">
                      <a16:colId xmlns:a16="http://schemas.microsoft.com/office/drawing/2014/main" val="20000"/>
                    </a:ext>
                  </a:extLst>
                </a:gridCol>
                <a:gridCol w="9451080">
                  <a:extLst>
                    <a:ext uri="{9D8B030D-6E8A-4147-A177-3AD203B41FA5}">
                      <a16:colId xmlns:a16="http://schemas.microsoft.com/office/drawing/2014/main" val="20001"/>
                    </a:ext>
                  </a:extLst>
                </a:gridCol>
                <a:gridCol w="4023954">
                  <a:extLst>
                    <a:ext uri="{9D8B030D-6E8A-4147-A177-3AD203B41FA5}">
                      <a16:colId xmlns:a16="http://schemas.microsoft.com/office/drawing/2014/main" val="20002"/>
                    </a:ext>
                  </a:extLst>
                </a:gridCol>
              </a:tblGrid>
              <a:tr h="775305">
                <a:tc>
                  <a:txBody>
                    <a:bodyPr/>
                    <a:lstStyle/>
                    <a:p>
                      <a:pPr algn="ctr">
                        <a:lnSpc>
                          <a:spcPts val="3750"/>
                        </a:lnSpc>
                        <a:defRPr/>
                      </a:pPr>
                      <a:r>
                        <a:rPr lang="en-US" sz="2000" b="1" spc="12">
                          <a:solidFill>
                            <a:srgbClr val="FFFFFF"/>
                          </a:solidFill>
                          <a:latin typeface="Arial Bold"/>
                          <a:ea typeface="Arial Bold"/>
                          <a:cs typeface="Arial Bold"/>
                          <a:sym typeface="Arial Bold"/>
                        </a:rPr>
                        <a:t>BƯỚC</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dirty="0">
                          <a:solidFill>
                            <a:srgbClr val="FFFFFF"/>
                          </a:solidFill>
                          <a:latin typeface="Arial Bold"/>
                          <a:ea typeface="Arial Bold"/>
                          <a:cs typeface="Arial Bold"/>
                          <a:sym typeface="Arial Bold"/>
                        </a:rPr>
                        <a:t>HƯỚNG DẪN XỬ LÝ </a:t>
                      </a:r>
                      <a:endParaRPr lang="en-US" sz="1100" dirty="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a:solidFill>
                            <a:srgbClr val="FFFFFF"/>
                          </a:solidFill>
                          <a:latin typeface="Arial Bold"/>
                          <a:ea typeface="Arial Bold"/>
                          <a:cs typeface="Arial Bold"/>
                          <a:sym typeface="Arial Bold"/>
                        </a:rPr>
                        <a:t>CODE/ REMARK</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1539662">
                <a:tc>
                  <a:txBody>
                    <a:bodyPr/>
                    <a:lstStyle/>
                    <a:p>
                      <a:pPr algn="l">
                        <a:lnSpc>
                          <a:spcPts val="2800"/>
                        </a:lnSpc>
                        <a:defRPr/>
                      </a:pPr>
                      <a:r>
                        <a:rPr lang="en-US" sz="2000" b="1" dirty="0" err="1">
                          <a:solidFill>
                            <a:srgbClr val="000000"/>
                          </a:solidFill>
                          <a:latin typeface="Arial Bold"/>
                          <a:ea typeface="Arial Bold"/>
                          <a:cs typeface="Arial Bold"/>
                          <a:sym typeface="Arial Bold"/>
                        </a:rPr>
                        <a:t>Bước</a:t>
                      </a:r>
                      <a:r>
                        <a:rPr lang="en-US" sz="2000" b="1" dirty="0">
                          <a:solidFill>
                            <a:srgbClr val="000000"/>
                          </a:solidFill>
                          <a:latin typeface="Arial Bold"/>
                          <a:ea typeface="Arial Bold"/>
                          <a:cs typeface="Arial Bold"/>
                          <a:sym typeface="Arial Bold"/>
                        </a:rPr>
                        <a:t> 1. </a:t>
                      </a:r>
                      <a:r>
                        <a:rPr lang="en-US" sz="2000" b="1" dirty="0" err="1">
                          <a:solidFill>
                            <a:srgbClr val="000000"/>
                          </a:solidFill>
                          <a:latin typeface="Arial Bold"/>
                          <a:ea typeface="Arial Bold"/>
                          <a:cs typeface="Arial Bold"/>
                          <a:sym typeface="Arial Bold"/>
                        </a:rPr>
                        <a:t>Tải</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ứng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dụng</a:t>
                      </a:r>
                      <a:r>
                        <a:rPr lang="en-US" sz="2000" b="1" dirty="0">
                          <a:solidFill>
                            <a:srgbClr val="000000"/>
                          </a:solidFill>
                          <a:latin typeface="Arial Bold"/>
                          <a:ea typeface="Arial Bold"/>
                          <a:cs typeface="Arial Bold"/>
                          <a:sym typeface="Arial Bold"/>
                        </a:rPr>
                        <a:t> IZION 24</a:t>
                      </a:r>
                      <a:endParaRPr lang="en-US" sz="1100" dirty="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800"/>
                        </a:lnSpc>
                        <a:defRPr/>
                      </a:pPr>
                      <a:r>
                        <a:rPr lang="en-US" sz="2000" dirty="0">
                          <a:solidFill>
                            <a:srgbClr val="000000"/>
                          </a:solidFill>
                          <a:latin typeface="Arial"/>
                          <a:ea typeface="Arial"/>
                          <a:cs typeface="Arial"/>
                          <a:sym typeface="Arial"/>
                        </a:rPr>
                        <a:t>KH </a:t>
                      </a:r>
                      <a:r>
                        <a:rPr lang="en-US" sz="2000" dirty="0" err="1">
                          <a:solidFill>
                            <a:srgbClr val="000000"/>
                          </a:solidFill>
                          <a:latin typeface="Arial"/>
                          <a:ea typeface="Arial"/>
                          <a:cs typeface="Arial"/>
                          <a:sym typeface="Arial"/>
                        </a:rPr>
                        <a:t>cần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tải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ứng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dụng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Izion</a:t>
                      </a:r>
                      <a:r>
                        <a:rPr lang="en-US" sz="2000" dirty="0">
                          <a:solidFill>
                            <a:srgbClr val="000000"/>
                          </a:solidFill>
                          <a:latin typeface="Arial"/>
                          <a:ea typeface="Arial"/>
                          <a:cs typeface="Arial"/>
                          <a:sym typeface="Arial"/>
                        </a:rPr>
                        <a:t> 24 </a:t>
                      </a:r>
                      <a:r>
                        <a:rPr lang="en-US" sz="2000" dirty="0" err="1">
                          <a:solidFill>
                            <a:srgbClr val="000000"/>
                          </a:solidFill>
                          <a:latin typeface="Arial"/>
                          <a:ea typeface="Arial"/>
                          <a:cs typeface="Arial"/>
                          <a:sym typeface="Arial"/>
                        </a:rPr>
                        <a:t>và</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đăng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 </a:t>
                      </a:r>
                      <a:r>
                        <a:rPr lang="en-US" sz="2000" dirty="0" err="1">
                          <a:solidFill>
                            <a:srgbClr val="000000"/>
                          </a:solidFill>
                          <a:latin typeface="Arial"/>
                          <a:ea typeface="Arial"/>
                          <a:cs typeface="Arial"/>
                          <a:sym typeface="Arial"/>
                        </a:rPr>
                        <a:t>Hướng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dẫn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sử</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dụng</a:t>
                      </a:r>
                      <a:r>
                        <a:rPr lang="en-US" sz="2000" dirty="0">
                          <a:solidFill>
                            <a:srgbClr val="000000"/>
                          </a:solidFill>
                          <a:latin typeface="Arial"/>
                          <a:ea typeface="Arial"/>
                          <a:cs typeface="Arial"/>
                          <a:sym typeface="Arial"/>
                        </a:rPr>
                        <a:t> app IZION24 </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đây</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a:t>
                      </a:r>
                      <a:endParaRPr lang="en-US" sz="2000" b="1" i="1" u="sng" kern="1200" dirty="0">
                        <a:solidFill>
                          <a:srgbClr val="65B444"/>
                        </a:solidFill>
                        <a:latin typeface="Arial Bold Italics"/>
                        <a:cs typeface="Arial Bold Italics"/>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rowSpan="4">
                  <a:txBody>
                    <a:bodyPr/>
                    <a:lstStyle/>
                    <a:p>
                      <a:pPr algn="l">
                        <a:lnSpc>
                          <a:spcPts val="2800"/>
                        </a:lnSpc>
                        <a:defRPr/>
                      </a:pPr>
                      <a:r>
                        <a:rPr lang="en-US" sz="2000" b="1">
                          <a:solidFill>
                            <a:srgbClr val="000000"/>
                          </a:solidFill>
                          <a:latin typeface="Arial Bold"/>
                          <a:ea typeface="Arial Bold"/>
                          <a:cs typeface="Arial Bold"/>
                          <a:sym typeface="Arial Bold"/>
                        </a:rPr>
                        <a:t>Code:</a:t>
                      </a:r>
                      <a:r>
                        <a:rPr lang="en-US" sz="2000">
                          <a:solidFill>
                            <a:srgbClr val="000000"/>
                          </a:solidFill>
                          <a:latin typeface="Arial"/>
                          <a:ea typeface="Arial"/>
                          <a:cs typeface="Arial"/>
                          <a:sym typeface="Arial"/>
                        </a:rPr>
                        <a:t> IB01-Bảo hiểm Banca</a:t>
                      </a:r>
                      <a:endParaRPr lang="en-US" sz="1100"/>
                    </a:p>
                    <a:p>
                      <a:pPr algn="l">
                        <a:lnSpc>
                          <a:spcPts val="2800"/>
                        </a:lnSpc>
                      </a:pPr>
                      <a:r>
                        <a:rPr lang="en-US" sz="2000" b="1">
                          <a:solidFill>
                            <a:srgbClr val="000000"/>
                          </a:solidFill>
                          <a:latin typeface="Arial Bold"/>
                          <a:ea typeface="Arial Bold"/>
                          <a:cs typeface="Arial Bold"/>
                          <a:sym typeface="Arial Bold"/>
                        </a:rPr>
                        <a:t>Subcode:</a:t>
                      </a:r>
                      <a:r>
                        <a:rPr lang="en-US" sz="2000">
                          <a:solidFill>
                            <a:srgbClr val="000000"/>
                          </a:solidFill>
                          <a:latin typeface="Arial"/>
                          <a:ea typeface="Arial"/>
                          <a:cs typeface="Arial"/>
                          <a:sym typeface="Arial"/>
                        </a:rPr>
                        <a:t> IB01.02-Quy trình Đăng ký BH</a:t>
                      </a:r>
                    </a:p>
                    <a:p>
                      <a:pPr algn="l">
                        <a:lnSpc>
                          <a:spcPts val="2800"/>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nội dung hỗ trợ</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1122343">
                <a:tc>
                  <a:txBody>
                    <a:bodyPr/>
                    <a:lstStyle/>
                    <a:p>
                      <a:pPr algn="l">
                        <a:lnSpc>
                          <a:spcPts val="2800"/>
                        </a:lnSpc>
                        <a:defRPr/>
                      </a:pPr>
                      <a:r>
                        <a:rPr lang="en-US" sz="2000" b="1" dirty="0" err="1">
                          <a:solidFill>
                            <a:srgbClr val="000000"/>
                          </a:solidFill>
                          <a:latin typeface="Arial Bold"/>
                          <a:ea typeface="Arial Bold"/>
                          <a:cs typeface="Arial Bold"/>
                          <a:sym typeface="Arial Bold"/>
                        </a:rPr>
                        <a:t>Bước</a:t>
                      </a:r>
                      <a:r>
                        <a:rPr lang="en-US" sz="2000" b="1" dirty="0">
                          <a:solidFill>
                            <a:srgbClr val="000000"/>
                          </a:solidFill>
                          <a:latin typeface="Arial Bold"/>
                          <a:ea typeface="Arial Bold"/>
                          <a:cs typeface="Arial Bold"/>
                          <a:sym typeface="Arial Bold"/>
                        </a:rPr>
                        <a:t> 2. </a:t>
                      </a:r>
                      <a:r>
                        <a:rPr lang="en-US" sz="2000" b="1" dirty="0" err="1">
                          <a:solidFill>
                            <a:srgbClr val="000000"/>
                          </a:solidFill>
                          <a:latin typeface="Arial Bold"/>
                          <a:ea typeface="Arial Bold"/>
                          <a:cs typeface="Arial Bold"/>
                          <a:sym typeface="Arial Bold"/>
                        </a:rPr>
                        <a:t>Ký</a:t>
                      </a:r>
                      <a:r>
                        <a:rPr lang="en-US" sz="2000" b="1" dirty="0">
                          <a:solidFill>
                            <a:srgbClr val="000000"/>
                          </a:solidFill>
                          <a:latin typeface="Arial Bold"/>
                          <a:ea typeface="Arial Bold"/>
                          <a:cs typeface="Arial Bold"/>
                          <a:sym typeface="Arial Bold"/>
                        </a:rPr>
                        <a:t> HĐ </a:t>
                      </a:r>
                      <a:r>
                        <a:rPr lang="en-US" sz="2000" b="1" dirty="0" err="1">
                          <a:solidFill>
                            <a:srgbClr val="000000"/>
                          </a:solidFill>
                          <a:latin typeface="Arial Bold"/>
                          <a:ea typeface="Arial Bold"/>
                          <a:cs typeface="Arial Bold"/>
                          <a:sym typeface="Arial Bold"/>
                        </a:rPr>
                        <a:t>điện</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tử</a:t>
                      </a:r>
                      <a:endParaRPr lang="en-US" sz="1100" dirty="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800"/>
                        </a:lnSpc>
                        <a:defRPr/>
                      </a:pPr>
                      <a:r>
                        <a:rPr lang="en-US" sz="2000" dirty="0">
                          <a:solidFill>
                            <a:srgbClr val="000000"/>
                          </a:solidFill>
                          <a:latin typeface="Arial"/>
                          <a:ea typeface="Arial"/>
                          <a:cs typeface="Arial"/>
                          <a:sym typeface="Arial"/>
                        </a:rPr>
                        <a:t>KH </a:t>
                      </a:r>
                      <a:r>
                        <a:rPr lang="en-US" sz="2000" dirty="0" err="1">
                          <a:solidFill>
                            <a:srgbClr val="000000"/>
                          </a:solidFill>
                          <a:latin typeface="Arial"/>
                          <a:ea typeface="Arial"/>
                          <a:cs typeface="Arial"/>
                          <a:sym typeface="Arial"/>
                        </a:rPr>
                        <a:t>sẽ</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kiểm</a:t>
                      </a:r>
                      <a:r>
                        <a:rPr lang="en-US" sz="2000" dirty="0">
                          <a:solidFill>
                            <a:srgbClr val="000000"/>
                          </a:solidFill>
                          <a:latin typeface="Arial"/>
                          <a:ea typeface="Arial"/>
                          <a:cs typeface="Arial"/>
                          <a:sym typeface="Arial"/>
                        </a:rPr>
                        <a:t> tra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 HĐ trên </a:t>
                      </a:r>
                      <a:r>
                        <a:rPr lang="en-US" sz="2000" dirty="0" err="1">
                          <a:solidFill>
                            <a:srgbClr val="000000"/>
                          </a:solidFill>
                          <a:latin typeface="Arial"/>
                          <a:ea typeface="Arial"/>
                          <a:cs typeface="Arial"/>
                          <a:sym typeface="Arial"/>
                        </a:rPr>
                        <a:t>ứng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dụng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và</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tiến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hành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kí</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hợp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đồng</a:t>
                      </a:r>
                      <a:r>
                        <a:rPr lang="en-US" sz="2000" dirty="0">
                          <a:solidFill>
                            <a:srgbClr val="000000"/>
                          </a:solidFill>
                          <a:latin typeface="Arial"/>
                          <a:ea typeface="Arial"/>
                          <a:cs typeface="Arial"/>
                          <a:sym typeface="Arial"/>
                        </a:rPr>
                        <a:t>. </a:t>
                      </a:r>
                      <a:endParaRPr lang="en-US" sz="1100" dirty="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2800"/>
                        </a:lnSpc>
                        <a:defRPr/>
                      </a:pPr>
                      <a:r>
                        <a:rPr lang="en-US" sz="2000" b="1">
                          <a:solidFill>
                            <a:srgbClr val="000000"/>
                          </a:solidFill>
                          <a:latin typeface="Arial Bold"/>
                          <a:ea typeface="Arial Bold"/>
                          <a:cs typeface="Arial Bold"/>
                          <a:sym typeface="Arial Bold"/>
                        </a:rPr>
                        <a:t>Code:</a:t>
                      </a:r>
                      <a:r>
                        <a:rPr lang="en-US" sz="2000">
                          <a:solidFill>
                            <a:srgbClr val="000000"/>
                          </a:solidFill>
                          <a:latin typeface="Arial"/>
                          <a:ea typeface="Arial"/>
                          <a:cs typeface="Arial"/>
                          <a:sym typeface="Arial"/>
                        </a:rPr>
                        <a:t> IB01-Bảo hiểm Banca</a:t>
                      </a:r>
                      <a:endParaRPr lang="en-US" sz="1100"/>
                    </a:p>
                    <a:p>
                      <a:pPr algn="l">
                        <a:lnSpc>
                          <a:spcPts val="2800"/>
                        </a:lnSpc>
                      </a:pPr>
                      <a:r>
                        <a:rPr lang="en-US" sz="2000" b="1">
                          <a:solidFill>
                            <a:srgbClr val="000000"/>
                          </a:solidFill>
                          <a:latin typeface="Arial Bold"/>
                          <a:ea typeface="Arial Bold"/>
                          <a:cs typeface="Arial Bold"/>
                          <a:sym typeface="Arial Bold"/>
                        </a:rPr>
                        <a:t>Subcode:</a:t>
                      </a:r>
                      <a:r>
                        <a:rPr lang="en-US" sz="2000">
                          <a:solidFill>
                            <a:srgbClr val="000000"/>
                          </a:solidFill>
                          <a:latin typeface="Arial"/>
                          <a:ea typeface="Arial"/>
                          <a:cs typeface="Arial"/>
                          <a:sym typeface="Arial"/>
                        </a:rPr>
                        <a:t> IB01.02-Quy trình Đăng ký BH</a:t>
                      </a:r>
                    </a:p>
                    <a:p>
                      <a:pPr algn="l">
                        <a:lnSpc>
                          <a:spcPts val="2800"/>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nội dung hỗ trợ</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r h="2900216">
                <a:tc>
                  <a:txBody>
                    <a:bodyPr/>
                    <a:lstStyle/>
                    <a:p>
                      <a:pPr algn="l">
                        <a:lnSpc>
                          <a:spcPts val="2800"/>
                        </a:lnSpc>
                        <a:defRPr/>
                      </a:pPr>
                      <a:r>
                        <a:rPr lang="en-US" sz="2000" b="1" dirty="0" err="1">
                          <a:solidFill>
                            <a:srgbClr val="000000"/>
                          </a:solidFill>
                          <a:latin typeface="Arial Bold"/>
                          <a:ea typeface="Arial Bold"/>
                          <a:cs typeface="Arial Bold"/>
                          <a:sym typeface="Arial Bold"/>
                        </a:rPr>
                        <a:t>Bước</a:t>
                      </a:r>
                      <a:r>
                        <a:rPr lang="en-US" sz="2000" b="1" dirty="0">
                          <a:solidFill>
                            <a:srgbClr val="000000"/>
                          </a:solidFill>
                          <a:latin typeface="Arial Bold"/>
                          <a:ea typeface="Arial Bold"/>
                          <a:cs typeface="Arial Bold"/>
                          <a:sym typeface="Arial Bold"/>
                        </a:rPr>
                        <a:t> 3. Thanh </a:t>
                      </a:r>
                      <a:r>
                        <a:rPr lang="en-US" sz="2000" b="1" dirty="0" err="1">
                          <a:solidFill>
                            <a:srgbClr val="000000"/>
                          </a:solidFill>
                          <a:latin typeface="Arial Bold"/>
                          <a:ea typeface="Arial Bold"/>
                          <a:cs typeface="Arial Bold"/>
                          <a:sym typeface="Arial Bold"/>
                        </a:rPr>
                        <a:t>toán</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phí</a:t>
                      </a:r>
                      <a:r>
                        <a:rPr lang="en-US" sz="2000" b="1" dirty="0">
                          <a:solidFill>
                            <a:srgbClr val="000000"/>
                          </a:solidFill>
                          <a:latin typeface="Arial Bold"/>
                          <a:ea typeface="Arial Bold"/>
                          <a:cs typeface="Arial Bold"/>
                          <a:sym typeface="Arial Bold"/>
                        </a:rPr>
                        <a:t> BH</a:t>
                      </a:r>
                      <a:endParaRPr lang="en-US" sz="1100" dirty="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800"/>
                        </a:lnSpc>
                        <a:defRPr/>
                      </a:pPr>
                      <a:r>
                        <a:rPr lang="en-US" sz="2000" dirty="0">
                          <a:solidFill>
                            <a:srgbClr val="000000"/>
                          </a:solidFill>
                          <a:latin typeface="Arial"/>
                          <a:ea typeface="Arial"/>
                          <a:cs typeface="Arial"/>
                          <a:sym typeface="Arial"/>
                        </a:rPr>
                        <a:t>Thanh </a:t>
                      </a:r>
                      <a:r>
                        <a:rPr lang="en-US" sz="2000" dirty="0" err="1">
                          <a:solidFill>
                            <a:srgbClr val="000000"/>
                          </a:solidFill>
                          <a:latin typeface="Arial"/>
                          <a:ea typeface="Arial"/>
                          <a:cs typeface="Arial"/>
                          <a:sym typeface="Arial"/>
                        </a:rPr>
                        <a:t>toán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phí</a:t>
                      </a:r>
                      <a:r>
                        <a:rPr lang="en-US" sz="2000" dirty="0">
                          <a:solidFill>
                            <a:srgbClr val="000000"/>
                          </a:solidFill>
                          <a:latin typeface="Arial"/>
                          <a:ea typeface="Arial"/>
                          <a:cs typeface="Arial"/>
                          <a:sym typeface="Arial"/>
                        </a:rPr>
                        <a:t> BH để nhận HĐBH, KH </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thể</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thanh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toán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theo</a:t>
                      </a:r>
                      <a:r>
                        <a:rPr lang="en-US" sz="2000" dirty="0">
                          <a:solidFill>
                            <a:srgbClr val="000000"/>
                          </a:solidFill>
                          <a:latin typeface="Arial"/>
                          <a:ea typeface="Arial"/>
                          <a:cs typeface="Arial"/>
                          <a:sym typeface="Arial"/>
                        </a:rPr>
                        <a:t> 1 </a:t>
                      </a:r>
                      <a:r>
                        <a:rPr lang="en-US" sz="2000" dirty="0" err="1">
                          <a:solidFill>
                            <a:srgbClr val="000000"/>
                          </a:solidFill>
                          <a:latin typeface="Arial"/>
                          <a:ea typeface="Arial"/>
                          <a:cs typeface="Arial"/>
                          <a:sym typeface="Arial"/>
                        </a:rPr>
                        <a:t>trong</a:t>
                      </a:r>
                      <a:r>
                        <a:rPr lang="en-US" sz="2000" dirty="0">
                          <a:solidFill>
                            <a:srgbClr val="000000"/>
                          </a:solidFill>
                          <a:latin typeface="Arial"/>
                          <a:ea typeface="Arial"/>
                          <a:cs typeface="Arial"/>
                          <a:sym typeface="Arial"/>
                        </a:rPr>
                        <a:t> 2 </a:t>
                      </a:r>
                      <a:r>
                        <a:rPr lang="en-US" sz="2000" dirty="0" err="1">
                          <a:solidFill>
                            <a:srgbClr val="000000"/>
                          </a:solidFill>
                          <a:latin typeface="Arial"/>
                          <a:ea typeface="Arial"/>
                          <a:cs typeface="Arial"/>
                          <a:sym typeface="Arial"/>
                        </a:rPr>
                        <a:t>cách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sau</a:t>
                      </a:r>
                      <a:r>
                        <a:rPr lang="en-US" sz="2000" dirty="0">
                          <a:solidFill>
                            <a:srgbClr val="000000"/>
                          </a:solidFill>
                          <a:latin typeface="Arial"/>
                          <a:ea typeface="Arial"/>
                          <a:cs typeface="Arial"/>
                          <a:sym typeface="Arial"/>
                        </a:rPr>
                        <a:t>:</a:t>
                      </a:r>
                      <a:endParaRPr lang="en-US" sz="1100" dirty="0"/>
                    </a:p>
                    <a:p>
                      <a:pPr marL="817035" lvl="3" indent="-204259" algn="l">
                        <a:lnSpc>
                          <a:spcPts val="2800"/>
                        </a:lnSpc>
                        <a:buFont typeface="Arial"/>
                        <a:buChar char="￭"/>
                      </a:pPr>
                      <a:r>
                        <a:rPr lang="en-US" sz="2000" dirty="0">
                          <a:solidFill>
                            <a:srgbClr val="000000"/>
                          </a:solidFill>
                          <a:latin typeface="Arial"/>
                          <a:ea typeface="Arial"/>
                          <a:cs typeface="Arial"/>
                          <a:sym typeface="Arial"/>
                        </a:rPr>
                        <a:t>Thanh </a:t>
                      </a:r>
                      <a:r>
                        <a:rPr lang="en-US" sz="2000" dirty="0" err="1">
                          <a:solidFill>
                            <a:srgbClr val="000000"/>
                          </a:solidFill>
                          <a:latin typeface="Arial"/>
                          <a:ea typeface="Arial"/>
                          <a:cs typeface="Arial"/>
                          <a:sym typeface="Arial"/>
                        </a:rPr>
                        <a:t>toán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bằng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Mã</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thanh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toán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IZIxxx</a:t>
                      </a:r>
                      <a:r>
                        <a:rPr lang="en-US" sz="2000" dirty="0">
                          <a:solidFill>
                            <a:srgbClr val="000000"/>
                          </a:solidFill>
                          <a:latin typeface="Arial"/>
                          <a:ea typeface="Arial"/>
                          <a:cs typeface="Arial"/>
                          <a:sym typeface="Arial"/>
                        </a:rPr>
                        <a:t>): Thanh </a:t>
                      </a:r>
                      <a:r>
                        <a:rPr lang="en-US" sz="2000" dirty="0" err="1">
                          <a:solidFill>
                            <a:srgbClr val="000000"/>
                          </a:solidFill>
                          <a:latin typeface="Arial"/>
                          <a:ea typeface="Arial"/>
                          <a:cs typeface="Arial"/>
                          <a:sym typeface="Arial"/>
                        </a:rPr>
                        <a:t>toán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tại</a:t>
                      </a:r>
                      <a:r>
                        <a:rPr lang="en-US" sz="2000" dirty="0">
                          <a:solidFill>
                            <a:srgbClr val="000000"/>
                          </a:solidFill>
                          <a:latin typeface="Arial"/>
                          <a:ea typeface="Arial"/>
                          <a:cs typeface="Arial"/>
                          <a:sym typeface="Arial"/>
                        </a:rPr>
                        <a:t> Điểm </a:t>
                      </a:r>
                      <a:r>
                        <a:rPr lang="en-US" sz="2000" dirty="0" err="1">
                          <a:solidFill>
                            <a:srgbClr val="000000"/>
                          </a:solidFill>
                          <a:latin typeface="Arial"/>
                          <a:ea typeface="Arial"/>
                          <a:cs typeface="Arial"/>
                          <a:sym typeface="Arial"/>
                        </a:rPr>
                        <a:t>thu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hộ</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Ví</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điện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tử</a:t>
                      </a:r>
                      <a:r>
                        <a:rPr lang="en-US" sz="2000" dirty="0">
                          <a:solidFill>
                            <a:srgbClr val="000000"/>
                          </a:solidFill>
                          <a:latin typeface="Arial"/>
                          <a:ea typeface="Arial"/>
                          <a:cs typeface="Arial"/>
                          <a:sym typeface="Arial"/>
                        </a:rPr>
                        <a:t> </a:t>
                      </a:r>
                      <a:r>
                        <a:rPr lang="en-US" sz="2000" b="1" i="1" u="sng" kern="1200" dirty="0">
                          <a:solidFill>
                            <a:srgbClr val="65B444"/>
                          </a:solidFill>
                          <a:latin typeface="Arial Bold Italics"/>
                          <a:ea typeface="Arial Bold Italics"/>
                          <a:cs typeface="Arial Bold Italics"/>
                          <a:sym typeface="Arial Bold Italics"/>
                          <a:hlinkClick r:id="rId3" action="ppaction://hlinkfile">
                            <a:extLst>
                              <a:ext uri="{A12FA001-AC4F-418D-AE19-62706E023703}">
                                <ahyp:hlinkClr xmlns:ahyp="http://schemas.microsoft.com/office/drawing/2018/hyperlinkcolor" val="tx"/>
                              </a:ext>
                            </a:extLst>
                          </a:hlinkClick>
                        </a:rPr>
                        <a:t>(</a:t>
                      </a:r>
                      <a:r>
                        <a:rPr lang="en-US" sz="2000" b="1" i="1" u="sng" kern="1200" dirty="0" err="1">
                          <a:solidFill>
                            <a:srgbClr val="65B444"/>
                          </a:solidFill>
                          <a:latin typeface="Arial Bold Italics"/>
                          <a:ea typeface="Arial Bold Italics"/>
                          <a:cs typeface="Arial Bold Italics"/>
                          <a:sym typeface="Arial Bold Italics"/>
                          <a:hlinkClick r:id="rId3"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3"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3"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3"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3" action="ppaction://hlinkfile">
                            <a:extLst>
                              <a:ext uri="{A12FA001-AC4F-418D-AE19-62706E023703}">
                                <ahyp:hlinkClr xmlns:ahyp="http://schemas.microsoft.com/office/drawing/2018/hyperlinkcolor" val="tx"/>
                              </a:ext>
                            </a:extLst>
                          </a:hlinkClick>
                        </a:rPr>
                        <a:t>đây</a:t>
                      </a:r>
                      <a:r>
                        <a:rPr lang="en-US" sz="2000" b="1" i="1" u="sng" kern="1200" dirty="0">
                          <a:solidFill>
                            <a:srgbClr val="65B444"/>
                          </a:solidFill>
                          <a:latin typeface="Arial Bold Italics"/>
                          <a:ea typeface="Arial Bold Italics"/>
                          <a:cs typeface="Arial Bold Italics"/>
                          <a:sym typeface="Arial Bold Italics"/>
                          <a:hlinkClick r:id="rId3" action="ppaction://hlinkfile">
                            <a:extLst>
                              <a:ext uri="{A12FA001-AC4F-418D-AE19-62706E023703}">
                                <ahyp:hlinkClr xmlns:ahyp="http://schemas.microsoft.com/office/drawing/2018/hyperlinkcolor" val="tx"/>
                              </a:ext>
                            </a:extLst>
                          </a:hlinkClick>
                        </a:rPr>
                        <a:t>)</a:t>
                      </a:r>
                      <a:endParaRPr lang="en-US" sz="2000" b="1" i="1" u="sng" kern="1200" dirty="0">
                        <a:solidFill>
                          <a:srgbClr val="65B444"/>
                        </a:solidFill>
                        <a:latin typeface="Arial Bold Italics"/>
                        <a:ea typeface="Arial Bold Italics"/>
                        <a:cs typeface="Arial Bold Italics"/>
                        <a:sym typeface="Arial Bold Italics"/>
                      </a:endParaRPr>
                    </a:p>
                    <a:p>
                      <a:pPr marL="817035" lvl="3" indent="-204259" algn="l" defTabSz="914400" rtl="0" eaLnBrk="1" latinLnBrk="0" hangingPunct="1">
                        <a:lnSpc>
                          <a:spcPts val="2800"/>
                        </a:lnSpc>
                        <a:buFont typeface="Arial"/>
                        <a:buChar char="￭"/>
                      </a:pPr>
                      <a:r>
                        <a:rPr lang="en-US" sz="2000" dirty="0">
                          <a:solidFill>
                            <a:srgbClr val="000000"/>
                          </a:solidFill>
                          <a:latin typeface="Arial"/>
                          <a:ea typeface="Arial"/>
                          <a:cs typeface="Arial"/>
                          <a:sym typeface="Arial"/>
                        </a:rPr>
                        <a:t>Thanh </a:t>
                      </a:r>
                      <a:r>
                        <a:rPr lang="en-US" sz="2000" dirty="0" err="1">
                          <a:solidFill>
                            <a:srgbClr val="000000"/>
                          </a:solidFill>
                          <a:latin typeface="Arial"/>
                          <a:ea typeface="Arial"/>
                          <a:cs typeface="Arial"/>
                          <a:sym typeface="Arial"/>
                        </a:rPr>
                        <a:t>toán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trực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tuyến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từ</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ứng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dụng</a:t>
                      </a:r>
                      <a:r>
                        <a:rPr lang="en-US" sz="2000" dirty="0">
                          <a:solidFill>
                            <a:srgbClr val="000000"/>
                          </a:solidFill>
                          <a:latin typeface="Arial"/>
                          <a:ea typeface="Arial"/>
                          <a:cs typeface="Arial"/>
                          <a:sym typeface="Arial"/>
                        </a:rPr>
                        <a:t> IZION24: Thanh </a:t>
                      </a:r>
                      <a:r>
                        <a:rPr lang="en-US" sz="2000" dirty="0" err="1">
                          <a:solidFill>
                            <a:srgbClr val="000000"/>
                          </a:solidFill>
                          <a:latin typeface="Arial"/>
                          <a:ea typeface="Arial"/>
                          <a:cs typeface="Arial"/>
                          <a:sym typeface="Arial"/>
                        </a:rPr>
                        <a:t>toán</a:t>
                      </a:r>
                      <a:r>
                        <a:rPr lang="en-US" sz="2000" dirty="0">
                          <a:solidFill>
                            <a:srgbClr val="000000"/>
                          </a:solidFill>
                          <a:latin typeface="Arial"/>
                          <a:ea typeface="Arial"/>
                          <a:cs typeface="Arial"/>
                          <a:sym typeface="Arial"/>
                        </a:rPr>
                        <a:t> qua </a:t>
                      </a:r>
                      <a:r>
                        <a:rPr lang="en-US" sz="2000" dirty="0" err="1">
                          <a:solidFill>
                            <a:srgbClr val="000000"/>
                          </a:solidFill>
                          <a:latin typeface="Arial"/>
                          <a:ea typeface="Arial"/>
                          <a:cs typeface="Arial"/>
                          <a:sym typeface="Arial"/>
                        </a:rPr>
                        <a:t>Payoo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hoặc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Chuyển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khoản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ngân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hàng</a:t>
                      </a:r>
                      <a:r>
                        <a:rPr lang="en-US" sz="2000" dirty="0">
                          <a:solidFill>
                            <a:srgbClr val="000000"/>
                          </a:solidFill>
                          <a:latin typeface="Arial"/>
                          <a:ea typeface="Arial"/>
                          <a:cs typeface="Arial"/>
                          <a:sym typeface="Arial"/>
                        </a:rPr>
                        <a:t> </a:t>
                      </a:r>
                      <a:r>
                        <a:rPr lang="en-US" sz="2000" b="1" i="1" u="sng" kern="1200" dirty="0">
                          <a:solidFill>
                            <a:srgbClr val="65B444"/>
                          </a:solidFill>
                          <a:latin typeface="Arial Bold Italics"/>
                          <a:ea typeface="Arial Bold Italics"/>
                          <a:cs typeface="Arial Bold Italics"/>
                          <a:sym typeface="Arial Bold Italics"/>
                          <a:hlinkClick r:id="rId4" action="ppaction://hlinkfile">
                            <a:extLst>
                              <a:ext uri="{A12FA001-AC4F-418D-AE19-62706E023703}">
                                <ahyp:hlinkClr xmlns:ahyp="http://schemas.microsoft.com/office/drawing/2018/hyperlinkcolor" val="tx"/>
                              </a:ext>
                            </a:extLst>
                          </a:hlinkClick>
                        </a:rPr>
                        <a:t>(</a:t>
                      </a:r>
                      <a:r>
                        <a:rPr lang="en-US" sz="2000" b="1" i="1" u="sng" kern="1200" dirty="0" err="1">
                          <a:solidFill>
                            <a:srgbClr val="65B444"/>
                          </a:solidFill>
                          <a:latin typeface="Arial Bold Italics"/>
                          <a:ea typeface="Arial Bold Italics"/>
                          <a:cs typeface="Arial Bold Italics"/>
                          <a:sym typeface="Arial Bold Italics"/>
                          <a:hlinkClick r:id="rId4"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4"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4"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4"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4" action="ppaction://hlinkfile">
                            <a:extLst>
                              <a:ext uri="{A12FA001-AC4F-418D-AE19-62706E023703}">
                                <ahyp:hlinkClr xmlns:ahyp="http://schemas.microsoft.com/office/drawing/2018/hyperlinkcolor" val="tx"/>
                              </a:ext>
                            </a:extLst>
                          </a:hlinkClick>
                        </a:rPr>
                        <a:t>đây</a:t>
                      </a:r>
                      <a:r>
                        <a:rPr lang="en-US" sz="2000" b="1" i="1" u="sng" kern="1200" dirty="0">
                          <a:solidFill>
                            <a:srgbClr val="65B444"/>
                          </a:solidFill>
                          <a:latin typeface="Arial Bold Italics"/>
                          <a:ea typeface="Arial Bold Italics"/>
                          <a:cs typeface="Arial Bold Italics"/>
                          <a:sym typeface="Arial Bold Italics"/>
                          <a:hlinkClick r:id="rId4" action="ppaction://hlinkfile">
                            <a:extLst>
                              <a:ext uri="{A12FA001-AC4F-418D-AE19-62706E023703}">
                                <ahyp:hlinkClr xmlns:ahyp="http://schemas.microsoft.com/office/drawing/2018/hyperlinkcolor" val="tx"/>
                              </a:ext>
                            </a:extLst>
                          </a:hlinkClick>
                        </a:rPr>
                        <a:t>)</a:t>
                      </a:r>
                      <a:endParaRPr lang="en-US" sz="2000" b="1" i="1" u="sng" kern="1200" dirty="0">
                        <a:solidFill>
                          <a:srgbClr val="65B444"/>
                        </a:solidFill>
                        <a:latin typeface="Arial Bold Italics"/>
                        <a:ea typeface="Arial Bold Italics"/>
                        <a:cs typeface="Arial Bold Italics"/>
                        <a:sym typeface="Arial Bold Italics"/>
                      </a:endParaRPr>
                    </a:p>
                    <a:p>
                      <a:pPr marL="817035" lvl="3" indent="-204259" algn="l">
                        <a:lnSpc>
                          <a:spcPts val="2800"/>
                        </a:lnSpc>
                      </a:pPr>
                      <a:endParaRPr lang="en-US" sz="2000" b="1" i="1" u="sng" dirty="0">
                        <a:solidFill>
                          <a:srgbClr val="65B444"/>
                        </a:solidFill>
                        <a:latin typeface="Arial Bold Italics"/>
                        <a:ea typeface="Arial Bold Italics"/>
                        <a:cs typeface="Arial Bold Italics"/>
                        <a:sym typeface="Arial Bold Italics"/>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2800"/>
                        </a:lnSpc>
                        <a:defRPr/>
                      </a:pPr>
                      <a:r>
                        <a:rPr lang="en-US" sz="2000" b="1">
                          <a:solidFill>
                            <a:srgbClr val="000000"/>
                          </a:solidFill>
                          <a:latin typeface="Arial Bold"/>
                          <a:ea typeface="Arial Bold"/>
                          <a:cs typeface="Arial Bold"/>
                          <a:sym typeface="Arial Bold"/>
                        </a:rPr>
                        <a:t>Code:</a:t>
                      </a:r>
                      <a:r>
                        <a:rPr lang="en-US" sz="2000">
                          <a:solidFill>
                            <a:srgbClr val="000000"/>
                          </a:solidFill>
                          <a:latin typeface="Arial"/>
                          <a:ea typeface="Arial"/>
                          <a:cs typeface="Arial"/>
                          <a:sym typeface="Arial"/>
                        </a:rPr>
                        <a:t> IB01-Bảo hiểm Banca</a:t>
                      </a:r>
                      <a:endParaRPr lang="en-US" sz="1100"/>
                    </a:p>
                    <a:p>
                      <a:pPr algn="l">
                        <a:lnSpc>
                          <a:spcPts val="2800"/>
                        </a:lnSpc>
                      </a:pPr>
                      <a:r>
                        <a:rPr lang="en-US" sz="2000" b="1">
                          <a:solidFill>
                            <a:srgbClr val="000000"/>
                          </a:solidFill>
                          <a:latin typeface="Arial Bold"/>
                          <a:ea typeface="Arial Bold"/>
                          <a:cs typeface="Arial Bold"/>
                          <a:sym typeface="Arial Bold"/>
                        </a:rPr>
                        <a:t>Subcode:</a:t>
                      </a:r>
                      <a:r>
                        <a:rPr lang="en-US" sz="2000">
                          <a:solidFill>
                            <a:srgbClr val="000000"/>
                          </a:solidFill>
                          <a:latin typeface="Arial"/>
                          <a:ea typeface="Arial"/>
                          <a:cs typeface="Arial"/>
                          <a:sym typeface="Arial"/>
                        </a:rPr>
                        <a:t> IB01.02-Quy trình Đăng ký BH</a:t>
                      </a:r>
                    </a:p>
                    <a:p>
                      <a:pPr algn="l">
                        <a:lnSpc>
                          <a:spcPts val="2800"/>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nội dung hỗ trợ</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3"/>
                  </a:ext>
                </a:extLst>
              </a:tr>
              <a:tr h="1476495">
                <a:tc>
                  <a:txBody>
                    <a:bodyPr/>
                    <a:lstStyle/>
                    <a:p>
                      <a:pPr algn="l">
                        <a:lnSpc>
                          <a:spcPts val="2800"/>
                        </a:lnSpc>
                        <a:defRPr/>
                      </a:pPr>
                      <a:r>
                        <a:rPr lang="en-US" sz="2000" b="1" dirty="0" err="1">
                          <a:solidFill>
                            <a:srgbClr val="000000"/>
                          </a:solidFill>
                          <a:latin typeface="Arial Bold"/>
                          <a:ea typeface="Arial Bold"/>
                          <a:cs typeface="Arial Bold"/>
                          <a:sym typeface="Arial Bold"/>
                        </a:rPr>
                        <a:t>Bước</a:t>
                      </a:r>
                      <a:r>
                        <a:rPr lang="en-US" sz="2000" b="1" dirty="0">
                          <a:solidFill>
                            <a:srgbClr val="000000"/>
                          </a:solidFill>
                          <a:latin typeface="Arial Bold"/>
                          <a:ea typeface="Arial Bold"/>
                          <a:cs typeface="Arial Bold"/>
                          <a:sym typeface="Arial Bold"/>
                        </a:rPr>
                        <a:t> 4. </a:t>
                      </a:r>
                      <a:r>
                        <a:rPr lang="en-US" sz="2000" b="1" dirty="0" err="1">
                          <a:solidFill>
                            <a:srgbClr val="000000"/>
                          </a:solidFill>
                          <a:latin typeface="Arial Bold"/>
                          <a:ea typeface="Arial Bold"/>
                          <a:cs typeface="Arial Bold"/>
                          <a:sym typeface="Arial Bold"/>
                        </a:rPr>
                        <a:t>Kiểm</a:t>
                      </a:r>
                      <a:r>
                        <a:rPr lang="en-US" sz="2000" b="1" dirty="0">
                          <a:solidFill>
                            <a:srgbClr val="000000"/>
                          </a:solidFill>
                          <a:latin typeface="Arial Bold"/>
                          <a:ea typeface="Arial Bold"/>
                          <a:cs typeface="Arial Bold"/>
                          <a:sym typeface="Arial Bold"/>
                        </a:rPr>
                        <a:t> tra HĐBH </a:t>
                      </a:r>
                      <a:r>
                        <a:rPr lang="en-US" sz="2000" b="1" dirty="0" err="1">
                          <a:solidFill>
                            <a:srgbClr val="000000"/>
                          </a:solidFill>
                          <a:latin typeface="Arial Bold"/>
                          <a:ea typeface="Arial Bold"/>
                          <a:cs typeface="Arial Bold"/>
                          <a:sym typeface="Arial Bold"/>
                        </a:rPr>
                        <a:t>điện</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tử</a:t>
                      </a:r>
                      <a:endParaRPr lang="en-US" sz="1100" dirty="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800"/>
                        </a:lnSpc>
                        <a:defRPr/>
                      </a:pPr>
                      <a:r>
                        <a:rPr lang="en-US" sz="2000" dirty="0" err="1">
                          <a:solidFill>
                            <a:srgbClr val="000000"/>
                          </a:solidFill>
                          <a:latin typeface="Arial"/>
                          <a:ea typeface="Arial"/>
                          <a:cs typeface="Arial"/>
                          <a:sym typeface="Arial"/>
                        </a:rPr>
                        <a:t>Hướng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dẫn</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xem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tải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Hợp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đồng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hiểm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điện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tử</a:t>
                      </a:r>
                      <a:r>
                        <a:rPr lang="en-US" sz="2000" dirty="0">
                          <a:solidFill>
                            <a:srgbClr val="000000"/>
                          </a:solidFill>
                          <a:latin typeface="Arial"/>
                          <a:ea typeface="Arial"/>
                          <a:cs typeface="Arial"/>
                          <a:sym typeface="Arial"/>
                        </a:rPr>
                        <a:t> trên </a:t>
                      </a:r>
                      <a:r>
                        <a:rPr lang="en-US" sz="2000" dirty="0" err="1">
                          <a:solidFill>
                            <a:srgbClr val="000000"/>
                          </a:solidFill>
                          <a:latin typeface="Arial"/>
                          <a:ea typeface="Arial"/>
                          <a:cs typeface="Arial"/>
                          <a:sym typeface="Arial"/>
                        </a:rPr>
                        <a:t>ứng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dụng</a:t>
                      </a:r>
                      <a:r>
                        <a:rPr lang="en-US" sz="2000" dirty="0">
                          <a:solidFill>
                            <a:srgbClr val="000000"/>
                          </a:solidFill>
                          <a:latin typeface="Arial"/>
                          <a:ea typeface="Arial"/>
                          <a:cs typeface="Arial"/>
                          <a:sym typeface="Arial"/>
                        </a:rPr>
                        <a:t> IZION24 </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đây</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a:t>
                      </a:r>
                      <a:endParaRPr lang="en-US" sz="2000" b="1" i="1" u="sng" kern="1200" dirty="0">
                        <a:solidFill>
                          <a:srgbClr val="65B444"/>
                        </a:solidFill>
                        <a:latin typeface="Arial Bold Italics"/>
                        <a:cs typeface="Arial Bold Italics"/>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2800"/>
                        </a:lnSpc>
                        <a:defRPr/>
                      </a:pPr>
                      <a:r>
                        <a:rPr lang="en-US" sz="2000" b="1">
                          <a:solidFill>
                            <a:srgbClr val="000000"/>
                          </a:solidFill>
                          <a:latin typeface="Arial Bold"/>
                          <a:ea typeface="Arial Bold"/>
                          <a:cs typeface="Arial Bold"/>
                          <a:sym typeface="Arial Bold"/>
                        </a:rPr>
                        <a:t>Code:</a:t>
                      </a:r>
                      <a:r>
                        <a:rPr lang="en-US" sz="2000">
                          <a:solidFill>
                            <a:srgbClr val="000000"/>
                          </a:solidFill>
                          <a:latin typeface="Arial"/>
                          <a:ea typeface="Arial"/>
                          <a:cs typeface="Arial"/>
                          <a:sym typeface="Arial"/>
                        </a:rPr>
                        <a:t> IB01-Bảo hiểm Banca</a:t>
                      </a:r>
                      <a:endParaRPr lang="en-US" sz="1100"/>
                    </a:p>
                    <a:p>
                      <a:pPr algn="l">
                        <a:lnSpc>
                          <a:spcPts val="2800"/>
                        </a:lnSpc>
                      </a:pPr>
                      <a:r>
                        <a:rPr lang="en-US" sz="2000" b="1">
                          <a:solidFill>
                            <a:srgbClr val="000000"/>
                          </a:solidFill>
                          <a:latin typeface="Arial Bold"/>
                          <a:ea typeface="Arial Bold"/>
                          <a:cs typeface="Arial Bold"/>
                          <a:sym typeface="Arial Bold"/>
                        </a:rPr>
                        <a:t>Subcode:</a:t>
                      </a:r>
                      <a:r>
                        <a:rPr lang="en-US" sz="2000">
                          <a:solidFill>
                            <a:srgbClr val="000000"/>
                          </a:solidFill>
                          <a:latin typeface="Arial"/>
                          <a:ea typeface="Arial"/>
                          <a:cs typeface="Arial"/>
                          <a:sym typeface="Arial"/>
                        </a:rPr>
                        <a:t> IB01.02-Quy trình Đăng ký BH</a:t>
                      </a:r>
                    </a:p>
                    <a:p>
                      <a:pPr algn="l">
                        <a:lnSpc>
                          <a:spcPts val="2800"/>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nội dung hỗ trợ</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4"/>
                  </a:ext>
                </a:extLst>
              </a:tr>
            </a:tbl>
          </a:graphicData>
        </a:graphic>
      </p:graphicFrame>
      <p:grpSp>
        <p:nvGrpSpPr>
          <p:cNvPr id="3" name="Group 3"/>
          <p:cNvGrpSpPr/>
          <p:nvPr/>
        </p:nvGrpSpPr>
        <p:grpSpPr>
          <a:xfrm>
            <a:off x="15691018" y="9790919"/>
            <a:ext cx="2421922" cy="346996"/>
            <a:chOff x="0" y="0"/>
            <a:chExt cx="3229229" cy="462661"/>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5"/>
              <a:stretch>
                <a:fillRect l="-145" r="-145"/>
              </a:stretch>
            </a:blipFill>
          </p:spPr>
        </p:sp>
      </p:grpSp>
      <p:sp>
        <p:nvSpPr>
          <p:cNvPr id="5" name="Freeform 5"/>
          <p:cNvSpPr/>
          <p:nvPr/>
        </p:nvSpPr>
        <p:spPr>
          <a:xfrm>
            <a:off x="5858" y="-328298"/>
            <a:ext cx="20000147" cy="1306449"/>
          </a:xfrm>
          <a:custGeom>
            <a:avLst/>
            <a:gdLst/>
            <a:ahLst/>
            <a:cxnLst/>
            <a:rect l="l" t="t" r="r" b="b"/>
            <a:pathLst>
              <a:path w="20000147" h="1306449">
                <a:moveTo>
                  <a:pt x="0" y="0"/>
                </a:moveTo>
                <a:lnTo>
                  <a:pt x="20000147" y="0"/>
                </a:lnTo>
                <a:lnTo>
                  <a:pt x="20000147" y="1306449"/>
                </a:lnTo>
                <a:lnTo>
                  <a:pt x="0" y="1306449"/>
                </a:lnTo>
                <a:lnTo>
                  <a:pt x="0" y="0"/>
                </a:lnTo>
                <a:close/>
              </a:path>
            </a:pathLst>
          </a:custGeom>
          <a:blipFill>
            <a:blip r:embed="rId6">
              <a:extLst>
                <a:ext uri="{96DAC541-7B7A-43D3-8B79-37D633B846F1}">
                  <asvg:svgBlip xmlns:asvg="http://schemas.microsoft.com/office/drawing/2016/SVG/main" r:embed="rId7"/>
                </a:ext>
              </a:extLst>
            </a:blip>
            <a:stretch>
              <a:fillRect t="-300" b="-300"/>
            </a:stretch>
          </a:blipFill>
        </p:spPr>
      </p:sp>
      <p:sp>
        <p:nvSpPr>
          <p:cNvPr id="6" name="TextBox 6"/>
          <p:cNvSpPr txBox="1"/>
          <p:nvPr/>
        </p:nvSpPr>
        <p:spPr>
          <a:xfrm>
            <a:off x="3525365" y="88278"/>
            <a:ext cx="12642503" cy="663530"/>
          </a:xfrm>
          <a:prstGeom prst="rect">
            <a:avLst/>
          </a:prstGeom>
        </p:spPr>
        <p:txBody>
          <a:bodyPr lIns="0" tIns="0" rIns="0" bIns="0" rtlCol="0" anchor="t">
            <a:spAutoFit/>
          </a:bodyPr>
          <a:lstStyle/>
          <a:p>
            <a:pPr algn="ctr">
              <a:lnSpc>
                <a:spcPts val="5200"/>
              </a:lnSpc>
            </a:pPr>
            <a:r>
              <a:rPr lang="en-US" sz="3999" b="1" dirty="0">
                <a:solidFill>
                  <a:srgbClr val="000000"/>
                </a:solidFill>
                <a:latin typeface="Arial Bold"/>
                <a:ea typeface="Arial Bold"/>
                <a:cs typeface="Arial Bold"/>
                <a:sym typeface="Arial Bold"/>
              </a:rPr>
              <a:t>QUY TRÌNH ĐĂNG KÝ - THANH TOÁN HĐ BẢO HIỂM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1486749129"/>
              </p:ext>
            </p:extLst>
          </p:nvPr>
        </p:nvGraphicFramePr>
        <p:xfrm>
          <a:off x="505206" y="1470590"/>
          <a:ext cx="17277588" cy="4211525"/>
        </p:xfrm>
        <a:graphic>
          <a:graphicData uri="http://schemas.openxmlformats.org/drawingml/2006/table">
            <a:tbl>
              <a:tblPr/>
              <a:tblGrid>
                <a:gridCol w="11499400">
                  <a:extLst>
                    <a:ext uri="{9D8B030D-6E8A-4147-A177-3AD203B41FA5}">
                      <a16:colId xmlns:a16="http://schemas.microsoft.com/office/drawing/2014/main" val="20000"/>
                    </a:ext>
                  </a:extLst>
                </a:gridCol>
                <a:gridCol w="5778188">
                  <a:extLst>
                    <a:ext uri="{9D8B030D-6E8A-4147-A177-3AD203B41FA5}">
                      <a16:colId xmlns:a16="http://schemas.microsoft.com/office/drawing/2014/main" val="20001"/>
                    </a:ext>
                  </a:extLst>
                </a:gridCol>
              </a:tblGrid>
              <a:tr h="778568">
                <a:tc>
                  <a:txBody>
                    <a:bodyPr/>
                    <a:lstStyle/>
                    <a:p>
                      <a:pPr algn="ctr">
                        <a:lnSpc>
                          <a:spcPts val="3750"/>
                        </a:lnSpc>
                        <a:defRPr/>
                      </a:pPr>
                      <a:r>
                        <a:rPr lang="en-US" sz="2000" b="1" spc="12">
                          <a:solidFill>
                            <a:srgbClr val="FFFFFF"/>
                          </a:solidFill>
                          <a:latin typeface="Arial Bold"/>
                          <a:ea typeface="Arial Bold"/>
                          <a:cs typeface="Arial Bold"/>
                          <a:sym typeface="Arial Bold"/>
                        </a:rPr>
                        <a:t>HƯỚNG XỬ LÝ </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a:solidFill>
                            <a:srgbClr val="FFFFFF"/>
                          </a:solidFill>
                          <a:latin typeface="Arial Bold"/>
                          <a:ea typeface="Arial Bold"/>
                          <a:cs typeface="Arial Bold"/>
                          <a:sym typeface="Arial Bold"/>
                        </a:rPr>
                        <a:t>CODE/ REMARK</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3432957">
                <a:tc>
                  <a:txBody>
                    <a:bodyPr/>
                    <a:lstStyle/>
                    <a:p>
                      <a:pPr algn="l">
                        <a:lnSpc>
                          <a:spcPts val="3110"/>
                        </a:lnSpc>
                        <a:defRPr/>
                      </a:pPr>
                      <a:r>
                        <a:rPr lang="en-US" sz="2000" dirty="0">
                          <a:solidFill>
                            <a:srgbClr val="000000"/>
                          </a:solidFill>
                          <a:latin typeface="Arial"/>
                          <a:ea typeface="Arial"/>
                          <a:cs typeface="Arial"/>
                          <a:sym typeface="Arial"/>
                        </a:rPr>
                        <a:t>CS </a:t>
                      </a:r>
                      <a:r>
                        <a:rPr lang="en-US" sz="2000" dirty="0" err="1">
                          <a:solidFill>
                            <a:srgbClr val="000000"/>
                          </a:solidFill>
                          <a:latin typeface="Arial"/>
                          <a:ea typeface="Arial"/>
                          <a:cs typeface="Arial"/>
                          <a:sym typeface="Arial"/>
                        </a:rPr>
                        <a:t>kiểm</a:t>
                      </a:r>
                      <a:r>
                        <a:rPr lang="en-US" sz="2000" dirty="0">
                          <a:solidFill>
                            <a:srgbClr val="000000"/>
                          </a:solidFill>
                          <a:latin typeface="Arial"/>
                          <a:ea typeface="Arial"/>
                          <a:cs typeface="Arial"/>
                          <a:sym typeface="Arial"/>
                        </a:rPr>
                        <a:t> tra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 HĐBH trên </a:t>
                      </a:r>
                      <a:r>
                        <a:rPr lang="en-US" sz="2000" dirty="0" err="1">
                          <a:solidFill>
                            <a:srgbClr val="000000"/>
                          </a:solidFill>
                          <a:latin typeface="Arial"/>
                          <a:ea typeface="Arial"/>
                          <a:cs typeface="Arial"/>
                          <a:sym typeface="Arial"/>
                        </a:rPr>
                        <a:t>Pega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và</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 </a:t>
                      </a:r>
                      <a:r>
                        <a:rPr lang="en-US" sz="2000" dirty="0" err="1">
                          <a:solidFill>
                            <a:srgbClr val="000000"/>
                          </a:solidFill>
                          <a:latin typeface="Arial"/>
                          <a:ea typeface="Arial"/>
                          <a:cs typeface="Arial"/>
                          <a:sym typeface="Arial"/>
                        </a:rPr>
                        <a:t>sản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phẩm</a:t>
                      </a:r>
                      <a:r>
                        <a:rPr lang="en-US" sz="2000" dirty="0">
                          <a:solidFill>
                            <a:srgbClr val="000000"/>
                          </a:solidFill>
                          <a:latin typeface="Arial"/>
                          <a:ea typeface="Arial"/>
                          <a:cs typeface="Arial"/>
                          <a:sym typeface="Arial"/>
                        </a:rPr>
                        <a:t> để </a:t>
                      </a:r>
                      <a:r>
                        <a:rPr lang="en-US" sz="2000" dirty="0" err="1">
                          <a:solidFill>
                            <a:srgbClr val="000000"/>
                          </a:solidFill>
                          <a:latin typeface="Arial"/>
                          <a:ea typeface="Arial"/>
                          <a:cs typeface="Arial"/>
                          <a:sym typeface="Arial"/>
                        </a:rPr>
                        <a:t>tư</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vấn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theo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yêu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cầu</a:t>
                      </a:r>
                      <a:r>
                        <a:rPr lang="en-US" sz="2000" dirty="0">
                          <a:solidFill>
                            <a:srgbClr val="000000"/>
                          </a:solidFill>
                          <a:latin typeface="Arial"/>
                          <a:ea typeface="Arial"/>
                          <a:cs typeface="Arial"/>
                          <a:sym typeface="Arial"/>
                        </a:rPr>
                        <a:t> của KH.</a:t>
                      </a:r>
                      <a:endParaRPr lang="en-US" sz="1100" dirty="0"/>
                    </a:p>
                    <a:p>
                      <a:pPr algn="l">
                        <a:lnSpc>
                          <a:spcPts val="3110"/>
                        </a:lnSpc>
                      </a:pPr>
                      <a:r>
                        <a:rPr lang="en-US" sz="2000" dirty="0" err="1">
                          <a:solidFill>
                            <a:srgbClr val="000000"/>
                          </a:solidFill>
                          <a:latin typeface="Arial"/>
                          <a:ea typeface="Arial"/>
                          <a:cs typeface="Arial"/>
                          <a:sym typeface="Arial"/>
                        </a:rPr>
                        <a:t>Hướng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dẫn</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xem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tải</a:t>
                      </a:r>
                      <a:r>
                        <a:rPr lang="en-US" sz="2000" dirty="0">
                          <a:solidFill>
                            <a:srgbClr val="000000"/>
                          </a:solidFill>
                          <a:latin typeface="Arial"/>
                          <a:ea typeface="Arial"/>
                          <a:cs typeface="Arial"/>
                          <a:sym typeface="Arial"/>
                        </a:rPr>
                        <a:t> HĐBH </a:t>
                      </a:r>
                      <a:r>
                        <a:rPr lang="en-US" sz="2000" dirty="0" err="1">
                          <a:solidFill>
                            <a:srgbClr val="000000"/>
                          </a:solidFill>
                          <a:latin typeface="Arial"/>
                          <a:ea typeface="Arial"/>
                          <a:cs typeface="Arial"/>
                          <a:sym typeface="Arial"/>
                        </a:rPr>
                        <a:t>điện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tử</a:t>
                      </a:r>
                      <a:r>
                        <a:rPr lang="en-US" sz="2000" dirty="0">
                          <a:solidFill>
                            <a:srgbClr val="000000"/>
                          </a:solidFill>
                          <a:latin typeface="Arial"/>
                          <a:ea typeface="Arial"/>
                          <a:cs typeface="Arial"/>
                          <a:sym typeface="Arial"/>
                        </a:rPr>
                        <a:t> trên </a:t>
                      </a:r>
                      <a:r>
                        <a:rPr lang="en-US" sz="2000" dirty="0" err="1">
                          <a:solidFill>
                            <a:srgbClr val="000000"/>
                          </a:solidFill>
                          <a:latin typeface="Arial"/>
                          <a:ea typeface="Arial"/>
                          <a:cs typeface="Arial"/>
                          <a:sym typeface="Arial"/>
                        </a:rPr>
                        <a:t>ứng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dụng</a:t>
                      </a:r>
                      <a:r>
                        <a:rPr lang="en-US" sz="2000" dirty="0">
                          <a:solidFill>
                            <a:srgbClr val="000000"/>
                          </a:solidFill>
                          <a:latin typeface="Arial"/>
                          <a:ea typeface="Arial"/>
                          <a:cs typeface="Arial"/>
                          <a:sym typeface="Arial"/>
                        </a:rPr>
                        <a:t> IZION24 </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Xem</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tại</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đây</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a:t>
                      </a:r>
                      <a:endParaRPr lang="en-US" sz="2000" b="1" i="1" u="sng" kern="1200" dirty="0">
                        <a:solidFill>
                          <a:srgbClr val="65B444"/>
                        </a:solidFill>
                        <a:latin typeface="Arial Bold Italics"/>
                        <a:ea typeface="Arial Bold Italics"/>
                        <a:cs typeface="Arial Bold Italics"/>
                        <a:sym typeface="Arial Bold Italics"/>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800"/>
                        </a:lnSpc>
                        <a:defRPr/>
                      </a:pPr>
                      <a:r>
                        <a:rPr lang="en-US" sz="2000" b="1" dirty="0">
                          <a:solidFill>
                            <a:srgbClr val="000000"/>
                          </a:solidFill>
                          <a:latin typeface="Arial Bold"/>
                          <a:ea typeface="Arial Bold"/>
                          <a:cs typeface="Arial Bold"/>
                          <a:sym typeface="Arial Bold"/>
                        </a:rPr>
                        <a:t>Code:</a:t>
                      </a:r>
                      <a:r>
                        <a:rPr lang="en-US" sz="2000" dirty="0">
                          <a:solidFill>
                            <a:srgbClr val="000000"/>
                          </a:solidFill>
                          <a:latin typeface="Arial"/>
                          <a:ea typeface="Arial"/>
                          <a:cs typeface="Arial"/>
                          <a:sym typeface="Arial"/>
                        </a:rPr>
                        <a:t> IB01-Bảo </a:t>
                      </a:r>
                      <a:r>
                        <a:rPr lang="en-US" sz="2000" dirty="0" err="1">
                          <a:solidFill>
                            <a:srgbClr val="000000"/>
                          </a:solidFill>
                          <a:latin typeface="Arial"/>
                          <a:ea typeface="Arial"/>
                          <a:cs typeface="Arial"/>
                          <a:sym typeface="Arial"/>
                        </a:rPr>
                        <a:t>hiểm</a:t>
                      </a:r>
                      <a:r>
                        <a:rPr lang="en-US" sz="2000" dirty="0">
                          <a:solidFill>
                            <a:srgbClr val="000000"/>
                          </a:solidFill>
                          <a:latin typeface="Arial"/>
                          <a:ea typeface="Arial"/>
                          <a:cs typeface="Arial"/>
                          <a:sym typeface="Arial"/>
                        </a:rPr>
                        <a:t> Banca</a:t>
                      </a:r>
                      <a:endParaRPr lang="en-US" sz="1100" dirty="0"/>
                    </a:p>
                    <a:p>
                      <a:pPr algn="l">
                        <a:lnSpc>
                          <a:spcPts val="2800"/>
                        </a:lnSpc>
                      </a:pPr>
                      <a:r>
                        <a:rPr lang="en-US" sz="2000" b="1" dirty="0">
                          <a:solidFill>
                            <a:srgbClr val="000000"/>
                          </a:solidFill>
                          <a:latin typeface="Arial Bold"/>
                          <a:ea typeface="Arial Bold"/>
                          <a:cs typeface="Arial Bold"/>
                          <a:sym typeface="Arial Bold"/>
                        </a:rPr>
                        <a:t>Subcode:</a:t>
                      </a:r>
                      <a:r>
                        <a:rPr lang="en-US" sz="2000" dirty="0">
                          <a:solidFill>
                            <a:srgbClr val="000000"/>
                          </a:solidFill>
                          <a:latin typeface="Arial"/>
                          <a:ea typeface="Arial"/>
                          <a:cs typeface="Arial"/>
                          <a:sym typeface="Arial"/>
                        </a:rPr>
                        <a:t> IB01.03-Thông tin chi </a:t>
                      </a:r>
                      <a:r>
                        <a:rPr lang="en-US" sz="2000" dirty="0" err="1">
                          <a:solidFill>
                            <a:srgbClr val="000000"/>
                          </a:solidFill>
                          <a:latin typeface="Arial"/>
                          <a:ea typeface="Arial"/>
                          <a:cs typeface="Arial"/>
                          <a:sym typeface="Arial"/>
                        </a:rPr>
                        <a:t>tiết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về</a:t>
                      </a:r>
                      <a:r>
                        <a:rPr lang="en-US" sz="2000" dirty="0">
                          <a:solidFill>
                            <a:srgbClr val="000000"/>
                          </a:solidFill>
                          <a:latin typeface="Arial"/>
                          <a:ea typeface="Arial"/>
                          <a:cs typeface="Arial"/>
                          <a:sym typeface="Arial"/>
                        </a:rPr>
                        <a:t> HĐ BH </a:t>
                      </a:r>
                    </a:p>
                    <a:p>
                      <a:pPr algn="l">
                        <a:lnSpc>
                          <a:spcPts val="2800"/>
                        </a:lnSpc>
                      </a:pPr>
                      <a:r>
                        <a:rPr lang="en-US" sz="2000" b="1" dirty="0">
                          <a:solidFill>
                            <a:srgbClr val="000000"/>
                          </a:solidFill>
                          <a:latin typeface="Arial Bold"/>
                          <a:ea typeface="Arial Bold"/>
                          <a:cs typeface="Arial Bold"/>
                          <a:sym typeface="Arial Bold"/>
                        </a:rPr>
                        <a:t>Remark:</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nội</a:t>
                      </a:r>
                      <a:r>
                        <a:rPr lang="en-US" sz="2000" dirty="0">
                          <a:solidFill>
                            <a:srgbClr val="000000"/>
                          </a:solidFill>
                          <a:latin typeface="Arial"/>
                          <a:ea typeface="Arial"/>
                          <a:cs typeface="Arial"/>
                          <a:sym typeface="Arial"/>
                        </a:rPr>
                        <a:t> dung </a:t>
                      </a:r>
                      <a:r>
                        <a:rPr lang="en-US" sz="2000" dirty="0" err="1">
                          <a:solidFill>
                            <a:srgbClr val="000000"/>
                          </a:solidFill>
                          <a:latin typeface="Arial"/>
                          <a:ea typeface="Arial"/>
                          <a:cs typeface="Arial"/>
                          <a:sym typeface="Arial"/>
                        </a:rPr>
                        <a:t>hỗ</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trợ</a:t>
                      </a:r>
                      <a:endParaRPr lang="en-US" sz="2000" dirty="0">
                        <a:solidFill>
                          <a:srgbClr val="000000"/>
                        </a:solidFill>
                        <a:latin typeface="Arial"/>
                        <a:ea typeface="Arial"/>
                        <a:cs typeface="Arial"/>
                        <a:sym typeface="Arial"/>
                      </a:endParaRPr>
                    </a:p>
                    <a:p>
                      <a:pPr algn="l">
                        <a:lnSpc>
                          <a:spcPts val="2800"/>
                        </a:lnSpc>
                      </a:pPr>
                      <a:endParaRPr lang="en-US" sz="2000" dirty="0">
                        <a:solidFill>
                          <a:srgbClr val="000000"/>
                        </a:solidFill>
                        <a:latin typeface="Arial"/>
                        <a:ea typeface="Arial"/>
                        <a:cs typeface="Arial"/>
                        <a:sym typeface="Arial"/>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grpSp>
        <p:nvGrpSpPr>
          <p:cNvPr id="3" name="Group 3"/>
          <p:cNvGrpSpPr/>
          <p:nvPr/>
        </p:nvGrpSpPr>
        <p:grpSpPr>
          <a:xfrm>
            <a:off x="15691018" y="9790919"/>
            <a:ext cx="2421922" cy="346996"/>
            <a:chOff x="0" y="0"/>
            <a:chExt cx="3229229" cy="462661"/>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3"/>
              <a:stretch>
                <a:fillRect l="-145" r="-145"/>
              </a:stretch>
            </a:blipFill>
          </p:spPr>
        </p:sp>
      </p:grpSp>
      <p:sp>
        <p:nvSpPr>
          <p:cNvPr id="5" name="Freeform 5"/>
          <p:cNvSpPr/>
          <p:nvPr/>
        </p:nvSpPr>
        <p:spPr>
          <a:xfrm>
            <a:off x="5859" y="-328298"/>
            <a:ext cx="18282142" cy="1306449"/>
          </a:xfrm>
          <a:custGeom>
            <a:avLst/>
            <a:gdLst/>
            <a:ahLst/>
            <a:cxnLst/>
            <a:rect l="l" t="t" r="r" b="b"/>
            <a:pathLst>
              <a:path w="20000147" h="1306449">
                <a:moveTo>
                  <a:pt x="0" y="0"/>
                </a:moveTo>
                <a:lnTo>
                  <a:pt x="20000147" y="0"/>
                </a:lnTo>
                <a:lnTo>
                  <a:pt x="20000147" y="1306449"/>
                </a:lnTo>
                <a:lnTo>
                  <a:pt x="0" y="1306449"/>
                </a:lnTo>
                <a:lnTo>
                  <a:pt x="0" y="0"/>
                </a:lnTo>
                <a:close/>
              </a:path>
            </a:pathLst>
          </a:custGeom>
          <a:blipFill>
            <a:blip r:embed="rId4">
              <a:extLst>
                <a:ext uri="{96DAC541-7B7A-43D3-8B79-37D633B846F1}">
                  <asvg:svgBlip xmlns:asvg="http://schemas.microsoft.com/office/drawing/2016/SVG/main" r:embed="rId5"/>
                </a:ext>
              </a:extLst>
            </a:blip>
            <a:stretch>
              <a:fillRect t="-300" b="-300"/>
            </a:stretch>
          </a:blipFill>
        </p:spPr>
      </p:sp>
      <p:sp>
        <p:nvSpPr>
          <p:cNvPr id="6" name="TextBox 6"/>
          <p:cNvSpPr txBox="1"/>
          <p:nvPr/>
        </p:nvSpPr>
        <p:spPr>
          <a:xfrm>
            <a:off x="298278" y="114795"/>
            <a:ext cx="17691444" cy="663530"/>
          </a:xfrm>
          <a:prstGeom prst="rect">
            <a:avLst/>
          </a:prstGeom>
        </p:spPr>
        <p:txBody>
          <a:bodyPr lIns="0" tIns="0" rIns="0" bIns="0" rtlCol="0" anchor="t">
            <a:spAutoFit/>
          </a:bodyPr>
          <a:lstStyle/>
          <a:p>
            <a:pPr algn="ctr">
              <a:lnSpc>
                <a:spcPts val="5200"/>
              </a:lnSpc>
            </a:pPr>
            <a:r>
              <a:rPr lang="en-US" sz="3999" b="1" dirty="0">
                <a:solidFill>
                  <a:srgbClr val="000000"/>
                </a:solidFill>
                <a:latin typeface="Arial Bold"/>
                <a:ea typeface="Arial Bold"/>
                <a:cs typeface="Arial Bold"/>
                <a:sym typeface="Arial Bold"/>
              </a:rPr>
              <a:t>QUY TRÌNH HỖ TRỢ KH CÓ HĐBH BANCA – THÔNG TIN CHI TIẾT HĐBH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1595894653"/>
              </p:ext>
            </p:extLst>
          </p:nvPr>
        </p:nvGraphicFramePr>
        <p:xfrm>
          <a:off x="159818" y="1104900"/>
          <a:ext cx="17937882" cy="8691309"/>
        </p:xfrm>
        <a:graphic>
          <a:graphicData uri="http://schemas.openxmlformats.org/drawingml/2006/table">
            <a:tbl>
              <a:tblPr/>
              <a:tblGrid>
                <a:gridCol w="3241240">
                  <a:extLst>
                    <a:ext uri="{9D8B030D-6E8A-4147-A177-3AD203B41FA5}">
                      <a16:colId xmlns:a16="http://schemas.microsoft.com/office/drawing/2014/main" val="20000"/>
                    </a:ext>
                  </a:extLst>
                </a:gridCol>
                <a:gridCol w="10971027">
                  <a:extLst>
                    <a:ext uri="{9D8B030D-6E8A-4147-A177-3AD203B41FA5}">
                      <a16:colId xmlns:a16="http://schemas.microsoft.com/office/drawing/2014/main" val="20001"/>
                    </a:ext>
                  </a:extLst>
                </a:gridCol>
                <a:gridCol w="3725615">
                  <a:extLst>
                    <a:ext uri="{9D8B030D-6E8A-4147-A177-3AD203B41FA5}">
                      <a16:colId xmlns:a16="http://schemas.microsoft.com/office/drawing/2014/main" val="20002"/>
                    </a:ext>
                  </a:extLst>
                </a:gridCol>
              </a:tblGrid>
              <a:tr h="776523">
                <a:tc>
                  <a:txBody>
                    <a:bodyPr/>
                    <a:lstStyle/>
                    <a:p>
                      <a:pPr algn="ctr">
                        <a:lnSpc>
                          <a:spcPts val="5000"/>
                        </a:lnSpc>
                        <a:defRPr/>
                      </a:pPr>
                      <a:r>
                        <a:rPr lang="en-US" sz="2000" b="1" spc="18">
                          <a:solidFill>
                            <a:srgbClr val="FFFFFF"/>
                          </a:solidFill>
                          <a:latin typeface="Arial Bold"/>
                          <a:ea typeface="Arial Bold"/>
                          <a:cs typeface="Arial Bold"/>
                          <a:sym typeface="Arial Bold"/>
                        </a:rPr>
                        <a:t>TRƯỜNG HỢP</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dirty="0">
                          <a:solidFill>
                            <a:srgbClr val="FFFFFF"/>
                          </a:solidFill>
                          <a:latin typeface="Arial Bold"/>
                          <a:ea typeface="Arial Bold"/>
                          <a:cs typeface="Arial Bold"/>
                          <a:sym typeface="Arial Bold"/>
                        </a:rPr>
                        <a:t>HƯỚNG XỬ LÝ </a:t>
                      </a:r>
                      <a:endParaRPr lang="en-US" sz="1100" dirty="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a:solidFill>
                            <a:srgbClr val="FFFFFF"/>
                          </a:solidFill>
                          <a:latin typeface="Arial Bold"/>
                          <a:ea typeface="Arial Bold"/>
                          <a:cs typeface="Arial Bold"/>
                          <a:sym typeface="Arial Bold"/>
                        </a:rPr>
                        <a:t>CODE/ REMARK</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1505902">
                <a:tc>
                  <a:txBody>
                    <a:bodyPr/>
                    <a:lstStyle/>
                    <a:p>
                      <a:pPr algn="l">
                        <a:lnSpc>
                          <a:spcPts val="3111"/>
                        </a:lnSpc>
                        <a:defRPr/>
                      </a:pPr>
                      <a:r>
                        <a:rPr lang="en-US" sz="2000" b="1">
                          <a:solidFill>
                            <a:srgbClr val="000000"/>
                          </a:solidFill>
                          <a:latin typeface="Arial Bold"/>
                          <a:ea typeface="Arial Bold"/>
                          <a:cs typeface="Arial Bold"/>
                          <a:sym typeface="Arial Bold"/>
                        </a:rPr>
                        <a:t>KH hỏi thông tin chung</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110"/>
                        </a:lnSpc>
                        <a:defRPr/>
                      </a:pPr>
                      <a:r>
                        <a:rPr lang="en-US" sz="2000" dirty="0">
                          <a:solidFill>
                            <a:srgbClr val="000000"/>
                          </a:solidFill>
                          <a:latin typeface="Arial"/>
                          <a:ea typeface="Arial"/>
                          <a:cs typeface="Arial"/>
                          <a:sym typeface="Arial"/>
                        </a:rPr>
                        <a:t>CS </a:t>
                      </a:r>
                      <a:r>
                        <a:rPr lang="en-US" sz="2000" dirty="0" err="1">
                          <a:solidFill>
                            <a:srgbClr val="000000"/>
                          </a:solidFill>
                          <a:latin typeface="Arial"/>
                          <a:ea typeface="Arial"/>
                          <a:cs typeface="Arial"/>
                          <a:sym typeface="Arial"/>
                        </a:rPr>
                        <a:t>kiểm</a:t>
                      </a:r>
                      <a:r>
                        <a:rPr lang="en-US" sz="2000" dirty="0">
                          <a:solidFill>
                            <a:srgbClr val="000000"/>
                          </a:solidFill>
                          <a:latin typeface="Arial"/>
                          <a:ea typeface="Arial"/>
                          <a:cs typeface="Arial"/>
                          <a:sym typeface="Arial"/>
                        </a:rPr>
                        <a:t> tra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 HĐBH trên </a:t>
                      </a:r>
                      <a:r>
                        <a:rPr lang="en-US" sz="2000" dirty="0" err="1">
                          <a:solidFill>
                            <a:srgbClr val="000000"/>
                          </a:solidFill>
                          <a:latin typeface="Arial"/>
                          <a:ea typeface="Arial"/>
                          <a:cs typeface="Arial"/>
                          <a:sym typeface="Arial"/>
                        </a:rPr>
                        <a:t>Pega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và</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 </a:t>
                      </a:r>
                      <a:r>
                        <a:rPr lang="en-US" sz="2000" dirty="0" err="1">
                          <a:solidFill>
                            <a:srgbClr val="000000"/>
                          </a:solidFill>
                          <a:latin typeface="Arial"/>
                          <a:ea typeface="Arial"/>
                          <a:cs typeface="Arial"/>
                          <a:sym typeface="Arial"/>
                        </a:rPr>
                        <a:t>sản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phẩm</a:t>
                      </a:r>
                      <a:r>
                        <a:rPr lang="en-US" sz="2000" dirty="0">
                          <a:solidFill>
                            <a:srgbClr val="000000"/>
                          </a:solidFill>
                          <a:latin typeface="Arial"/>
                          <a:ea typeface="Arial"/>
                          <a:cs typeface="Arial"/>
                          <a:sym typeface="Arial"/>
                        </a:rPr>
                        <a:t> để </a:t>
                      </a:r>
                      <a:r>
                        <a:rPr lang="en-US" sz="2000" dirty="0" err="1">
                          <a:solidFill>
                            <a:srgbClr val="000000"/>
                          </a:solidFill>
                          <a:latin typeface="Arial"/>
                          <a:ea typeface="Arial"/>
                          <a:cs typeface="Arial"/>
                          <a:sym typeface="Arial"/>
                        </a:rPr>
                        <a:t>tư</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vấn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theo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yêu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cầu</a:t>
                      </a:r>
                      <a:r>
                        <a:rPr lang="en-US" sz="2000" dirty="0">
                          <a:solidFill>
                            <a:srgbClr val="000000"/>
                          </a:solidFill>
                          <a:latin typeface="Arial"/>
                          <a:ea typeface="Arial"/>
                          <a:cs typeface="Arial"/>
                          <a:sym typeface="Arial"/>
                        </a:rPr>
                        <a:t> của KH.</a:t>
                      </a:r>
                      <a:endParaRPr lang="en-US" sz="1100" dirty="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rowSpan="2">
                  <a:txBody>
                    <a:bodyPr/>
                    <a:lstStyle/>
                    <a:p>
                      <a:pPr algn="l">
                        <a:lnSpc>
                          <a:spcPts val="3110"/>
                        </a:lnSpc>
                        <a:defRPr/>
                      </a:pPr>
                      <a:r>
                        <a:rPr lang="en-US" sz="2000" b="1">
                          <a:solidFill>
                            <a:srgbClr val="000000"/>
                          </a:solidFill>
                          <a:latin typeface="Arial Bold"/>
                          <a:ea typeface="Arial Bold"/>
                          <a:cs typeface="Arial Bold"/>
                          <a:sym typeface="Arial Bold"/>
                        </a:rPr>
                        <a:t>Code:</a:t>
                      </a:r>
                      <a:r>
                        <a:rPr lang="en-US" sz="2000">
                          <a:solidFill>
                            <a:srgbClr val="000000"/>
                          </a:solidFill>
                          <a:latin typeface="Arial"/>
                          <a:ea typeface="Arial"/>
                          <a:cs typeface="Arial"/>
                          <a:sym typeface="Arial"/>
                        </a:rPr>
                        <a:t> IB01-Bảo hiểm Banca</a:t>
                      </a:r>
                      <a:endParaRPr lang="en-US" sz="1100"/>
                    </a:p>
                    <a:p>
                      <a:pPr algn="l">
                        <a:lnSpc>
                          <a:spcPts val="3110"/>
                        </a:lnSpc>
                      </a:pPr>
                      <a:r>
                        <a:rPr lang="en-US" sz="2000" b="1">
                          <a:solidFill>
                            <a:srgbClr val="000000"/>
                          </a:solidFill>
                          <a:latin typeface="Arial Bold"/>
                          <a:ea typeface="Arial Bold"/>
                          <a:cs typeface="Arial Bold"/>
                          <a:sym typeface="Arial Bold"/>
                        </a:rPr>
                        <a:t>Subcode:</a:t>
                      </a:r>
                      <a:r>
                        <a:rPr lang="en-US" sz="2000">
                          <a:solidFill>
                            <a:srgbClr val="000000"/>
                          </a:solidFill>
                          <a:latin typeface="Arial"/>
                          <a:ea typeface="Arial"/>
                          <a:cs typeface="Arial"/>
                          <a:sym typeface="Arial"/>
                        </a:rPr>
                        <a:t> IB01.04-Quy trình bồi thường</a:t>
                      </a:r>
                    </a:p>
                    <a:p>
                      <a:pPr algn="l">
                        <a:lnSpc>
                          <a:spcPts val="3110"/>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nội dung hỗ trợ</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3252416">
                <a:tc>
                  <a:txBody>
                    <a:bodyPr/>
                    <a:lstStyle/>
                    <a:p>
                      <a:pPr algn="l">
                        <a:lnSpc>
                          <a:spcPts val="3111"/>
                        </a:lnSpc>
                        <a:defRPr/>
                      </a:pPr>
                      <a:r>
                        <a:rPr lang="en-US" sz="2000" b="1" dirty="0">
                          <a:solidFill>
                            <a:srgbClr val="000000"/>
                          </a:solidFill>
                          <a:latin typeface="Arial Bold"/>
                          <a:ea typeface="Arial Bold"/>
                          <a:cs typeface="Arial Bold"/>
                          <a:sym typeface="Arial Bold"/>
                        </a:rPr>
                        <a:t>KH </a:t>
                      </a:r>
                      <a:r>
                        <a:rPr lang="en-US" sz="2000" b="1" dirty="0" err="1">
                          <a:solidFill>
                            <a:srgbClr val="000000"/>
                          </a:solidFill>
                          <a:latin typeface="Arial Bold"/>
                          <a:ea typeface="Arial Bold"/>
                          <a:cs typeface="Arial Bold"/>
                          <a:sym typeface="Arial Bold"/>
                        </a:rPr>
                        <a:t>yêu</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cầu</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bồi</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thường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bảo</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hiểm</a:t>
                      </a:r>
                      <a:endParaRPr lang="en-US" sz="1100" dirty="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800"/>
                        </a:lnSpc>
                        <a:defRPr/>
                      </a:pPr>
                      <a:r>
                        <a:rPr lang="en-US" sz="2000" b="1" kern="1200" dirty="0" err="1">
                          <a:solidFill>
                            <a:srgbClr val="000000"/>
                          </a:solidFill>
                          <a:latin typeface="Arial"/>
                          <a:ea typeface="Arial Bold"/>
                          <a:cs typeface="Arial"/>
                          <a:sym typeface="Arial Bold"/>
                        </a:rPr>
                        <a:t>Bước</a:t>
                      </a:r>
                      <a:r>
                        <a:rPr lang="en-US" sz="2000" b="1" kern="1200" dirty="0">
                          <a:solidFill>
                            <a:srgbClr val="000000"/>
                          </a:solidFill>
                          <a:latin typeface="Arial"/>
                          <a:ea typeface="Arial Bold"/>
                          <a:cs typeface="Arial"/>
                          <a:sym typeface="Arial Bold"/>
                        </a:rPr>
                        <a:t> 1</a:t>
                      </a:r>
                      <a:r>
                        <a:rPr lang="vi-VN" sz="2000" kern="1200" dirty="0">
                          <a:solidFill>
                            <a:srgbClr val="000000"/>
                          </a:solidFill>
                          <a:latin typeface="Arial"/>
                          <a:ea typeface="Arial Bold"/>
                          <a:cs typeface="Arial"/>
                          <a:sym typeface="Arial Bold"/>
                        </a:rPr>
                        <a:t>. Xác định thời điểm phát sinh sự kiện BH là khi nào? Thời điểm KH liên hệ, HĐBH của KH còn hiệu lực hay không? Nếu sự kiện BH phát sinh trong thời gian hiệu lực của HĐBH thì qua </a:t>
                      </a:r>
                      <a:r>
                        <a:rPr lang="en-US" sz="2000" kern="1200" dirty="0" err="1">
                          <a:solidFill>
                            <a:srgbClr val="000000"/>
                          </a:solidFill>
                          <a:latin typeface="Arial"/>
                          <a:ea typeface="Arial Bold"/>
                          <a:cs typeface="Arial"/>
                          <a:sym typeface="Arial Bold"/>
                        </a:rPr>
                        <a:t>Bước</a:t>
                      </a:r>
                      <a:r>
                        <a:rPr lang="en-US" sz="2000" kern="1200" dirty="0">
                          <a:solidFill>
                            <a:srgbClr val="000000"/>
                          </a:solidFill>
                          <a:latin typeface="Arial"/>
                          <a:ea typeface="Arial Bold"/>
                          <a:cs typeface="Arial"/>
                          <a:sym typeface="Arial Bold"/>
                        </a:rPr>
                        <a:t> 2.</a:t>
                      </a:r>
                      <a:endParaRPr lang="vi-VN" sz="2000" kern="1200" dirty="0">
                        <a:solidFill>
                          <a:srgbClr val="000000"/>
                        </a:solidFill>
                        <a:latin typeface="Arial"/>
                        <a:ea typeface="Arial Bold"/>
                        <a:cs typeface="Arial"/>
                        <a:sym typeface="Arial Bold"/>
                      </a:endParaRPr>
                    </a:p>
                    <a:p>
                      <a:pPr algn="l">
                        <a:lnSpc>
                          <a:spcPts val="2800"/>
                        </a:lnSpc>
                        <a:defRPr/>
                      </a:pPr>
                      <a:r>
                        <a:rPr lang="en-US" sz="2000" b="1" kern="1200" dirty="0" err="1">
                          <a:solidFill>
                            <a:srgbClr val="000000"/>
                          </a:solidFill>
                          <a:latin typeface="Arial"/>
                          <a:ea typeface="Arial Bold"/>
                          <a:cs typeface="Arial"/>
                          <a:sym typeface="Arial Bold"/>
                        </a:rPr>
                        <a:t>Bước</a:t>
                      </a:r>
                      <a:r>
                        <a:rPr lang="en-US" sz="2000" b="1" kern="1200" dirty="0">
                          <a:solidFill>
                            <a:srgbClr val="000000"/>
                          </a:solidFill>
                          <a:latin typeface="Arial"/>
                          <a:ea typeface="Arial Bold"/>
                          <a:cs typeface="Arial"/>
                          <a:sym typeface="Arial Bold"/>
                        </a:rPr>
                        <a:t> 2. </a:t>
                      </a:r>
                      <a:r>
                        <a:rPr lang="vi-VN" sz="2000" kern="1200" dirty="0">
                          <a:solidFill>
                            <a:srgbClr val="000000"/>
                          </a:solidFill>
                          <a:latin typeface="Arial"/>
                          <a:ea typeface="Arial Bold"/>
                          <a:cs typeface="Arial"/>
                          <a:sym typeface="Arial Bold"/>
                        </a:rPr>
                        <a:t>Xác định sự kiện BH của KH có thuộc quyền lợi của HĐBH KH đã tham gia hay không? Nếu thuộc, CS cung cấp thông tin liên hệ của IDeal Life và thông báo nội dung lưu ý cho KH:</a:t>
                      </a:r>
                    </a:p>
                    <a:p>
                      <a:pPr marL="342900" indent="-342900" algn="l">
                        <a:lnSpc>
                          <a:spcPts val="2800"/>
                        </a:lnSpc>
                        <a:buFont typeface="Arial" panose="020B0604020202020204" pitchFamily="34" charset="0"/>
                        <a:buChar char="•"/>
                        <a:defRPr/>
                      </a:pPr>
                      <a:r>
                        <a:rPr lang="vi-VN" sz="2000" kern="1200" dirty="0">
                          <a:solidFill>
                            <a:srgbClr val="000000"/>
                          </a:solidFill>
                          <a:latin typeface="Arial"/>
                          <a:ea typeface="Arial Bold"/>
                          <a:cs typeface="Arial"/>
                          <a:sym typeface="Arial Bold"/>
                        </a:rPr>
                        <a:t>Thời gian thông báo sự kiện BH cho Công ty BH: trong vòng 30 ngày kể từ lúc phát sinh sự kiện bảo hiểm để được nhận hướng dẫn chi tiết về các thủ tục liên quan (nếu có).</a:t>
                      </a:r>
                    </a:p>
                    <a:p>
                      <a:pPr marL="342900" indent="-342900" algn="l">
                        <a:lnSpc>
                          <a:spcPts val="2800"/>
                        </a:lnSpc>
                        <a:buFont typeface="Arial" panose="020B0604020202020204" pitchFamily="34" charset="0"/>
                        <a:buChar char="•"/>
                        <a:defRPr/>
                      </a:pPr>
                      <a:r>
                        <a:rPr lang="vi-VN" sz="2000" kern="1200" dirty="0">
                          <a:solidFill>
                            <a:srgbClr val="000000"/>
                          </a:solidFill>
                          <a:latin typeface="Arial"/>
                          <a:ea typeface="Arial Bold"/>
                          <a:cs typeface="Arial"/>
                          <a:sym typeface="Arial Bold"/>
                        </a:rPr>
                        <a:t>Thời gian bổ sung chứng từ BH là 365 ngày kể từ lúc phát sinh sự kiện BH.</a:t>
                      </a:r>
                    </a:p>
                    <a:p>
                      <a:pPr algn="l">
                        <a:lnSpc>
                          <a:spcPts val="2800"/>
                        </a:lnSpc>
                        <a:defRPr/>
                      </a:pPr>
                      <a:endParaRPr lang="en-US" sz="2000" b="1" i="1" u="sng" kern="1200" dirty="0">
                        <a:solidFill>
                          <a:srgbClr val="65B444"/>
                        </a:solidFill>
                        <a:latin typeface="Arial Bold Italics"/>
                        <a:ea typeface="Arial Bold"/>
                        <a:cs typeface="Arial Bold Italics"/>
                        <a:sym typeface="Arial Bold"/>
                      </a:endParaRPr>
                    </a:p>
                    <a:p>
                      <a:pPr algn="l">
                        <a:lnSpc>
                          <a:spcPts val="2800"/>
                        </a:lnSpc>
                        <a:defRPr/>
                      </a:pP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Thông</a:t>
                      </a:r>
                      <a:r>
                        <a:rPr lang="en-US" sz="2000" b="1" dirty="0">
                          <a:solidFill>
                            <a:srgbClr val="000000"/>
                          </a:solidFill>
                          <a:latin typeface="Arial Bold"/>
                          <a:ea typeface="Arial Bold"/>
                          <a:cs typeface="Arial Bold"/>
                          <a:sym typeface="Arial Bold"/>
                        </a:rPr>
                        <a:t> tin </a:t>
                      </a:r>
                      <a:r>
                        <a:rPr lang="en-US" sz="2000" b="1" dirty="0" err="1">
                          <a:solidFill>
                            <a:srgbClr val="000000"/>
                          </a:solidFill>
                          <a:latin typeface="Arial Bold"/>
                          <a:ea typeface="Arial Bold"/>
                          <a:cs typeface="Arial Bold"/>
                          <a:sym typeface="Arial Bold"/>
                        </a:rPr>
                        <a:t>liên</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hệ</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IDeal</a:t>
                      </a:r>
                      <a:r>
                        <a:rPr lang="en-US" sz="2000" b="1" dirty="0">
                          <a:solidFill>
                            <a:srgbClr val="000000"/>
                          </a:solidFill>
                          <a:latin typeface="Arial Bold"/>
                          <a:ea typeface="Arial Bold"/>
                          <a:cs typeface="Arial Bold"/>
                          <a:sym typeface="Arial Bold"/>
                        </a:rPr>
                        <a:t> Life:</a:t>
                      </a:r>
                      <a:endParaRPr lang="en-US" sz="1100" dirty="0"/>
                    </a:p>
                    <a:p>
                      <a:pPr marL="431801" lvl="1" indent="-215900" algn="l">
                        <a:lnSpc>
                          <a:spcPts val="2800"/>
                        </a:lnSpc>
                        <a:buFont typeface="Arial"/>
                        <a:buChar char="•"/>
                      </a:pPr>
                      <a:r>
                        <a:rPr lang="en-US" sz="2000" dirty="0" err="1">
                          <a:solidFill>
                            <a:srgbClr val="000000"/>
                          </a:solidFill>
                          <a:latin typeface="Arial"/>
                          <a:ea typeface="Arial"/>
                          <a:cs typeface="Arial"/>
                          <a:sym typeface="Arial"/>
                        </a:rPr>
                        <a:t>Tổng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đài</a:t>
                      </a:r>
                      <a:r>
                        <a:rPr lang="en-US" sz="2000" dirty="0">
                          <a:solidFill>
                            <a:srgbClr val="000000"/>
                          </a:solidFill>
                          <a:latin typeface="Arial"/>
                          <a:ea typeface="Arial"/>
                          <a:cs typeface="Arial"/>
                          <a:sym typeface="Arial"/>
                        </a:rPr>
                        <a:t>: 19002809 (</a:t>
                      </a:r>
                      <a:r>
                        <a:rPr lang="en-US" sz="2000" dirty="0" err="1">
                          <a:solidFill>
                            <a:srgbClr val="000000"/>
                          </a:solidFill>
                          <a:latin typeface="Arial"/>
                          <a:ea typeface="Arial"/>
                          <a:cs typeface="Arial"/>
                          <a:sym typeface="Arial"/>
                        </a:rPr>
                        <a:t>chọn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phím</a:t>
                      </a:r>
                      <a:r>
                        <a:rPr lang="en-US" sz="2000" dirty="0">
                          <a:solidFill>
                            <a:srgbClr val="000000"/>
                          </a:solidFill>
                          <a:latin typeface="Arial"/>
                          <a:ea typeface="Arial"/>
                          <a:cs typeface="Arial"/>
                          <a:sym typeface="Arial"/>
                        </a:rPr>
                        <a:t> 2)</a:t>
                      </a:r>
                    </a:p>
                    <a:p>
                      <a:pPr marL="431801" lvl="1" indent="-215900" algn="l">
                        <a:lnSpc>
                          <a:spcPts val="2800"/>
                        </a:lnSpc>
                        <a:buFont typeface="Arial"/>
                        <a:buChar char="•"/>
                      </a:pPr>
                      <a:r>
                        <a:rPr lang="en-US" sz="2000" dirty="0">
                          <a:solidFill>
                            <a:srgbClr val="000000"/>
                          </a:solidFill>
                          <a:latin typeface="Arial"/>
                          <a:ea typeface="Arial"/>
                          <a:cs typeface="Arial"/>
                          <a:sym typeface="Arial"/>
                        </a:rPr>
                        <a:t>Email: hotrobaohiem@izion24.com.vn</a:t>
                      </a:r>
                    </a:p>
                    <a:p>
                      <a:pPr marL="431801" lvl="1" indent="-215900" algn="l">
                        <a:lnSpc>
                          <a:spcPts val="2800"/>
                        </a:lnSpc>
                        <a:buFont typeface="Arial"/>
                        <a:buChar char="•"/>
                      </a:pPr>
                      <a:r>
                        <a:rPr lang="en-US" sz="2000" dirty="0">
                          <a:solidFill>
                            <a:srgbClr val="000000"/>
                          </a:solidFill>
                          <a:latin typeface="Arial"/>
                          <a:ea typeface="Arial"/>
                          <a:cs typeface="Arial"/>
                          <a:sym typeface="Arial"/>
                        </a:rPr>
                        <a:t>Facebook: </a:t>
                      </a:r>
                      <a:r>
                        <a:rPr lang="en-US" sz="2000" dirty="0" err="1">
                          <a:solidFill>
                            <a:srgbClr val="000000"/>
                          </a:solidFill>
                          <a:latin typeface="Arial"/>
                          <a:ea typeface="Arial"/>
                          <a:cs typeface="Arial"/>
                          <a:sym typeface="Arial"/>
                        </a:rPr>
                        <a:t>Ứng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dụng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hiểm</a:t>
                      </a:r>
                      <a:r>
                        <a:rPr lang="en-US" sz="2000" dirty="0">
                          <a:solidFill>
                            <a:srgbClr val="000000"/>
                          </a:solidFill>
                          <a:latin typeface="Arial"/>
                          <a:ea typeface="Arial"/>
                          <a:cs typeface="Arial"/>
                          <a:sym typeface="Arial"/>
                        </a:rPr>
                        <a:t> IZIon24</a:t>
                      </a:r>
                    </a:p>
                    <a:p>
                      <a:pPr marL="431801" lvl="1" indent="-215900" algn="l">
                        <a:lnSpc>
                          <a:spcPts val="2800"/>
                        </a:lnSpc>
                        <a:buFont typeface="Arial"/>
                        <a:buChar char="•"/>
                      </a:pPr>
                      <a:r>
                        <a:rPr lang="en-US" sz="2000" dirty="0" err="1">
                          <a:solidFill>
                            <a:srgbClr val="000000"/>
                          </a:solidFill>
                          <a:latin typeface="Arial"/>
                          <a:ea typeface="Arial"/>
                          <a:cs typeface="Arial"/>
                          <a:sym typeface="Arial"/>
                        </a:rPr>
                        <a:t>Zalo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Ứng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dụng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hiểm</a:t>
                      </a:r>
                      <a:r>
                        <a:rPr lang="en-US" sz="2000" dirty="0">
                          <a:solidFill>
                            <a:srgbClr val="000000"/>
                          </a:solidFill>
                          <a:latin typeface="Arial"/>
                          <a:ea typeface="Arial"/>
                          <a:cs typeface="Arial"/>
                          <a:sym typeface="Arial"/>
                        </a:rPr>
                        <a:t> IZIon24</a:t>
                      </a:r>
                    </a:p>
                    <a:p>
                      <a:pPr marL="431801" lvl="1" indent="-215900" algn="l">
                        <a:lnSpc>
                          <a:spcPts val="2800"/>
                        </a:lnSpc>
                        <a:buFont typeface="Arial"/>
                        <a:buChar char="•"/>
                      </a:pPr>
                      <a:r>
                        <a:rPr lang="en-US" sz="2000" dirty="0">
                          <a:solidFill>
                            <a:srgbClr val="000000"/>
                          </a:solidFill>
                          <a:latin typeface="Arial"/>
                          <a:ea typeface="Arial"/>
                          <a:cs typeface="Arial"/>
                          <a:sym typeface="Arial"/>
                        </a:rPr>
                        <a:t>Chat qua app: IZIon24</a:t>
                      </a:r>
                    </a:p>
                    <a:p>
                      <a:pPr marL="431801" lvl="1" indent="-215900" algn="l">
                        <a:lnSpc>
                          <a:spcPts val="2800"/>
                        </a:lnSpc>
                        <a:buFont typeface="Arial"/>
                        <a:buChar char="•"/>
                      </a:pPr>
                      <a:r>
                        <a:rPr lang="en-US" sz="2000" dirty="0" err="1">
                          <a:solidFill>
                            <a:srgbClr val="000000"/>
                          </a:solidFill>
                          <a:latin typeface="Arial"/>
                          <a:ea typeface="Arial"/>
                          <a:cs typeface="Arial"/>
                          <a:sym typeface="Arial"/>
                        </a:rPr>
                        <a:t>Thời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gian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làm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việc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Từ</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thứ</a:t>
                      </a:r>
                      <a:r>
                        <a:rPr lang="en-US" sz="2000" dirty="0">
                          <a:solidFill>
                            <a:srgbClr val="000000"/>
                          </a:solidFill>
                          <a:latin typeface="Arial"/>
                          <a:ea typeface="Arial"/>
                          <a:cs typeface="Arial"/>
                          <a:sym typeface="Arial"/>
                        </a:rPr>
                        <a:t> 2 – </a:t>
                      </a:r>
                      <a:r>
                        <a:rPr lang="en-US" sz="2000" dirty="0" err="1">
                          <a:solidFill>
                            <a:srgbClr val="000000"/>
                          </a:solidFill>
                          <a:latin typeface="Arial"/>
                          <a:ea typeface="Arial"/>
                          <a:cs typeface="Arial"/>
                          <a:sym typeface="Arial"/>
                        </a:rPr>
                        <a:t>thứ</a:t>
                      </a:r>
                      <a:r>
                        <a:rPr lang="en-US" sz="2000" dirty="0">
                          <a:solidFill>
                            <a:srgbClr val="000000"/>
                          </a:solidFill>
                          <a:latin typeface="Arial"/>
                          <a:ea typeface="Arial"/>
                          <a:cs typeface="Arial"/>
                          <a:sym typeface="Arial"/>
                        </a:rPr>
                        <a:t> 6: 8:00 – 12:00 &amp; 13:00 – 17:30, </a:t>
                      </a:r>
                      <a:r>
                        <a:rPr lang="en-US" sz="2000" dirty="0" err="1">
                          <a:solidFill>
                            <a:srgbClr val="000000"/>
                          </a:solidFill>
                          <a:latin typeface="Arial"/>
                          <a:ea typeface="Arial"/>
                          <a:cs typeface="Arial"/>
                          <a:sym typeface="Arial"/>
                        </a:rPr>
                        <a:t>Thứ</a:t>
                      </a:r>
                      <a:r>
                        <a:rPr lang="en-US" sz="2000" dirty="0">
                          <a:solidFill>
                            <a:srgbClr val="000000"/>
                          </a:solidFill>
                          <a:latin typeface="Arial"/>
                          <a:ea typeface="Arial"/>
                          <a:cs typeface="Arial"/>
                          <a:sym typeface="Arial"/>
                        </a:rPr>
                        <a:t> 7: 8:00 – 12:00</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3110"/>
                        </a:lnSpc>
                        <a:defRPr/>
                      </a:pPr>
                      <a:r>
                        <a:rPr lang="en-US" sz="2000" b="1">
                          <a:solidFill>
                            <a:srgbClr val="000000"/>
                          </a:solidFill>
                          <a:latin typeface="Arial Bold"/>
                          <a:ea typeface="Arial Bold"/>
                          <a:cs typeface="Arial Bold"/>
                          <a:sym typeface="Arial Bold"/>
                        </a:rPr>
                        <a:t>Code:</a:t>
                      </a:r>
                      <a:r>
                        <a:rPr lang="en-US" sz="2000">
                          <a:solidFill>
                            <a:srgbClr val="000000"/>
                          </a:solidFill>
                          <a:latin typeface="Arial"/>
                          <a:ea typeface="Arial"/>
                          <a:cs typeface="Arial"/>
                          <a:sym typeface="Arial"/>
                        </a:rPr>
                        <a:t> IB01-Bảo hiểm Banca</a:t>
                      </a:r>
                      <a:endParaRPr lang="en-US" sz="1100"/>
                    </a:p>
                    <a:p>
                      <a:pPr algn="l">
                        <a:lnSpc>
                          <a:spcPts val="3110"/>
                        </a:lnSpc>
                      </a:pPr>
                      <a:r>
                        <a:rPr lang="en-US" sz="2000" b="1">
                          <a:solidFill>
                            <a:srgbClr val="000000"/>
                          </a:solidFill>
                          <a:latin typeface="Arial Bold"/>
                          <a:ea typeface="Arial Bold"/>
                          <a:cs typeface="Arial Bold"/>
                          <a:sym typeface="Arial Bold"/>
                        </a:rPr>
                        <a:t>Subcode:</a:t>
                      </a:r>
                      <a:r>
                        <a:rPr lang="en-US" sz="2000">
                          <a:solidFill>
                            <a:srgbClr val="000000"/>
                          </a:solidFill>
                          <a:latin typeface="Arial"/>
                          <a:ea typeface="Arial"/>
                          <a:cs typeface="Arial"/>
                          <a:sym typeface="Arial"/>
                        </a:rPr>
                        <a:t> IB01.04-Quy trình bồi thường</a:t>
                      </a:r>
                    </a:p>
                    <a:p>
                      <a:pPr algn="l">
                        <a:lnSpc>
                          <a:spcPts val="3110"/>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nội dung hỗ trợ</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bl>
          </a:graphicData>
        </a:graphic>
      </p:graphicFrame>
      <p:grpSp>
        <p:nvGrpSpPr>
          <p:cNvPr id="3" name="Group 3"/>
          <p:cNvGrpSpPr/>
          <p:nvPr/>
        </p:nvGrpSpPr>
        <p:grpSpPr>
          <a:xfrm>
            <a:off x="15691018" y="9790919"/>
            <a:ext cx="2421922" cy="346996"/>
            <a:chOff x="0" y="0"/>
            <a:chExt cx="3229229" cy="462661"/>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145" r="-145"/>
              </a:stretch>
            </a:blipFill>
          </p:spPr>
        </p:sp>
      </p:grpSp>
      <p:sp>
        <p:nvSpPr>
          <p:cNvPr id="5" name="Freeform 5"/>
          <p:cNvSpPr/>
          <p:nvPr/>
        </p:nvSpPr>
        <p:spPr>
          <a:xfrm>
            <a:off x="5858" y="-328298"/>
            <a:ext cx="20000147" cy="1306449"/>
          </a:xfrm>
          <a:custGeom>
            <a:avLst/>
            <a:gdLst/>
            <a:ahLst/>
            <a:cxnLst/>
            <a:rect l="l" t="t" r="r" b="b"/>
            <a:pathLst>
              <a:path w="20000147" h="1306449">
                <a:moveTo>
                  <a:pt x="0" y="0"/>
                </a:moveTo>
                <a:lnTo>
                  <a:pt x="20000147" y="0"/>
                </a:lnTo>
                <a:lnTo>
                  <a:pt x="20000147"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t="-300" b="-300"/>
            </a:stretch>
          </a:blipFill>
        </p:spPr>
      </p:sp>
      <p:sp>
        <p:nvSpPr>
          <p:cNvPr id="6" name="TextBox 6"/>
          <p:cNvSpPr txBox="1"/>
          <p:nvPr/>
        </p:nvSpPr>
        <p:spPr>
          <a:xfrm>
            <a:off x="87530" y="162568"/>
            <a:ext cx="18112940" cy="663530"/>
          </a:xfrm>
          <a:prstGeom prst="rect">
            <a:avLst/>
          </a:prstGeom>
        </p:spPr>
        <p:txBody>
          <a:bodyPr lIns="0" tIns="0" rIns="0" bIns="0" rtlCol="0" anchor="t">
            <a:spAutoFit/>
          </a:bodyPr>
          <a:lstStyle/>
          <a:p>
            <a:pPr algn="ctr">
              <a:lnSpc>
                <a:spcPts val="5200"/>
              </a:lnSpc>
            </a:pPr>
            <a:r>
              <a:rPr lang="en-US" sz="3999" b="1" dirty="0">
                <a:solidFill>
                  <a:srgbClr val="000000"/>
                </a:solidFill>
                <a:latin typeface="Arial Bold"/>
                <a:ea typeface="Arial Bold"/>
                <a:cs typeface="Arial Bold"/>
                <a:sym typeface="Arial Bold"/>
              </a:rPr>
              <a:t>QUY TRÌNH HỖ TRỢ KH CÓ HĐBH BANCA – QUY TRÌNH BỒI THƯỜNG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317500" y="1569203"/>
          <a:ext cx="17653000" cy="4297755"/>
        </p:xfrm>
        <a:graphic>
          <a:graphicData uri="http://schemas.openxmlformats.org/drawingml/2006/table">
            <a:tbl>
              <a:tblPr/>
              <a:tblGrid>
                <a:gridCol w="11181339">
                  <a:extLst>
                    <a:ext uri="{9D8B030D-6E8A-4147-A177-3AD203B41FA5}">
                      <a16:colId xmlns:a16="http://schemas.microsoft.com/office/drawing/2014/main" val="20000"/>
                    </a:ext>
                  </a:extLst>
                </a:gridCol>
                <a:gridCol w="6471661">
                  <a:extLst>
                    <a:ext uri="{9D8B030D-6E8A-4147-A177-3AD203B41FA5}">
                      <a16:colId xmlns:a16="http://schemas.microsoft.com/office/drawing/2014/main" val="20001"/>
                    </a:ext>
                  </a:extLst>
                </a:gridCol>
              </a:tblGrid>
              <a:tr h="778426">
                <a:tc>
                  <a:txBody>
                    <a:bodyPr/>
                    <a:lstStyle/>
                    <a:p>
                      <a:pPr algn="ctr">
                        <a:lnSpc>
                          <a:spcPts val="3750"/>
                        </a:lnSpc>
                        <a:defRPr/>
                      </a:pPr>
                      <a:r>
                        <a:rPr lang="en-US" sz="2000" b="1" spc="12">
                          <a:solidFill>
                            <a:srgbClr val="FFFFFF"/>
                          </a:solidFill>
                          <a:latin typeface="Arial Bold"/>
                          <a:ea typeface="Arial Bold"/>
                          <a:cs typeface="Arial Bold"/>
                          <a:sym typeface="Arial Bold"/>
                        </a:rPr>
                        <a:t>HƯỚNG XỬ LÝ </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a:solidFill>
                            <a:srgbClr val="FFFFFF"/>
                          </a:solidFill>
                          <a:latin typeface="Arial Bold"/>
                          <a:ea typeface="Arial Bold"/>
                          <a:cs typeface="Arial Bold"/>
                          <a:sym typeface="Arial Bold"/>
                        </a:rPr>
                        <a:t>CODE/ REMARK</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3519329">
                <a:tc>
                  <a:txBody>
                    <a:bodyPr/>
                    <a:lstStyle/>
                    <a:p>
                      <a:pPr algn="l">
                        <a:lnSpc>
                          <a:spcPts val="2800"/>
                        </a:lnSpc>
                        <a:defRPr/>
                      </a:pPr>
                      <a:r>
                        <a:rPr lang="en-US" sz="2000" b="1">
                          <a:solidFill>
                            <a:srgbClr val="000000"/>
                          </a:solidFill>
                          <a:latin typeface="Arial Bold"/>
                          <a:ea typeface="Arial Bold"/>
                          <a:cs typeface="Arial Bold"/>
                          <a:sym typeface="Arial Bold"/>
                        </a:rPr>
                        <a:t>CS hướng dẫn Chủ HĐ liên hệ IDeal Life:</a:t>
                      </a:r>
                      <a:endParaRPr lang="en-US" sz="1100"/>
                    </a:p>
                    <a:p>
                      <a:pPr marL="431801" lvl="1" indent="-215900" algn="l">
                        <a:lnSpc>
                          <a:spcPts val="2800"/>
                        </a:lnSpc>
                        <a:buFont typeface="Arial"/>
                        <a:buChar char="•"/>
                      </a:pPr>
                      <a:r>
                        <a:rPr lang="en-US" sz="2000">
                          <a:solidFill>
                            <a:srgbClr val="000000"/>
                          </a:solidFill>
                          <a:latin typeface="Arial"/>
                          <a:ea typeface="Arial"/>
                          <a:cs typeface="Arial"/>
                          <a:sym typeface="Arial"/>
                        </a:rPr>
                        <a:t>Tổng đài: 19002809 (chọn phím 2)</a:t>
                      </a:r>
                    </a:p>
                    <a:p>
                      <a:pPr marL="431801" lvl="1" indent="-215900" algn="l">
                        <a:lnSpc>
                          <a:spcPts val="2800"/>
                        </a:lnSpc>
                        <a:buFont typeface="Arial"/>
                        <a:buChar char="•"/>
                      </a:pPr>
                      <a:r>
                        <a:rPr lang="en-US" sz="2000">
                          <a:solidFill>
                            <a:srgbClr val="000000"/>
                          </a:solidFill>
                          <a:latin typeface="Arial"/>
                          <a:ea typeface="Arial"/>
                          <a:cs typeface="Arial"/>
                          <a:sym typeface="Arial"/>
                        </a:rPr>
                        <a:t> Email: hotrobaohiem@izion24.com.vn</a:t>
                      </a:r>
                    </a:p>
                    <a:p>
                      <a:pPr marL="431801" lvl="1" indent="-215900" algn="l">
                        <a:lnSpc>
                          <a:spcPts val="2800"/>
                        </a:lnSpc>
                        <a:buFont typeface="Arial"/>
                        <a:buChar char="•"/>
                      </a:pPr>
                      <a:r>
                        <a:rPr lang="en-US" sz="2000">
                          <a:solidFill>
                            <a:srgbClr val="000000"/>
                          </a:solidFill>
                          <a:latin typeface="Arial"/>
                          <a:ea typeface="Arial"/>
                          <a:cs typeface="Arial"/>
                          <a:sym typeface="Arial"/>
                        </a:rPr>
                        <a:t> Facebook: Ứng dụng bảo hiểm IZIon24</a:t>
                      </a:r>
                    </a:p>
                    <a:p>
                      <a:pPr marL="431801" lvl="1" indent="-215900" algn="l">
                        <a:lnSpc>
                          <a:spcPts val="2800"/>
                        </a:lnSpc>
                        <a:buFont typeface="Arial"/>
                        <a:buChar char="•"/>
                      </a:pPr>
                      <a:r>
                        <a:rPr lang="en-US" sz="2000">
                          <a:solidFill>
                            <a:srgbClr val="000000"/>
                          </a:solidFill>
                          <a:latin typeface="Arial"/>
                          <a:ea typeface="Arial"/>
                          <a:cs typeface="Arial"/>
                          <a:sym typeface="Arial"/>
                        </a:rPr>
                        <a:t>Zalo: Ứng dụng bảo hiểm IZIon24</a:t>
                      </a:r>
                    </a:p>
                    <a:p>
                      <a:pPr marL="431801" lvl="1" indent="-215900" algn="l">
                        <a:lnSpc>
                          <a:spcPts val="2800"/>
                        </a:lnSpc>
                        <a:buFont typeface="Arial"/>
                        <a:buChar char="•"/>
                      </a:pPr>
                      <a:r>
                        <a:rPr lang="en-US" sz="2000">
                          <a:solidFill>
                            <a:srgbClr val="000000"/>
                          </a:solidFill>
                          <a:latin typeface="Arial"/>
                          <a:ea typeface="Arial"/>
                          <a:cs typeface="Arial"/>
                          <a:sym typeface="Arial"/>
                        </a:rPr>
                        <a:t>Chat qua app: IZIon24</a:t>
                      </a:r>
                    </a:p>
                    <a:p>
                      <a:pPr marL="431801" lvl="1" indent="-215900" algn="l">
                        <a:lnSpc>
                          <a:spcPts val="2800"/>
                        </a:lnSpc>
                        <a:buFont typeface="Arial"/>
                        <a:buChar char="•"/>
                      </a:pPr>
                      <a:r>
                        <a:rPr lang="en-US" sz="2000">
                          <a:solidFill>
                            <a:srgbClr val="000000"/>
                          </a:solidFill>
                          <a:latin typeface="Arial"/>
                          <a:ea typeface="Arial"/>
                          <a:cs typeface="Arial"/>
                          <a:sym typeface="Arial"/>
                        </a:rPr>
                        <a:t>Thời gian làm việc: Từ thứ 2 – thứ 6: 8:00 – 12:00 &amp; 13:00 – 17:30, Thứ 7: 8:00 – 12:00</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799"/>
                        </a:lnSpc>
                        <a:defRPr/>
                      </a:pPr>
                      <a:r>
                        <a:rPr lang="en-US" sz="2000" b="1">
                          <a:solidFill>
                            <a:srgbClr val="000000"/>
                          </a:solidFill>
                          <a:latin typeface="Arial Bold"/>
                          <a:ea typeface="Arial Bold"/>
                          <a:cs typeface="Arial Bold"/>
                          <a:sym typeface="Arial Bold"/>
                        </a:rPr>
                        <a:t>Code:</a:t>
                      </a:r>
                      <a:r>
                        <a:rPr lang="en-US" sz="2000">
                          <a:solidFill>
                            <a:srgbClr val="000000"/>
                          </a:solidFill>
                          <a:latin typeface="Arial"/>
                          <a:ea typeface="Arial"/>
                          <a:cs typeface="Arial"/>
                          <a:sym typeface="Arial"/>
                        </a:rPr>
                        <a:t> IB01-Bảo hiểm Banca</a:t>
                      </a:r>
                      <a:endParaRPr lang="en-US" sz="1100"/>
                    </a:p>
                    <a:p>
                      <a:pPr algn="l">
                        <a:lnSpc>
                          <a:spcPts val="2799"/>
                        </a:lnSpc>
                      </a:pPr>
                      <a:r>
                        <a:rPr lang="en-US" sz="2000" b="1">
                          <a:solidFill>
                            <a:srgbClr val="000000"/>
                          </a:solidFill>
                          <a:latin typeface="Arial Bold"/>
                          <a:ea typeface="Arial Bold"/>
                          <a:cs typeface="Arial Bold"/>
                          <a:sym typeface="Arial Bold"/>
                        </a:rPr>
                        <a:t>Subcode:</a:t>
                      </a:r>
                      <a:r>
                        <a:rPr lang="en-US" sz="2000">
                          <a:solidFill>
                            <a:srgbClr val="000000"/>
                          </a:solidFill>
                          <a:latin typeface="Arial"/>
                          <a:ea typeface="Arial"/>
                          <a:cs typeface="Arial"/>
                          <a:sym typeface="Arial"/>
                        </a:rPr>
                        <a:t> IB01.06-Điều chỉnh thông tin trên HĐBH</a:t>
                      </a:r>
                    </a:p>
                    <a:p>
                      <a:pPr algn="l">
                        <a:lnSpc>
                          <a:spcPts val="2799"/>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nội dung hỗ trợ</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grpSp>
        <p:nvGrpSpPr>
          <p:cNvPr id="3" name="Group 3"/>
          <p:cNvGrpSpPr/>
          <p:nvPr/>
        </p:nvGrpSpPr>
        <p:grpSpPr>
          <a:xfrm>
            <a:off x="15691018" y="9790919"/>
            <a:ext cx="2421922" cy="346996"/>
            <a:chOff x="0" y="0"/>
            <a:chExt cx="3229229" cy="462661"/>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145" r="-145"/>
              </a:stretch>
            </a:blipFill>
          </p:spPr>
        </p:sp>
      </p:grpSp>
      <p:sp>
        <p:nvSpPr>
          <p:cNvPr id="5" name="Freeform 5"/>
          <p:cNvSpPr/>
          <p:nvPr/>
        </p:nvSpPr>
        <p:spPr>
          <a:xfrm>
            <a:off x="5859" y="-328298"/>
            <a:ext cx="18282142" cy="1306449"/>
          </a:xfrm>
          <a:custGeom>
            <a:avLst/>
            <a:gdLst/>
            <a:ahLst/>
            <a:cxnLst/>
            <a:rect l="l" t="t" r="r" b="b"/>
            <a:pathLst>
              <a:path w="20000147" h="1306449">
                <a:moveTo>
                  <a:pt x="0" y="0"/>
                </a:moveTo>
                <a:lnTo>
                  <a:pt x="20000147" y="0"/>
                </a:lnTo>
                <a:lnTo>
                  <a:pt x="20000147"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t="-300" b="-300"/>
            </a:stretch>
          </a:blipFill>
        </p:spPr>
      </p:sp>
      <p:sp>
        <p:nvSpPr>
          <p:cNvPr id="6" name="TextBox 6"/>
          <p:cNvSpPr txBox="1"/>
          <p:nvPr/>
        </p:nvSpPr>
        <p:spPr>
          <a:xfrm>
            <a:off x="87530" y="140382"/>
            <a:ext cx="18112940" cy="601940"/>
          </a:xfrm>
          <a:prstGeom prst="rect">
            <a:avLst/>
          </a:prstGeom>
        </p:spPr>
        <p:txBody>
          <a:bodyPr lIns="0" tIns="0" rIns="0" bIns="0" rtlCol="0" anchor="t">
            <a:spAutoFit/>
          </a:bodyPr>
          <a:lstStyle/>
          <a:p>
            <a:pPr algn="ctr">
              <a:lnSpc>
                <a:spcPts val="4680"/>
              </a:lnSpc>
            </a:pPr>
            <a:r>
              <a:rPr lang="en-US" sz="3600" b="1">
                <a:solidFill>
                  <a:srgbClr val="000000"/>
                </a:solidFill>
                <a:latin typeface="Arial Bold"/>
                <a:ea typeface="Arial Bold"/>
                <a:cs typeface="Arial Bold"/>
                <a:sym typeface="Arial Bold"/>
              </a:rPr>
              <a:t>QUY TRÌNH HỖ TRỢ KH CÓ HĐBH BANCA – ĐIỀU CHỈNH THÔNG TIN TRÊN HĐBH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112970569"/>
              </p:ext>
            </p:extLst>
          </p:nvPr>
        </p:nvGraphicFramePr>
        <p:xfrm>
          <a:off x="317500" y="1187021"/>
          <a:ext cx="17653000" cy="4297755"/>
        </p:xfrm>
        <a:graphic>
          <a:graphicData uri="http://schemas.openxmlformats.org/drawingml/2006/table">
            <a:tbl>
              <a:tblPr/>
              <a:tblGrid>
                <a:gridCol w="12521869">
                  <a:extLst>
                    <a:ext uri="{9D8B030D-6E8A-4147-A177-3AD203B41FA5}">
                      <a16:colId xmlns:a16="http://schemas.microsoft.com/office/drawing/2014/main" val="20000"/>
                    </a:ext>
                  </a:extLst>
                </a:gridCol>
                <a:gridCol w="5131131">
                  <a:extLst>
                    <a:ext uri="{9D8B030D-6E8A-4147-A177-3AD203B41FA5}">
                      <a16:colId xmlns:a16="http://schemas.microsoft.com/office/drawing/2014/main" val="20001"/>
                    </a:ext>
                  </a:extLst>
                </a:gridCol>
              </a:tblGrid>
              <a:tr h="778426">
                <a:tc>
                  <a:txBody>
                    <a:bodyPr/>
                    <a:lstStyle/>
                    <a:p>
                      <a:pPr algn="ctr">
                        <a:lnSpc>
                          <a:spcPts val="3750"/>
                        </a:lnSpc>
                        <a:defRPr/>
                      </a:pPr>
                      <a:r>
                        <a:rPr lang="en-US" sz="2000" b="1" spc="12">
                          <a:solidFill>
                            <a:srgbClr val="FFFFFF"/>
                          </a:solidFill>
                          <a:latin typeface="Arial Bold"/>
                          <a:ea typeface="Arial Bold"/>
                          <a:cs typeface="Arial Bold"/>
                          <a:sym typeface="Arial Bold"/>
                        </a:rPr>
                        <a:t>HƯỚNG XỬ LÝ </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a:solidFill>
                            <a:srgbClr val="FFFFFF"/>
                          </a:solidFill>
                          <a:latin typeface="Arial Bold"/>
                          <a:ea typeface="Arial Bold"/>
                          <a:cs typeface="Arial Bold"/>
                          <a:sym typeface="Arial Bold"/>
                        </a:rPr>
                        <a:t>CODE/ REMARK</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3519329">
                <a:tc>
                  <a:txBody>
                    <a:bodyPr/>
                    <a:lstStyle/>
                    <a:p>
                      <a:pPr algn="l">
                        <a:lnSpc>
                          <a:spcPts val="2800"/>
                        </a:lnSpc>
                        <a:defRPr/>
                      </a:pPr>
                      <a:r>
                        <a:rPr lang="en-US" sz="2000" dirty="0">
                          <a:solidFill>
                            <a:srgbClr val="000000"/>
                          </a:solidFill>
                          <a:latin typeface="Arial"/>
                          <a:ea typeface="Arial"/>
                          <a:cs typeface="Arial"/>
                          <a:sym typeface="Arial"/>
                        </a:rPr>
                        <a:t>Khai </a:t>
                      </a:r>
                      <a:r>
                        <a:rPr lang="en-US" sz="2000" dirty="0" err="1">
                          <a:solidFill>
                            <a:srgbClr val="000000"/>
                          </a:solidFill>
                          <a:latin typeface="Arial"/>
                          <a:ea typeface="Arial"/>
                          <a:cs typeface="Arial"/>
                          <a:sym typeface="Arial"/>
                        </a:rPr>
                        <a:t>thác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lý</a:t>
                      </a:r>
                      <a:r>
                        <a:rPr lang="en-US" sz="2000" dirty="0">
                          <a:solidFill>
                            <a:srgbClr val="000000"/>
                          </a:solidFill>
                          <a:latin typeface="Arial"/>
                          <a:ea typeface="Arial"/>
                          <a:cs typeface="Arial"/>
                          <a:sym typeface="Arial"/>
                        </a:rPr>
                        <a:t> do </a:t>
                      </a:r>
                      <a:r>
                        <a:rPr lang="en-US" sz="2000" dirty="0" err="1">
                          <a:solidFill>
                            <a:srgbClr val="000000"/>
                          </a:solidFill>
                          <a:latin typeface="Arial"/>
                          <a:ea typeface="Arial"/>
                          <a:cs typeface="Arial"/>
                          <a:sym typeface="Arial"/>
                        </a:rPr>
                        <a:t>yêu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cầu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hủy</a:t>
                      </a:r>
                      <a:r>
                        <a:rPr lang="en-US" sz="2000" dirty="0">
                          <a:solidFill>
                            <a:srgbClr val="000000"/>
                          </a:solidFill>
                          <a:latin typeface="Arial"/>
                          <a:ea typeface="Arial"/>
                          <a:cs typeface="Arial"/>
                          <a:sym typeface="Arial"/>
                        </a:rPr>
                        <a:t> để </a:t>
                      </a:r>
                      <a:r>
                        <a:rPr lang="en-US" sz="2000" dirty="0" err="1">
                          <a:solidFill>
                            <a:srgbClr val="000000"/>
                          </a:solidFill>
                          <a:latin typeface="Arial"/>
                          <a:ea typeface="Arial"/>
                          <a:cs typeface="Arial"/>
                          <a:sym typeface="Arial"/>
                        </a:rPr>
                        <a:t>thuyết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phục</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giữ</a:t>
                      </a:r>
                      <a:r>
                        <a:rPr lang="en-US" sz="2000" dirty="0">
                          <a:solidFill>
                            <a:srgbClr val="000000"/>
                          </a:solidFill>
                          <a:latin typeface="Arial"/>
                          <a:ea typeface="Arial"/>
                          <a:cs typeface="Arial"/>
                          <a:sym typeface="Arial"/>
                        </a:rPr>
                        <a:t> lại HĐBH (Tham </a:t>
                      </a:r>
                      <a:r>
                        <a:rPr lang="en-US" sz="2000" dirty="0" err="1">
                          <a:solidFill>
                            <a:srgbClr val="000000"/>
                          </a:solidFill>
                          <a:latin typeface="Arial"/>
                          <a:ea typeface="Arial"/>
                          <a:cs typeface="Arial"/>
                          <a:sym typeface="Arial"/>
                        </a:rPr>
                        <a:t>khảo</a:t>
                      </a:r>
                      <a:r>
                        <a:rPr lang="en-US" sz="2000" dirty="0">
                          <a:solidFill>
                            <a:srgbClr val="000000"/>
                          </a:solidFill>
                          <a:latin typeface="Arial"/>
                          <a:ea typeface="Arial"/>
                          <a:cs typeface="Arial"/>
                          <a:sym typeface="Arial"/>
                        </a:rPr>
                        <a:t> "</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Kịch</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bản</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thuyết</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phục</a:t>
                      </a:r>
                      <a:r>
                        <a:rPr lang="en-US" sz="2000" dirty="0">
                          <a:solidFill>
                            <a:srgbClr val="000000"/>
                          </a:solidFill>
                          <a:latin typeface="Arial"/>
                          <a:ea typeface="Arial"/>
                          <a:cs typeface="Arial"/>
                          <a:sym typeface="Arial"/>
                        </a:rPr>
                        <a:t>")</a:t>
                      </a:r>
                      <a:endParaRPr lang="en-US" sz="1100" dirty="0"/>
                    </a:p>
                    <a:p>
                      <a:pPr marL="431801" lvl="1" indent="-215900" algn="l">
                        <a:lnSpc>
                          <a:spcPts val="2800"/>
                        </a:lnSpc>
                        <a:buFont typeface="Arial"/>
                        <a:buChar char="•"/>
                      </a:pPr>
                      <a:r>
                        <a:rPr lang="en-US" sz="2000" dirty="0" err="1">
                          <a:solidFill>
                            <a:srgbClr val="000000"/>
                          </a:solidFill>
                          <a:latin typeface="Arial"/>
                          <a:ea typeface="Arial"/>
                          <a:cs typeface="Arial"/>
                          <a:sym typeface="Arial"/>
                        </a:rPr>
                        <a:t>Thuyết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phục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thành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Kết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thúc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cuộc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gọi</a:t>
                      </a:r>
                      <a:r>
                        <a:rPr lang="en-US" sz="2000" dirty="0">
                          <a:solidFill>
                            <a:srgbClr val="000000"/>
                          </a:solidFill>
                          <a:latin typeface="Arial"/>
                          <a:ea typeface="Arial"/>
                          <a:cs typeface="Arial"/>
                          <a:sym typeface="Arial"/>
                        </a:rPr>
                        <a:t>.</a:t>
                      </a:r>
                    </a:p>
                    <a:p>
                      <a:pPr marL="431801" lvl="1" indent="-215900" algn="l">
                        <a:lnSpc>
                          <a:spcPts val="2800"/>
                        </a:lnSpc>
                        <a:buFont typeface="Arial"/>
                        <a:buChar char="•"/>
                      </a:pPr>
                      <a:r>
                        <a:rPr lang="en-US" sz="2000" dirty="0" err="1">
                          <a:solidFill>
                            <a:srgbClr val="000000"/>
                          </a:solidFill>
                          <a:latin typeface="Arial"/>
                          <a:ea typeface="Arial"/>
                          <a:cs typeface="Arial"/>
                          <a:sym typeface="Arial"/>
                        </a:rPr>
                        <a:t>Thuyết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phục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thành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Hướng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dẫn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Chủ</a:t>
                      </a:r>
                      <a:r>
                        <a:rPr lang="en-US" sz="2000" dirty="0">
                          <a:solidFill>
                            <a:srgbClr val="000000"/>
                          </a:solidFill>
                          <a:latin typeface="Arial"/>
                          <a:ea typeface="Arial"/>
                          <a:cs typeface="Arial"/>
                          <a:sym typeface="Arial"/>
                        </a:rPr>
                        <a:t> HĐ </a:t>
                      </a:r>
                      <a:r>
                        <a:rPr lang="en-US" sz="2000" dirty="0" err="1">
                          <a:solidFill>
                            <a:srgbClr val="000000"/>
                          </a:solidFill>
                          <a:latin typeface="Arial"/>
                          <a:ea typeface="Arial"/>
                          <a:cs typeface="Arial"/>
                          <a:sym typeface="Arial"/>
                        </a:rPr>
                        <a:t>sử</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dụng</a:t>
                      </a:r>
                      <a:r>
                        <a:rPr lang="en-US" sz="2000" dirty="0">
                          <a:solidFill>
                            <a:srgbClr val="000000"/>
                          </a:solidFill>
                          <a:latin typeface="Arial"/>
                          <a:ea typeface="Arial"/>
                          <a:cs typeface="Arial"/>
                          <a:sym typeface="Arial"/>
                        </a:rPr>
                        <a:t> SĐT </a:t>
                      </a:r>
                      <a:r>
                        <a:rPr lang="en-US" sz="2000" dirty="0" err="1">
                          <a:solidFill>
                            <a:srgbClr val="000000"/>
                          </a:solidFill>
                          <a:latin typeface="Arial"/>
                          <a:ea typeface="Arial"/>
                          <a:cs typeface="Arial"/>
                          <a:sym typeface="Arial"/>
                        </a:rPr>
                        <a:t>đăng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ký</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liên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hệ</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tổng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đài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IDeal</a:t>
                      </a:r>
                      <a:r>
                        <a:rPr lang="en-US" sz="2000" dirty="0">
                          <a:solidFill>
                            <a:srgbClr val="000000"/>
                          </a:solidFill>
                          <a:latin typeface="Arial"/>
                          <a:ea typeface="Arial"/>
                          <a:cs typeface="Arial"/>
                          <a:sym typeface="Arial"/>
                        </a:rPr>
                        <a:t> Life để được </a:t>
                      </a:r>
                      <a:r>
                        <a:rPr lang="en-US" sz="2000" dirty="0" err="1">
                          <a:solidFill>
                            <a:srgbClr val="000000"/>
                          </a:solidFill>
                          <a:latin typeface="Arial"/>
                          <a:ea typeface="Arial"/>
                          <a:cs typeface="Arial"/>
                          <a:sym typeface="Arial"/>
                        </a:rPr>
                        <a:t>hỗ</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trợ</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về</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yêu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cầu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hủy</a:t>
                      </a:r>
                      <a:r>
                        <a:rPr lang="en-US" sz="2000" dirty="0">
                          <a:solidFill>
                            <a:srgbClr val="000000"/>
                          </a:solidFill>
                          <a:latin typeface="Arial"/>
                          <a:ea typeface="Arial"/>
                          <a:cs typeface="Arial"/>
                          <a:sym typeface="Arial"/>
                        </a:rPr>
                        <a:t> BH: </a:t>
                      </a:r>
                    </a:p>
                    <a:p>
                      <a:pPr marL="863601" lvl="2" indent="-287867" algn="l">
                        <a:lnSpc>
                          <a:spcPts val="2800"/>
                        </a:lnSpc>
                        <a:buFont typeface="Arial"/>
                        <a:buChar char="⚬"/>
                      </a:pPr>
                      <a:r>
                        <a:rPr lang="en-US" sz="2000" dirty="0" err="1">
                          <a:solidFill>
                            <a:srgbClr val="000000"/>
                          </a:solidFill>
                          <a:latin typeface="Arial"/>
                          <a:ea typeface="Arial"/>
                          <a:cs typeface="Arial"/>
                          <a:sym typeface="Arial"/>
                        </a:rPr>
                        <a:t>Số</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tổng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đài</a:t>
                      </a:r>
                      <a:r>
                        <a:rPr lang="en-US" sz="2000" dirty="0">
                          <a:solidFill>
                            <a:srgbClr val="000000"/>
                          </a:solidFill>
                          <a:latin typeface="Arial"/>
                          <a:ea typeface="Arial"/>
                          <a:cs typeface="Arial"/>
                          <a:sym typeface="Arial"/>
                        </a:rPr>
                        <a:t>: 19002809 (</a:t>
                      </a:r>
                      <a:r>
                        <a:rPr lang="en-US" sz="2000" dirty="0" err="1">
                          <a:solidFill>
                            <a:srgbClr val="000000"/>
                          </a:solidFill>
                          <a:latin typeface="Arial"/>
                          <a:ea typeface="Arial"/>
                          <a:cs typeface="Arial"/>
                          <a:sym typeface="Arial"/>
                        </a:rPr>
                        <a:t>chọn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phím</a:t>
                      </a:r>
                      <a:r>
                        <a:rPr lang="en-US" sz="2000" dirty="0">
                          <a:solidFill>
                            <a:srgbClr val="000000"/>
                          </a:solidFill>
                          <a:latin typeface="Arial"/>
                          <a:ea typeface="Arial"/>
                          <a:cs typeface="Arial"/>
                          <a:sym typeface="Arial"/>
                        </a:rPr>
                        <a:t> 2). </a:t>
                      </a:r>
                    </a:p>
                    <a:p>
                      <a:pPr marL="863601" lvl="2" indent="-287867" algn="l">
                        <a:lnSpc>
                          <a:spcPts val="2800"/>
                        </a:lnSpc>
                        <a:buFont typeface="Arial"/>
                        <a:buChar char="⚬"/>
                      </a:pPr>
                      <a:r>
                        <a:rPr lang="en-US" sz="2000" dirty="0" err="1">
                          <a:solidFill>
                            <a:srgbClr val="000000"/>
                          </a:solidFill>
                          <a:latin typeface="Arial"/>
                          <a:ea typeface="Arial"/>
                          <a:cs typeface="Arial"/>
                          <a:sym typeface="Arial"/>
                        </a:rPr>
                        <a:t>Thời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gian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làm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việc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Từ</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thứ</a:t>
                      </a:r>
                      <a:r>
                        <a:rPr lang="en-US" sz="2000" dirty="0">
                          <a:solidFill>
                            <a:srgbClr val="000000"/>
                          </a:solidFill>
                          <a:latin typeface="Arial"/>
                          <a:ea typeface="Arial"/>
                          <a:cs typeface="Arial"/>
                          <a:sym typeface="Arial"/>
                        </a:rPr>
                        <a:t> 2 – </a:t>
                      </a:r>
                      <a:r>
                        <a:rPr lang="en-US" sz="2000" dirty="0" err="1">
                          <a:solidFill>
                            <a:srgbClr val="000000"/>
                          </a:solidFill>
                          <a:latin typeface="Arial"/>
                          <a:ea typeface="Arial"/>
                          <a:cs typeface="Arial"/>
                          <a:sym typeface="Arial"/>
                        </a:rPr>
                        <a:t>thứ</a:t>
                      </a:r>
                      <a:r>
                        <a:rPr lang="en-US" sz="2000" dirty="0">
                          <a:solidFill>
                            <a:srgbClr val="000000"/>
                          </a:solidFill>
                          <a:latin typeface="Arial"/>
                          <a:ea typeface="Arial"/>
                          <a:cs typeface="Arial"/>
                          <a:sym typeface="Arial"/>
                        </a:rPr>
                        <a:t> 6: 8:00 – 12:00 &amp; 13:00 – 17:30, </a:t>
                      </a:r>
                      <a:r>
                        <a:rPr lang="en-US" sz="2000" dirty="0" err="1">
                          <a:solidFill>
                            <a:srgbClr val="000000"/>
                          </a:solidFill>
                          <a:latin typeface="Arial"/>
                          <a:ea typeface="Arial"/>
                          <a:cs typeface="Arial"/>
                          <a:sym typeface="Arial"/>
                        </a:rPr>
                        <a:t>Thứ</a:t>
                      </a:r>
                      <a:r>
                        <a:rPr lang="en-US" sz="2000" dirty="0">
                          <a:solidFill>
                            <a:srgbClr val="000000"/>
                          </a:solidFill>
                          <a:latin typeface="Arial"/>
                          <a:ea typeface="Arial"/>
                          <a:cs typeface="Arial"/>
                          <a:sym typeface="Arial"/>
                        </a:rPr>
                        <a:t> 7: 8:00 – 12:00.</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799"/>
                        </a:lnSpc>
                        <a:defRPr/>
                      </a:pPr>
                      <a:r>
                        <a:rPr lang="en-US" sz="2000" b="1" dirty="0">
                          <a:solidFill>
                            <a:srgbClr val="000000"/>
                          </a:solidFill>
                          <a:latin typeface="Arial Bold"/>
                          <a:ea typeface="Arial Bold"/>
                          <a:cs typeface="Arial Bold"/>
                          <a:sym typeface="Arial Bold"/>
                        </a:rPr>
                        <a:t>Code:</a:t>
                      </a:r>
                      <a:r>
                        <a:rPr lang="en-US" sz="2000" dirty="0">
                          <a:solidFill>
                            <a:srgbClr val="000000"/>
                          </a:solidFill>
                          <a:latin typeface="Arial"/>
                          <a:ea typeface="Arial"/>
                          <a:cs typeface="Arial"/>
                          <a:sym typeface="Arial"/>
                        </a:rPr>
                        <a:t> IB01-Bảo </a:t>
                      </a:r>
                      <a:r>
                        <a:rPr lang="en-US" sz="2000" dirty="0" err="1">
                          <a:solidFill>
                            <a:srgbClr val="000000"/>
                          </a:solidFill>
                          <a:latin typeface="Arial"/>
                          <a:ea typeface="Arial"/>
                          <a:cs typeface="Arial"/>
                          <a:sym typeface="Arial"/>
                        </a:rPr>
                        <a:t>hiểm</a:t>
                      </a:r>
                      <a:r>
                        <a:rPr lang="en-US" sz="2000" dirty="0">
                          <a:solidFill>
                            <a:srgbClr val="000000"/>
                          </a:solidFill>
                          <a:latin typeface="Arial"/>
                          <a:ea typeface="Arial"/>
                          <a:cs typeface="Arial"/>
                          <a:sym typeface="Arial"/>
                        </a:rPr>
                        <a:t> Banca</a:t>
                      </a:r>
                      <a:endParaRPr lang="en-US" sz="1100" dirty="0"/>
                    </a:p>
                    <a:p>
                      <a:pPr algn="l">
                        <a:lnSpc>
                          <a:spcPts val="2800"/>
                        </a:lnSpc>
                      </a:pPr>
                      <a:r>
                        <a:rPr lang="en-US" sz="2000" b="1" dirty="0">
                          <a:solidFill>
                            <a:srgbClr val="000000"/>
                          </a:solidFill>
                          <a:latin typeface="Arial Bold"/>
                          <a:ea typeface="Arial Bold"/>
                          <a:cs typeface="Arial Bold"/>
                          <a:sym typeface="Arial Bold"/>
                        </a:rPr>
                        <a:t>Subcode:</a:t>
                      </a:r>
                      <a:r>
                        <a:rPr lang="en-US" sz="2000" dirty="0">
                          <a:solidFill>
                            <a:srgbClr val="000000"/>
                          </a:solidFill>
                          <a:latin typeface="Arial"/>
                          <a:ea typeface="Arial"/>
                          <a:cs typeface="Arial"/>
                          <a:sym typeface="Arial"/>
                        </a:rPr>
                        <a:t> IB01.05-Hủy HĐBH </a:t>
                      </a:r>
                    </a:p>
                    <a:p>
                      <a:pPr algn="l">
                        <a:lnSpc>
                          <a:spcPts val="2799"/>
                        </a:lnSpc>
                      </a:pPr>
                      <a:r>
                        <a:rPr lang="en-US" sz="2000" b="1" dirty="0">
                          <a:solidFill>
                            <a:srgbClr val="000000"/>
                          </a:solidFill>
                          <a:latin typeface="Arial Bold"/>
                          <a:ea typeface="Arial Bold"/>
                          <a:cs typeface="Arial Bold"/>
                          <a:sym typeface="Arial Bold"/>
                        </a:rPr>
                        <a:t>Remark: </a:t>
                      </a:r>
                      <a:r>
                        <a:rPr lang="en-US" sz="2000" dirty="0" err="1">
                          <a:solidFill>
                            <a:srgbClr val="000000"/>
                          </a:solidFill>
                          <a:latin typeface="Arial"/>
                          <a:ea typeface="Arial"/>
                          <a:cs typeface="Arial"/>
                          <a:sym typeface="Arial"/>
                        </a:rPr>
                        <a:t>nội</a:t>
                      </a:r>
                      <a:r>
                        <a:rPr lang="en-US" sz="2000" dirty="0">
                          <a:solidFill>
                            <a:srgbClr val="000000"/>
                          </a:solidFill>
                          <a:latin typeface="Arial"/>
                          <a:ea typeface="Arial"/>
                          <a:cs typeface="Arial"/>
                          <a:sym typeface="Arial"/>
                        </a:rPr>
                        <a:t> dung </a:t>
                      </a:r>
                      <a:r>
                        <a:rPr lang="en-US" sz="2000" dirty="0" err="1">
                          <a:solidFill>
                            <a:srgbClr val="000000"/>
                          </a:solidFill>
                          <a:latin typeface="Arial"/>
                          <a:ea typeface="Arial"/>
                          <a:cs typeface="Arial"/>
                          <a:sym typeface="Arial"/>
                        </a:rPr>
                        <a:t>hỗ</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trợ</a:t>
                      </a:r>
                      <a:endParaRPr lang="en-US" sz="2000" dirty="0">
                        <a:solidFill>
                          <a:srgbClr val="000000"/>
                        </a:solidFill>
                        <a:latin typeface="Arial"/>
                        <a:ea typeface="Arial"/>
                        <a:cs typeface="Arial"/>
                        <a:sym typeface="Arial"/>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grpSp>
        <p:nvGrpSpPr>
          <p:cNvPr id="3" name="Group 3"/>
          <p:cNvGrpSpPr/>
          <p:nvPr/>
        </p:nvGrpSpPr>
        <p:grpSpPr>
          <a:xfrm>
            <a:off x="15691018" y="9790919"/>
            <a:ext cx="2421922" cy="346996"/>
            <a:chOff x="0" y="0"/>
            <a:chExt cx="3229229" cy="462661"/>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3"/>
              <a:stretch>
                <a:fillRect l="-145" r="-145"/>
              </a:stretch>
            </a:blipFill>
          </p:spPr>
        </p:sp>
      </p:grpSp>
      <p:sp>
        <p:nvSpPr>
          <p:cNvPr id="5" name="Freeform 5"/>
          <p:cNvSpPr/>
          <p:nvPr/>
        </p:nvSpPr>
        <p:spPr>
          <a:xfrm>
            <a:off x="5859" y="-328298"/>
            <a:ext cx="18282142" cy="1306449"/>
          </a:xfrm>
          <a:custGeom>
            <a:avLst/>
            <a:gdLst/>
            <a:ahLst/>
            <a:cxnLst/>
            <a:rect l="l" t="t" r="r" b="b"/>
            <a:pathLst>
              <a:path w="20000147" h="1306449">
                <a:moveTo>
                  <a:pt x="0" y="0"/>
                </a:moveTo>
                <a:lnTo>
                  <a:pt x="20000147" y="0"/>
                </a:lnTo>
                <a:lnTo>
                  <a:pt x="20000147" y="1306449"/>
                </a:lnTo>
                <a:lnTo>
                  <a:pt x="0" y="1306449"/>
                </a:lnTo>
                <a:lnTo>
                  <a:pt x="0" y="0"/>
                </a:lnTo>
                <a:close/>
              </a:path>
            </a:pathLst>
          </a:custGeom>
          <a:blipFill>
            <a:blip r:embed="rId4">
              <a:extLst>
                <a:ext uri="{96DAC541-7B7A-43D3-8B79-37D633B846F1}">
                  <asvg:svgBlip xmlns:asvg="http://schemas.microsoft.com/office/drawing/2016/SVG/main" r:embed="rId5"/>
                </a:ext>
              </a:extLst>
            </a:blip>
            <a:stretch>
              <a:fillRect t="-300" b="-300"/>
            </a:stretch>
          </a:blipFill>
        </p:spPr>
      </p:sp>
      <p:sp>
        <p:nvSpPr>
          <p:cNvPr id="6" name="TextBox 6"/>
          <p:cNvSpPr txBox="1"/>
          <p:nvPr/>
        </p:nvSpPr>
        <p:spPr>
          <a:xfrm>
            <a:off x="940668" y="162849"/>
            <a:ext cx="16406664" cy="663530"/>
          </a:xfrm>
          <a:prstGeom prst="rect">
            <a:avLst/>
          </a:prstGeom>
        </p:spPr>
        <p:txBody>
          <a:bodyPr lIns="0" tIns="0" rIns="0" bIns="0" rtlCol="0" anchor="t">
            <a:spAutoFit/>
          </a:bodyPr>
          <a:lstStyle/>
          <a:p>
            <a:pPr algn="ctr">
              <a:lnSpc>
                <a:spcPts val="5200"/>
              </a:lnSpc>
            </a:pPr>
            <a:r>
              <a:rPr lang="en-US" sz="3999" b="1">
                <a:solidFill>
                  <a:srgbClr val="000000"/>
                </a:solidFill>
                <a:latin typeface="Arial Bold"/>
                <a:ea typeface="Arial Bold"/>
                <a:cs typeface="Arial Bold"/>
                <a:sym typeface="Arial Bold"/>
              </a:rPr>
              <a:t>QUY TRÌNH HỖ TRỢ KH CÓ HĐBH BANCA – YÊU CẦU HỦY HĐBH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1305268504"/>
              </p:ext>
            </p:extLst>
          </p:nvPr>
        </p:nvGraphicFramePr>
        <p:xfrm>
          <a:off x="5858" y="978151"/>
          <a:ext cx="18282142" cy="9385876"/>
        </p:xfrm>
        <a:graphic>
          <a:graphicData uri="http://schemas.openxmlformats.org/drawingml/2006/table">
            <a:tbl>
              <a:tblPr/>
              <a:tblGrid>
                <a:gridCol w="3885932">
                  <a:extLst>
                    <a:ext uri="{9D8B030D-6E8A-4147-A177-3AD203B41FA5}">
                      <a16:colId xmlns:a16="http://schemas.microsoft.com/office/drawing/2014/main" val="20000"/>
                    </a:ext>
                  </a:extLst>
                </a:gridCol>
                <a:gridCol w="14396210">
                  <a:extLst>
                    <a:ext uri="{9D8B030D-6E8A-4147-A177-3AD203B41FA5}">
                      <a16:colId xmlns:a16="http://schemas.microsoft.com/office/drawing/2014/main" val="20001"/>
                    </a:ext>
                  </a:extLst>
                </a:gridCol>
              </a:tblGrid>
              <a:tr h="775690">
                <a:tc>
                  <a:txBody>
                    <a:bodyPr/>
                    <a:lstStyle/>
                    <a:p>
                      <a:pPr algn="ctr">
                        <a:lnSpc>
                          <a:spcPts val="3750"/>
                        </a:lnSpc>
                        <a:defRPr/>
                      </a:pPr>
                      <a:r>
                        <a:rPr lang="en-US" sz="2000" b="1" spc="12">
                          <a:solidFill>
                            <a:srgbClr val="FFFFFF"/>
                          </a:solidFill>
                          <a:latin typeface="Arial Bold"/>
                          <a:ea typeface="Arial Bold"/>
                          <a:cs typeface="Arial Bold"/>
                          <a:sym typeface="Arial Bold"/>
                        </a:rPr>
                        <a:t>TRƯỜNG HỢP</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dirty="0">
                          <a:solidFill>
                            <a:srgbClr val="FFFFFF"/>
                          </a:solidFill>
                          <a:latin typeface="Arial Bold"/>
                          <a:ea typeface="Arial Bold"/>
                          <a:cs typeface="Arial Bold"/>
                          <a:sym typeface="Arial Bold"/>
                        </a:rPr>
                        <a:t>KỊCH BẢN THAM KHẢO/ XỬ LÝ TÌNH HUỐNG</a:t>
                      </a:r>
                      <a:endParaRPr lang="en-US" sz="1100" dirty="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1560956">
                <a:tc>
                  <a:txBody>
                    <a:bodyPr/>
                    <a:lstStyle/>
                    <a:p>
                      <a:pPr algn="l">
                        <a:lnSpc>
                          <a:spcPts val="2800"/>
                        </a:lnSpc>
                        <a:defRPr/>
                      </a:pPr>
                      <a:r>
                        <a:rPr lang="en-US" sz="2000" b="1">
                          <a:solidFill>
                            <a:srgbClr val="000000"/>
                          </a:solidFill>
                          <a:latin typeface="Arial Bold"/>
                          <a:ea typeface="Arial Bold"/>
                          <a:cs typeface="Arial Bold"/>
                          <a:sym typeface="Arial Bold"/>
                        </a:rPr>
                        <a:t>KH Yêu Cầu Hủy HĐBH</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241300" lvl="1" indent="-120650" algn="l">
                        <a:lnSpc>
                          <a:spcPts val="2800"/>
                        </a:lnSpc>
                        <a:buFont typeface="Arial"/>
                        <a:buChar char="•"/>
                        <a:defRPr/>
                      </a:pPr>
                      <a:r>
                        <a:rPr lang="en-US" sz="2000" dirty="0" err="1">
                          <a:solidFill>
                            <a:srgbClr val="000000"/>
                          </a:solidFill>
                          <a:latin typeface="Arial"/>
                          <a:ea typeface="Arial"/>
                          <a:cs typeface="Arial"/>
                          <a:sym typeface="Arial"/>
                        </a:rPr>
                        <a:t>Sử</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dụng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quyền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lợi</a:t>
                      </a:r>
                      <a:r>
                        <a:rPr lang="en-US" sz="2000" dirty="0">
                          <a:solidFill>
                            <a:srgbClr val="000000"/>
                          </a:solidFill>
                          <a:latin typeface="Arial"/>
                          <a:ea typeface="Arial"/>
                          <a:cs typeface="Arial"/>
                          <a:sym typeface="Arial"/>
                        </a:rPr>
                        <a:t> của SP mà KH </a:t>
                      </a:r>
                      <a:r>
                        <a:rPr lang="en-US" sz="2000" dirty="0" err="1">
                          <a:solidFill>
                            <a:srgbClr val="000000"/>
                          </a:solidFill>
                          <a:latin typeface="Arial"/>
                          <a:ea typeface="Arial"/>
                          <a:cs typeface="Arial"/>
                          <a:sym typeface="Arial"/>
                        </a:rPr>
                        <a:t>đã</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tham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gia</a:t>
                      </a:r>
                      <a:r>
                        <a:rPr lang="en-US" sz="2000" dirty="0">
                          <a:solidFill>
                            <a:srgbClr val="000000"/>
                          </a:solidFill>
                          <a:latin typeface="Arial"/>
                          <a:ea typeface="Arial"/>
                          <a:cs typeface="Arial"/>
                          <a:sym typeface="Arial"/>
                        </a:rPr>
                        <a:t> để </a:t>
                      </a:r>
                      <a:r>
                        <a:rPr lang="en-US" sz="2000" dirty="0" err="1">
                          <a:solidFill>
                            <a:srgbClr val="000000"/>
                          </a:solidFill>
                          <a:latin typeface="Arial"/>
                          <a:ea typeface="Arial"/>
                          <a:cs typeface="Arial"/>
                          <a:sym typeface="Arial"/>
                        </a:rPr>
                        <a:t>thuyết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phục</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giữ</a:t>
                      </a:r>
                      <a:r>
                        <a:rPr lang="en-US" sz="2000" dirty="0">
                          <a:solidFill>
                            <a:srgbClr val="000000"/>
                          </a:solidFill>
                          <a:latin typeface="Arial"/>
                          <a:ea typeface="Arial"/>
                          <a:cs typeface="Arial"/>
                          <a:sym typeface="Arial"/>
                        </a:rPr>
                        <a:t> lại HĐBH.</a:t>
                      </a:r>
                    </a:p>
                    <a:p>
                      <a:pPr marL="241300" lvl="1" indent="-120650" algn="l">
                        <a:lnSpc>
                          <a:spcPts val="2800"/>
                        </a:lnSpc>
                        <a:buFont typeface="Arial"/>
                        <a:buChar char="•"/>
                        <a:defRPr/>
                      </a:pPr>
                      <a:r>
                        <a:rPr lang="en-US" sz="2000" dirty="0">
                          <a:solidFill>
                            <a:srgbClr val="000000"/>
                          </a:solidFill>
                          <a:latin typeface="Arial"/>
                          <a:ea typeface="Arial"/>
                          <a:cs typeface="Arial"/>
                          <a:sym typeface="Arial"/>
                        </a:rPr>
                        <a:t>FE Credit </a:t>
                      </a:r>
                      <a:r>
                        <a:rPr lang="en-US" sz="2000" dirty="0" err="1">
                          <a:solidFill>
                            <a:srgbClr val="000000"/>
                          </a:solidFill>
                          <a:latin typeface="Arial"/>
                          <a:ea typeface="Arial"/>
                          <a:cs typeface="Arial"/>
                          <a:sym typeface="Arial"/>
                        </a:rPr>
                        <a:t>khuyến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khích</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trang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bị</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thêm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ít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nhất</a:t>
                      </a:r>
                      <a:r>
                        <a:rPr lang="en-US" sz="2000" dirty="0">
                          <a:solidFill>
                            <a:srgbClr val="000000"/>
                          </a:solidFill>
                          <a:latin typeface="Arial"/>
                          <a:ea typeface="Arial"/>
                          <a:cs typeface="Arial"/>
                          <a:sym typeface="Arial"/>
                        </a:rPr>
                        <a:t> 1 </a:t>
                      </a:r>
                      <a:r>
                        <a:rPr lang="en-US" sz="2000" dirty="0" err="1">
                          <a:solidFill>
                            <a:srgbClr val="000000"/>
                          </a:solidFill>
                          <a:latin typeface="Arial"/>
                          <a:ea typeface="Arial"/>
                          <a:cs typeface="Arial"/>
                          <a:sym typeface="Arial"/>
                        </a:rPr>
                        <a:t>gói</a:t>
                      </a:r>
                      <a:r>
                        <a:rPr lang="en-US" sz="2000" dirty="0">
                          <a:solidFill>
                            <a:srgbClr val="000000"/>
                          </a:solidFill>
                          <a:latin typeface="Arial"/>
                          <a:ea typeface="Arial"/>
                          <a:cs typeface="Arial"/>
                          <a:sym typeface="Arial"/>
                        </a:rPr>
                        <a:t> BH </a:t>
                      </a:r>
                      <a:r>
                        <a:rPr lang="en-US" sz="2000" dirty="0" err="1">
                          <a:solidFill>
                            <a:srgbClr val="000000"/>
                          </a:solidFill>
                          <a:latin typeface="Arial"/>
                          <a:ea typeface="Arial"/>
                          <a:cs typeface="Arial"/>
                          <a:sym typeface="Arial"/>
                        </a:rPr>
                        <a:t>vì</a:t>
                      </a:r>
                      <a:r>
                        <a:rPr lang="en-US" sz="2000" dirty="0">
                          <a:solidFill>
                            <a:srgbClr val="000000"/>
                          </a:solidFill>
                          <a:latin typeface="Arial"/>
                          <a:ea typeface="Arial"/>
                          <a:cs typeface="Arial"/>
                          <a:sym typeface="Arial"/>
                        </a:rPr>
                        <a:t> TH </a:t>
                      </a:r>
                      <a:r>
                        <a:rPr lang="en-US" sz="2000" dirty="0" err="1">
                          <a:solidFill>
                            <a:srgbClr val="000000"/>
                          </a:solidFill>
                          <a:latin typeface="Arial"/>
                          <a:ea typeface="Arial"/>
                          <a:cs typeface="Arial"/>
                          <a:sym typeface="Arial"/>
                        </a:rPr>
                        <a:t>chẳng</a:t>
                      </a:r>
                      <a:r>
                        <a:rPr lang="en-US" sz="2000" dirty="0">
                          <a:solidFill>
                            <a:srgbClr val="000000"/>
                          </a:solidFill>
                          <a:latin typeface="Arial"/>
                          <a:ea typeface="Arial"/>
                          <a:cs typeface="Arial"/>
                          <a:sym typeface="Arial"/>
                        </a:rPr>
                        <a:t> may KH </a:t>
                      </a:r>
                      <a:r>
                        <a:rPr lang="en-US" sz="2000" dirty="0" err="1">
                          <a:solidFill>
                            <a:srgbClr val="000000"/>
                          </a:solidFill>
                          <a:latin typeface="Arial"/>
                          <a:ea typeface="Arial"/>
                          <a:cs typeface="Arial"/>
                          <a:sym typeface="Arial"/>
                        </a:rPr>
                        <a:t>gặp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rủi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ro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về</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mặt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sức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khỏe</a:t>
                      </a:r>
                      <a:r>
                        <a:rPr lang="en-US" sz="2000" dirty="0">
                          <a:solidFill>
                            <a:srgbClr val="000000"/>
                          </a:solidFill>
                          <a:latin typeface="Arial"/>
                          <a:ea typeface="Arial"/>
                          <a:cs typeface="Arial"/>
                          <a:sym typeface="Arial"/>
                        </a:rPr>
                        <a:t>/ tai </a:t>
                      </a:r>
                      <a:r>
                        <a:rPr lang="en-US" sz="2000" dirty="0" err="1">
                          <a:solidFill>
                            <a:srgbClr val="000000"/>
                          </a:solidFill>
                          <a:latin typeface="Arial"/>
                          <a:ea typeface="Arial"/>
                          <a:cs typeface="Arial"/>
                          <a:sym typeface="Arial"/>
                        </a:rPr>
                        <a:t>nạn</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sẽ</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phải</a:t>
                      </a:r>
                      <a:r>
                        <a:rPr lang="en-US" sz="2000" dirty="0">
                          <a:solidFill>
                            <a:srgbClr val="000000"/>
                          </a:solidFill>
                          <a:latin typeface="Arial"/>
                          <a:ea typeface="Arial"/>
                          <a:cs typeface="Arial"/>
                          <a:sym typeface="Arial"/>
                        </a:rPr>
                        <a:t> lo </a:t>
                      </a:r>
                      <a:r>
                        <a:rPr lang="en-US" sz="2000" dirty="0" err="1">
                          <a:solidFill>
                            <a:srgbClr val="000000"/>
                          </a:solidFill>
                          <a:latin typeface="Arial"/>
                          <a:ea typeface="Arial"/>
                          <a:cs typeface="Arial"/>
                          <a:sym typeface="Arial"/>
                        </a:rPr>
                        <a:t>lắng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về</a:t>
                      </a:r>
                      <a:r>
                        <a:rPr lang="en-US" sz="2000" dirty="0">
                          <a:solidFill>
                            <a:srgbClr val="000000"/>
                          </a:solidFill>
                          <a:latin typeface="Arial"/>
                          <a:ea typeface="Arial"/>
                          <a:cs typeface="Arial"/>
                          <a:sym typeface="Arial"/>
                        </a:rPr>
                        <a:t> chi </a:t>
                      </a:r>
                      <a:r>
                        <a:rPr lang="en-US" sz="2000" dirty="0" err="1">
                          <a:solidFill>
                            <a:srgbClr val="000000"/>
                          </a:solidFill>
                          <a:latin typeface="Arial"/>
                          <a:ea typeface="Arial"/>
                          <a:cs typeface="Arial"/>
                          <a:sym typeface="Arial"/>
                        </a:rPr>
                        <a:t>phí</a:t>
                      </a:r>
                      <a:r>
                        <a:rPr lang="en-US" sz="2000" dirty="0">
                          <a:solidFill>
                            <a:srgbClr val="000000"/>
                          </a:solidFill>
                          <a:latin typeface="Arial"/>
                          <a:ea typeface="Arial"/>
                          <a:cs typeface="Arial"/>
                          <a:sym typeface="Arial"/>
                        </a:rPr>
                        <a:t> y </a:t>
                      </a:r>
                      <a:r>
                        <a:rPr lang="en-US" sz="2000" dirty="0" err="1">
                          <a:solidFill>
                            <a:srgbClr val="000000"/>
                          </a:solidFill>
                          <a:latin typeface="Arial"/>
                          <a:ea typeface="Arial"/>
                          <a:cs typeface="Arial"/>
                          <a:sym typeface="Arial"/>
                        </a:rPr>
                        <a:t>tế</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vừa</a:t>
                      </a:r>
                      <a:r>
                        <a:rPr lang="en-US" sz="2000" dirty="0">
                          <a:solidFill>
                            <a:srgbClr val="000000"/>
                          </a:solidFill>
                          <a:latin typeface="Arial"/>
                          <a:ea typeface="Arial"/>
                          <a:cs typeface="Arial"/>
                          <a:sym typeface="Arial"/>
                        </a:rPr>
                        <a:t> được chi </a:t>
                      </a:r>
                      <a:r>
                        <a:rPr lang="en-US" sz="2000" dirty="0" err="1">
                          <a:solidFill>
                            <a:srgbClr val="000000"/>
                          </a:solidFill>
                          <a:latin typeface="Arial"/>
                          <a:ea typeface="Arial"/>
                          <a:cs typeface="Arial"/>
                          <a:sym typeface="Arial"/>
                        </a:rPr>
                        <a:t>trả</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viện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phí</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vừa</a:t>
                      </a:r>
                      <a:r>
                        <a:rPr lang="en-US" sz="2000" dirty="0">
                          <a:solidFill>
                            <a:srgbClr val="000000"/>
                          </a:solidFill>
                          <a:latin typeface="Arial"/>
                          <a:ea typeface="Arial"/>
                          <a:cs typeface="Arial"/>
                          <a:sym typeface="Arial"/>
                        </a:rPr>
                        <a:t> được </a:t>
                      </a:r>
                      <a:r>
                        <a:rPr lang="en-US" sz="2000" dirty="0" err="1">
                          <a:solidFill>
                            <a:srgbClr val="000000"/>
                          </a:solidFill>
                          <a:latin typeface="Arial"/>
                          <a:ea typeface="Arial"/>
                          <a:cs typeface="Arial"/>
                          <a:sym typeface="Arial"/>
                        </a:rPr>
                        <a:t>hỗ</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trợ</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thêm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tiền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mặt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như</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vậy</a:t>
                      </a:r>
                      <a:r>
                        <a:rPr lang="en-US" sz="2000" dirty="0">
                          <a:solidFill>
                            <a:srgbClr val="000000"/>
                          </a:solidFill>
                          <a:latin typeface="Arial"/>
                          <a:ea typeface="Arial"/>
                          <a:cs typeface="Arial"/>
                          <a:sym typeface="Arial"/>
                        </a:rPr>
                        <a:t> giúp KH </a:t>
                      </a:r>
                      <a:r>
                        <a:rPr lang="en-US" sz="2000" dirty="0" err="1">
                          <a:solidFill>
                            <a:srgbClr val="000000"/>
                          </a:solidFill>
                          <a:latin typeface="Arial"/>
                          <a:ea typeface="Arial"/>
                          <a:cs typeface="Arial"/>
                          <a:sym typeface="Arial"/>
                        </a:rPr>
                        <a:t>yên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tâm</a:t>
                      </a:r>
                      <a:r>
                        <a:rPr lang="en-US" sz="2000" dirty="0">
                          <a:solidFill>
                            <a:srgbClr val="000000"/>
                          </a:solidFill>
                          <a:latin typeface="Arial"/>
                          <a:ea typeface="Arial"/>
                          <a:cs typeface="Arial"/>
                          <a:sym typeface="Arial"/>
                        </a:rPr>
                        <a:t> hơn), </a:t>
                      </a: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bị</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ảnh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hưởng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đến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kỳ</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thanh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toán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khoản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vay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và</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đảm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lịch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sử</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tín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dụng</a:t>
                      </a:r>
                      <a:r>
                        <a:rPr lang="en-US" sz="2000" dirty="0">
                          <a:solidFill>
                            <a:srgbClr val="000000"/>
                          </a:solidFill>
                          <a:latin typeface="Arial"/>
                          <a:ea typeface="Arial"/>
                          <a:cs typeface="Arial"/>
                          <a:sym typeface="Arial"/>
                        </a:rPr>
                        <a:t> của KH.</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1073750">
                <a:tc>
                  <a:txBody>
                    <a:bodyPr/>
                    <a:lstStyle/>
                    <a:p>
                      <a:pPr algn="l">
                        <a:lnSpc>
                          <a:spcPts val="2800"/>
                        </a:lnSpc>
                        <a:defRPr/>
                      </a:pPr>
                      <a:r>
                        <a:rPr lang="en-US" sz="2000" b="1" dirty="0">
                          <a:solidFill>
                            <a:srgbClr val="000000"/>
                          </a:solidFill>
                          <a:latin typeface="Arial Bold"/>
                          <a:ea typeface="Arial Bold"/>
                          <a:cs typeface="Arial Bold"/>
                          <a:sym typeface="Arial Bold"/>
                        </a:rPr>
                        <a:t>KH </a:t>
                      </a:r>
                      <a:r>
                        <a:rPr lang="en-US" sz="2000" b="1" dirty="0" err="1">
                          <a:solidFill>
                            <a:srgbClr val="000000"/>
                          </a:solidFill>
                          <a:latin typeface="Arial Bold"/>
                          <a:ea typeface="Arial Bold"/>
                          <a:cs typeface="Arial Bold"/>
                          <a:sym typeface="Arial Bold"/>
                        </a:rPr>
                        <a:t>Không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Có</a:t>
                      </a:r>
                      <a:r>
                        <a:rPr lang="en-US" sz="2000" b="1" dirty="0">
                          <a:solidFill>
                            <a:srgbClr val="000000"/>
                          </a:solidFill>
                          <a:latin typeface="Arial Bold"/>
                          <a:ea typeface="Arial Bold"/>
                          <a:cs typeface="Arial Bold"/>
                          <a:sym typeface="Arial Bold"/>
                        </a:rPr>
                        <a:t> Nhu </a:t>
                      </a:r>
                      <a:r>
                        <a:rPr lang="en-US" sz="2000" b="1" dirty="0" err="1">
                          <a:solidFill>
                            <a:srgbClr val="000000"/>
                          </a:solidFill>
                          <a:latin typeface="Arial Bold"/>
                          <a:ea typeface="Arial Bold"/>
                          <a:cs typeface="Arial Bold"/>
                          <a:sym typeface="Arial Bold"/>
                        </a:rPr>
                        <a:t>Cầu</a:t>
                      </a:r>
                      <a:endParaRPr lang="en-US" sz="1100" dirty="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799"/>
                        </a:lnSpc>
                        <a:defRPr/>
                      </a:pPr>
                      <a:r>
                        <a:rPr lang="en-US" sz="2000" dirty="0">
                          <a:solidFill>
                            <a:srgbClr val="000000"/>
                          </a:solidFill>
                          <a:latin typeface="Arial"/>
                          <a:ea typeface="Arial"/>
                          <a:cs typeface="Arial"/>
                          <a:sym typeface="Arial"/>
                        </a:rPr>
                        <a:t>BH là </a:t>
                      </a:r>
                      <a:r>
                        <a:rPr lang="en-US" sz="2000" dirty="0" err="1">
                          <a:solidFill>
                            <a:srgbClr val="000000"/>
                          </a:solidFill>
                          <a:latin typeface="Arial"/>
                          <a:ea typeface="Arial"/>
                          <a:cs typeface="Arial"/>
                          <a:sym typeface="Arial"/>
                        </a:rPr>
                        <a:t>sản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phẩm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mua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chưa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cần</a:t>
                      </a:r>
                      <a:r>
                        <a:rPr lang="en-US" sz="2000" dirty="0">
                          <a:solidFill>
                            <a:srgbClr val="000000"/>
                          </a:solidFill>
                          <a:latin typeface="Arial"/>
                          <a:ea typeface="Arial"/>
                          <a:cs typeface="Arial"/>
                          <a:sym typeface="Arial"/>
                        </a:rPr>
                        <a:t>, để </a:t>
                      </a:r>
                      <a:r>
                        <a:rPr lang="en-US" sz="2000" dirty="0" err="1">
                          <a:solidFill>
                            <a:srgbClr val="000000"/>
                          </a:solidFill>
                          <a:latin typeface="Arial"/>
                          <a:ea typeface="Arial"/>
                          <a:cs typeface="Arial"/>
                          <a:sym typeface="Arial"/>
                        </a:rPr>
                        <a:t>khi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cần</a:t>
                      </a:r>
                      <a:r>
                        <a:rPr lang="en-US" sz="2000" dirty="0">
                          <a:solidFill>
                            <a:srgbClr val="000000"/>
                          </a:solidFill>
                          <a:latin typeface="Arial"/>
                          <a:ea typeface="Arial"/>
                          <a:cs typeface="Arial"/>
                          <a:sym typeface="Arial"/>
                        </a:rPr>
                        <a:t> mình </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thể</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sử</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dụng</a:t>
                      </a:r>
                      <a:r>
                        <a:rPr lang="en-US" sz="2000" dirty="0">
                          <a:solidFill>
                            <a:srgbClr val="000000"/>
                          </a:solidFill>
                          <a:latin typeface="Arial"/>
                          <a:ea typeface="Arial"/>
                          <a:cs typeface="Arial"/>
                          <a:sym typeface="Arial"/>
                        </a:rPr>
                        <a:t> ạ. Hi </a:t>
                      </a:r>
                      <a:r>
                        <a:rPr lang="en-US" sz="2000" dirty="0" err="1">
                          <a:solidFill>
                            <a:srgbClr val="000000"/>
                          </a:solidFill>
                          <a:latin typeface="Arial"/>
                          <a:ea typeface="Arial"/>
                          <a:cs typeface="Arial"/>
                          <a:sym typeface="Arial"/>
                        </a:rPr>
                        <a:t>vọng</a:t>
                      </a:r>
                      <a:r>
                        <a:rPr lang="en-US" sz="2000" dirty="0">
                          <a:solidFill>
                            <a:srgbClr val="000000"/>
                          </a:solidFill>
                          <a:latin typeface="Arial"/>
                          <a:ea typeface="Arial"/>
                          <a:cs typeface="Arial"/>
                          <a:sym typeface="Arial"/>
                        </a:rPr>
                        <a:t> là Anh/Chị </a:t>
                      </a:r>
                      <a:r>
                        <a:rPr lang="en-US" sz="2000" dirty="0" err="1">
                          <a:solidFill>
                            <a:srgbClr val="000000"/>
                          </a:solidFill>
                          <a:latin typeface="Arial"/>
                          <a:ea typeface="Arial"/>
                          <a:cs typeface="Arial"/>
                          <a:sym typeface="Arial"/>
                        </a:rPr>
                        <a:t>cân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nhắc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tiếp</a:t>
                      </a:r>
                      <a:r>
                        <a:rPr lang="en-US" sz="2000" dirty="0">
                          <a:solidFill>
                            <a:srgbClr val="000000"/>
                          </a:solidFill>
                          <a:latin typeface="Arial"/>
                          <a:ea typeface="Arial"/>
                          <a:cs typeface="Arial"/>
                          <a:sym typeface="Arial"/>
                        </a:rPr>
                        <a:t> để </a:t>
                      </a:r>
                      <a:r>
                        <a:rPr lang="en-US" sz="2000" dirty="0" err="1">
                          <a:solidFill>
                            <a:srgbClr val="000000"/>
                          </a:solidFill>
                          <a:latin typeface="Arial"/>
                          <a:ea typeface="Arial"/>
                          <a:cs typeface="Arial"/>
                          <a:sym typeface="Arial"/>
                        </a:rPr>
                        <a:t>tham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gia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Vì</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gì</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quý</a:t>
                      </a:r>
                      <a:r>
                        <a:rPr lang="en-US" sz="2000" dirty="0">
                          <a:solidFill>
                            <a:srgbClr val="000000"/>
                          </a:solidFill>
                          <a:latin typeface="Arial"/>
                          <a:ea typeface="Arial"/>
                          <a:cs typeface="Arial"/>
                          <a:sym typeface="Arial"/>
                        </a:rPr>
                        <a:t> hơn </a:t>
                      </a:r>
                      <a:r>
                        <a:rPr lang="en-US" sz="2000" dirty="0" err="1">
                          <a:solidFill>
                            <a:srgbClr val="000000"/>
                          </a:solidFill>
                          <a:latin typeface="Arial"/>
                          <a:ea typeface="Arial"/>
                          <a:cs typeface="Arial"/>
                          <a:sym typeface="Arial"/>
                        </a:rPr>
                        <a:t>sức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khỏe</a:t>
                      </a:r>
                      <a:r>
                        <a:rPr lang="en-US" sz="2000" dirty="0">
                          <a:solidFill>
                            <a:srgbClr val="000000"/>
                          </a:solidFill>
                          <a:latin typeface="Arial"/>
                          <a:ea typeface="Arial"/>
                          <a:cs typeface="Arial"/>
                          <a:sym typeface="Arial"/>
                        </a:rPr>
                        <a:t>, mà BH là 1 </a:t>
                      </a:r>
                      <a:r>
                        <a:rPr lang="en-US" sz="2000" dirty="0" err="1">
                          <a:solidFill>
                            <a:srgbClr val="000000"/>
                          </a:solidFill>
                          <a:latin typeface="Arial"/>
                          <a:ea typeface="Arial"/>
                          <a:cs typeface="Arial"/>
                          <a:sym typeface="Arial"/>
                        </a:rPr>
                        <a:t>cách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đầu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tư</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khôn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ngoan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tương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lai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và</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sự</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yên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tâm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hôm</a:t>
                      </a:r>
                      <a:r>
                        <a:rPr lang="en-US" sz="2000" dirty="0">
                          <a:solidFill>
                            <a:srgbClr val="000000"/>
                          </a:solidFill>
                          <a:latin typeface="Arial"/>
                          <a:ea typeface="Arial"/>
                          <a:cs typeface="Arial"/>
                          <a:sym typeface="Arial"/>
                        </a:rPr>
                        <a:t> nay.</a:t>
                      </a:r>
                      <a:endParaRPr lang="en-US" sz="1100" dirty="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r h="2230691">
                <a:tc>
                  <a:txBody>
                    <a:bodyPr/>
                    <a:lstStyle/>
                    <a:p>
                      <a:pPr algn="l">
                        <a:lnSpc>
                          <a:spcPts val="2800"/>
                        </a:lnSpc>
                        <a:defRPr/>
                      </a:pPr>
                      <a:r>
                        <a:rPr lang="en-US" sz="2000" b="1" dirty="0">
                          <a:solidFill>
                            <a:srgbClr val="000000"/>
                          </a:solidFill>
                          <a:latin typeface="Arial Bold"/>
                          <a:ea typeface="Arial Bold"/>
                          <a:cs typeface="Arial Bold"/>
                          <a:sym typeface="Arial Bold"/>
                        </a:rPr>
                        <a:t>KH </a:t>
                      </a:r>
                      <a:r>
                        <a:rPr lang="en-US" sz="2000" b="1" dirty="0" err="1">
                          <a:solidFill>
                            <a:srgbClr val="000000"/>
                          </a:solidFill>
                          <a:latin typeface="Arial Bold"/>
                          <a:ea typeface="Arial Bold"/>
                          <a:cs typeface="Arial Bold"/>
                          <a:sym typeface="Arial Bold"/>
                        </a:rPr>
                        <a:t>Đã</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Có</a:t>
                      </a:r>
                      <a:r>
                        <a:rPr lang="en-US" sz="2000" b="1" dirty="0">
                          <a:solidFill>
                            <a:srgbClr val="000000"/>
                          </a:solidFill>
                          <a:latin typeface="Arial Bold"/>
                          <a:ea typeface="Arial Bold"/>
                          <a:cs typeface="Arial Bold"/>
                          <a:sym typeface="Arial Bold"/>
                        </a:rPr>
                        <a:t> BH </a:t>
                      </a:r>
                      <a:r>
                        <a:rPr lang="en-US" sz="2000" b="1" dirty="0" err="1">
                          <a:solidFill>
                            <a:srgbClr val="000000"/>
                          </a:solidFill>
                          <a:latin typeface="Arial Bold"/>
                          <a:ea typeface="Arial Bold"/>
                          <a:cs typeface="Arial Bold"/>
                          <a:sym typeface="Arial Bold"/>
                        </a:rPr>
                        <a:t>Rồi</a:t>
                      </a:r>
                      <a:endParaRPr lang="en-US" sz="1100" dirty="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241300" lvl="1" indent="-120650" algn="l">
                        <a:lnSpc>
                          <a:spcPts val="2800"/>
                        </a:lnSpc>
                        <a:buFont typeface="Arial"/>
                        <a:buChar char="•"/>
                        <a:defRPr/>
                      </a:pPr>
                      <a:r>
                        <a:rPr lang="en-US" sz="2000" dirty="0">
                          <a:solidFill>
                            <a:srgbClr val="000000"/>
                          </a:solidFill>
                          <a:latin typeface="Arial"/>
                          <a:ea typeface="Arial"/>
                          <a:cs typeface="Arial"/>
                          <a:sym typeface="Arial"/>
                        </a:rPr>
                        <a:t>Khai </a:t>
                      </a:r>
                      <a:r>
                        <a:rPr lang="en-US" sz="2000" dirty="0" err="1">
                          <a:solidFill>
                            <a:srgbClr val="000000"/>
                          </a:solidFill>
                          <a:latin typeface="Arial"/>
                          <a:ea typeface="Arial"/>
                          <a:cs typeface="Arial"/>
                          <a:sym typeface="Arial"/>
                        </a:rPr>
                        <a:t>thác</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đã</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loại</a:t>
                      </a:r>
                      <a:r>
                        <a:rPr lang="en-US" sz="2000" dirty="0">
                          <a:solidFill>
                            <a:srgbClr val="000000"/>
                          </a:solidFill>
                          <a:latin typeface="Arial"/>
                          <a:ea typeface="Arial"/>
                          <a:cs typeface="Arial"/>
                          <a:sym typeface="Arial"/>
                        </a:rPr>
                        <a:t> BH </a:t>
                      </a:r>
                      <a:r>
                        <a:rPr lang="en-US" sz="2000" dirty="0" err="1">
                          <a:solidFill>
                            <a:srgbClr val="000000"/>
                          </a:solidFill>
                          <a:latin typeface="Arial"/>
                          <a:ea typeface="Arial"/>
                          <a:cs typeface="Arial"/>
                          <a:sym typeface="Arial"/>
                        </a:rPr>
                        <a:t>gì</a:t>
                      </a:r>
                      <a:r>
                        <a:rPr lang="en-US" sz="2000" dirty="0">
                          <a:solidFill>
                            <a:srgbClr val="000000"/>
                          </a:solidFill>
                          <a:latin typeface="Arial"/>
                          <a:ea typeface="Arial"/>
                          <a:cs typeface="Arial"/>
                          <a:sym typeface="Arial"/>
                        </a:rPr>
                        <a:t>?</a:t>
                      </a:r>
                      <a:endParaRPr lang="en-US" sz="1100" dirty="0"/>
                    </a:p>
                    <a:p>
                      <a:pPr marL="241300" lvl="1" indent="-120650" algn="l">
                        <a:lnSpc>
                          <a:spcPts val="2800"/>
                        </a:lnSpc>
                        <a:buFont typeface="Arial"/>
                        <a:buChar char="•"/>
                      </a:pPr>
                      <a:r>
                        <a:rPr lang="en-US" sz="2000" dirty="0">
                          <a:solidFill>
                            <a:srgbClr val="000000"/>
                          </a:solidFill>
                          <a:latin typeface="Arial"/>
                          <a:ea typeface="Arial"/>
                          <a:cs typeface="Arial"/>
                          <a:sym typeface="Arial"/>
                        </a:rPr>
                        <a:t>So </a:t>
                      </a:r>
                      <a:r>
                        <a:rPr lang="en-US" sz="2000" dirty="0" err="1">
                          <a:solidFill>
                            <a:srgbClr val="000000"/>
                          </a:solidFill>
                          <a:latin typeface="Arial"/>
                          <a:ea typeface="Arial"/>
                          <a:cs typeface="Arial"/>
                          <a:sym typeface="Arial"/>
                        </a:rPr>
                        <a:t>sánh</a:t>
                      </a:r>
                      <a:r>
                        <a:rPr lang="en-US" sz="2000" dirty="0">
                          <a:solidFill>
                            <a:srgbClr val="000000"/>
                          </a:solidFill>
                          <a:latin typeface="Arial"/>
                          <a:ea typeface="Arial"/>
                          <a:cs typeface="Arial"/>
                          <a:sym typeface="Arial"/>
                        </a:rPr>
                        <a:t> điểm </a:t>
                      </a:r>
                      <a:r>
                        <a:rPr lang="en-US" sz="2000" dirty="0" err="1">
                          <a:solidFill>
                            <a:srgbClr val="000000"/>
                          </a:solidFill>
                          <a:latin typeface="Arial"/>
                          <a:ea typeface="Arial"/>
                          <a:cs typeface="Arial"/>
                          <a:sym typeface="Arial"/>
                        </a:rPr>
                        <a:t>ưu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việt</a:t>
                      </a:r>
                      <a:r>
                        <a:rPr lang="en-US" sz="2000" dirty="0">
                          <a:solidFill>
                            <a:srgbClr val="000000"/>
                          </a:solidFill>
                          <a:latin typeface="Arial"/>
                          <a:ea typeface="Arial"/>
                          <a:cs typeface="Arial"/>
                          <a:sym typeface="Arial"/>
                        </a:rPr>
                        <a:t> của SP BH </a:t>
                      </a:r>
                      <a:r>
                        <a:rPr lang="en-US" sz="2000" dirty="0" err="1">
                          <a:solidFill>
                            <a:srgbClr val="000000"/>
                          </a:solidFill>
                          <a:latin typeface="Arial"/>
                          <a:ea typeface="Arial"/>
                          <a:cs typeface="Arial"/>
                          <a:sym typeface="Arial"/>
                        </a:rPr>
                        <a:t>tại</a:t>
                      </a:r>
                      <a:r>
                        <a:rPr lang="en-US" sz="2000" dirty="0">
                          <a:solidFill>
                            <a:srgbClr val="000000"/>
                          </a:solidFill>
                          <a:latin typeface="Arial"/>
                          <a:ea typeface="Arial"/>
                          <a:cs typeface="Arial"/>
                          <a:sym typeface="Arial"/>
                        </a:rPr>
                        <a:t> FE để </a:t>
                      </a:r>
                      <a:r>
                        <a:rPr lang="en-US" sz="2000" dirty="0" err="1">
                          <a:solidFill>
                            <a:srgbClr val="000000"/>
                          </a:solidFill>
                          <a:latin typeface="Arial"/>
                          <a:ea typeface="Arial"/>
                          <a:cs typeface="Arial"/>
                          <a:sym typeface="Arial"/>
                        </a:rPr>
                        <a:t>thuyết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phục</a:t>
                      </a:r>
                      <a:r>
                        <a:rPr lang="en-US" sz="2000" dirty="0">
                          <a:solidFill>
                            <a:srgbClr val="000000"/>
                          </a:solidFill>
                          <a:latin typeface="Arial"/>
                          <a:ea typeface="Arial"/>
                          <a:cs typeface="Arial"/>
                          <a:sym typeface="Arial"/>
                        </a:rPr>
                        <a:t> KH: </a:t>
                      </a:r>
                    </a:p>
                    <a:p>
                      <a:pPr marL="863601" lvl="2" indent="-287867" algn="l">
                        <a:lnSpc>
                          <a:spcPts val="2800"/>
                        </a:lnSpc>
                        <a:buFont typeface="Arial"/>
                        <a:buChar char="⚬"/>
                      </a:pPr>
                      <a:r>
                        <a:rPr lang="en-US" sz="2000" dirty="0" err="1">
                          <a:solidFill>
                            <a:srgbClr val="000000"/>
                          </a:solidFill>
                          <a:latin typeface="Arial"/>
                          <a:ea typeface="Arial"/>
                          <a:cs typeface="Arial"/>
                          <a:sym typeface="Arial"/>
                        </a:rPr>
                        <a:t>Nêu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quyền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lợi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ưu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việt</a:t>
                      </a:r>
                      <a:r>
                        <a:rPr lang="en-US" sz="2000" dirty="0">
                          <a:solidFill>
                            <a:srgbClr val="000000"/>
                          </a:solidFill>
                          <a:latin typeface="Arial"/>
                          <a:ea typeface="Arial"/>
                          <a:cs typeface="Arial"/>
                          <a:sym typeface="Arial"/>
                        </a:rPr>
                        <a:t> của SP mà KH </a:t>
                      </a:r>
                      <a:r>
                        <a:rPr lang="en-US" sz="2000" dirty="0" err="1">
                          <a:solidFill>
                            <a:srgbClr val="000000"/>
                          </a:solidFill>
                          <a:latin typeface="Arial"/>
                          <a:ea typeface="Arial"/>
                          <a:cs typeface="Arial"/>
                          <a:sym typeface="Arial"/>
                        </a:rPr>
                        <a:t>đã</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tham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gia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tại</a:t>
                      </a:r>
                      <a:r>
                        <a:rPr lang="en-US" sz="2000" dirty="0">
                          <a:solidFill>
                            <a:srgbClr val="000000"/>
                          </a:solidFill>
                          <a:latin typeface="Arial"/>
                          <a:ea typeface="Arial"/>
                          <a:cs typeface="Arial"/>
                          <a:sym typeface="Arial"/>
                        </a:rPr>
                        <a:t> FE</a:t>
                      </a:r>
                    </a:p>
                    <a:p>
                      <a:pPr marL="863601" lvl="2" indent="-287867" algn="l">
                        <a:lnSpc>
                          <a:spcPts val="2799"/>
                        </a:lnSpc>
                        <a:buFont typeface="Arial"/>
                        <a:buChar char="⚬"/>
                      </a:pPr>
                      <a:r>
                        <a:rPr lang="en-US" sz="2000" dirty="0" err="1">
                          <a:solidFill>
                            <a:srgbClr val="000000"/>
                          </a:solidFill>
                          <a:latin typeface="Arial"/>
                          <a:ea typeface="Arial"/>
                          <a:cs typeface="Arial"/>
                          <a:sym typeface="Arial"/>
                        </a:rPr>
                        <a:t>Gói</a:t>
                      </a:r>
                      <a:r>
                        <a:rPr lang="en-US" sz="2000" dirty="0">
                          <a:solidFill>
                            <a:srgbClr val="000000"/>
                          </a:solidFill>
                          <a:latin typeface="Arial"/>
                          <a:ea typeface="Arial"/>
                          <a:cs typeface="Arial"/>
                          <a:sym typeface="Arial"/>
                        </a:rPr>
                        <a:t> BH này được </a:t>
                      </a:r>
                      <a:r>
                        <a:rPr lang="en-US" sz="2000" dirty="0" err="1">
                          <a:solidFill>
                            <a:srgbClr val="000000"/>
                          </a:solidFill>
                          <a:latin typeface="Arial"/>
                          <a:ea typeface="Arial"/>
                          <a:cs typeface="Arial"/>
                          <a:sym typeface="Arial"/>
                        </a:rPr>
                        <a:t>phân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phối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độc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quyền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tại</a:t>
                      </a:r>
                      <a:r>
                        <a:rPr lang="en-US" sz="2000" dirty="0">
                          <a:solidFill>
                            <a:srgbClr val="000000"/>
                          </a:solidFill>
                          <a:latin typeface="Arial"/>
                          <a:ea typeface="Arial"/>
                          <a:cs typeface="Arial"/>
                          <a:sym typeface="Arial"/>
                        </a:rPr>
                        <a:t> FE </a:t>
                      </a:r>
                      <a:r>
                        <a:rPr lang="en-US" sz="2000" dirty="0" err="1">
                          <a:solidFill>
                            <a:srgbClr val="000000"/>
                          </a:solidFill>
                          <a:latin typeface="Arial"/>
                          <a:ea typeface="Arial"/>
                          <a:cs typeface="Arial"/>
                          <a:sym typeface="Arial"/>
                        </a:rPr>
                        <a:t>và</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chỉ</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tại</a:t>
                      </a:r>
                      <a:r>
                        <a:rPr lang="en-US" sz="2000" dirty="0">
                          <a:solidFill>
                            <a:srgbClr val="000000"/>
                          </a:solidFill>
                          <a:latin typeface="Arial"/>
                          <a:ea typeface="Arial"/>
                          <a:cs typeface="Arial"/>
                          <a:sym typeface="Arial"/>
                        </a:rPr>
                        <a:t> FE mình mới được </a:t>
                      </a:r>
                      <a:r>
                        <a:rPr lang="en-US" sz="2000" dirty="0" err="1">
                          <a:solidFill>
                            <a:srgbClr val="000000"/>
                          </a:solidFill>
                          <a:latin typeface="Arial"/>
                          <a:ea typeface="Arial"/>
                          <a:cs typeface="Arial"/>
                          <a:sym typeface="Arial"/>
                        </a:rPr>
                        <a:t>tham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gia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với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mức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phí</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ưu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đãi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như</a:t>
                      </a:r>
                      <a:r>
                        <a:rPr lang="en-US" sz="2000" dirty="0">
                          <a:solidFill>
                            <a:srgbClr val="000000"/>
                          </a:solidFill>
                          <a:latin typeface="Arial"/>
                          <a:ea typeface="Arial"/>
                          <a:cs typeface="Arial"/>
                          <a:sym typeface="Arial"/>
                        </a:rPr>
                        <a:t> hiện </a:t>
                      </a:r>
                      <a:r>
                        <a:rPr lang="en-US" sz="2000" dirty="0" err="1">
                          <a:solidFill>
                            <a:srgbClr val="000000"/>
                          </a:solidFill>
                          <a:latin typeface="Arial"/>
                          <a:ea typeface="Arial"/>
                          <a:cs typeface="Arial"/>
                          <a:sym typeface="Arial"/>
                        </a:rPr>
                        <a:t>tại</a:t>
                      </a:r>
                      <a:r>
                        <a:rPr lang="en-US" sz="2000" dirty="0">
                          <a:solidFill>
                            <a:srgbClr val="000000"/>
                          </a:solidFill>
                          <a:latin typeface="Arial"/>
                          <a:ea typeface="Arial"/>
                          <a:cs typeface="Arial"/>
                          <a:sym typeface="Arial"/>
                        </a:rPr>
                        <a:t>. Anh/Chị </a:t>
                      </a:r>
                      <a:r>
                        <a:rPr lang="en-US" sz="2000" dirty="0" err="1">
                          <a:solidFill>
                            <a:srgbClr val="000000"/>
                          </a:solidFill>
                          <a:latin typeface="Arial"/>
                          <a:ea typeface="Arial"/>
                          <a:cs typeface="Arial"/>
                          <a:sym typeface="Arial"/>
                        </a:rPr>
                        <a:t>yên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tâm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giữ</a:t>
                      </a:r>
                      <a:r>
                        <a:rPr lang="en-US" sz="2000" dirty="0">
                          <a:solidFill>
                            <a:srgbClr val="000000"/>
                          </a:solidFill>
                          <a:latin typeface="Arial"/>
                          <a:ea typeface="Arial"/>
                          <a:cs typeface="Arial"/>
                          <a:sym typeface="Arial"/>
                        </a:rPr>
                        <a:t> lại </a:t>
                      </a:r>
                      <a:r>
                        <a:rPr lang="en-US" sz="2000" dirty="0" err="1">
                          <a:solidFill>
                            <a:srgbClr val="000000"/>
                          </a:solidFill>
                          <a:latin typeface="Arial"/>
                          <a:ea typeface="Arial"/>
                          <a:cs typeface="Arial"/>
                          <a:sym typeface="Arial"/>
                        </a:rPr>
                        <a:t>gói</a:t>
                      </a:r>
                      <a:r>
                        <a:rPr lang="en-US" sz="2000" dirty="0">
                          <a:solidFill>
                            <a:srgbClr val="000000"/>
                          </a:solidFill>
                          <a:latin typeface="Arial"/>
                          <a:ea typeface="Arial"/>
                          <a:cs typeface="Arial"/>
                          <a:sym typeface="Arial"/>
                        </a:rPr>
                        <a:t> BH này </a:t>
                      </a:r>
                      <a:r>
                        <a:rPr lang="en-US" sz="2000" dirty="0" err="1">
                          <a:solidFill>
                            <a:srgbClr val="000000"/>
                          </a:solidFill>
                          <a:latin typeface="Arial"/>
                          <a:ea typeface="Arial"/>
                          <a:cs typeface="Arial"/>
                          <a:sym typeface="Arial"/>
                        </a:rPr>
                        <a:t>vì</a:t>
                      </a:r>
                      <a:r>
                        <a:rPr lang="en-US" sz="2000" dirty="0">
                          <a:solidFill>
                            <a:srgbClr val="000000"/>
                          </a:solidFill>
                          <a:latin typeface="Arial"/>
                          <a:ea typeface="Arial"/>
                          <a:cs typeface="Arial"/>
                          <a:sym typeface="Arial"/>
                        </a:rPr>
                        <a:t> BH </a:t>
                      </a:r>
                      <a:r>
                        <a:rPr lang="en-US" sz="2000" dirty="0" err="1">
                          <a:solidFill>
                            <a:srgbClr val="000000"/>
                          </a:solidFill>
                          <a:latin typeface="Arial"/>
                          <a:ea typeface="Arial"/>
                          <a:cs typeface="Arial"/>
                          <a:sym typeface="Arial"/>
                        </a:rPr>
                        <a:t>chỉ</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mua</a:t>
                      </a:r>
                      <a:r>
                        <a:rPr lang="en-US" sz="2000" dirty="0">
                          <a:solidFill>
                            <a:srgbClr val="000000"/>
                          </a:solidFill>
                          <a:latin typeface="Arial"/>
                          <a:ea typeface="Arial"/>
                          <a:cs typeface="Arial"/>
                          <a:sym typeface="Arial"/>
                        </a:rPr>
                        <a:t> được </a:t>
                      </a:r>
                      <a:r>
                        <a:rPr lang="en-US" sz="2000" dirty="0" err="1">
                          <a:solidFill>
                            <a:srgbClr val="000000"/>
                          </a:solidFill>
                          <a:latin typeface="Arial"/>
                          <a:ea typeface="Arial"/>
                          <a:cs typeface="Arial"/>
                          <a:sym typeface="Arial"/>
                        </a:rPr>
                        <a:t>khi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khỏe</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mạnh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tới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lúc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ốm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đau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thể</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bảo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vệ</a:t>
                      </a:r>
                      <a:r>
                        <a:rPr lang="en-US" sz="2000" dirty="0">
                          <a:solidFill>
                            <a:srgbClr val="000000"/>
                          </a:solidFill>
                          <a:latin typeface="Arial"/>
                          <a:ea typeface="Arial"/>
                          <a:cs typeface="Arial"/>
                          <a:sym typeface="Arial"/>
                        </a:rPr>
                        <a:t> mình </a:t>
                      </a:r>
                      <a:r>
                        <a:rPr lang="en-US" sz="2000" dirty="0" err="1">
                          <a:solidFill>
                            <a:srgbClr val="000000"/>
                          </a:solidFill>
                          <a:latin typeface="Arial"/>
                          <a:ea typeface="Arial"/>
                          <a:cs typeface="Arial"/>
                          <a:sym typeface="Arial"/>
                        </a:rPr>
                        <a:t>liền</a:t>
                      </a:r>
                      <a:r>
                        <a:rPr lang="en-US" sz="2000" dirty="0">
                          <a:solidFill>
                            <a:srgbClr val="000000"/>
                          </a:solidFill>
                          <a:latin typeface="Arial"/>
                          <a:ea typeface="Arial"/>
                          <a:cs typeface="Arial"/>
                          <a:sym typeface="Arial"/>
                        </a:rPr>
                        <a:t>. Anh/ Chị </a:t>
                      </a:r>
                      <a:r>
                        <a:rPr lang="en-US" sz="2000" dirty="0" err="1">
                          <a:solidFill>
                            <a:srgbClr val="000000"/>
                          </a:solidFill>
                          <a:latin typeface="Arial"/>
                          <a:ea typeface="Arial"/>
                          <a:cs typeface="Arial"/>
                          <a:sym typeface="Arial"/>
                        </a:rPr>
                        <a:t>cứ</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liên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hệ</a:t>
                      </a:r>
                      <a:r>
                        <a:rPr lang="en-US" sz="2000" dirty="0">
                          <a:solidFill>
                            <a:srgbClr val="000000"/>
                          </a:solidFill>
                          <a:latin typeface="Arial"/>
                          <a:ea typeface="Arial"/>
                          <a:cs typeface="Arial"/>
                          <a:sym typeface="Arial"/>
                        </a:rPr>
                        <a:t> lại bên </a:t>
                      </a:r>
                      <a:r>
                        <a:rPr lang="en-US" sz="2000" dirty="0" err="1">
                          <a:solidFill>
                            <a:srgbClr val="000000"/>
                          </a:solidFill>
                          <a:latin typeface="Arial"/>
                          <a:ea typeface="Arial"/>
                          <a:cs typeface="Arial"/>
                          <a:sym typeface="Arial"/>
                        </a:rPr>
                        <a:t>em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nếu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cần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hỗ</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trợ</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thêm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 </a:t>
                      </a:r>
                      <a:r>
                        <a:rPr lang="en-US" sz="2000" dirty="0" err="1">
                          <a:solidFill>
                            <a:srgbClr val="000000"/>
                          </a:solidFill>
                          <a:latin typeface="Arial"/>
                          <a:ea typeface="Arial"/>
                          <a:cs typeface="Arial"/>
                          <a:sym typeface="Arial"/>
                        </a:rPr>
                        <a:t>nhé</a:t>
                      </a:r>
                      <a:r>
                        <a:rPr lang="en-US" sz="2000" dirty="0">
                          <a:solidFill>
                            <a:srgbClr val="000000"/>
                          </a:solidFill>
                          <a:latin typeface="Arial"/>
                          <a:ea typeface="Arial"/>
                          <a:cs typeface="Arial"/>
                          <a:sym typeface="Arial"/>
                        </a:rPr>
                        <a:t>.</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3"/>
                  </a:ext>
                </a:extLst>
              </a:tr>
              <a:tr h="775690">
                <a:tc>
                  <a:txBody>
                    <a:bodyPr/>
                    <a:lstStyle/>
                    <a:p>
                      <a:pPr algn="l">
                        <a:lnSpc>
                          <a:spcPts val="2800"/>
                        </a:lnSpc>
                        <a:defRPr/>
                      </a:pPr>
                      <a:r>
                        <a:rPr lang="en-US" sz="2000" b="1" dirty="0">
                          <a:solidFill>
                            <a:srgbClr val="000000"/>
                          </a:solidFill>
                          <a:latin typeface="Arial Bold"/>
                          <a:ea typeface="Arial Bold"/>
                          <a:cs typeface="Arial Bold"/>
                          <a:sym typeface="Arial Bold"/>
                        </a:rPr>
                        <a:t>KH </a:t>
                      </a:r>
                      <a:r>
                        <a:rPr lang="en-US" sz="2000" b="1" dirty="0" err="1">
                          <a:solidFill>
                            <a:srgbClr val="000000"/>
                          </a:solidFill>
                          <a:latin typeface="Arial Bold"/>
                          <a:ea typeface="Arial Bold"/>
                          <a:cs typeface="Arial Bold"/>
                          <a:sym typeface="Arial Bold"/>
                        </a:rPr>
                        <a:t>Không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Có</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Tiền</a:t>
                      </a:r>
                      <a:endParaRPr lang="en-US" sz="1100" dirty="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800"/>
                        </a:lnSpc>
                        <a:defRPr/>
                      </a:pPr>
                      <a:r>
                        <a:rPr lang="en-US" sz="2000" kern="1200" dirty="0">
                          <a:solidFill>
                            <a:srgbClr val="000000"/>
                          </a:solidFill>
                          <a:latin typeface="Arial"/>
                          <a:cs typeface="Arial"/>
                        </a:rPr>
                        <a:t>Khi Anh/ Chị </a:t>
                      </a:r>
                      <a:r>
                        <a:rPr lang="en-US" sz="2000" kern="1200" dirty="0" err="1">
                          <a:solidFill>
                            <a:srgbClr val="000000"/>
                          </a:solidFill>
                          <a:latin typeface="Arial"/>
                          <a:cs typeface="Arial"/>
                        </a:rPr>
                        <a:t>tham</a:t>
                      </a:r>
                      <a:r>
                        <a:rPr lang="en-US" sz="2000" kern="1200" dirty="0">
                          <a:solidFill>
                            <a:srgbClr val="000000"/>
                          </a:solidFill>
                          <a:latin typeface="Arial"/>
                          <a:cs typeface="Arial"/>
                        </a:rPr>
                        <a:t> </a:t>
                      </a:r>
                      <a:r>
                        <a:rPr lang="en-US" sz="2000" kern="1200" dirty="0" err="1">
                          <a:solidFill>
                            <a:srgbClr val="000000"/>
                          </a:solidFill>
                          <a:latin typeface="Arial"/>
                          <a:cs typeface="Arial"/>
                        </a:rPr>
                        <a:t>gia</a:t>
                      </a:r>
                      <a:r>
                        <a:rPr lang="en-US" sz="2000" kern="1200" dirty="0">
                          <a:solidFill>
                            <a:srgbClr val="000000"/>
                          </a:solidFill>
                          <a:latin typeface="Arial"/>
                          <a:cs typeface="Arial"/>
                        </a:rPr>
                        <a:t> </a:t>
                      </a:r>
                      <a:r>
                        <a:rPr lang="en-US" sz="2000" kern="1200" dirty="0" err="1">
                          <a:solidFill>
                            <a:srgbClr val="000000"/>
                          </a:solidFill>
                          <a:latin typeface="Arial"/>
                          <a:cs typeface="Arial"/>
                        </a:rPr>
                        <a:t>sản</a:t>
                      </a:r>
                      <a:r>
                        <a:rPr lang="en-US" sz="2000" kern="1200" dirty="0">
                          <a:solidFill>
                            <a:srgbClr val="000000"/>
                          </a:solidFill>
                          <a:latin typeface="Arial"/>
                          <a:cs typeface="Arial"/>
                        </a:rPr>
                        <a:t> </a:t>
                      </a:r>
                      <a:r>
                        <a:rPr lang="en-US" sz="2000" kern="1200" dirty="0" err="1">
                          <a:solidFill>
                            <a:srgbClr val="000000"/>
                          </a:solidFill>
                          <a:latin typeface="Arial"/>
                          <a:cs typeface="Arial"/>
                        </a:rPr>
                        <a:t>phẩm</a:t>
                      </a:r>
                      <a:r>
                        <a:rPr lang="en-US" sz="2000" kern="1200" dirty="0">
                          <a:solidFill>
                            <a:srgbClr val="000000"/>
                          </a:solidFill>
                          <a:latin typeface="Arial"/>
                          <a:cs typeface="Arial"/>
                        </a:rPr>
                        <a:t> </a:t>
                      </a:r>
                      <a:r>
                        <a:rPr lang="en-US" sz="2000" kern="1200" dirty="0" err="1">
                          <a:solidFill>
                            <a:srgbClr val="000000"/>
                          </a:solidFill>
                          <a:latin typeface="Arial"/>
                          <a:cs typeface="Arial"/>
                        </a:rPr>
                        <a:t>bảo</a:t>
                      </a:r>
                      <a:r>
                        <a:rPr lang="en-US" sz="2000" kern="1200" dirty="0">
                          <a:solidFill>
                            <a:srgbClr val="000000"/>
                          </a:solidFill>
                          <a:latin typeface="Arial"/>
                          <a:cs typeface="Arial"/>
                        </a:rPr>
                        <a:t> </a:t>
                      </a:r>
                      <a:r>
                        <a:rPr lang="en-US" sz="2000" kern="1200" dirty="0" err="1">
                          <a:solidFill>
                            <a:srgbClr val="000000"/>
                          </a:solidFill>
                          <a:latin typeface="Arial"/>
                          <a:cs typeface="Arial"/>
                        </a:rPr>
                        <a:t>hiểm</a:t>
                      </a:r>
                      <a:r>
                        <a:rPr lang="en-US" sz="2000" kern="1200" dirty="0">
                          <a:solidFill>
                            <a:srgbClr val="000000"/>
                          </a:solidFill>
                          <a:latin typeface="Arial"/>
                          <a:cs typeface="Arial"/>
                        </a:rPr>
                        <a:t> </a:t>
                      </a:r>
                      <a:r>
                        <a:rPr lang="en-US" sz="2000" kern="1200" dirty="0" err="1">
                          <a:solidFill>
                            <a:srgbClr val="000000"/>
                          </a:solidFill>
                          <a:latin typeface="Arial"/>
                          <a:cs typeface="Arial"/>
                        </a:rPr>
                        <a:t>tại</a:t>
                      </a:r>
                      <a:r>
                        <a:rPr lang="en-US" sz="2000" kern="1200" dirty="0">
                          <a:solidFill>
                            <a:srgbClr val="000000"/>
                          </a:solidFill>
                          <a:latin typeface="Arial"/>
                          <a:cs typeface="Arial"/>
                        </a:rPr>
                        <a:t> FE là mình </a:t>
                      </a:r>
                      <a:r>
                        <a:rPr lang="en-US" sz="2000" kern="1200" dirty="0" err="1">
                          <a:solidFill>
                            <a:srgbClr val="000000"/>
                          </a:solidFill>
                          <a:latin typeface="Arial"/>
                          <a:cs typeface="Arial"/>
                        </a:rPr>
                        <a:t>đã</a:t>
                      </a:r>
                      <a:r>
                        <a:rPr lang="en-US" sz="2000" kern="1200" dirty="0">
                          <a:solidFill>
                            <a:srgbClr val="000000"/>
                          </a:solidFill>
                          <a:latin typeface="Arial"/>
                          <a:cs typeface="Arial"/>
                        </a:rPr>
                        <a:t> được </a:t>
                      </a:r>
                      <a:r>
                        <a:rPr lang="en-US" sz="2000" kern="1200" dirty="0" err="1">
                          <a:solidFill>
                            <a:srgbClr val="000000"/>
                          </a:solidFill>
                          <a:latin typeface="Arial"/>
                          <a:cs typeface="Arial"/>
                        </a:rPr>
                        <a:t>hưởng</a:t>
                      </a:r>
                      <a:r>
                        <a:rPr lang="en-US" sz="2000" kern="1200" dirty="0">
                          <a:solidFill>
                            <a:srgbClr val="000000"/>
                          </a:solidFill>
                          <a:latin typeface="Arial"/>
                          <a:cs typeface="Arial"/>
                        </a:rPr>
                        <a:t> </a:t>
                      </a:r>
                      <a:r>
                        <a:rPr lang="en-US" sz="2000" kern="1200" dirty="0" err="1">
                          <a:solidFill>
                            <a:srgbClr val="000000"/>
                          </a:solidFill>
                          <a:latin typeface="Arial"/>
                          <a:cs typeface="Arial"/>
                        </a:rPr>
                        <a:t>mức</a:t>
                      </a:r>
                      <a:r>
                        <a:rPr lang="en-US" sz="2000" kern="1200" dirty="0">
                          <a:solidFill>
                            <a:srgbClr val="000000"/>
                          </a:solidFill>
                          <a:latin typeface="Arial"/>
                          <a:cs typeface="Arial"/>
                        </a:rPr>
                        <a:t> </a:t>
                      </a:r>
                      <a:r>
                        <a:rPr lang="en-US" sz="2000" kern="1200" dirty="0" err="1">
                          <a:solidFill>
                            <a:srgbClr val="000000"/>
                          </a:solidFill>
                          <a:latin typeface="Arial"/>
                          <a:cs typeface="Arial"/>
                        </a:rPr>
                        <a:t>phí</a:t>
                      </a:r>
                      <a:r>
                        <a:rPr lang="en-US" sz="2000" kern="1200" dirty="0">
                          <a:solidFill>
                            <a:srgbClr val="000000"/>
                          </a:solidFill>
                          <a:latin typeface="Arial"/>
                          <a:cs typeface="Arial"/>
                        </a:rPr>
                        <a:t> </a:t>
                      </a:r>
                      <a:r>
                        <a:rPr lang="en-US" sz="2000" kern="1200" dirty="0" err="1">
                          <a:solidFill>
                            <a:srgbClr val="000000"/>
                          </a:solidFill>
                          <a:latin typeface="Arial"/>
                          <a:cs typeface="Arial"/>
                        </a:rPr>
                        <a:t>ưu</a:t>
                      </a:r>
                      <a:r>
                        <a:rPr lang="en-US" sz="2000" kern="1200" dirty="0">
                          <a:solidFill>
                            <a:srgbClr val="000000"/>
                          </a:solidFill>
                          <a:latin typeface="Arial"/>
                          <a:cs typeface="Arial"/>
                        </a:rPr>
                        <a:t> </a:t>
                      </a:r>
                      <a:r>
                        <a:rPr lang="en-US" sz="2000" kern="1200" dirty="0" err="1">
                          <a:solidFill>
                            <a:srgbClr val="000000"/>
                          </a:solidFill>
                          <a:latin typeface="Arial"/>
                          <a:cs typeface="Arial"/>
                        </a:rPr>
                        <a:t>đãi</a:t>
                      </a:r>
                      <a:r>
                        <a:rPr lang="en-US" sz="2000" kern="1200" dirty="0">
                          <a:solidFill>
                            <a:srgbClr val="000000"/>
                          </a:solidFill>
                          <a:latin typeface="Arial"/>
                          <a:cs typeface="Arial"/>
                        </a:rPr>
                        <a:t> so </a:t>
                      </a:r>
                      <a:r>
                        <a:rPr lang="en-US" sz="2000" kern="1200" dirty="0" err="1">
                          <a:solidFill>
                            <a:srgbClr val="000000"/>
                          </a:solidFill>
                          <a:latin typeface="Arial"/>
                          <a:cs typeface="Arial"/>
                        </a:rPr>
                        <a:t>với</a:t>
                      </a:r>
                      <a:r>
                        <a:rPr lang="en-US" sz="2000" kern="1200" dirty="0">
                          <a:solidFill>
                            <a:srgbClr val="000000"/>
                          </a:solidFill>
                          <a:latin typeface="Arial"/>
                          <a:cs typeface="Arial"/>
                        </a:rPr>
                        <a:t> </a:t>
                      </a:r>
                      <a:r>
                        <a:rPr lang="en-US" sz="2000" kern="1200" dirty="0" err="1">
                          <a:solidFill>
                            <a:srgbClr val="000000"/>
                          </a:solidFill>
                          <a:latin typeface="Arial"/>
                          <a:cs typeface="Arial"/>
                        </a:rPr>
                        <a:t>thị</a:t>
                      </a:r>
                      <a:r>
                        <a:rPr lang="en-US" sz="2000" kern="1200" dirty="0">
                          <a:solidFill>
                            <a:srgbClr val="000000"/>
                          </a:solidFill>
                          <a:latin typeface="Arial"/>
                          <a:cs typeface="Arial"/>
                        </a:rPr>
                        <a:t> </a:t>
                      </a:r>
                      <a:r>
                        <a:rPr lang="en-US" sz="2000" kern="1200" dirty="0" err="1">
                          <a:solidFill>
                            <a:srgbClr val="000000"/>
                          </a:solidFill>
                          <a:latin typeface="Arial"/>
                          <a:cs typeface="Arial"/>
                        </a:rPr>
                        <a:t>trường</a:t>
                      </a:r>
                      <a:r>
                        <a:rPr lang="en-US" sz="2000" kern="1200" dirty="0">
                          <a:solidFill>
                            <a:srgbClr val="000000"/>
                          </a:solidFill>
                          <a:latin typeface="Arial"/>
                          <a:cs typeface="Arial"/>
                        </a:rPr>
                        <a:t>. Tham </a:t>
                      </a:r>
                      <a:r>
                        <a:rPr lang="en-US" sz="2000" kern="1200" dirty="0" err="1">
                          <a:solidFill>
                            <a:srgbClr val="000000"/>
                          </a:solidFill>
                          <a:latin typeface="Arial"/>
                          <a:cs typeface="Arial"/>
                        </a:rPr>
                        <a:t>gia</a:t>
                      </a:r>
                      <a:r>
                        <a:rPr lang="en-US" sz="2000" kern="1200" dirty="0">
                          <a:solidFill>
                            <a:srgbClr val="000000"/>
                          </a:solidFill>
                          <a:latin typeface="Arial"/>
                          <a:cs typeface="Arial"/>
                        </a:rPr>
                        <a:t> BH là Anh/ Chị đang </a:t>
                      </a:r>
                      <a:r>
                        <a:rPr lang="en-US" sz="2000" kern="1200" dirty="0" err="1">
                          <a:solidFill>
                            <a:srgbClr val="000000"/>
                          </a:solidFill>
                          <a:latin typeface="Arial"/>
                          <a:cs typeface="Arial"/>
                        </a:rPr>
                        <a:t>trang</a:t>
                      </a:r>
                      <a:r>
                        <a:rPr lang="en-US" sz="2000" kern="1200" dirty="0">
                          <a:solidFill>
                            <a:srgbClr val="000000"/>
                          </a:solidFill>
                          <a:latin typeface="Arial"/>
                          <a:cs typeface="Arial"/>
                        </a:rPr>
                        <a:t> </a:t>
                      </a:r>
                      <a:r>
                        <a:rPr lang="en-US" sz="2000" kern="1200" dirty="0" err="1">
                          <a:solidFill>
                            <a:srgbClr val="000000"/>
                          </a:solidFill>
                          <a:latin typeface="Arial"/>
                          <a:cs typeface="Arial"/>
                        </a:rPr>
                        <a:t>bị</a:t>
                      </a:r>
                      <a:r>
                        <a:rPr lang="en-US" sz="2000" kern="1200" dirty="0">
                          <a:solidFill>
                            <a:srgbClr val="000000"/>
                          </a:solidFill>
                          <a:latin typeface="Arial"/>
                          <a:cs typeface="Arial"/>
                        </a:rPr>
                        <a:t> </a:t>
                      </a:r>
                      <a:r>
                        <a:rPr lang="en-US" sz="2000" kern="1200" dirty="0" err="1">
                          <a:solidFill>
                            <a:srgbClr val="000000"/>
                          </a:solidFill>
                          <a:latin typeface="Arial"/>
                          <a:cs typeface="Arial"/>
                        </a:rPr>
                        <a:t>cho</a:t>
                      </a:r>
                      <a:r>
                        <a:rPr lang="en-US" sz="2000" kern="1200" dirty="0">
                          <a:solidFill>
                            <a:srgbClr val="000000"/>
                          </a:solidFill>
                          <a:latin typeface="Arial"/>
                          <a:cs typeface="Arial"/>
                        </a:rPr>
                        <a:t> mình </a:t>
                      </a:r>
                      <a:r>
                        <a:rPr lang="en-US" sz="2000" kern="1200" dirty="0" err="1">
                          <a:solidFill>
                            <a:srgbClr val="000000"/>
                          </a:solidFill>
                          <a:latin typeface="Arial"/>
                          <a:cs typeface="Arial"/>
                        </a:rPr>
                        <a:t>ví</a:t>
                      </a:r>
                      <a:r>
                        <a:rPr lang="en-US" sz="2000" kern="1200" dirty="0">
                          <a:solidFill>
                            <a:srgbClr val="000000"/>
                          </a:solidFill>
                          <a:latin typeface="Arial"/>
                          <a:cs typeface="Arial"/>
                        </a:rPr>
                        <a:t> </a:t>
                      </a:r>
                      <a:r>
                        <a:rPr lang="en-US" sz="2000" kern="1200" dirty="0" err="1">
                          <a:solidFill>
                            <a:srgbClr val="000000"/>
                          </a:solidFill>
                          <a:latin typeface="Arial"/>
                          <a:cs typeface="Arial"/>
                        </a:rPr>
                        <a:t>dự</a:t>
                      </a:r>
                      <a:r>
                        <a:rPr lang="en-US" sz="2000" kern="1200" dirty="0">
                          <a:solidFill>
                            <a:srgbClr val="000000"/>
                          </a:solidFill>
                          <a:latin typeface="Arial"/>
                          <a:cs typeface="Arial"/>
                        </a:rPr>
                        <a:t> </a:t>
                      </a:r>
                      <a:r>
                        <a:rPr lang="en-US" sz="2000" kern="1200" dirty="0" err="1">
                          <a:solidFill>
                            <a:srgbClr val="000000"/>
                          </a:solidFill>
                          <a:latin typeface="Arial"/>
                          <a:cs typeface="Arial"/>
                        </a:rPr>
                        <a:t>phòng</a:t>
                      </a:r>
                      <a:r>
                        <a:rPr lang="en-US" sz="2000" kern="1200" dirty="0">
                          <a:solidFill>
                            <a:srgbClr val="000000"/>
                          </a:solidFill>
                          <a:latin typeface="Arial"/>
                          <a:cs typeface="Arial"/>
                        </a:rPr>
                        <a:t> </a:t>
                      </a:r>
                      <a:r>
                        <a:rPr lang="en-US" sz="2000" kern="1200" dirty="0" err="1">
                          <a:solidFill>
                            <a:srgbClr val="000000"/>
                          </a:solidFill>
                          <a:latin typeface="Arial"/>
                          <a:ea typeface="+mn-ea"/>
                          <a:cs typeface="Arial"/>
                        </a:rPr>
                        <a:t>tài</a:t>
                      </a:r>
                      <a:r>
                        <a:rPr lang="en-US" sz="2000" kern="1200" dirty="0">
                          <a:solidFill>
                            <a:srgbClr val="000000"/>
                          </a:solidFill>
                          <a:latin typeface="Arial"/>
                          <a:ea typeface="+mn-ea"/>
                          <a:cs typeface="Arial"/>
                        </a:rPr>
                        <a:t> </a:t>
                      </a:r>
                      <a:r>
                        <a:rPr lang="en-US" sz="2000" kern="1200" dirty="0" err="1">
                          <a:solidFill>
                            <a:srgbClr val="000000"/>
                          </a:solidFill>
                          <a:latin typeface="Arial"/>
                          <a:ea typeface="+mn-ea"/>
                          <a:cs typeface="Arial"/>
                        </a:rPr>
                        <a:t>chính</a:t>
                      </a:r>
                      <a:r>
                        <a:rPr lang="en-US" sz="2000" kern="1200" dirty="0">
                          <a:solidFill>
                            <a:srgbClr val="000000"/>
                          </a:solidFill>
                          <a:latin typeface="Arial"/>
                          <a:ea typeface="+mn-ea"/>
                          <a:cs typeface="Arial"/>
                        </a:rPr>
                        <a:t>, </a:t>
                      </a:r>
                      <a:r>
                        <a:rPr lang="en-US" sz="2000" kern="1200" dirty="0" err="1">
                          <a:solidFill>
                            <a:srgbClr val="000000"/>
                          </a:solidFill>
                          <a:latin typeface="Arial"/>
                          <a:ea typeface="+mn-ea"/>
                          <a:cs typeface="Arial"/>
                        </a:rPr>
                        <a:t>đảm</a:t>
                      </a:r>
                      <a:r>
                        <a:rPr lang="en-US" sz="2000" kern="1200" dirty="0">
                          <a:solidFill>
                            <a:srgbClr val="000000"/>
                          </a:solidFill>
                          <a:latin typeface="Arial"/>
                          <a:ea typeface="+mn-ea"/>
                          <a:cs typeface="Arial"/>
                        </a:rPr>
                        <a:t> </a:t>
                      </a:r>
                      <a:r>
                        <a:rPr lang="en-US" sz="2000" kern="1200" dirty="0" err="1">
                          <a:solidFill>
                            <a:srgbClr val="000000"/>
                          </a:solidFill>
                          <a:latin typeface="Arial"/>
                          <a:ea typeface="+mn-ea"/>
                          <a:cs typeface="Arial"/>
                        </a:rPr>
                        <a:t>bảo</a:t>
                      </a:r>
                      <a:r>
                        <a:rPr lang="en-US" sz="2000" kern="1200" dirty="0">
                          <a:solidFill>
                            <a:srgbClr val="000000"/>
                          </a:solidFill>
                          <a:latin typeface="Arial"/>
                          <a:ea typeface="+mn-ea"/>
                          <a:cs typeface="Arial"/>
                        </a:rPr>
                        <a:t> </a:t>
                      </a:r>
                      <a:r>
                        <a:rPr lang="en-US" sz="2000" kern="1200" dirty="0" err="1">
                          <a:solidFill>
                            <a:srgbClr val="000000"/>
                          </a:solidFill>
                          <a:latin typeface="Arial"/>
                          <a:ea typeface="+mn-ea"/>
                          <a:cs typeface="Arial"/>
                        </a:rPr>
                        <a:t>kinh</a:t>
                      </a:r>
                      <a:r>
                        <a:rPr lang="en-US" sz="2000" kern="1200" dirty="0">
                          <a:solidFill>
                            <a:srgbClr val="000000"/>
                          </a:solidFill>
                          <a:latin typeface="Arial"/>
                          <a:ea typeface="+mn-ea"/>
                          <a:cs typeface="Arial"/>
                        </a:rPr>
                        <a:t> </a:t>
                      </a:r>
                      <a:r>
                        <a:rPr lang="en-US" sz="2000" kern="1200" dirty="0" err="1">
                          <a:solidFill>
                            <a:srgbClr val="000000"/>
                          </a:solidFill>
                          <a:latin typeface="Arial"/>
                          <a:ea typeface="+mn-ea"/>
                          <a:cs typeface="Arial"/>
                        </a:rPr>
                        <a:t>tế</a:t>
                      </a:r>
                      <a:r>
                        <a:rPr lang="en-US" sz="2000" kern="1200" dirty="0">
                          <a:solidFill>
                            <a:srgbClr val="000000"/>
                          </a:solidFill>
                          <a:latin typeface="Arial"/>
                          <a:ea typeface="+mn-ea"/>
                          <a:cs typeface="Arial"/>
                        </a:rPr>
                        <a:t> </a:t>
                      </a:r>
                      <a:r>
                        <a:rPr lang="en-US" sz="2000" kern="1200" dirty="0" err="1">
                          <a:solidFill>
                            <a:srgbClr val="000000"/>
                          </a:solidFill>
                          <a:latin typeface="Arial"/>
                          <a:ea typeface="+mn-ea"/>
                          <a:cs typeface="Arial"/>
                        </a:rPr>
                        <a:t>cho</a:t>
                      </a:r>
                      <a:r>
                        <a:rPr lang="en-US" sz="2000" kern="1200" dirty="0">
                          <a:solidFill>
                            <a:srgbClr val="000000"/>
                          </a:solidFill>
                          <a:latin typeface="Arial"/>
                          <a:ea typeface="+mn-ea"/>
                          <a:cs typeface="Arial"/>
                        </a:rPr>
                        <a:t> </a:t>
                      </a:r>
                      <a:r>
                        <a:rPr lang="en-US" sz="2000" kern="1200" dirty="0" err="1">
                          <a:solidFill>
                            <a:srgbClr val="000000"/>
                          </a:solidFill>
                          <a:latin typeface="Arial"/>
                          <a:ea typeface="+mn-ea"/>
                          <a:cs typeface="Arial"/>
                        </a:rPr>
                        <a:t>chính</a:t>
                      </a:r>
                      <a:r>
                        <a:rPr lang="en-US" sz="2000" kern="1200" dirty="0">
                          <a:solidFill>
                            <a:srgbClr val="000000"/>
                          </a:solidFill>
                          <a:latin typeface="Arial"/>
                          <a:ea typeface="+mn-ea"/>
                          <a:cs typeface="Arial"/>
                        </a:rPr>
                        <a:t> mình </a:t>
                      </a:r>
                      <a:r>
                        <a:rPr lang="en-US" sz="2000" kern="1200" dirty="0" err="1">
                          <a:solidFill>
                            <a:srgbClr val="000000"/>
                          </a:solidFill>
                          <a:latin typeface="Arial"/>
                          <a:ea typeface="+mn-ea"/>
                          <a:cs typeface="Arial"/>
                        </a:rPr>
                        <a:t>và</a:t>
                      </a:r>
                      <a:r>
                        <a:rPr lang="en-US" sz="2000" kern="1200" dirty="0">
                          <a:solidFill>
                            <a:srgbClr val="000000"/>
                          </a:solidFill>
                          <a:latin typeface="Arial"/>
                          <a:ea typeface="+mn-ea"/>
                          <a:cs typeface="Arial"/>
                        </a:rPr>
                        <a:t> </a:t>
                      </a:r>
                      <a:r>
                        <a:rPr lang="en-US" sz="2000" kern="1200" dirty="0" err="1">
                          <a:solidFill>
                            <a:srgbClr val="000000"/>
                          </a:solidFill>
                          <a:latin typeface="Arial"/>
                          <a:ea typeface="+mn-ea"/>
                          <a:cs typeface="Arial"/>
                        </a:rPr>
                        <a:t>gia</a:t>
                      </a:r>
                      <a:r>
                        <a:rPr lang="en-US" sz="2000" kern="1200" dirty="0">
                          <a:solidFill>
                            <a:srgbClr val="000000"/>
                          </a:solidFill>
                          <a:latin typeface="Arial"/>
                          <a:ea typeface="+mn-ea"/>
                          <a:cs typeface="Arial"/>
                        </a:rPr>
                        <a:t> </a:t>
                      </a:r>
                      <a:r>
                        <a:rPr lang="en-US" sz="2000" kern="1200" dirty="0" err="1">
                          <a:solidFill>
                            <a:srgbClr val="000000"/>
                          </a:solidFill>
                          <a:latin typeface="Arial"/>
                          <a:ea typeface="+mn-ea"/>
                          <a:cs typeface="Arial"/>
                        </a:rPr>
                        <a:t>đình</a:t>
                      </a:r>
                      <a:r>
                        <a:rPr lang="en-US" sz="2000" kern="1200" dirty="0">
                          <a:solidFill>
                            <a:srgbClr val="000000"/>
                          </a:solidFill>
                          <a:latin typeface="Arial"/>
                          <a:ea typeface="+mn-ea"/>
                          <a:cs typeface="Arial"/>
                        </a:rPr>
                        <a:t> </a:t>
                      </a:r>
                      <a:r>
                        <a:rPr lang="en-US" sz="2000" kern="1200" dirty="0" err="1">
                          <a:solidFill>
                            <a:srgbClr val="000000"/>
                          </a:solidFill>
                          <a:latin typeface="Arial"/>
                          <a:ea typeface="+mn-ea"/>
                          <a:cs typeface="Arial"/>
                        </a:rPr>
                        <a:t>khi</a:t>
                      </a:r>
                      <a:r>
                        <a:rPr lang="en-US" sz="2000" kern="1200" dirty="0">
                          <a:solidFill>
                            <a:srgbClr val="000000"/>
                          </a:solidFill>
                          <a:latin typeface="Arial"/>
                          <a:ea typeface="+mn-ea"/>
                          <a:cs typeface="Arial"/>
                        </a:rPr>
                        <a:t> </a:t>
                      </a:r>
                      <a:r>
                        <a:rPr lang="en-US" sz="2000" kern="1200" dirty="0" err="1">
                          <a:solidFill>
                            <a:srgbClr val="000000"/>
                          </a:solidFill>
                          <a:latin typeface="Arial"/>
                          <a:ea typeface="+mn-ea"/>
                          <a:cs typeface="Arial"/>
                        </a:rPr>
                        <a:t>có</a:t>
                      </a:r>
                      <a:r>
                        <a:rPr lang="en-US" sz="2000" kern="1200" dirty="0">
                          <a:solidFill>
                            <a:srgbClr val="000000"/>
                          </a:solidFill>
                          <a:latin typeface="Arial"/>
                          <a:ea typeface="+mn-ea"/>
                          <a:cs typeface="Arial"/>
                        </a:rPr>
                        <a:t> r</a:t>
                      </a:r>
                      <a:r>
                        <a:rPr lang="vi-VN" sz="2000" kern="1200" dirty="0">
                          <a:solidFill>
                            <a:srgbClr val="000000"/>
                          </a:solidFill>
                          <a:latin typeface="Arial"/>
                          <a:ea typeface="+mn-ea"/>
                          <a:cs typeface="Arial"/>
                        </a:rPr>
                        <a:t>ủi ro về mặt SK hoặc tai nạn</a:t>
                      </a:r>
                      <a:r>
                        <a:rPr lang="en-US" sz="2000" kern="1200" dirty="0">
                          <a:solidFill>
                            <a:srgbClr val="000000"/>
                          </a:solidFill>
                          <a:latin typeface="Arial"/>
                          <a:ea typeface="+mn-ea"/>
                          <a:cs typeface="Arial"/>
                        </a:rPr>
                        <a:t>. </a:t>
                      </a:r>
                      <a:endParaRPr lang="en-US" sz="2000" kern="1200" dirty="0">
                        <a:solidFill>
                          <a:srgbClr val="000000"/>
                        </a:solidFill>
                        <a:latin typeface="Arial"/>
                        <a:cs typeface="Arial"/>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4"/>
                  </a:ext>
                </a:extLst>
              </a:tr>
              <a:tr h="775690">
                <a:tc>
                  <a:txBody>
                    <a:bodyPr/>
                    <a:lstStyle/>
                    <a:p>
                      <a:pPr marL="0" algn="l" defTabSz="914400" rtl="0" eaLnBrk="1" latinLnBrk="0" hangingPunct="1">
                        <a:lnSpc>
                          <a:spcPts val="2800"/>
                        </a:lnSpc>
                        <a:defRPr/>
                      </a:pPr>
                      <a:r>
                        <a:rPr lang="en-US" sz="2000" b="1" kern="1200" dirty="0" err="1">
                          <a:solidFill>
                            <a:srgbClr val="000000"/>
                          </a:solidFill>
                          <a:latin typeface="Arial Bold"/>
                          <a:cs typeface="Arial Bold"/>
                        </a:rPr>
                        <a:t>Phân</a:t>
                      </a:r>
                      <a:r>
                        <a:rPr lang="en-US" sz="2000" b="1" kern="1200" dirty="0">
                          <a:solidFill>
                            <a:srgbClr val="000000"/>
                          </a:solidFill>
                          <a:latin typeface="Arial Bold"/>
                          <a:cs typeface="Arial Bold"/>
                        </a:rPr>
                        <a:t> </a:t>
                      </a:r>
                      <a:r>
                        <a:rPr lang="en-US" sz="2000" b="1" kern="1200" dirty="0" err="1">
                          <a:solidFill>
                            <a:srgbClr val="000000"/>
                          </a:solidFill>
                          <a:latin typeface="Arial Bold"/>
                          <a:cs typeface="Arial Bold"/>
                        </a:rPr>
                        <a:t>Biệt</a:t>
                      </a:r>
                      <a:r>
                        <a:rPr lang="en-US" sz="2000" b="1" kern="1200" dirty="0">
                          <a:solidFill>
                            <a:srgbClr val="000000"/>
                          </a:solidFill>
                          <a:latin typeface="Arial Bold"/>
                          <a:cs typeface="Arial Bold"/>
                        </a:rPr>
                        <a:t> BH </a:t>
                      </a:r>
                      <a:r>
                        <a:rPr lang="en-US" sz="2000" b="1" kern="1200" dirty="0" err="1">
                          <a:solidFill>
                            <a:srgbClr val="000000"/>
                          </a:solidFill>
                          <a:latin typeface="Arial Bold"/>
                          <a:cs typeface="Arial Bold"/>
                        </a:rPr>
                        <a:t>Khoản</a:t>
                      </a:r>
                      <a:r>
                        <a:rPr lang="en-US" sz="2000" b="1" kern="1200" dirty="0">
                          <a:solidFill>
                            <a:srgbClr val="000000"/>
                          </a:solidFill>
                          <a:latin typeface="Arial Bold"/>
                          <a:cs typeface="Arial Bold"/>
                        </a:rPr>
                        <a:t> Vay </a:t>
                      </a:r>
                      <a:r>
                        <a:rPr lang="en-US" sz="2000" b="1" kern="1200" dirty="0" err="1">
                          <a:solidFill>
                            <a:srgbClr val="000000"/>
                          </a:solidFill>
                          <a:latin typeface="Arial Bold"/>
                          <a:cs typeface="Arial Bold"/>
                        </a:rPr>
                        <a:t>Và</a:t>
                      </a:r>
                      <a:r>
                        <a:rPr lang="en-US" sz="2000" b="1" kern="1200" dirty="0">
                          <a:solidFill>
                            <a:srgbClr val="000000"/>
                          </a:solidFill>
                          <a:latin typeface="Arial Bold"/>
                          <a:cs typeface="Arial Bold"/>
                        </a:rPr>
                        <a:t> BH </a:t>
                      </a:r>
                      <a:r>
                        <a:rPr lang="en-US" sz="2000" b="1" kern="1200" dirty="0" err="1">
                          <a:solidFill>
                            <a:srgbClr val="000000"/>
                          </a:solidFill>
                          <a:latin typeface="Arial Bold"/>
                          <a:cs typeface="Arial Bold"/>
                        </a:rPr>
                        <a:t>Sức</a:t>
                      </a:r>
                      <a:r>
                        <a:rPr lang="en-US" sz="2000" b="1" kern="1200" dirty="0">
                          <a:solidFill>
                            <a:srgbClr val="000000"/>
                          </a:solidFill>
                          <a:latin typeface="Arial Bold"/>
                          <a:cs typeface="Arial Bold"/>
                        </a:rPr>
                        <a:t> </a:t>
                      </a:r>
                      <a:r>
                        <a:rPr lang="en-US" sz="2000" b="1" kern="1200" dirty="0" err="1">
                          <a:solidFill>
                            <a:srgbClr val="000000"/>
                          </a:solidFill>
                          <a:latin typeface="Arial Bold"/>
                          <a:cs typeface="Arial Bold"/>
                        </a:rPr>
                        <a:t>Khỏe</a:t>
                      </a:r>
                      <a:endParaRPr lang="en-US" sz="2000" b="1" kern="1200" dirty="0">
                        <a:solidFill>
                          <a:srgbClr val="000000"/>
                        </a:solidFill>
                        <a:latin typeface="Arial Bold"/>
                        <a:cs typeface="Arial Bold"/>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241300" lvl="1" indent="-120650" algn="l" defTabSz="914400" rtl="0" eaLnBrk="1" latinLnBrk="0" hangingPunct="1">
                        <a:lnSpc>
                          <a:spcPts val="2800"/>
                        </a:lnSpc>
                        <a:buFont typeface="Arial"/>
                        <a:buChar char="•"/>
                        <a:defRPr/>
                      </a:pPr>
                      <a:r>
                        <a:rPr lang="en-GB" sz="2000" kern="1200" dirty="0">
                          <a:solidFill>
                            <a:srgbClr val="000000"/>
                          </a:solidFill>
                          <a:latin typeface="Arial"/>
                          <a:ea typeface="+mn-ea"/>
                          <a:cs typeface="Arial"/>
                        </a:rPr>
                        <a:t>BH Kho</a:t>
                      </a:r>
                      <a:r>
                        <a:rPr lang="vi-VN" sz="2000" kern="1200" dirty="0">
                          <a:solidFill>
                            <a:srgbClr val="000000"/>
                          </a:solidFill>
                          <a:latin typeface="Arial"/>
                          <a:ea typeface="+mn-ea"/>
                          <a:cs typeface="Arial"/>
                        </a:rPr>
                        <a:t>ản vay: C</a:t>
                      </a:r>
                      <a:r>
                        <a:rPr lang="it-IT" sz="2000" kern="1200" dirty="0">
                          <a:solidFill>
                            <a:srgbClr val="000000"/>
                          </a:solidFill>
                          <a:latin typeface="Arial"/>
                          <a:ea typeface="+mn-ea"/>
                          <a:cs typeface="Arial"/>
                        </a:rPr>
                        <a:t>ông ty BH chi tr</a:t>
                      </a:r>
                      <a:r>
                        <a:rPr lang="vi-VN" sz="2000" kern="1200" dirty="0">
                          <a:solidFill>
                            <a:srgbClr val="000000"/>
                          </a:solidFill>
                          <a:latin typeface="Arial"/>
                          <a:ea typeface="+mn-ea"/>
                          <a:cs typeface="Arial"/>
                        </a:rPr>
                        <a:t>ả dư nợ c</a:t>
                      </a:r>
                      <a:r>
                        <a:rPr lang="en-US" sz="2000" kern="1200" dirty="0" err="1">
                          <a:solidFill>
                            <a:srgbClr val="000000"/>
                          </a:solidFill>
                          <a:latin typeface="Arial"/>
                          <a:ea typeface="+mn-ea"/>
                          <a:cs typeface="Arial"/>
                        </a:rPr>
                        <a:t>òn</a:t>
                      </a:r>
                      <a:r>
                        <a:rPr lang="en-US" sz="2000" kern="1200" dirty="0">
                          <a:solidFill>
                            <a:srgbClr val="000000"/>
                          </a:solidFill>
                          <a:latin typeface="Arial"/>
                          <a:ea typeface="+mn-ea"/>
                          <a:cs typeface="Arial"/>
                        </a:rPr>
                        <a:t> l</a:t>
                      </a:r>
                      <a:r>
                        <a:rPr lang="vi-VN" sz="2000" kern="1200" dirty="0">
                          <a:solidFill>
                            <a:srgbClr val="000000"/>
                          </a:solidFill>
                          <a:latin typeface="Arial"/>
                          <a:ea typeface="+mn-ea"/>
                          <a:cs typeface="Arial"/>
                        </a:rPr>
                        <a:t>ại của KH cho FE CREDIT trong TH KH ko may bị thương tật mất khả năng lao động/ KH mất hoặc mất t</a:t>
                      </a:r>
                      <a:r>
                        <a:rPr lang="en-US" sz="2000" kern="1200" dirty="0" err="1">
                          <a:solidFill>
                            <a:srgbClr val="000000"/>
                          </a:solidFill>
                          <a:latin typeface="Arial"/>
                          <a:ea typeface="+mn-ea"/>
                          <a:cs typeface="Arial"/>
                        </a:rPr>
                        <a:t>ích</a:t>
                      </a:r>
                      <a:r>
                        <a:rPr lang="en-US" sz="2000" kern="1200" dirty="0">
                          <a:solidFill>
                            <a:srgbClr val="000000"/>
                          </a:solidFill>
                          <a:latin typeface="Arial"/>
                          <a:ea typeface="+mn-ea"/>
                          <a:cs typeface="Arial"/>
                        </a:rPr>
                        <a:t> </a:t>
                      </a:r>
                      <a:r>
                        <a:rPr lang="en-US" sz="2000" kern="1200" dirty="0" err="1">
                          <a:solidFill>
                            <a:srgbClr val="000000"/>
                          </a:solidFill>
                          <a:latin typeface="Arial"/>
                          <a:ea typeface="+mn-ea"/>
                          <a:cs typeface="Arial"/>
                        </a:rPr>
                        <a:t>thu</a:t>
                      </a:r>
                      <a:r>
                        <a:rPr lang="vi-VN" sz="2000" kern="1200" dirty="0">
                          <a:solidFill>
                            <a:srgbClr val="000000"/>
                          </a:solidFill>
                          <a:latin typeface="Arial"/>
                          <a:ea typeface="+mn-ea"/>
                          <a:cs typeface="Arial"/>
                        </a:rPr>
                        <a:t>ộc phạm vi g</a:t>
                      </a:r>
                      <a:r>
                        <a:rPr lang="en-US" sz="2000" kern="1200" dirty="0" err="1">
                          <a:solidFill>
                            <a:srgbClr val="000000"/>
                          </a:solidFill>
                          <a:latin typeface="Arial"/>
                          <a:ea typeface="+mn-ea"/>
                          <a:cs typeface="Arial"/>
                        </a:rPr>
                        <a:t>ói</a:t>
                      </a:r>
                      <a:r>
                        <a:rPr lang="en-US" sz="2000" kern="1200" dirty="0">
                          <a:solidFill>
                            <a:srgbClr val="000000"/>
                          </a:solidFill>
                          <a:latin typeface="Arial"/>
                          <a:ea typeface="+mn-ea"/>
                          <a:cs typeface="Arial"/>
                        </a:rPr>
                        <a:t> BH mà KH </a:t>
                      </a:r>
                      <a:r>
                        <a:rPr lang="en-US" sz="2000" kern="1200" dirty="0" err="1">
                          <a:solidFill>
                            <a:srgbClr val="000000"/>
                          </a:solidFill>
                          <a:latin typeface="Arial"/>
                          <a:ea typeface="+mn-ea"/>
                          <a:cs typeface="Arial"/>
                        </a:rPr>
                        <a:t>đã</a:t>
                      </a:r>
                      <a:r>
                        <a:rPr lang="en-US" sz="2000" kern="1200" dirty="0">
                          <a:solidFill>
                            <a:srgbClr val="000000"/>
                          </a:solidFill>
                          <a:latin typeface="Arial"/>
                          <a:ea typeface="+mn-ea"/>
                          <a:cs typeface="Arial"/>
                        </a:rPr>
                        <a:t> </a:t>
                      </a:r>
                      <a:r>
                        <a:rPr lang="en-US" sz="2000" kern="1200" dirty="0" err="1">
                          <a:solidFill>
                            <a:srgbClr val="000000"/>
                          </a:solidFill>
                          <a:latin typeface="Arial"/>
                          <a:ea typeface="+mn-ea"/>
                          <a:cs typeface="Arial"/>
                        </a:rPr>
                        <a:t>tham</a:t>
                      </a:r>
                      <a:r>
                        <a:rPr lang="en-US" sz="2000" kern="1200" dirty="0">
                          <a:solidFill>
                            <a:srgbClr val="000000"/>
                          </a:solidFill>
                          <a:latin typeface="Arial"/>
                          <a:ea typeface="+mn-ea"/>
                          <a:cs typeface="Arial"/>
                        </a:rPr>
                        <a:t> </a:t>
                      </a:r>
                      <a:r>
                        <a:rPr lang="en-US" sz="2000" kern="1200" dirty="0" err="1">
                          <a:solidFill>
                            <a:srgbClr val="000000"/>
                          </a:solidFill>
                          <a:latin typeface="Arial"/>
                          <a:ea typeface="+mn-ea"/>
                          <a:cs typeface="Arial"/>
                        </a:rPr>
                        <a:t>gia</a:t>
                      </a:r>
                      <a:r>
                        <a:rPr lang="en-US" sz="2000" kern="1200" dirty="0">
                          <a:solidFill>
                            <a:srgbClr val="000000"/>
                          </a:solidFill>
                          <a:latin typeface="Arial"/>
                          <a:ea typeface="+mn-ea"/>
                          <a:cs typeface="Arial"/>
                        </a:rPr>
                        <a:t>.</a:t>
                      </a:r>
                    </a:p>
                    <a:p>
                      <a:pPr marL="241300" lvl="1" indent="-120650" algn="l" defTabSz="914400" rtl="0" eaLnBrk="1" latinLnBrk="0" hangingPunct="1">
                        <a:lnSpc>
                          <a:spcPts val="2800"/>
                        </a:lnSpc>
                        <a:buFont typeface="Arial"/>
                        <a:buChar char="•"/>
                        <a:defRPr/>
                      </a:pPr>
                      <a:r>
                        <a:rPr lang="en-US" sz="2000" kern="1200" dirty="0">
                          <a:solidFill>
                            <a:srgbClr val="000000"/>
                          </a:solidFill>
                          <a:latin typeface="Arial"/>
                          <a:ea typeface="+mn-ea"/>
                          <a:cs typeface="Arial"/>
                        </a:rPr>
                        <a:t>BH s</a:t>
                      </a:r>
                      <a:r>
                        <a:rPr lang="vi-VN" sz="2000" kern="1200" dirty="0">
                          <a:solidFill>
                            <a:srgbClr val="000000"/>
                          </a:solidFill>
                          <a:latin typeface="Arial"/>
                          <a:ea typeface="+mn-ea"/>
                          <a:cs typeface="Arial"/>
                        </a:rPr>
                        <a:t>ức khỏe: C</a:t>
                      </a:r>
                      <a:r>
                        <a:rPr lang="en-US" sz="2000" kern="1200" dirty="0" err="1">
                          <a:solidFill>
                            <a:srgbClr val="000000"/>
                          </a:solidFill>
                          <a:latin typeface="Arial"/>
                          <a:ea typeface="+mn-ea"/>
                          <a:cs typeface="Arial"/>
                        </a:rPr>
                        <a:t>ông</a:t>
                      </a:r>
                      <a:r>
                        <a:rPr lang="en-US" sz="2000" kern="1200" dirty="0">
                          <a:solidFill>
                            <a:srgbClr val="000000"/>
                          </a:solidFill>
                          <a:latin typeface="Arial"/>
                          <a:ea typeface="+mn-ea"/>
                          <a:cs typeface="Arial"/>
                        </a:rPr>
                        <a:t> ty BH s</a:t>
                      </a:r>
                      <a:r>
                        <a:rPr lang="vi-VN" sz="2000" kern="1200" dirty="0">
                          <a:solidFill>
                            <a:srgbClr val="000000"/>
                          </a:solidFill>
                          <a:latin typeface="Arial"/>
                          <a:ea typeface="+mn-ea"/>
                          <a:cs typeface="Arial"/>
                        </a:rPr>
                        <a:t>ẽ chi trả tiền bồi thường trực tiếp cho KH</a:t>
                      </a:r>
                      <a:r>
                        <a:rPr lang="en-US" sz="2000" kern="1200" dirty="0">
                          <a:solidFill>
                            <a:srgbClr val="000000"/>
                          </a:solidFill>
                          <a:latin typeface="Arial"/>
                          <a:ea typeface="+mn-ea"/>
                          <a:cs typeface="Arial"/>
                        </a:rPr>
                        <a:t>/ </a:t>
                      </a:r>
                      <a:r>
                        <a:rPr lang="en-US" sz="2000" kern="1200" dirty="0" err="1">
                          <a:solidFill>
                            <a:srgbClr val="000000"/>
                          </a:solidFill>
                          <a:latin typeface="Arial"/>
                          <a:ea typeface="+mn-ea"/>
                          <a:cs typeface="Arial"/>
                        </a:rPr>
                        <a:t>người</a:t>
                      </a:r>
                      <a:r>
                        <a:rPr lang="en-US" sz="2000" kern="1200" dirty="0">
                          <a:solidFill>
                            <a:srgbClr val="000000"/>
                          </a:solidFill>
                          <a:latin typeface="Arial"/>
                          <a:ea typeface="+mn-ea"/>
                          <a:cs typeface="Arial"/>
                        </a:rPr>
                        <a:t> </a:t>
                      </a:r>
                      <a:r>
                        <a:rPr lang="en-US" sz="2000" kern="1200" dirty="0" err="1">
                          <a:solidFill>
                            <a:srgbClr val="000000"/>
                          </a:solidFill>
                          <a:latin typeface="Arial"/>
                          <a:ea typeface="+mn-ea"/>
                          <a:cs typeface="Arial"/>
                        </a:rPr>
                        <a:t>thân</a:t>
                      </a:r>
                      <a:r>
                        <a:rPr lang="vi-VN" sz="2000" kern="1200" dirty="0">
                          <a:solidFill>
                            <a:srgbClr val="000000"/>
                          </a:solidFill>
                          <a:latin typeface="Arial"/>
                          <a:ea typeface="+mn-ea"/>
                          <a:cs typeface="Arial"/>
                        </a:rPr>
                        <a:t> khi sự kiện bảo hiểm ph</a:t>
                      </a:r>
                      <a:r>
                        <a:rPr lang="en-US" sz="2000" kern="1200" dirty="0" err="1">
                          <a:solidFill>
                            <a:srgbClr val="000000"/>
                          </a:solidFill>
                          <a:latin typeface="Arial"/>
                          <a:ea typeface="+mn-ea"/>
                          <a:cs typeface="Arial"/>
                        </a:rPr>
                        <a:t>át</a:t>
                      </a:r>
                      <a:r>
                        <a:rPr lang="en-US" sz="2000" kern="1200" dirty="0">
                          <a:solidFill>
                            <a:srgbClr val="000000"/>
                          </a:solidFill>
                          <a:latin typeface="Arial"/>
                          <a:ea typeface="+mn-ea"/>
                          <a:cs typeface="Arial"/>
                        </a:rPr>
                        <a:t> </a:t>
                      </a:r>
                      <a:r>
                        <a:rPr lang="en-US" sz="2000" kern="1200" dirty="0" err="1">
                          <a:solidFill>
                            <a:srgbClr val="000000"/>
                          </a:solidFill>
                          <a:latin typeface="Arial"/>
                          <a:ea typeface="+mn-ea"/>
                          <a:cs typeface="Arial"/>
                        </a:rPr>
                        <a:t>sinh</a:t>
                      </a:r>
                      <a:r>
                        <a:rPr lang="en-US" sz="2000" kern="1200" dirty="0">
                          <a:solidFill>
                            <a:srgbClr val="000000"/>
                          </a:solidFill>
                          <a:latin typeface="Arial"/>
                          <a:ea typeface="+mn-ea"/>
                          <a:cs typeface="Arial"/>
                        </a:rPr>
                        <a:t> </a:t>
                      </a:r>
                      <a:r>
                        <a:rPr lang="en-US" sz="2000" kern="1200" dirty="0" err="1">
                          <a:solidFill>
                            <a:srgbClr val="000000"/>
                          </a:solidFill>
                          <a:latin typeface="Arial"/>
                          <a:ea typeface="+mn-ea"/>
                          <a:cs typeface="Arial"/>
                        </a:rPr>
                        <a:t>thu</a:t>
                      </a:r>
                      <a:r>
                        <a:rPr lang="sv-SE" sz="2000" kern="1200" dirty="0">
                          <a:solidFill>
                            <a:srgbClr val="000000"/>
                          </a:solidFill>
                          <a:latin typeface="Arial"/>
                          <a:ea typeface="+mn-ea"/>
                          <a:cs typeface="Arial"/>
                        </a:rPr>
                        <a:t>ộc phạm vi BH li</a:t>
                      </a:r>
                      <a:r>
                        <a:rPr lang="en-US" sz="2000" kern="1200" dirty="0" err="1">
                          <a:solidFill>
                            <a:srgbClr val="000000"/>
                          </a:solidFill>
                          <a:latin typeface="Arial"/>
                          <a:ea typeface="+mn-ea"/>
                          <a:cs typeface="Arial"/>
                        </a:rPr>
                        <a:t>ên</a:t>
                      </a:r>
                      <a:r>
                        <a:rPr lang="en-US" sz="2000" kern="1200" dirty="0">
                          <a:solidFill>
                            <a:srgbClr val="000000"/>
                          </a:solidFill>
                          <a:latin typeface="Arial"/>
                          <a:ea typeface="+mn-ea"/>
                          <a:cs typeface="Arial"/>
                        </a:rPr>
                        <a:t> </a:t>
                      </a:r>
                      <a:r>
                        <a:rPr lang="en-US" sz="2000" kern="1200" dirty="0" err="1">
                          <a:solidFill>
                            <a:srgbClr val="000000"/>
                          </a:solidFill>
                          <a:latin typeface="Arial"/>
                          <a:ea typeface="+mn-ea"/>
                          <a:cs typeface="Arial"/>
                        </a:rPr>
                        <a:t>quan</a:t>
                      </a:r>
                      <a:r>
                        <a:rPr lang="en-US" sz="2000" kern="1200" dirty="0">
                          <a:solidFill>
                            <a:srgbClr val="000000"/>
                          </a:solidFill>
                          <a:latin typeface="Arial"/>
                          <a:ea typeface="+mn-ea"/>
                          <a:cs typeface="Arial"/>
                        </a:rPr>
                        <a:t> đ</a:t>
                      </a:r>
                      <a:r>
                        <a:rPr lang="vi-VN" sz="2000" kern="1200" dirty="0">
                          <a:solidFill>
                            <a:srgbClr val="000000"/>
                          </a:solidFill>
                          <a:latin typeface="Arial"/>
                          <a:ea typeface="+mn-ea"/>
                          <a:cs typeface="Arial"/>
                        </a:rPr>
                        <a:t>ến sức khỏe/ tai nạn của KH.</a:t>
                      </a:r>
                    </a:p>
                    <a:p>
                      <a:pPr algn="l">
                        <a:lnSpc>
                          <a:spcPts val="2800"/>
                        </a:lnSpc>
                        <a:defRPr/>
                      </a:pPr>
                      <a:endParaRPr lang="en-US" sz="2000" kern="1200" dirty="0">
                        <a:solidFill>
                          <a:srgbClr val="000000"/>
                        </a:solidFill>
                        <a:latin typeface="Arial"/>
                        <a:cs typeface="Arial"/>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38673053"/>
                  </a:ext>
                </a:extLst>
              </a:tr>
            </a:tbl>
          </a:graphicData>
        </a:graphic>
      </p:graphicFrame>
      <p:grpSp>
        <p:nvGrpSpPr>
          <p:cNvPr id="3" name="Group 3"/>
          <p:cNvGrpSpPr/>
          <p:nvPr/>
        </p:nvGrpSpPr>
        <p:grpSpPr>
          <a:xfrm>
            <a:off x="15691018" y="9790919"/>
            <a:ext cx="2421922" cy="346996"/>
            <a:chOff x="0" y="0"/>
            <a:chExt cx="3229229" cy="462661"/>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145" r="-145"/>
              </a:stretch>
            </a:blipFill>
          </p:spPr>
        </p:sp>
      </p:grpSp>
      <p:sp>
        <p:nvSpPr>
          <p:cNvPr id="5" name="Freeform 5"/>
          <p:cNvSpPr/>
          <p:nvPr/>
        </p:nvSpPr>
        <p:spPr>
          <a:xfrm>
            <a:off x="5859" y="-328298"/>
            <a:ext cx="18282142" cy="1306449"/>
          </a:xfrm>
          <a:custGeom>
            <a:avLst/>
            <a:gdLst/>
            <a:ahLst/>
            <a:cxnLst/>
            <a:rect l="l" t="t" r="r" b="b"/>
            <a:pathLst>
              <a:path w="20000147" h="1306449">
                <a:moveTo>
                  <a:pt x="0" y="0"/>
                </a:moveTo>
                <a:lnTo>
                  <a:pt x="20000147" y="0"/>
                </a:lnTo>
                <a:lnTo>
                  <a:pt x="20000147"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t="-300" b="-300"/>
            </a:stretch>
          </a:blipFill>
        </p:spPr>
      </p:sp>
      <p:sp>
        <p:nvSpPr>
          <p:cNvPr id="6" name="TextBox 6"/>
          <p:cNvSpPr txBox="1"/>
          <p:nvPr/>
        </p:nvSpPr>
        <p:spPr>
          <a:xfrm>
            <a:off x="5186414" y="162849"/>
            <a:ext cx="7252841" cy="663530"/>
          </a:xfrm>
          <a:prstGeom prst="rect">
            <a:avLst/>
          </a:prstGeom>
        </p:spPr>
        <p:txBody>
          <a:bodyPr lIns="0" tIns="0" rIns="0" bIns="0" rtlCol="0" anchor="t">
            <a:spAutoFit/>
          </a:bodyPr>
          <a:lstStyle/>
          <a:p>
            <a:pPr algn="ctr">
              <a:lnSpc>
                <a:spcPts val="5200"/>
              </a:lnSpc>
            </a:pPr>
            <a:r>
              <a:rPr lang="en-US" sz="3999" b="1">
                <a:solidFill>
                  <a:srgbClr val="000000"/>
                </a:solidFill>
                <a:latin typeface="Arial Bold"/>
                <a:ea typeface="Arial Bold"/>
                <a:cs typeface="Arial Bold"/>
                <a:sym typeface="Arial Bold"/>
              </a:rPr>
              <a:t>KỊCH BẢN THUYẾT PHỤC KH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317500" y="1712521"/>
          <a:ext cx="17653000" cy="3023815"/>
        </p:xfrm>
        <a:graphic>
          <a:graphicData uri="http://schemas.openxmlformats.org/drawingml/2006/table">
            <a:tbl>
              <a:tblPr/>
              <a:tblGrid>
                <a:gridCol w="12138861">
                  <a:extLst>
                    <a:ext uri="{9D8B030D-6E8A-4147-A177-3AD203B41FA5}">
                      <a16:colId xmlns:a16="http://schemas.microsoft.com/office/drawing/2014/main" val="20000"/>
                    </a:ext>
                  </a:extLst>
                </a:gridCol>
                <a:gridCol w="5514139">
                  <a:extLst>
                    <a:ext uri="{9D8B030D-6E8A-4147-A177-3AD203B41FA5}">
                      <a16:colId xmlns:a16="http://schemas.microsoft.com/office/drawing/2014/main" val="20001"/>
                    </a:ext>
                  </a:extLst>
                </a:gridCol>
              </a:tblGrid>
              <a:tr h="781370">
                <a:tc>
                  <a:txBody>
                    <a:bodyPr/>
                    <a:lstStyle/>
                    <a:p>
                      <a:pPr algn="ctr">
                        <a:lnSpc>
                          <a:spcPts val="3750"/>
                        </a:lnSpc>
                        <a:defRPr/>
                      </a:pPr>
                      <a:r>
                        <a:rPr lang="en-US" sz="2000" b="1" spc="12">
                          <a:solidFill>
                            <a:srgbClr val="FFFFFF"/>
                          </a:solidFill>
                          <a:latin typeface="Arial Bold"/>
                          <a:ea typeface="Arial Bold"/>
                          <a:cs typeface="Arial Bold"/>
                          <a:sym typeface="Arial Bold"/>
                        </a:rPr>
                        <a:t>HƯỚNG XỬ LÝ </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a:solidFill>
                            <a:srgbClr val="FFFFFF"/>
                          </a:solidFill>
                          <a:latin typeface="Arial Bold"/>
                          <a:ea typeface="Arial Bold"/>
                          <a:cs typeface="Arial Bold"/>
                          <a:sym typeface="Arial Bold"/>
                        </a:rPr>
                        <a:t>CODE/ REMARK</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2242445">
                <a:tc>
                  <a:txBody>
                    <a:bodyPr/>
                    <a:lstStyle/>
                    <a:p>
                      <a:pPr algn="l">
                        <a:lnSpc>
                          <a:spcPts val="2800"/>
                        </a:lnSpc>
                        <a:defRPr/>
                      </a:pPr>
                      <a:r>
                        <a:rPr lang="en-US" sz="2000" b="1">
                          <a:solidFill>
                            <a:srgbClr val="000000"/>
                          </a:solidFill>
                          <a:latin typeface="Arial Bold"/>
                          <a:ea typeface="Arial Bold"/>
                          <a:cs typeface="Arial Bold"/>
                          <a:sym typeface="Arial Bold"/>
                        </a:rPr>
                        <a:t>Hướng dẫn NT3 liên hệ tổng đài IDeal Life để được xem xét hỗ trợ về yêu cầu hủy BH:</a:t>
                      </a:r>
                      <a:endParaRPr lang="en-US" sz="1100"/>
                    </a:p>
                    <a:p>
                      <a:pPr marL="431801" lvl="1" indent="-215900" algn="l">
                        <a:lnSpc>
                          <a:spcPts val="2800"/>
                        </a:lnSpc>
                        <a:buFont typeface="Arial"/>
                        <a:buChar char="•"/>
                      </a:pPr>
                      <a:r>
                        <a:rPr lang="en-US" sz="2000">
                          <a:solidFill>
                            <a:srgbClr val="000000"/>
                          </a:solidFill>
                          <a:latin typeface="Arial"/>
                          <a:ea typeface="Arial"/>
                          <a:cs typeface="Arial"/>
                          <a:sym typeface="Arial"/>
                        </a:rPr>
                        <a:t>Số tổng đài: 19002809 (chọn phím 2). </a:t>
                      </a:r>
                    </a:p>
                    <a:p>
                      <a:pPr marL="431801" lvl="1" indent="-215900" algn="l">
                        <a:lnSpc>
                          <a:spcPts val="2800"/>
                        </a:lnSpc>
                        <a:buFont typeface="Arial"/>
                        <a:buChar char="•"/>
                      </a:pPr>
                      <a:r>
                        <a:rPr lang="en-US" sz="2000">
                          <a:solidFill>
                            <a:srgbClr val="000000"/>
                          </a:solidFill>
                          <a:latin typeface="Arial"/>
                          <a:ea typeface="Arial"/>
                          <a:cs typeface="Arial"/>
                          <a:sym typeface="Arial"/>
                        </a:rPr>
                        <a:t>Thời gian làm việc: Từ thứ 2 – thứ 6: 8:00 – 12:00 &amp; 13:00 – 17:30, Thứ 7: 8:00 – 12:00.</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110"/>
                        </a:lnSpc>
                        <a:defRPr/>
                      </a:pPr>
                      <a:r>
                        <a:rPr lang="en-US" sz="2000">
                          <a:solidFill>
                            <a:srgbClr val="000000"/>
                          </a:solidFill>
                          <a:latin typeface="Arial"/>
                          <a:ea typeface="Arial"/>
                          <a:cs typeface="Arial"/>
                          <a:sym typeface="Arial"/>
                        </a:rPr>
                        <a:t>Nhập code tương ứng với vấn đề của KH</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grpSp>
        <p:nvGrpSpPr>
          <p:cNvPr id="3" name="Group 3"/>
          <p:cNvGrpSpPr/>
          <p:nvPr/>
        </p:nvGrpSpPr>
        <p:grpSpPr>
          <a:xfrm>
            <a:off x="15691018" y="9790919"/>
            <a:ext cx="2421922" cy="346996"/>
            <a:chOff x="0" y="0"/>
            <a:chExt cx="3229229" cy="462661"/>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145" r="-145"/>
              </a:stretch>
            </a:blipFill>
          </p:spPr>
        </p:sp>
      </p:grpSp>
      <p:sp>
        <p:nvSpPr>
          <p:cNvPr id="5" name="Freeform 5"/>
          <p:cNvSpPr/>
          <p:nvPr/>
        </p:nvSpPr>
        <p:spPr>
          <a:xfrm>
            <a:off x="5859" y="-328298"/>
            <a:ext cx="18282142" cy="1306449"/>
          </a:xfrm>
          <a:custGeom>
            <a:avLst/>
            <a:gdLst/>
            <a:ahLst/>
            <a:cxnLst/>
            <a:rect l="l" t="t" r="r" b="b"/>
            <a:pathLst>
              <a:path w="20000147" h="1306449">
                <a:moveTo>
                  <a:pt x="0" y="0"/>
                </a:moveTo>
                <a:lnTo>
                  <a:pt x="20000147" y="0"/>
                </a:lnTo>
                <a:lnTo>
                  <a:pt x="20000147"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t="-300" b="-300"/>
            </a:stretch>
          </a:blipFill>
        </p:spPr>
      </p:sp>
      <p:sp>
        <p:nvSpPr>
          <p:cNvPr id="6" name="TextBox 6"/>
          <p:cNvSpPr txBox="1"/>
          <p:nvPr/>
        </p:nvSpPr>
        <p:spPr>
          <a:xfrm>
            <a:off x="203895" y="162849"/>
            <a:ext cx="17880211" cy="663530"/>
          </a:xfrm>
          <a:prstGeom prst="rect">
            <a:avLst/>
          </a:prstGeom>
        </p:spPr>
        <p:txBody>
          <a:bodyPr lIns="0" tIns="0" rIns="0" bIns="0" rtlCol="0" anchor="t">
            <a:spAutoFit/>
          </a:bodyPr>
          <a:lstStyle/>
          <a:p>
            <a:pPr algn="ctr">
              <a:lnSpc>
                <a:spcPts val="5200"/>
              </a:lnSpc>
            </a:pPr>
            <a:r>
              <a:rPr lang="en-US" sz="3999" b="1">
                <a:solidFill>
                  <a:srgbClr val="000000"/>
                </a:solidFill>
                <a:latin typeface="Arial Bold"/>
                <a:ea typeface="Arial Bold"/>
                <a:cs typeface="Arial Bold"/>
                <a:sym typeface="Arial Bold"/>
              </a:rPr>
              <a:t>QUY TRÌNH HỖ TRỢ KH CÓ HĐBH BANCA – NGƯỜI THỨ 3 LIÊN HỆ (NT3)</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338198" y="1181100"/>
          <a:ext cx="17611604" cy="5820035"/>
        </p:xfrm>
        <a:graphic>
          <a:graphicData uri="http://schemas.openxmlformats.org/drawingml/2006/table">
            <a:tbl>
              <a:tblPr/>
              <a:tblGrid>
                <a:gridCol w="3340190">
                  <a:extLst>
                    <a:ext uri="{9D8B030D-6E8A-4147-A177-3AD203B41FA5}">
                      <a16:colId xmlns:a16="http://schemas.microsoft.com/office/drawing/2014/main" val="20000"/>
                    </a:ext>
                  </a:extLst>
                </a:gridCol>
                <a:gridCol w="9210407">
                  <a:extLst>
                    <a:ext uri="{9D8B030D-6E8A-4147-A177-3AD203B41FA5}">
                      <a16:colId xmlns:a16="http://schemas.microsoft.com/office/drawing/2014/main" val="20001"/>
                    </a:ext>
                  </a:extLst>
                </a:gridCol>
                <a:gridCol w="5061007">
                  <a:extLst>
                    <a:ext uri="{9D8B030D-6E8A-4147-A177-3AD203B41FA5}">
                      <a16:colId xmlns:a16="http://schemas.microsoft.com/office/drawing/2014/main" val="20002"/>
                    </a:ext>
                  </a:extLst>
                </a:gridCol>
              </a:tblGrid>
              <a:tr h="776609">
                <a:tc gridSpan="2">
                  <a:txBody>
                    <a:bodyPr/>
                    <a:lstStyle/>
                    <a:p>
                      <a:pPr algn="ctr">
                        <a:lnSpc>
                          <a:spcPts val="3750"/>
                        </a:lnSpc>
                        <a:defRPr/>
                      </a:pPr>
                      <a:r>
                        <a:rPr lang="en-US" sz="2000" b="1" spc="12">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hMerge="1">
                  <a:txBody>
                    <a:bodyPr/>
                    <a:lstStyle/>
                    <a:p>
                      <a:pPr algn="ctr">
                        <a:lnSpc>
                          <a:spcPts val="3750"/>
                        </a:lnSpc>
                        <a:defRPr/>
                      </a:pPr>
                      <a:r>
                        <a:rPr lang="en-US" sz="2000" b="1" spc="12">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a:solidFill>
                            <a:srgbClr val="FFFFFF"/>
                          </a:solidFill>
                          <a:latin typeface="Arial Bold"/>
                          <a:ea typeface="Arial Bold"/>
                          <a:cs typeface="Arial Bold"/>
                          <a:sym typeface="Arial Bold"/>
                        </a:rPr>
                        <a:t>CODE</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2546669">
                <a:tc rowSpan="2">
                  <a:txBody>
                    <a:bodyPr/>
                    <a:lstStyle/>
                    <a:p>
                      <a:pPr algn="ctr">
                        <a:lnSpc>
                          <a:spcPts val="2801"/>
                        </a:lnSpc>
                        <a:defRPr/>
                      </a:pPr>
                      <a:r>
                        <a:rPr lang="en-US" sz="2000" b="1">
                          <a:solidFill>
                            <a:srgbClr val="000000"/>
                          </a:solidFill>
                          <a:latin typeface="Arial Bold"/>
                          <a:ea typeface="Arial Bold"/>
                          <a:cs typeface="Arial Bold"/>
                          <a:sym typeface="Arial Bold"/>
                        </a:rPr>
                        <a:t>KH có thể thực hiện theo 1 trong 2 cách sau</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801"/>
                        </a:lnSpc>
                        <a:defRPr/>
                      </a:pPr>
                      <a:r>
                        <a:rPr lang="en-US" sz="2000" b="1">
                          <a:solidFill>
                            <a:srgbClr val="000000"/>
                          </a:solidFill>
                          <a:latin typeface="Arial Bold"/>
                          <a:ea typeface="Arial Bold"/>
                          <a:cs typeface="Arial Bold"/>
                          <a:sym typeface="Arial Bold"/>
                        </a:rPr>
                        <a:t>Cách 1:</a:t>
                      </a:r>
                      <a:r>
                        <a:rPr lang="en-US" sz="2000">
                          <a:solidFill>
                            <a:srgbClr val="000000"/>
                          </a:solidFill>
                          <a:latin typeface="Arial"/>
                          <a:ea typeface="Arial"/>
                          <a:cs typeface="Arial"/>
                          <a:sym typeface="Arial"/>
                        </a:rPr>
                        <a:t> </a:t>
                      </a:r>
                      <a:endParaRPr lang="en-US" sz="1100"/>
                    </a:p>
                    <a:p>
                      <a:pPr algn="l">
                        <a:lnSpc>
                          <a:spcPts val="2801"/>
                        </a:lnSpc>
                      </a:pPr>
                      <a:r>
                        <a:rPr lang="en-US" sz="2000">
                          <a:solidFill>
                            <a:srgbClr val="000000"/>
                          </a:solidFill>
                          <a:latin typeface="Arial"/>
                          <a:ea typeface="Arial"/>
                          <a:cs typeface="Arial"/>
                          <a:sym typeface="Arial"/>
                        </a:rPr>
                        <a:t>Gỡ liên kết tài khoản trên ứng dụng: Đăng nhập vào IZION24 và chọn "Quản lý thiết bị đăng nhập" =&gt; Chọn thiết bị đăng nhập hiện tại =&gt; Xác nhận "Gỡ thiêt bị" =&gt; KH đăng nhập tài khoản mới.</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rowSpan="2">
                  <a:txBody>
                    <a:bodyPr/>
                    <a:lstStyle/>
                    <a:p>
                      <a:pPr algn="l">
                        <a:lnSpc>
                          <a:spcPts val="2800"/>
                        </a:lnSpc>
                        <a:defRPr/>
                      </a:pPr>
                      <a:r>
                        <a:rPr lang="en-US" sz="2000" b="1">
                          <a:solidFill>
                            <a:srgbClr val="000000"/>
                          </a:solidFill>
                          <a:latin typeface="Arial Bold"/>
                          <a:ea typeface="Arial Bold"/>
                          <a:cs typeface="Arial Bold"/>
                          <a:sym typeface="Arial Bold"/>
                        </a:rPr>
                        <a:t>Code: </a:t>
                      </a:r>
                      <a:r>
                        <a:rPr lang="en-US" sz="2000">
                          <a:solidFill>
                            <a:srgbClr val="000000"/>
                          </a:solidFill>
                          <a:latin typeface="Arial"/>
                          <a:ea typeface="Arial"/>
                          <a:cs typeface="Arial"/>
                          <a:sym typeface="Arial"/>
                        </a:rPr>
                        <a:t>IB01-Bảo hiểm Banca</a:t>
                      </a:r>
                      <a:endParaRPr lang="en-US" sz="1100"/>
                    </a:p>
                    <a:p>
                      <a:pPr algn="l">
                        <a:lnSpc>
                          <a:spcPts val="2800"/>
                        </a:lnSpc>
                      </a:pPr>
                      <a:r>
                        <a:rPr lang="en-US" sz="2000" b="1">
                          <a:solidFill>
                            <a:srgbClr val="000000"/>
                          </a:solidFill>
                          <a:latin typeface="Arial Bold"/>
                          <a:ea typeface="Arial Bold"/>
                          <a:cs typeface="Arial Bold"/>
                          <a:sym typeface="Arial Bold"/>
                        </a:rPr>
                        <a:t>Subcode:</a:t>
                      </a:r>
                      <a:r>
                        <a:rPr lang="en-US" sz="2000">
                          <a:solidFill>
                            <a:srgbClr val="000000"/>
                          </a:solidFill>
                          <a:latin typeface="Arial"/>
                          <a:ea typeface="Arial"/>
                          <a:cs typeface="Arial"/>
                          <a:sym typeface="Arial"/>
                        </a:rPr>
                        <a:t> IB01.02-Quy trình Đăng ký BH</a:t>
                      </a:r>
                    </a:p>
                    <a:p>
                      <a:pPr algn="l">
                        <a:lnSpc>
                          <a:spcPts val="2800"/>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nội dung hỗ trợ</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2496757">
                <a:tc vMerge="1">
                  <a:txBody>
                    <a:bodyPr/>
                    <a:lstStyle/>
                    <a:p>
                      <a:pPr algn="ctr">
                        <a:lnSpc>
                          <a:spcPts val="2801"/>
                        </a:lnSpc>
                        <a:defRPr/>
                      </a:pPr>
                      <a:r>
                        <a:rPr lang="en-US" sz="2000" b="1">
                          <a:solidFill>
                            <a:srgbClr val="000000"/>
                          </a:solidFill>
                          <a:latin typeface="Arial Bold"/>
                          <a:ea typeface="Arial Bold"/>
                          <a:cs typeface="Arial Bold"/>
                          <a:sym typeface="Arial Bold"/>
                        </a:rPr>
                        <a:t>KH có thể thực hiện theo 1 trong 2 cách sau</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801"/>
                        </a:lnSpc>
                        <a:defRPr/>
                      </a:pPr>
                      <a:r>
                        <a:rPr lang="en-US" sz="2000" b="1">
                          <a:solidFill>
                            <a:srgbClr val="000000"/>
                          </a:solidFill>
                          <a:latin typeface="Arial Bold"/>
                          <a:ea typeface="Arial Bold"/>
                          <a:cs typeface="Arial Bold"/>
                          <a:sym typeface="Arial Bold"/>
                        </a:rPr>
                        <a:t>Cách 2:</a:t>
                      </a:r>
                      <a:r>
                        <a:rPr lang="en-US" sz="2000">
                          <a:solidFill>
                            <a:srgbClr val="000000"/>
                          </a:solidFill>
                          <a:latin typeface="Arial"/>
                          <a:ea typeface="Arial"/>
                          <a:cs typeface="Arial"/>
                          <a:sym typeface="Arial"/>
                        </a:rPr>
                        <a:t> </a:t>
                      </a:r>
                      <a:endParaRPr lang="en-US" sz="1100"/>
                    </a:p>
                    <a:p>
                      <a:pPr marL="431801" lvl="1" indent="-215900" algn="l">
                        <a:lnSpc>
                          <a:spcPts val="2801"/>
                        </a:lnSpc>
                        <a:buFont typeface="Arial"/>
                        <a:buChar char="•"/>
                      </a:pPr>
                      <a:r>
                        <a:rPr lang="en-US" sz="2000">
                          <a:solidFill>
                            <a:srgbClr val="000000"/>
                          </a:solidFill>
                          <a:latin typeface="Arial"/>
                          <a:ea typeface="Arial"/>
                          <a:cs typeface="Arial"/>
                          <a:sym typeface="Arial"/>
                        </a:rPr>
                        <a:t>Liên hệ Hotline 1900 2809 (Thời gian làm việc: Từ thứ 2 – thứ 6: 8:00 – 12:00 &amp; 13:00 – 17:30, Thứ 7: 8:00 –12:00.)</a:t>
                      </a:r>
                    </a:p>
                    <a:p>
                      <a:pPr marL="431801" lvl="1" indent="-215900" algn="l">
                        <a:lnSpc>
                          <a:spcPts val="2801"/>
                        </a:lnSpc>
                        <a:buFont typeface="Arial"/>
                        <a:buChar char="•"/>
                      </a:pPr>
                      <a:r>
                        <a:rPr lang="en-US" sz="2000">
                          <a:solidFill>
                            <a:srgbClr val="000000"/>
                          </a:solidFill>
                          <a:latin typeface="Arial"/>
                          <a:ea typeface="Arial"/>
                          <a:cs typeface="Arial"/>
                          <a:sym typeface="Arial"/>
                        </a:rPr>
                        <a:t>KH cung cấp Mã thiết bị hiển thị trên màn hình hạn chế đăng nhập và Số điện thoại của KH để được hướng dẫn và hỗ trợ.</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2800"/>
                        </a:lnSpc>
                        <a:defRPr/>
                      </a:pPr>
                      <a:r>
                        <a:rPr lang="en-US" sz="2000" b="1">
                          <a:solidFill>
                            <a:srgbClr val="000000"/>
                          </a:solidFill>
                          <a:latin typeface="Arial Bold"/>
                          <a:ea typeface="Arial Bold"/>
                          <a:cs typeface="Arial Bold"/>
                          <a:sym typeface="Arial Bold"/>
                        </a:rPr>
                        <a:t>Code: </a:t>
                      </a:r>
                      <a:r>
                        <a:rPr lang="en-US" sz="2000">
                          <a:solidFill>
                            <a:srgbClr val="000000"/>
                          </a:solidFill>
                          <a:latin typeface="Arial"/>
                          <a:ea typeface="Arial"/>
                          <a:cs typeface="Arial"/>
                          <a:sym typeface="Arial"/>
                        </a:rPr>
                        <a:t>IB01-Bảo hiểm Banca</a:t>
                      </a:r>
                      <a:endParaRPr lang="en-US" sz="1100"/>
                    </a:p>
                    <a:p>
                      <a:pPr algn="l">
                        <a:lnSpc>
                          <a:spcPts val="2800"/>
                        </a:lnSpc>
                      </a:pPr>
                      <a:r>
                        <a:rPr lang="en-US" sz="2000" b="1">
                          <a:solidFill>
                            <a:srgbClr val="000000"/>
                          </a:solidFill>
                          <a:latin typeface="Arial Bold"/>
                          <a:ea typeface="Arial Bold"/>
                          <a:cs typeface="Arial Bold"/>
                          <a:sym typeface="Arial Bold"/>
                        </a:rPr>
                        <a:t>Subcode:</a:t>
                      </a:r>
                      <a:r>
                        <a:rPr lang="en-US" sz="2000">
                          <a:solidFill>
                            <a:srgbClr val="000000"/>
                          </a:solidFill>
                          <a:latin typeface="Arial"/>
                          <a:ea typeface="Arial"/>
                          <a:cs typeface="Arial"/>
                          <a:sym typeface="Arial"/>
                        </a:rPr>
                        <a:t> IB01.02-Quy trình Đăng ký BH</a:t>
                      </a:r>
                    </a:p>
                    <a:p>
                      <a:pPr algn="l">
                        <a:lnSpc>
                          <a:spcPts val="2800"/>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nội dung hỗ trợ</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bl>
          </a:graphicData>
        </a:graphic>
      </p:graphicFrame>
      <p:grpSp>
        <p:nvGrpSpPr>
          <p:cNvPr id="3" name="Group 3"/>
          <p:cNvGrpSpPr/>
          <p:nvPr/>
        </p:nvGrpSpPr>
        <p:grpSpPr>
          <a:xfrm>
            <a:off x="15691018" y="9790919"/>
            <a:ext cx="2421922" cy="346996"/>
            <a:chOff x="0" y="0"/>
            <a:chExt cx="3229229" cy="462661"/>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145" r="-145"/>
              </a:stretch>
            </a:blipFill>
          </p:spPr>
        </p:sp>
      </p:grpSp>
      <p:sp>
        <p:nvSpPr>
          <p:cNvPr id="5" name="Freeform 5"/>
          <p:cNvSpPr/>
          <p:nvPr/>
        </p:nvSpPr>
        <p:spPr>
          <a:xfrm>
            <a:off x="5859" y="-328298"/>
            <a:ext cx="18282142" cy="1306449"/>
          </a:xfrm>
          <a:custGeom>
            <a:avLst/>
            <a:gdLst/>
            <a:ahLst/>
            <a:cxnLst/>
            <a:rect l="l" t="t" r="r" b="b"/>
            <a:pathLst>
              <a:path w="20000147" h="1306449">
                <a:moveTo>
                  <a:pt x="0" y="0"/>
                </a:moveTo>
                <a:lnTo>
                  <a:pt x="20000147" y="0"/>
                </a:lnTo>
                <a:lnTo>
                  <a:pt x="20000147"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t="-300" b="-300"/>
            </a:stretch>
          </a:blipFill>
        </p:spPr>
      </p:sp>
      <p:sp>
        <p:nvSpPr>
          <p:cNvPr id="6" name="TextBox 6"/>
          <p:cNvSpPr txBox="1"/>
          <p:nvPr/>
        </p:nvSpPr>
        <p:spPr>
          <a:xfrm>
            <a:off x="2797894" y="149871"/>
            <a:ext cx="12692211" cy="663530"/>
          </a:xfrm>
          <a:prstGeom prst="rect">
            <a:avLst/>
          </a:prstGeom>
        </p:spPr>
        <p:txBody>
          <a:bodyPr lIns="0" tIns="0" rIns="0" bIns="0" rtlCol="0" anchor="t">
            <a:spAutoFit/>
          </a:bodyPr>
          <a:lstStyle/>
          <a:p>
            <a:pPr algn="ctr">
              <a:lnSpc>
                <a:spcPts val="5200"/>
              </a:lnSpc>
            </a:pPr>
            <a:r>
              <a:rPr lang="en-US" sz="3999" b="1">
                <a:solidFill>
                  <a:srgbClr val="000000"/>
                </a:solidFill>
                <a:latin typeface="Arial Bold"/>
                <a:ea typeface="Arial Bold"/>
                <a:cs typeface="Arial Bold"/>
                <a:sym typeface="Arial Bold"/>
              </a:rPr>
              <a:t> HỖ TRỢ GỠ THIẾT BỊ ĐỂ ĐĂNG NHẬP APP IZION24</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2606096869"/>
              </p:ext>
            </p:extLst>
          </p:nvPr>
        </p:nvGraphicFramePr>
        <p:xfrm>
          <a:off x="175060" y="1117568"/>
          <a:ext cx="17922642" cy="9079502"/>
        </p:xfrm>
        <a:graphic>
          <a:graphicData uri="http://schemas.openxmlformats.org/drawingml/2006/table">
            <a:tbl>
              <a:tblPr/>
              <a:tblGrid>
                <a:gridCol w="3939740">
                  <a:extLst>
                    <a:ext uri="{9D8B030D-6E8A-4147-A177-3AD203B41FA5}">
                      <a16:colId xmlns:a16="http://schemas.microsoft.com/office/drawing/2014/main" val="20000"/>
                    </a:ext>
                  </a:extLst>
                </a:gridCol>
                <a:gridCol w="9829800">
                  <a:extLst>
                    <a:ext uri="{9D8B030D-6E8A-4147-A177-3AD203B41FA5}">
                      <a16:colId xmlns:a16="http://schemas.microsoft.com/office/drawing/2014/main" val="20001"/>
                    </a:ext>
                  </a:extLst>
                </a:gridCol>
                <a:gridCol w="4153102">
                  <a:extLst>
                    <a:ext uri="{9D8B030D-6E8A-4147-A177-3AD203B41FA5}">
                      <a16:colId xmlns:a16="http://schemas.microsoft.com/office/drawing/2014/main" val="20002"/>
                    </a:ext>
                  </a:extLst>
                </a:gridCol>
              </a:tblGrid>
              <a:tr h="776285">
                <a:tc>
                  <a:txBody>
                    <a:bodyPr/>
                    <a:lstStyle/>
                    <a:p>
                      <a:pPr algn="ctr">
                        <a:lnSpc>
                          <a:spcPts val="3750"/>
                        </a:lnSpc>
                        <a:defRPr/>
                      </a:pPr>
                      <a:r>
                        <a:rPr lang="en-US" sz="2000" b="1" spc="12">
                          <a:solidFill>
                            <a:srgbClr val="FFFFFF"/>
                          </a:solidFill>
                          <a:latin typeface="Arial Bold"/>
                          <a:ea typeface="Arial Bold"/>
                          <a:cs typeface="Arial Bold"/>
                          <a:sym typeface="Arial Bold"/>
                        </a:rPr>
                        <a:t>TRƯỜNG HỢP</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50"/>
                        </a:lnSpc>
                        <a:defRPr/>
                      </a:pPr>
                      <a:r>
                        <a:rPr lang="en-US" sz="2000" b="1" spc="12">
                          <a:solidFill>
                            <a:srgbClr val="FFFFFF"/>
                          </a:solidFill>
                          <a:latin typeface="Arial Bold"/>
                          <a:ea typeface="Arial Bold"/>
                          <a:cs typeface="Arial Bold"/>
                          <a:sym typeface="Arial Bold"/>
                        </a:rPr>
                        <a:t>CODE/ REMARK</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3258479">
                <a:tc>
                  <a:txBody>
                    <a:bodyPr/>
                    <a:lstStyle/>
                    <a:p>
                      <a:pPr algn="l">
                        <a:lnSpc>
                          <a:spcPts val="2800"/>
                        </a:lnSpc>
                        <a:defRPr/>
                      </a:pPr>
                      <a:r>
                        <a:rPr lang="en-US" sz="2000" b="1" dirty="0" err="1">
                          <a:solidFill>
                            <a:srgbClr val="000000"/>
                          </a:solidFill>
                          <a:latin typeface="Arial Bold"/>
                          <a:ea typeface="Arial Bold"/>
                          <a:cs typeface="Arial Bold"/>
                          <a:sym typeface="Arial Bold"/>
                        </a:rPr>
                        <a:t>Bị</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ép</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tham</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gia</a:t>
                      </a:r>
                      <a:r>
                        <a:rPr lang="en-US" sz="2000" b="1" dirty="0">
                          <a:solidFill>
                            <a:srgbClr val="000000"/>
                          </a:solidFill>
                          <a:latin typeface="Arial Bold"/>
                          <a:ea typeface="Arial Bold"/>
                          <a:cs typeface="Arial Bold"/>
                          <a:sym typeface="Arial Bold"/>
                        </a:rPr>
                        <a:t> BH</a:t>
                      </a:r>
                      <a:endParaRPr lang="en-US" sz="1100" dirty="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800"/>
                        </a:lnSpc>
                        <a:defRPr/>
                      </a:pPr>
                      <a:r>
                        <a:rPr lang="en-US" sz="2000" dirty="0" err="1">
                          <a:solidFill>
                            <a:srgbClr val="000000"/>
                          </a:solidFill>
                          <a:latin typeface="Arial"/>
                          <a:ea typeface="Arial"/>
                          <a:cs typeface="Arial"/>
                          <a:sym typeface="Arial"/>
                        </a:rPr>
                        <a:t>Thuyết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phục</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tham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gia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thêm</a:t>
                      </a:r>
                      <a:r>
                        <a:rPr lang="en-US" sz="2000" dirty="0">
                          <a:solidFill>
                            <a:srgbClr val="000000"/>
                          </a:solidFill>
                          <a:latin typeface="Arial"/>
                          <a:ea typeface="Arial"/>
                          <a:cs typeface="Arial"/>
                          <a:sym typeface="Arial"/>
                        </a:rPr>
                        <a:t> BHSK </a:t>
                      </a:r>
                      <a:r>
                        <a:rPr lang="en-US" sz="2000" dirty="0" err="1">
                          <a:solidFill>
                            <a:srgbClr val="000000"/>
                          </a:solidFill>
                          <a:latin typeface="Arial"/>
                          <a:ea typeface="Arial"/>
                          <a:cs typeface="Arial"/>
                          <a:sym typeface="Arial"/>
                        </a:rPr>
                        <a:t>vì</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tham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gia</a:t>
                      </a:r>
                      <a:r>
                        <a:rPr lang="en-US" sz="2000" dirty="0">
                          <a:solidFill>
                            <a:srgbClr val="000000"/>
                          </a:solidFill>
                          <a:latin typeface="Arial"/>
                          <a:ea typeface="Arial"/>
                          <a:cs typeface="Arial"/>
                          <a:sym typeface="Arial"/>
                        </a:rPr>
                        <a:t> là </a:t>
                      </a:r>
                      <a:r>
                        <a:rPr lang="en-US" sz="2000" dirty="0" err="1">
                          <a:solidFill>
                            <a:srgbClr val="000000"/>
                          </a:solidFill>
                          <a:latin typeface="Arial"/>
                          <a:ea typeface="Arial"/>
                          <a:cs typeface="Arial"/>
                          <a:sym typeface="Arial"/>
                        </a:rPr>
                        <a:t>gia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tăng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quyền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lợi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chính</a:t>
                      </a:r>
                      <a:r>
                        <a:rPr lang="en-US" sz="2000" dirty="0">
                          <a:solidFill>
                            <a:srgbClr val="000000"/>
                          </a:solidFill>
                          <a:latin typeface="Arial"/>
                          <a:ea typeface="Arial"/>
                          <a:cs typeface="Arial"/>
                          <a:sym typeface="Arial"/>
                        </a:rPr>
                        <a:t> KH. (Tham </a:t>
                      </a:r>
                      <a:r>
                        <a:rPr lang="en-US" sz="2000" dirty="0" err="1">
                          <a:solidFill>
                            <a:srgbClr val="000000"/>
                          </a:solidFill>
                          <a:latin typeface="Arial"/>
                          <a:ea typeface="Arial"/>
                          <a:cs typeface="Arial"/>
                          <a:sym typeface="Arial"/>
                        </a:rPr>
                        <a:t>khảo</a:t>
                      </a:r>
                      <a:r>
                        <a:rPr lang="en-US" sz="2000" dirty="0">
                          <a:solidFill>
                            <a:srgbClr val="000000"/>
                          </a:solidFill>
                          <a:latin typeface="Arial"/>
                          <a:ea typeface="Arial"/>
                          <a:cs typeface="Arial"/>
                          <a:sym typeface="Arial"/>
                        </a:rPr>
                        <a:t> </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Kịch</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bản</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thuyết</a:t>
                      </a:r>
                      <a:r>
                        <a:rPr lang="en-US" sz="2000" b="1" i="1" u="sng" kern="1200" dirty="0">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 </a:t>
                      </a:r>
                      <a:r>
                        <a:rPr lang="en-US" sz="2000" b="1" i="1" u="sng" kern="1200" dirty="0" err="1">
                          <a:solidFill>
                            <a:srgbClr val="65B444"/>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phục</a:t>
                      </a:r>
                      <a:r>
                        <a:rPr lang="en-US" sz="2000" dirty="0">
                          <a:solidFill>
                            <a:srgbClr val="000000"/>
                          </a:solidFill>
                          <a:latin typeface="Arial"/>
                          <a:ea typeface="Arial"/>
                          <a:cs typeface="Arial"/>
                          <a:sym typeface="Arial"/>
                        </a:rPr>
                        <a:t>)</a:t>
                      </a:r>
                      <a:endParaRPr lang="en-US" sz="1100" dirty="0"/>
                    </a:p>
                    <a:p>
                      <a:pPr marL="431801" lvl="1" indent="-215900" algn="l">
                        <a:lnSpc>
                          <a:spcPts val="2800"/>
                        </a:lnSpc>
                        <a:buFont typeface="Arial"/>
                        <a:buChar char="•"/>
                      </a:pPr>
                      <a:r>
                        <a:rPr lang="en-US" sz="2000" dirty="0" err="1">
                          <a:solidFill>
                            <a:srgbClr val="000000"/>
                          </a:solidFill>
                          <a:latin typeface="Arial"/>
                          <a:ea typeface="Arial"/>
                          <a:cs typeface="Arial"/>
                          <a:sym typeface="Arial"/>
                        </a:rPr>
                        <a:t>Thuyết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phục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Thành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Hướng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dẫn</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thanh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toán</a:t>
                      </a:r>
                      <a:r>
                        <a:rPr lang="en-US" sz="2000" dirty="0">
                          <a:solidFill>
                            <a:srgbClr val="000000"/>
                          </a:solidFill>
                          <a:latin typeface="Arial"/>
                          <a:ea typeface="Arial"/>
                          <a:cs typeface="Arial"/>
                          <a:sym typeface="Arial"/>
                        </a:rPr>
                        <a:t> để nhận HĐBH.</a:t>
                      </a:r>
                    </a:p>
                    <a:p>
                      <a:pPr marL="431801" lvl="1" indent="-215900" algn="l">
                        <a:lnSpc>
                          <a:spcPts val="2800"/>
                        </a:lnSpc>
                        <a:buFont typeface="Arial"/>
                        <a:buChar char="•"/>
                      </a:pPr>
                      <a:r>
                        <a:rPr lang="en-US" sz="2000" dirty="0" err="1">
                          <a:solidFill>
                            <a:srgbClr val="000000"/>
                          </a:solidFill>
                          <a:latin typeface="Arial"/>
                          <a:ea typeface="Arial"/>
                          <a:cs typeface="Arial"/>
                          <a:sym typeface="Arial"/>
                        </a:rPr>
                        <a:t>Thuyết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phục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thành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và</a:t>
                      </a:r>
                      <a:r>
                        <a:rPr lang="en-US" sz="2000" dirty="0">
                          <a:solidFill>
                            <a:srgbClr val="000000"/>
                          </a:solidFill>
                          <a:latin typeface="Arial"/>
                          <a:ea typeface="Arial"/>
                          <a:cs typeface="Arial"/>
                          <a:sym typeface="Arial"/>
                        </a:rPr>
                        <a:t> KH gay </a:t>
                      </a:r>
                      <a:r>
                        <a:rPr lang="en-US" sz="2000" dirty="0" err="1">
                          <a:solidFill>
                            <a:srgbClr val="000000"/>
                          </a:solidFill>
                          <a:latin typeface="Arial"/>
                          <a:ea typeface="Arial"/>
                          <a:cs typeface="Arial"/>
                          <a:sym typeface="Arial"/>
                        </a:rPr>
                        <a:t>gắt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yêu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cầu</a:t>
                      </a:r>
                      <a:r>
                        <a:rPr lang="en-US" sz="2000" dirty="0">
                          <a:solidFill>
                            <a:srgbClr val="000000"/>
                          </a:solidFill>
                          <a:latin typeface="Arial"/>
                          <a:ea typeface="Arial"/>
                          <a:cs typeface="Arial"/>
                          <a:sym typeface="Arial"/>
                        </a:rPr>
                        <a:t> CS </a:t>
                      </a:r>
                      <a:r>
                        <a:rPr lang="en-US" sz="2000" dirty="0" err="1">
                          <a:solidFill>
                            <a:srgbClr val="000000"/>
                          </a:solidFill>
                          <a:latin typeface="Arial"/>
                          <a:ea typeface="Arial"/>
                          <a:cs typeface="Arial"/>
                          <a:sym typeface="Arial"/>
                        </a:rPr>
                        <a:t>phải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xác</a:t>
                      </a:r>
                      <a:r>
                        <a:rPr lang="en-US" sz="2000" dirty="0">
                          <a:solidFill>
                            <a:srgbClr val="000000"/>
                          </a:solidFill>
                          <a:latin typeface="Arial"/>
                          <a:ea typeface="Arial"/>
                          <a:cs typeface="Arial"/>
                          <a:sym typeface="Arial"/>
                        </a:rPr>
                        <a:t> nhận </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bắt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buộc</a:t>
                      </a:r>
                      <a:r>
                        <a:rPr lang="en-US" sz="2000" dirty="0">
                          <a:solidFill>
                            <a:srgbClr val="000000"/>
                          </a:solidFill>
                          <a:latin typeface="Arial"/>
                          <a:ea typeface="Arial"/>
                          <a:cs typeface="Arial"/>
                          <a:sym typeface="Arial"/>
                        </a:rPr>
                        <a:t> hay </a:t>
                      </a: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a:t>
                      </a:r>
                    </a:p>
                    <a:p>
                      <a:pPr marL="863601" lvl="2" indent="-287867" algn="l">
                        <a:lnSpc>
                          <a:spcPts val="2800"/>
                        </a:lnSpc>
                        <a:buFont typeface="Arial"/>
                        <a:buChar char="⚬"/>
                      </a:pPr>
                      <a:r>
                        <a:rPr lang="en-US" sz="2000" dirty="0">
                          <a:solidFill>
                            <a:srgbClr val="000000"/>
                          </a:solidFill>
                          <a:latin typeface="Arial"/>
                          <a:ea typeface="Arial"/>
                          <a:cs typeface="Arial"/>
                          <a:sym typeface="Arial"/>
                        </a:rPr>
                        <a:t>CS </a:t>
                      </a:r>
                      <a:r>
                        <a:rPr lang="en-US" sz="2000" dirty="0" err="1">
                          <a:solidFill>
                            <a:srgbClr val="000000"/>
                          </a:solidFill>
                          <a:latin typeface="Arial"/>
                          <a:ea typeface="Arial"/>
                          <a:cs typeface="Arial"/>
                          <a:sym typeface="Arial"/>
                        </a:rPr>
                        <a:t>xác</a:t>
                      </a:r>
                      <a:r>
                        <a:rPr lang="en-US" sz="2000" dirty="0">
                          <a:solidFill>
                            <a:srgbClr val="000000"/>
                          </a:solidFill>
                          <a:latin typeface="Arial"/>
                          <a:ea typeface="Arial"/>
                          <a:cs typeface="Arial"/>
                          <a:sym typeface="Arial"/>
                        </a:rPr>
                        <a:t> nhận </a:t>
                      </a:r>
                      <a:r>
                        <a:rPr lang="en-US" sz="2000" dirty="0" err="1">
                          <a:solidFill>
                            <a:srgbClr val="000000"/>
                          </a:solidFill>
                          <a:latin typeface="Arial"/>
                          <a:ea typeface="Arial"/>
                          <a:cs typeface="Arial"/>
                          <a:sym typeface="Arial"/>
                        </a:rPr>
                        <a:t>với</a:t>
                      </a:r>
                      <a:r>
                        <a:rPr lang="en-US" sz="2000" dirty="0">
                          <a:solidFill>
                            <a:srgbClr val="000000"/>
                          </a:solidFill>
                          <a:latin typeface="Arial"/>
                          <a:ea typeface="Arial"/>
                          <a:cs typeface="Arial"/>
                          <a:sym typeface="Arial"/>
                        </a:rPr>
                        <a:t> KH "BH </a:t>
                      </a:r>
                      <a:r>
                        <a:rPr lang="en-US" sz="2000" dirty="0" err="1">
                          <a:solidFill>
                            <a:srgbClr val="000000"/>
                          </a:solidFill>
                          <a:latin typeface="Arial"/>
                          <a:ea typeface="Arial"/>
                          <a:cs typeface="Arial"/>
                          <a:sym typeface="Arial"/>
                        </a:rPr>
                        <a:t>tham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gia</a:t>
                      </a:r>
                      <a:r>
                        <a:rPr lang="en-US" sz="2000" dirty="0">
                          <a:solidFill>
                            <a:srgbClr val="000000"/>
                          </a:solidFill>
                          <a:latin typeface="Arial"/>
                          <a:ea typeface="Arial"/>
                          <a:cs typeface="Arial"/>
                          <a:sym typeface="Arial"/>
                        </a:rPr>
                        <a:t> trên </a:t>
                      </a:r>
                      <a:r>
                        <a:rPr lang="en-US" sz="2000" dirty="0" err="1">
                          <a:solidFill>
                            <a:srgbClr val="000000"/>
                          </a:solidFill>
                          <a:latin typeface="Arial"/>
                          <a:ea typeface="Arial"/>
                          <a:cs typeface="Arial"/>
                          <a:sym typeface="Arial"/>
                        </a:rPr>
                        <a:t>tinh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thần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tự</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nguyện</a:t>
                      </a:r>
                      <a:r>
                        <a:rPr lang="en-US" sz="2000" dirty="0">
                          <a:solidFill>
                            <a:srgbClr val="000000"/>
                          </a:solidFill>
                          <a:latin typeface="Arial"/>
                          <a:ea typeface="Arial"/>
                          <a:cs typeface="Arial"/>
                          <a:sym typeface="Arial"/>
                        </a:rPr>
                        <a:t>". </a:t>
                      </a:r>
                    </a:p>
                    <a:p>
                      <a:pPr marL="863601" lvl="2" indent="-287867" algn="l">
                        <a:lnSpc>
                          <a:spcPts val="2800"/>
                        </a:lnSpc>
                        <a:buFont typeface="Arial"/>
                        <a:buChar char="⚬"/>
                      </a:pPr>
                      <a:r>
                        <a:rPr lang="en-US" sz="2000" dirty="0" err="1">
                          <a:solidFill>
                            <a:srgbClr val="000000"/>
                          </a:solidFill>
                          <a:latin typeface="Arial"/>
                          <a:ea typeface="Arial"/>
                          <a:cs typeface="Arial"/>
                          <a:sym typeface="Arial"/>
                        </a:rPr>
                        <a:t>Nếu</a:t>
                      </a:r>
                      <a:r>
                        <a:rPr lang="en-US" sz="2000" dirty="0">
                          <a:solidFill>
                            <a:srgbClr val="000000"/>
                          </a:solidFill>
                          <a:latin typeface="Arial"/>
                          <a:ea typeface="Arial"/>
                          <a:cs typeface="Arial"/>
                          <a:sym typeface="Arial"/>
                        </a:rPr>
                        <a:t> KH gay </a:t>
                      </a:r>
                      <a:r>
                        <a:rPr lang="en-US" sz="2000" dirty="0" err="1">
                          <a:solidFill>
                            <a:srgbClr val="000000"/>
                          </a:solidFill>
                          <a:latin typeface="Arial"/>
                          <a:ea typeface="Arial"/>
                          <a:cs typeface="Arial"/>
                          <a:sym typeface="Arial"/>
                        </a:rPr>
                        <a:t>gắt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phản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ánh</a:t>
                      </a:r>
                      <a:r>
                        <a:rPr lang="en-US" sz="2000" dirty="0">
                          <a:solidFill>
                            <a:srgbClr val="000000"/>
                          </a:solidFill>
                          <a:latin typeface="Arial"/>
                          <a:ea typeface="Arial"/>
                          <a:cs typeface="Arial"/>
                          <a:sym typeface="Arial"/>
                        </a:rPr>
                        <a:t> sale </a:t>
                      </a:r>
                      <a:r>
                        <a:rPr lang="en-US" sz="2000" dirty="0" err="1">
                          <a:solidFill>
                            <a:srgbClr val="000000"/>
                          </a:solidFill>
                          <a:latin typeface="Arial"/>
                          <a:ea typeface="Arial"/>
                          <a:cs typeface="Arial"/>
                          <a:sym typeface="Arial"/>
                        </a:rPr>
                        <a:t>bắt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buộc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tham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gia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Hỗ</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trợ</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theo</a:t>
                      </a:r>
                      <a:r>
                        <a:rPr lang="en-US" sz="2000" dirty="0">
                          <a:solidFill>
                            <a:srgbClr val="000000"/>
                          </a:solidFill>
                          <a:latin typeface="Arial"/>
                          <a:ea typeface="Arial"/>
                          <a:cs typeface="Arial"/>
                          <a:sym typeface="Arial"/>
                        </a:rPr>
                        <a:t> </a:t>
                      </a:r>
                      <a:r>
                        <a:rPr lang="en-US" sz="2000" b="1" i="1" u="sng" dirty="0" err="1">
                          <a:solidFill>
                            <a:srgbClr val="65B444"/>
                          </a:solidFill>
                          <a:latin typeface="Arial Bold Italics"/>
                          <a:ea typeface="Arial Bold Italics"/>
                          <a:cs typeface="Arial Bold Italics"/>
                          <a:sym typeface="Arial Bold Italics"/>
                        </a:rPr>
                        <a:t>Phản</a:t>
                      </a:r>
                      <a:r>
                        <a:rPr lang="en-US" sz="2000" b="1" i="1" u="sng" dirty="0">
                          <a:solidFill>
                            <a:srgbClr val="65B444"/>
                          </a:solidFill>
                          <a:latin typeface="Arial Bold Italics"/>
                          <a:ea typeface="Arial Bold Italics"/>
                          <a:cs typeface="Arial Bold Italics"/>
                          <a:sym typeface="Arial Bold Italics"/>
                        </a:rPr>
                        <a:t> </a:t>
                      </a:r>
                      <a:r>
                        <a:rPr lang="en-US" sz="2000" b="1" i="1" u="sng" dirty="0" err="1">
                          <a:solidFill>
                            <a:srgbClr val="65B444"/>
                          </a:solidFill>
                          <a:latin typeface="Arial Bold Italics"/>
                          <a:ea typeface="Arial Bold Italics"/>
                          <a:cs typeface="Arial Bold Italics"/>
                          <a:sym typeface="Arial Bold Italics"/>
                        </a:rPr>
                        <a:t>ánh</a:t>
                      </a:r>
                      <a:r>
                        <a:rPr lang="en-US" sz="2000" b="1" i="1" u="sng" dirty="0">
                          <a:solidFill>
                            <a:srgbClr val="65B444"/>
                          </a:solidFill>
                          <a:latin typeface="Arial Bold Italics"/>
                          <a:ea typeface="Arial Bold Italics"/>
                          <a:cs typeface="Arial Bold Italics"/>
                          <a:sym typeface="Arial Bold Italics"/>
                        </a:rPr>
                        <a:t> </a:t>
                      </a:r>
                      <a:r>
                        <a:rPr lang="en-US" sz="2000" b="1" i="1" u="sng" dirty="0" err="1">
                          <a:solidFill>
                            <a:srgbClr val="65B444"/>
                          </a:solidFill>
                          <a:latin typeface="Arial Bold Italics"/>
                          <a:ea typeface="Arial Bold Italics"/>
                          <a:cs typeface="Arial Bold Italics"/>
                          <a:sym typeface="Arial Bold Italics"/>
                        </a:rPr>
                        <a:t>thông</a:t>
                      </a:r>
                      <a:r>
                        <a:rPr lang="en-US" sz="2000" b="1" i="1" u="sng" dirty="0">
                          <a:solidFill>
                            <a:srgbClr val="65B444"/>
                          </a:solidFill>
                          <a:latin typeface="Arial Bold Italics"/>
                          <a:ea typeface="Arial Bold Italics"/>
                          <a:cs typeface="Arial Bold Italics"/>
                          <a:sym typeface="Arial Bold Italics"/>
                        </a:rPr>
                        <a:t> tin </a:t>
                      </a:r>
                      <a:r>
                        <a:rPr lang="en-US" sz="2000" b="1" i="1" u="sng" dirty="0" err="1">
                          <a:solidFill>
                            <a:srgbClr val="65B444"/>
                          </a:solidFill>
                          <a:latin typeface="Arial Bold Italics"/>
                          <a:ea typeface="Arial Bold Italics"/>
                          <a:cs typeface="Arial Bold Italics"/>
                          <a:sym typeface="Arial Bold Italics"/>
                        </a:rPr>
                        <a:t>nhân</a:t>
                      </a:r>
                      <a:r>
                        <a:rPr lang="en-US" sz="2000" b="1" i="1" u="sng" dirty="0">
                          <a:solidFill>
                            <a:srgbClr val="65B444"/>
                          </a:solidFill>
                          <a:latin typeface="Arial Bold Italics"/>
                          <a:ea typeface="Arial Bold Italics"/>
                          <a:cs typeface="Arial Bold Italics"/>
                          <a:sym typeface="Arial Bold Italics"/>
                        </a:rPr>
                        <a:t> </a:t>
                      </a:r>
                      <a:r>
                        <a:rPr lang="en-US" sz="2000" b="1" i="1" u="sng" dirty="0" err="1">
                          <a:solidFill>
                            <a:srgbClr val="65B444"/>
                          </a:solidFill>
                          <a:latin typeface="Arial Bold Italics"/>
                          <a:ea typeface="Arial Bold Italics"/>
                          <a:cs typeface="Arial Bold Italics"/>
                          <a:sym typeface="Arial Bold Italics"/>
                        </a:rPr>
                        <a:t>viên</a:t>
                      </a:r>
                      <a:r>
                        <a:rPr lang="en-US" sz="2000" b="1" i="1" u="sng" dirty="0">
                          <a:solidFill>
                            <a:srgbClr val="65B444"/>
                          </a:solidFill>
                          <a:latin typeface="Arial Bold Italics"/>
                          <a:ea typeface="Arial Bold Italics"/>
                          <a:cs typeface="Arial Bold Italics"/>
                          <a:sym typeface="Arial Bold Italics"/>
                        </a:rPr>
                        <a:t> </a:t>
                      </a:r>
                      <a:r>
                        <a:rPr lang="en-US" sz="2000" b="1" i="1" u="sng" dirty="0" err="1">
                          <a:solidFill>
                            <a:srgbClr val="65B444"/>
                          </a:solidFill>
                          <a:latin typeface="Arial Bold Italics"/>
                          <a:ea typeface="Arial Bold Italics"/>
                          <a:cs typeface="Arial Bold Italics"/>
                          <a:sym typeface="Arial Bold Italics"/>
                        </a:rPr>
                        <a:t>tư</a:t>
                      </a:r>
                      <a:r>
                        <a:rPr lang="en-US" sz="2000" b="1" i="1" u="sng" dirty="0">
                          <a:solidFill>
                            <a:srgbClr val="65B444"/>
                          </a:solidFill>
                          <a:latin typeface="Arial Bold Italics"/>
                          <a:ea typeface="Arial Bold Italics"/>
                          <a:cs typeface="Arial Bold Italics"/>
                          <a:sym typeface="Arial Bold Italics"/>
                        </a:rPr>
                        <a:t> </a:t>
                      </a:r>
                      <a:r>
                        <a:rPr lang="en-US" sz="2000" b="1" i="1" u="sng" dirty="0" err="1">
                          <a:solidFill>
                            <a:srgbClr val="65B444"/>
                          </a:solidFill>
                          <a:latin typeface="Arial Bold Italics"/>
                          <a:ea typeface="Arial Bold Italics"/>
                          <a:cs typeface="Arial Bold Italics"/>
                          <a:sym typeface="Arial Bold Italics"/>
                        </a:rPr>
                        <a:t>vấn</a:t>
                      </a:r>
                      <a:endParaRPr lang="en-US" sz="2000" b="1" i="1" u="sng" dirty="0">
                        <a:solidFill>
                          <a:srgbClr val="65B444"/>
                        </a:solidFill>
                        <a:latin typeface="Arial Bold Italics"/>
                        <a:ea typeface="Arial Bold Italics"/>
                        <a:cs typeface="Arial Bold Italics"/>
                        <a:sym typeface="Arial Bold Italics"/>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800"/>
                        </a:lnSpc>
                        <a:defRPr/>
                      </a:pPr>
                      <a:r>
                        <a:rPr lang="en-US" sz="2000" b="1" dirty="0">
                          <a:solidFill>
                            <a:srgbClr val="000000"/>
                          </a:solidFill>
                          <a:latin typeface="Arial Bold"/>
                          <a:ea typeface="Arial Bold"/>
                          <a:cs typeface="Arial Bold"/>
                          <a:sym typeface="Arial Bold"/>
                        </a:rPr>
                        <a:t>Code:</a:t>
                      </a:r>
                      <a:r>
                        <a:rPr lang="en-US" sz="2000" dirty="0">
                          <a:solidFill>
                            <a:srgbClr val="000000"/>
                          </a:solidFill>
                          <a:latin typeface="Arial"/>
                          <a:ea typeface="Arial"/>
                          <a:cs typeface="Arial"/>
                          <a:sym typeface="Arial"/>
                        </a:rPr>
                        <a:t> IB01-Bảo </a:t>
                      </a:r>
                      <a:r>
                        <a:rPr lang="en-US" sz="2000" dirty="0" err="1">
                          <a:solidFill>
                            <a:srgbClr val="000000"/>
                          </a:solidFill>
                          <a:latin typeface="Arial"/>
                          <a:ea typeface="Arial"/>
                          <a:cs typeface="Arial"/>
                          <a:sym typeface="Arial"/>
                        </a:rPr>
                        <a:t>hiểm</a:t>
                      </a:r>
                      <a:r>
                        <a:rPr lang="en-US" sz="2000" dirty="0">
                          <a:solidFill>
                            <a:srgbClr val="000000"/>
                          </a:solidFill>
                          <a:latin typeface="Arial"/>
                          <a:ea typeface="Arial"/>
                          <a:cs typeface="Arial"/>
                          <a:sym typeface="Arial"/>
                        </a:rPr>
                        <a:t> Banca</a:t>
                      </a:r>
                      <a:endParaRPr lang="en-US" sz="1100" dirty="0"/>
                    </a:p>
                    <a:p>
                      <a:pPr algn="l">
                        <a:lnSpc>
                          <a:spcPts val="2800"/>
                        </a:lnSpc>
                      </a:pPr>
                      <a:r>
                        <a:rPr lang="en-US" sz="2000" b="1" dirty="0">
                          <a:solidFill>
                            <a:srgbClr val="000000"/>
                          </a:solidFill>
                          <a:latin typeface="Arial Bold"/>
                          <a:ea typeface="Arial Bold"/>
                          <a:cs typeface="Arial Bold"/>
                          <a:sym typeface="Arial Bold"/>
                        </a:rPr>
                        <a:t>Subcode:</a:t>
                      </a:r>
                      <a:r>
                        <a:rPr lang="en-US" sz="2000" dirty="0">
                          <a:solidFill>
                            <a:srgbClr val="000000"/>
                          </a:solidFill>
                          <a:latin typeface="Arial"/>
                          <a:ea typeface="Arial"/>
                          <a:cs typeface="Arial"/>
                          <a:sym typeface="Arial"/>
                        </a:rPr>
                        <a:t> IB01.02-Quy </a:t>
                      </a:r>
                      <a:r>
                        <a:rPr lang="en-US" sz="2000" dirty="0" err="1">
                          <a:solidFill>
                            <a:srgbClr val="000000"/>
                          </a:solidFill>
                          <a:latin typeface="Arial"/>
                          <a:ea typeface="Arial"/>
                          <a:cs typeface="Arial"/>
                          <a:sym typeface="Arial"/>
                        </a:rPr>
                        <a:t>trình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Đăng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ký</a:t>
                      </a:r>
                      <a:r>
                        <a:rPr lang="en-US" sz="2000" dirty="0">
                          <a:solidFill>
                            <a:srgbClr val="000000"/>
                          </a:solidFill>
                          <a:latin typeface="Arial"/>
                          <a:ea typeface="Arial"/>
                          <a:cs typeface="Arial"/>
                          <a:sym typeface="Arial"/>
                        </a:rPr>
                        <a:t> BH</a:t>
                      </a:r>
                    </a:p>
                    <a:p>
                      <a:pPr algn="l">
                        <a:lnSpc>
                          <a:spcPts val="2800"/>
                        </a:lnSpc>
                      </a:pPr>
                      <a:r>
                        <a:rPr lang="en-US" sz="2000" b="1" dirty="0">
                          <a:solidFill>
                            <a:srgbClr val="000000"/>
                          </a:solidFill>
                          <a:latin typeface="Arial Bold"/>
                          <a:ea typeface="Arial Bold"/>
                          <a:cs typeface="Arial Bold"/>
                          <a:sym typeface="Arial Bold"/>
                        </a:rPr>
                        <a:t>Remark:</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nội</a:t>
                      </a:r>
                      <a:r>
                        <a:rPr lang="en-US" sz="2000" dirty="0">
                          <a:solidFill>
                            <a:srgbClr val="000000"/>
                          </a:solidFill>
                          <a:latin typeface="Arial"/>
                          <a:ea typeface="Arial"/>
                          <a:cs typeface="Arial"/>
                          <a:sym typeface="Arial"/>
                        </a:rPr>
                        <a:t> dung </a:t>
                      </a:r>
                      <a:r>
                        <a:rPr lang="en-US" sz="2000" dirty="0" err="1">
                          <a:solidFill>
                            <a:srgbClr val="000000"/>
                          </a:solidFill>
                          <a:latin typeface="Arial"/>
                          <a:ea typeface="Arial"/>
                          <a:cs typeface="Arial"/>
                          <a:sym typeface="Arial"/>
                        </a:rPr>
                        <a:t>hỗ</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trợ</a:t>
                      </a:r>
                      <a:endParaRPr lang="en-US" sz="2000" dirty="0">
                        <a:solidFill>
                          <a:srgbClr val="000000"/>
                        </a:solidFill>
                        <a:latin typeface="Arial"/>
                        <a:ea typeface="Arial"/>
                        <a:cs typeface="Arial"/>
                        <a:sym typeface="Arial"/>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1088065">
                <a:tc>
                  <a:txBody>
                    <a:bodyPr/>
                    <a:lstStyle/>
                    <a:p>
                      <a:pPr algn="l">
                        <a:lnSpc>
                          <a:spcPts val="2800"/>
                        </a:lnSpc>
                        <a:defRPr/>
                      </a:pPr>
                      <a:r>
                        <a:rPr lang="vi-VN" sz="2000" b="1" kern="1200" dirty="0">
                          <a:solidFill>
                            <a:srgbClr val="000000"/>
                          </a:solidFill>
                          <a:latin typeface="Arial Bold"/>
                          <a:cs typeface="Arial Bold"/>
                        </a:rPr>
                        <a:t>KH đã thanh toán phí BH nhưng hệ thống chưa ghi nhận </a:t>
                      </a:r>
                      <a:endParaRPr lang="en-US" sz="2000" b="1" kern="1200" dirty="0">
                        <a:solidFill>
                          <a:srgbClr val="000000"/>
                        </a:solidFill>
                        <a:latin typeface="Arial Bold"/>
                        <a:cs typeface="Arial Bold"/>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215901" lvl="1" indent="0" algn="l" defTabSz="914400" rtl="0" eaLnBrk="1" latinLnBrk="0" hangingPunct="1">
                        <a:lnSpc>
                          <a:spcPts val="2800"/>
                        </a:lnSpc>
                        <a:buFont typeface="Arial"/>
                        <a:buNone/>
                        <a:defRPr/>
                      </a:pPr>
                      <a:r>
                        <a:rPr lang="vi-VN" sz="2000" b="1" kern="1200" dirty="0">
                          <a:solidFill>
                            <a:srgbClr val="000000"/>
                          </a:solidFill>
                          <a:latin typeface="Arial"/>
                          <a:cs typeface="Arial"/>
                        </a:rPr>
                        <a:t>CS hướng dẫn Chủ HĐ liên hệ IDeal Life</a:t>
                      </a:r>
                      <a:r>
                        <a:rPr lang="vi-VN" sz="2000" kern="1200" dirty="0">
                          <a:solidFill>
                            <a:srgbClr val="000000"/>
                          </a:solidFill>
                          <a:latin typeface="Arial"/>
                          <a:cs typeface="Arial"/>
                        </a:rPr>
                        <a:t>:</a:t>
                      </a:r>
                    </a:p>
                    <a:p>
                      <a:pPr marL="431801" lvl="1" indent="-215900" algn="l" defTabSz="914400" rtl="0" eaLnBrk="1" latinLnBrk="0" hangingPunct="1">
                        <a:lnSpc>
                          <a:spcPts val="2800"/>
                        </a:lnSpc>
                        <a:buFont typeface="Arial"/>
                        <a:buChar char="•"/>
                        <a:defRPr/>
                      </a:pPr>
                      <a:r>
                        <a:rPr lang="vi-VN" sz="2000" b="1" kern="1200" dirty="0">
                          <a:solidFill>
                            <a:srgbClr val="000000"/>
                          </a:solidFill>
                          <a:latin typeface="Arial"/>
                          <a:cs typeface="Arial"/>
                        </a:rPr>
                        <a:t>Tổng đài: </a:t>
                      </a:r>
                      <a:r>
                        <a:rPr lang="vi-VN" sz="2000" kern="1200" dirty="0">
                          <a:solidFill>
                            <a:srgbClr val="000000"/>
                          </a:solidFill>
                          <a:latin typeface="Arial"/>
                          <a:cs typeface="Arial"/>
                        </a:rPr>
                        <a:t>19002809 (chọn phím 2)</a:t>
                      </a:r>
                    </a:p>
                    <a:p>
                      <a:pPr marL="431801" lvl="1" indent="-215900" algn="l" defTabSz="914400" rtl="0" eaLnBrk="1" latinLnBrk="0" hangingPunct="1">
                        <a:lnSpc>
                          <a:spcPts val="2800"/>
                        </a:lnSpc>
                        <a:buFont typeface="Arial"/>
                        <a:buChar char="•"/>
                        <a:defRPr/>
                      </a:pPr>
                      <a:r>
                        <a:rPr lang="vi-VN" sz="2000" b="1" kern="1200" dirty="0">
                          <a:solidFill>
                            <a:srgbClr val="000000"/>
                          </a:solidFill>
                          <a:latin typeface="Arial"/>
                          <a:cs typeface="Arial"/>
                        </a:rPr>
                        <a:t>Email: </a:t>
                      </a:r>
                      <a:r>
                        <a:rPr lang="vi-VN" sz="2000" kern="1200" dirty="0">
                          <a:solidFill>
                            <a:srgbClr val="000000"/>
                          </a:solidFill>
                          <a:latin typeface="Arial"/>
                          <a:cs typeface="Arial"/>
                        </a:rPr>
                        <a:t>hotrobaohiem@izion24.com.vn</a:t>
                      </a:r>
                    </a:p>
                    <a:p>
                      <a:pPr marL="431801" lvl="1" indent="-215900" algn="l" defTabSz="914400" rtl="0" eaLnBrk="1" latinLnBrk="0" hangingPunct="1">
                        <a:lnSpc>
                          <a:spcPts val="2800"/>
                        </a:lnSpc>
                        <a:buFont typeface="Arial"/>
                        <a:buChar char="•"/>
                        <a:defRPr/>
                      </a:pPr>
                      <a:r>
                        <a:rPr lang="vi-VN" sz="2000" b="1" kern="1200" dirty="0">
                          <a:solidFill>
                            <a:srgbClr val="000000"/>
                          </a:solidFill>
                          <a:latin typeface="Arial"/>
                          <a:cs typeface="Arial"/>
                        </a:rPr>
                        <a:t>Facebook: </a:t>
                      </a:r>
                      <a:r>
                        <a:rPr lang="vi-VN" sz="2000" kern="1200" dirty="0">
                          <a:solidFill>
                            <a:srgbClr val="000000"/>
                          </a:solidFill>
                          <a:latin typeface="Arial"/>
                          <a:cs typeface="Arial"/>
                        </a:rPr>
                        <a:t>Ứng dụng bảo hiểm IZIon24</a:t>
                      </a:r>
                    </a:p>
                    <a:p>
                      <a:pPr marL="431801" lvl="1" indent="-215900" algn="l" defTabSz="914400" rtl="0" eaLnBrk="1" latinLnBrk="0" hangingPunct="1">
                        <a:lnSpc>
                          <a:spcPts val="2800"/>
                        </a:lnSpc>
                        <a:buFont typeface="Arial"/>
                        <a:buChar char="•"/>
                        <a:defRPr/>
                      </a:pPr>
                      <a:r>
                        <a:rPr lang="vi-VN" sz="2000" b="1" kern="1200" dirty="0">
                          <a:solidFill>
                            <a:srgbClr val="000000"/>
                          </a:solidFill>
                          <a:latin typeface="Arial"/>
                          <a:cs typeface="Arial"/>
                        </a:rPr>
                        <a:t>Zalo: </a:t>
                      </a:r>
                      <a:r>
                        <a:rPr lang="vi-VN" sz="2000" kern="1200" dirty="0">
                          <a:solidFill>
                            <a:srgbClr val="000000"/>
                          </a:solidFill>
                          <a:latin typeface="Arial"/>
                          <a:cs typeface="Arial"/>
                        </a:rPr>
                        <a:t>Ứng dụng bảo hiểm IZIon24</a:t>
                      </a:r>
                    </a:p>
                    <a:p>
                      <a:pPr marL="431801" lvl="1" indent="-215900" algn="l" defTabSz="914400" rtl="0" eaLnBrk="1" latinLnBrk="0" hangingPunct="1">
                        <a:lnSpc>
                          <a:spcPts val="2800"/>
                        </a:lnSpc>
                        <a:buFont typeface="Arial"/>
                        <a:buChar char="•"/>
                        <a:defRPr/>
                      </a:pPr>
                      <a:r>
                        <a:rPr lang="vi-VN" sz="2000" b="1" kern="1200" dirty="0">
                          <a:solidFill>
                            <a:srgbClr val="000000"/>
                          </a:solidFill>
                          <a:latin typeface="Arial"/>
                          <a:cs typeface="Arial"/>
                        </a:rPr>
                        <a:t>Chat qua app: </a:t>
                      </a:r>
                      <a:r>
                        <a:rPr lang="vi-VN" sz="2000" kern="1200" dirty="0">
                          <a:solidFill>
                            <a:srgbClr val="000000"/>
                          </a:solidFill>
                          <a:latin typeface="Arial"/>
                          <a:cs typeface="Arial"/>
                        </a:rPr>
                        <a:t>IZIon24</a:t>
                      </a:r>
                    </a:p>
                    <a:p>
                      <a:pPr marL="431801" lvl="1" indent="-215900" algn="l" defTabSz="914400" rtl="0" eaLnBrk="1" latinLnBrk="0" hangingPunct="1">
                        <a:lnSpc>
                          <a:spcPts val="2800"/>
                        </a:lnSpc>
                        <a:buFont typeface="Arial"/>
                        <a:buChar char="•"/>
                        <a:defRPr/>
                      </a:pPr>
                      <a:r>
                        <a:rPr lang="vi-VN" sz="2000" b="1" kern="1200" dirty="0">
                          <a:solidFill>
                            <a:srgbClr val="000000"/>
                          </a:solidFill>
                          <a:latin typeface="Arial"/>
                          <a:cs typeface="Arial"/>
                        </a:rPr>
                        <a:t>Thời gian làm việc: </a:t>
                      </a:r>
                      <a:r>
                        <a:rPr lang="vi-VN" sz="2000" kern="1200" dirty="0">
                          <a:solidFill>
                            <a:srgbClr val="000000"/>
                          </a:solidFill>
                          <a:latin typeface="Arial"/>
                          <a:cs typeface="Arial"/>
                        </a:rPr>
                        <a:t>Từ thứ 2 – thứ 6: 8:00 – 12:00 &amp; 13:00 – 17:30, Thứ 7: 8:00 – 12:00.</a:t>
                      </a:r>
                      <a:endParaRPr lang="en-US" sz="2000" kern="1200" dirty="0">
                        <a:solidFill>
                          <a:srgbClr val="000000"/>
                        </a:solidFill>
                        <a:latin typeface="Arial"/>
                        <a:cs typeface="Arial"/>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0" algn="l" defTabSz="914400" rtl="0" eaLnBrk="1" latinLnBrk="0" hangingPunct="1">
                        <a:lnSpc>
                          <a:spcPts val="2800"/>
                        </a:lnSpc>
                        <a:defRPr/>
                      </a:pPr>
                      <a:r>
                        <a:rPr lang="en-US" sz="2000" b="1" kern="1200" dirty="0">
                          <a:solidFill>
                            <a:srgbClr val="000000"/>
                          </a:solidFill>
                          <a:latin typeface="Arial"/>
                          <a:ea typeface="+mn-ea"/>
                          <a:cs typeface="Arial"/>
                        </a:rPr>
                        <a:t>Code: </a:t>
                      </a:r>
                      <a:r>
                        <a:rPr lang="en-US" sz="2000" kern="1200" dirty="0">
                          <a:solidFill>
                            <a:srgbClr val="000000"/>
                          </a:solidFill>
                          <a:latin typeface="Arial"/>
                          <a:ea typeface="+mn-ea"/>
                          <a:cs typeface="Arial"/>
                        </a:rPr>
                        <a:t>IB01-Bảo </a:t>
                      </a:r>
                      <a:r>
                        <a:rPr lang="en-US" sz="2000" kern="1200" dirty="0" err="1">
                          <a:solidFill>
                            <a:srgbClr val="000000"/>
                          </a:solidFill>
                          <a:latin typeface="Arial"/>
                          <a:ea typeface="+mn-ea"/>
                          <a:cs typeface="Arial"/>
                        </a:rPr>
                        <a:t>hiểm</a:t>
                      </a:r>
                      <a:r>
                        <a:rPr lang="en-US" sz="2000" kern="1200" dirty="0">
                          <a:solidFill>
                            <a:srgbClr val="000000"/>
                          </a:solidFill>
                          <a:latin typeface="Arial"/>
                          <a:ea typeface="+mn-ea"/>
                          <a:cs typeface="Arial"/>
                        </a:rPr>
                        <a:t> Banca</a:t>
                      </a:r>
                    </a:p>
                    <a:p>
                      <a:pPr marL="0" algn="l" defTabSz="914400" rtl="0" eaLnBrk="1" latinLnBrk="0" hangingPunct="1">
                        <a:lnSpc>
                          <a:spcPts val="2800"/>
                        </a:lnSpc>
                        <a:defRPr/>
                      </a:pPr>
                      <a:r>
                        <a:rPr lang="en-US" sz="2000" b="1" kern="1200" dirty="0">
                          <a:solidFill>
                            <a:srgbClr val="000000"/>
                          </a:solidFill>
                          <a:latin typeface="Arial"/>
                          <a:ea typeface="+mn-ea"/>
                          <a:cs typeface="Arial"/>
                        </a:rPr>
                        <a:t>Subcode: </a:t>
                      </a:r>
                      <a:r>
                        <a:rPr lang="en-US" sz="2000" kern="1200" dirty="0">
                          <a:solidFill>
                            <a:srgbClr val="000000"/>
                          </a:solidFill>
                          <a:latin typeface="Arial"/>
                          <a:ea typeface="+mn-ea"/>
                          <a:cs typeface="Arial"/>
                        </a:rPr>
                        <a:t>IB01.02-Quy </a:t>
                      </a:r>
                      <a:r>
                        <a:rPr lang="en-US" sz="2000" kern="1200" dirty="0" err="1">
                          <a:solidFill>
                            <a:srgbClr val="000000"/>
                          </a:solidFill>
                          <a:latin typeface="Arial"/>
                          <a:ea typeface="+mn-ea"/>
                          <a:cs typeface="Arial"/>
                        </a:rPr>
                        <a:t>trình</a:t>
                      </a:r>
                      <a:r>
                        <a:rPr lang="en-US" sz="2000" kern="1200" dirty="0">
                          <a:solidFill>
                            <a:srgbClr val="000000"/>
                          </a:solidFill>
                          <a:latin typeface="Arial"/>
                          <a:ea typeface="+mn-ea"/>
                          <a:cs typeface="Arial"/>
                        </a:rPr>
                        <a:t> </a:t>
                      </a:r>
                      <a:r>
                        <a:rPr lang="en-US" sz="2000" kern="1200" dirty="0" err="1">
                          <a:solidFill>
                            <a:srgbClr val="000000"/>
                          </a:solidFill>
                          <a:latin typeface="Arial"/>
                          <a:ea typeface="+mn-ea"/>
                          <a:cs typeface="Arial"/>
                        </a:rPr>
                        <a:t>Đăng</a:t>
                      </a:r>
                      <a:r>
                        <a:rPr lang="en-US" sz="2000" kern="1200" dirty="0">
                          <a:solidFill>
                            <a:srgbClr val="000000"/>
                          </a:solidFill>
                          <a:latin typeface="Arial"/>
                          <a:ea typeface="+mn-ea"/>
                          <a:cs typeface="Arial"/>
                        </a:rPr>
                        <a:t> </a:t>
                      </a:r>
                      <a:r>
                        <a:rPr lang="en-US" sz="2000" kern="1200" dirty="0" err="1">
                          <a:solidFill>
                            <a:srgbClr val="000000"/>
                          </a:solidFill>
                          <a:latin typeface="Arial"/>
                          <a:ea typeface="+mn-ea"/>
                          <a:cs typeface="Arial"/>
                        </a:rPr>
                        <a:t>ký</a:t>
                      </a:r>
                      <a:r>
                        <a:rPr lang="en-US" sz="2000" kern="1200" dirty="0">
                          <a:solidFill>
                            <a:srgbClr val="000000"/>
                          </a:solidFill>
                          <a:latin typeface="Arial"/>
                          <a:ea typeface="+mn-ea"/>
                          <a:cs typeface="Arial"/>
                        </a:rPr>
                        <a:t> BH</a:t>
                      </a:r>
                    </a:p>
                    <a:p>
                      <a:pPr marL="0" algn="l" defTabSz="914400" rtl="0" eaLnBrk="1" latinLnBrk="0" hangingPunct="1">
                        <a:lnSpc>
                          <a:spcPts val="2800"/>
                        </a:lnSpc>
                        <a:defRPr/>
                      </a:pPr>
                      <a:r>
                        <a:rPr lang="en-US" sz="2000" b="1" kern="1200" dirty="0">
                          <a:solidFill>
                            <a:srgbClr val="000000"/>
                          </a:solidFill>
                          <a:latin typeface="Arial"/>
                          <a:ea typeface="+mn-ea"/>
                          <a:cs typeface="Arial"/>
                        </a:rPr>
                        <a:t>Remark: </a:t>
                      </a:r>
                      <a:r>
                        <a:rPr lang="en-US" sz="2000" kern="1200" dirty="0" err="1">
                          <a:solidFill>
                            <a:srgbClr val="000000"/>
                          </a:solidFill>
                          <a:latin typeface="Arial"/>
                          <a:ea typeface="+mn-ea"/>
                          <a:cs typeface="Arial"/>
                        </a:rPr>
                        <a:t>nội</a:t>
                      </a:r>
                      <a:r>
                        <a:rPr lang="en-US" sz="2000" kern="1200" dirty="0">
                          <a:solidFill>
                            <a:srgbClr val="000000"/>
                          </a:solidFill>
                          <a:latin typeface="Arial"/>
                          <a:ea typeface="+mn-ea"/>
                          <a:cs typeface="Arial"/>
                        </a:rPr>
                        <a:t> dung </a:t>
                      </a:r>
                      <a:r>
                        <a:rPr lang="en-US" sz="2000" kern="1200" dirty="0" err="1">
                          <a:solidFill>
                            <a:srgbClr val="000000"/>
                          </a:solidFill>
                          <a:latin typeface="Arial"/>
                          <a:ea typeface="+mn-ea"/>
                          <a:cs typeface="Arial"/>
                        </a:rPr>
                        <a:t>hỗ</a:t>
                      </a:r>
                      <a:r>
                        <a:rPr lang="en-US" sz="2000" kern="1200" dirty="0">
                          <a:solidFill>
                            <a:srgbClr val="000000"/>
                          </a:solidFill>
                          <a:latin typeface="Arial"/>
                          <a:ea typeface="+mn-ea"/>
                          <a:cs typeface="Arial"/>
                        </a:rPr>
                        <a:t> </a:t>
                      </a:r>
                      <a:r>
                        <a:rPr lang="en-US" sz="2000" kern="1200" dirty="0" err="1">
                          <a:solidFill>
                            <a:srgbClr val="000000"/>
                          </a:solidFill>
                          <a:latin typeface="Arial"/>
                          <a:ea typeface="+mn-ea"/>
                          <a:cs typeface="Arial"/>
                        </a:rPr>
                        <a:t>trợ</a:t>
                      </a:r>
                      <a:endParaRPr lang="en-US" sz="2000" kern="1200" dirty="0">
                        <a:solidFill>
                          <a:srgbClr val="000000"/>
                        </a:solidFill>
                        <a:latin typeface="Arial"/>
                        <a:ea typeface="+mn-ea"/>
                        <a:cs typeface="Arial"/>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332382939"/>
                  </a:ext>
                </a:extLst>
              </a:tr>
              <a:tr h="824859">
                <a:tc>
                  <a:txBody>
                    <a:bodyPr/>
                    <a:lstStyle/>
                    <a:p>
                      <a:pPr algn="l">
                        <a:lnSpc>
                          <a:spcPts val="2800"/>
                        </a:lnSpc>
                        <a:defRPr/>
                      </a:pPr>
                      <a:r>
                        <a:rPr lang="en-US" sz="2000" b="1" dirty="0" err="1">
                          <a:solidFill>
                            <a:srgbClr val="000000"/>
                          </a:solidFill>
                          <a:latin typeface="Arial Bold"/>
                          <a:ea typeface="Arial Bold"/>
                          <a:cs typeface="Arial Bold"/>
                          <a:sym typeface="Arial Bold"/>
                        </a:rPr>
                        <a:t>Thông</a:t>
                      </a:r>
                      <a:r>
                        <a:rPr lang="en-US" sz="2000" b="1" dirty="0">
                          <a:solidFill>
                            <a:srgbClr val="000000"/>
                          </a:solidFill>
                          <a:latin typeface="Arial Bold"/>
                          <a:ea typeface="Arial Bold"/>
                          <a:cs typeface="Arial Bold"/>
                          <a:sym typeface="Arial Bold"/>
                        </a:rPr>
                        <a:t> tin </a:t>
                      </a:r>
                      <a:r>
                        <a:rPr lang="en-US" sz="2000" b="1" dirty="0" err="1">
                          <a:solidFill>
                            <a:srgbClr val="000000"/>
                          </a:solidFill>
                          <a:latin typeface="Arial Bold"/>
                          <a:ea typeface="Arial Bold"/>
                          <a:cs typeface="Arial Bold"/>
                          <a:sym typeface="Arial Bold"/>
                        </a:rPr>
                        <a:t>nhân</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viên</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tư</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vấn</a:t>
                      </a:r>
                      <a:endParaRPr lang="en-US" sz="1100" dirty="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gridSpan="2">
                  <a:txBody>
                    <a:bodyPr/>
                    <a:lstStyle/>
                    <a:p>
                      <a:pPr algn="l">
                        <a:lnSpc>
                          <a:spcPts val="2800"/>
                        </a:lnSpc>
                        <a:defRPr/>
                      </a:pPr>
                      <a:r>
                        <a:rPr lang="en-US" sz="2000" dirty="0" err="1">
                          <a:solidFill>
                            <a:srgbClr val="000000"/>
                          </a:solidFill>
                          <a:latin typeface="Arial"/>
                          <a:ea typeface="Arial"/>
                          <a:cs typeface="Arial"/>
                          <a:sym typeface="Arial"/>
                        </a:rPr>
                        <a:t>Hỗ</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trợ</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theo</a:t>
                      </a:r>
                      <a:r>
                        <a:rPr lang="en-US" sz="2000" dirty="0">
                          <a:solidFill>
                            <a:srgbClr val="000000"/>
                          </a:solidFill>
                          <a:latin typeface="Arial"/>
                          <a:ea typeface="Arial"/>
                          <a:cs typeface="Arial"/>
                          <a:sym typeface="Arial"/>
                        </a:rPr>
                        <a:t> </a:t>
                      </a:r>
                      <a:r>
                        <a:rPr lang="en-US" sz="2000" b="1" i="1" u="sng" dirty="0" err="1">
                          <a:solidFill>
                            <a:srgbClr val="65B444"/>
                          </a:solidFill>
                          <a:latin typeface="Arial Bold Italics"/>
                          <a:ea typeface="Arial Bold Italics"/>
                          <a:cs typeface="Arial Bold Italics"/>
                          <a:sym typeface="Arial Bold Italics"/>
                        </a:rPr>
                        <a:t>Phản</a:t>
                      </a:r>
                      <a:r>
                        <a:rPr lang="en-US" sz="2000" b="1" i="1" u="sng" dirty="0">
                          <a:solidFill>
                            <a:srgbClr val="65B444"/>
                          </a:solidFill>
                          <a:latin typeface="Arial Bold Italics"/>
                          <a:ea typeface="Arial Bold Italics"/>
                          <a:cs typeface="Arial Bold Italics"/>
                          <a:sym typeface="Arial Bold Italics"/>
                        </a:rPr>
                        <a:t> </a:t>
                      </a:r>
                      <a:r>
                        <a:rPr lang="en-US" sz="2000" b="1" i="1" u="sng" dirty="0" err="1">
                          <a:solidFill>
                            <a:srgbClr val="65B444"/>
                          </a:solidFill>
                          <a:latin typeface="Arial Bold Italics"/>
                          <a:ea typeface="Arial Bold Italics"/>
                          <a:cs typeface="Arial Bold Italics"/>
                          <a:sym typeface="Arial Bold Italics"/>
                        </a:rPr>
                        <a:t>ánh</a:t>
                      </a:r>
                      <a:r>
                        <a:rPr lang="en-US" sz="2000" b="1" i="1" u="sng" dirty="0">
                          <a:solidFill>
                            <a:srgbClr val="65B444"/>
                          </a:solidFill>
                          <a:latin typeface="Arial Bold Italics"/>
                          <a:ea typeface="Arial Bold Italics"/>
                          <a:cs typeface="Arial Bold Italics"/>
                          <a:sym typeface="Arial Bold Italics"/>
                        </a:rPr>
                        <a:t> </a:t>
                      </a:r>
                      <a:r>
                        <a:rPr lang="en-US" sz="2000" b="1" i="1" u="sng" dirty="0" err="1">
                          <a:solidFill>
                            <a:srgbClr val="65B444"/>
                          </a:solidFill>
                          <a:latin typeface="Arial Bold Italics"/>
                          <a:ea typeface="Arial Bold Italics"/>
                          <a:cs typeface="Arial Bold Italics"/>
                          <a:sym typeface="Arial Bold Italics"/>
                        </a:rPr>
                        <a:t>thông</a:t>
                      </a:r>
                      <a:r>
                        <a:rPr lang="en-US" sz="2000" b="1" i="1" u="sng" dirty="0">
                          <a:solidFill>
                            <a:srgbClr val="65B444"/>
                          </a:solidFill>
                          <a:latin typeface="Arial Bold Italics"/>
                          <a:ea typeface="Arial Bold Italics"/>
                          <a:cs typeface="Arial Bold Italics"/>
                          <a:sym typeface="Arial Bold Italics"/>
                        </a:rPr>
                        <a:t> tin </a:t>
                      </a:r>
                      <a:r>
                        <a:rPr lang="en-US" sz="2000" b="1" i="1" u="sng" dirty="0" err="1">
                          <a:solidFill>
                            <a:srgbClr val="65B444"/>
                          </a:solidFill>
                          <a:latin typeface="Arial Bold Italics"/>
                          <a:ea typeface="Arial Bold Italics"/>
                          <a:cs typeface="Arial Bold Italics"/>
                          <a:sym typeface="Arial Bold Italics"/>
                        </a:rPr>
                        <a:t>nhân</a:t>
                      </a:r>
                      <a:r>
                        <a:rPr lang="en-US" sz="2000" b="1" i="1" u="sng" dirty="0">
                          <a:solidFill>
                            <a:srgbClr val="65B444"/>
                          </a:solidFill>
                          <a:latin typeface="Arial Bold Italics"/>
                          <a:ea typeface="Arial Bold Italics"/>
                          <a:cs typeface="Arial Bold Italics"/>
                          <a:sym typeface="Arial Bold Italics"/>
                        </a:rPr>
                        <a:t> </a:t>
                      </a:r>
                      <a:r>
                        <a:rPr lang="en-US" sz="2000" b="1" i="1" u="sng" dirty="0" err="1">
                          <a:solidFill>
                            <a:srgbClr val="65B444"/>
                          </a:solidFill>
                          <a:latin typeface="Arial Bold Italics"/>
                          <a:ea typeface="Arial Bold Italics"/>
                          <a:cs typeface="Arial Bold Italics"/>
                          <a:sym typeface="Arial Bold Italics"/>
                        </a:rPr>
                        <a:t>viên</a:t>
                      </a:r>
                      <a:r>
                        <a:rPr lang="en-US" sz="2000" b="1" i="1" u="sng" dirty="0">
                          <a:solidFill>
                            <a:srgbClr val="65B444"/>
                          </a:solidFill>
                          <a:latin typeface="Arial Bold Italics"/>
                          <a:ea typeface="Arial Bold Italics"/>
                          <a:cs typeface="Arial Bold Italics"/>
                          <a:sym typeface="Arial Bold Italics"/>
                        </a:rPr>
                        <a:t> </a:t>
                      </a:r>
                      <a:r>
                        <a:rPr lang="en-US" sz="2000" b="1" i="1" u="sng" dirty="0" err="1">
                          <a:solidFill>
                            <a:srgbClr val="65B444"/>
                          </a:solidFill>
                          <a:latin typeface="Arial Bold Italics"/>
                          <a:ea typeface="Arial Bold Italics"/>
                          <a:cs typeface="Arial Bold Italics"/>
                          <a:sym typeface="Arial Bold Italics"/>
                        </a:rPr>
                        <a:t>tư</a:t>
                      </a:r>
                      <a:r>
                        <a:rPr lang="en-US" sz="2000" b="1" i="1" u="sng" dirty="0">
                          <a:solidFill>
                            <a:srgbClr val="65B444"/>
                          </a:solidFill>
                          <a:latin typeface="Arial Bold Italics"/>
                          <a:ea typeface="Arial Bold Italics"/>
                          <a:cs typeface="Arial Bold Italics"/>
                          <a:sym typeface="Arial Bold Italics"/>
                        </a:rPr>
                        <a:t> </a:t>
                      </a:r>
                      <a:r>
                        <a:rPr lang="en-US" sz="2000" b="1" i="1" u="sng" dirty="0" err="1">
                          <a:solidFill>
                            <a:srgbClr val="65B444"/>
                          </a:solidFill>
                          <a:latin typeface="Arial Bold Italics"/>
                          <a:ea typeface="Arial Bold Italics"/>
                          <a:cs typeface="Arial Bold Italics"/>
                          <a:sym typeface="Arial Bold Italics"/>
                        </a:rPr>
                        <a:t>vấn</a:t>
                      </a:r>
                      <a:endParaRPr lang="en-US" sz="1100" dirty="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hMerge="1">
                  <a:txBody>
                    <a:bodyPr/>
                    <a:lstStyle/>
                    <a:p>
                      <a:pPr algn="l">
                        <a:lnSpc>
                          <a:spcPts val="2800"/>
                        </a:lnSpc>
                        <a:defRPr/>
                      </a:pPr>
                      <a:endParaRPr lang="en-US" sz="1100" dirty="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r h="1091170">
                <a:tc>
                  <a:txBody>
                    <a:bodyPr/>
                    <a:lstStyle/>
                    <a:p>
                      <a:pPr algn="l">
                        <a:lnSpc>
                          <a:spcPts val="2800"/>
                        </a:lnSpc>
                        <a:defRPr/>
                      </a:pPr>
                      <a:r>
                        <a:rPr lang="en-US" sz="2000" b="1">
                          <a:solidFill>
                            <a:srgbClr val="000000"/>
                          </a:solidFill>
                          <a:latin typeface="Arial Bold"/>
                          <a:ea typeface="Arial Bold"/>
                          <a:cs typeface="Arial Bold"/>
                          <a:sym typeface="Arial Bold"/>
                        </a:rPr>
                        <a:t>Chênh lệch phí BH/ Chiếm dụng phí BH</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gridSpan="2">
                  <a:txBody>
                    <a:bodyPr/>
                    <a:lstStyle/>
                    <a:p>
                      <a:pPr algn="l">
                        <a:lnSpc>
                          <a:spcPts val="2800"/>
                        </a:lnSpc>
                        <a:defRPr/>
                      </a:pPr>
                      <a:r>
                        <a:rPr lang="en-US" sz="2000" dirty="0" err="1">
                          <a:solidFill>
                            <a:srgbClr val="000000"/>
                          </a:solidFill>
                          <a:latin typeface="Arial"/>
                          <a:ea typeface="Arial"/>
                          <a:cs typeface="Arial"/>
                          <a:sym typeface="Arial"/>
                        </a:rPr>
                        <a:t>Hỗ</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trợ</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theo</a:t>
                      </a:r>
                      <a:r>
                        <a:rPr lang="en-US" sz="2000" dirty="0">
                          <a:solidFill>
                            <a:srgbClr val="000000"/>
                          </a:solidFill>
                          <a:latin typeface="Arial"/>
                          <a:ea typeface="Arial"/>
                          <a:cs typeface="Arial"/>
                          <a:sym typeface="Arial"/>
                        </a:rPr>
                        <a:t> </a:t>
                      </a:r>
                      <a:r>
                        <a:rPr lang="en-US" sz="2000" b="1" i="1" u="sng" dirty="0" err="1">
                          <a:solidFill>
                            <a:srgbClr val="65B444"/>
                          </a:solidFill>
                          <a:latin typeface="Arial Bold Italics"/>
                          <a:ea typeface="Arial Bold Italics"/>
                          <a:cs typeface="Arial Bold Italics"/>
                          <a:sym typeface="Arial Bold Italics"/>
                        </a:rPr>
                        <a:t>Hành</a:t>
                      </a:r>
                      <a:r>
                        <a:rPr lang="en-US" sz="2000" b="1" i="1" u="sng" dirty="0">
                          <a:solidFill>
                            <a:srgbClr val="65B444"/>
                          </a:solidFill>
                          <a:latin typeface="Arial Bold Italics"/>
                          <a:ea typeface="Arial Bold Italics"/>
                          <a:cs typeface="Arial Bold Italics"/>
                          <a:sym typeface="Arial Bold Italics"/>
                        </a:rPr>
                        <a:t> vi </a:t>
                      </a:r>
                      <a:r>
                        <a:rPr lang="en-US" sz="2000" b="1" i="1" u="sng" dirty="0" err="1">
                          <a:solidFill>
                            <a:srgbClr val="65B444"/>
                          </a:solidFill>
                          <a:latin typeface="Arial Bold Italics"/>
                          <a:ea typeface="Arial Bold Italics"/>
                          <a:cs typeface="Arial Bold Italics"/>
                          <a:sym typeface="Arial Bold Italics"/>
                        </a:rPr>
                        <a:t>chiếm</a:t>
                      </a:r>
                      <a:r>
                        <a:rPr lang="en-US" sz="2000" b="1" i="1" u="sng" dirty="0">
                          <a:solidFill>
                            <a:srgbClr val="65B444"/>
                          </a:solidFill>
                          <a:latin typeface="Arial Bold Italics"/>
                          <a:ea typeface="Arial Bold Italics"/>
                          <a:cs typeface="Arial Bold Italics"/>
                          <a:sym typeface="Arial Bold Italics"/>
                        </a:rPr>
                        <a:t> </a:t>
                      </a:r>
                      <a:r>
                        <a:rPr lang="en-US" sz="2000" b="1" i="1" u="sng" dirty="0" err="1">
                          <a:solidFill>
                            <a:srgbClr val="65B444"/>
                          </a:solidFill>
                          <a:latin typeface="Arial Bold Italics"/>
                          <a:ea typeface="Arial Bold Italics"/>
                          <a:cs typeface="Arial Bold Italics"/>
                          <a:sym typeface="Arial Bold Italics"/>
                        </a:rPr>
                        <a:t>dụng</a:t>
                      </a:r>
                      <a:endParaRPr lang="en-US" sz="1100" dirty="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hMerge="1">
                  <a:txBody>
                    <a:bodyPr/>
                    <a:lstStyle/>
                    <a:p>
                      <a:pPr algn="l">
                        <a:lnSpc>
                          <a:spcPts val="2800"/>
                        </a:lnSpc>
                        <a:defRPr/>
                      </a:pPr>
                      <a:endParaRPr lang="en-US" sz="1100" dirty="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3"/>
                  </a:ext>
                </a:extLst>
              </a:tr>
            </a:tbl>
          </a:graphicData>
        </a:graphic>
      </p:graphicFrame>
      <p:grpSp>
        <p:nvGrpSpPr>
          <p:cNvPr id="3" name="Group 3"/>
          <p:cNvGrpSpPr/>
          <p:nvPr/>
        </p:nvGrpSpPr>
        <p:grpSpPr>
          <a:xfrm>
            <a:off x="15691018" y="9790919"/>
            <a:ext cx="2421922" cy="346996"/>
            <a:chOff x="0" y="0"/>
            <a:chExt cx="3229229" cy="462661"/>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3"/>
              <a:stretch>
                <a:fillRect l="-145" r="-145"/>
              </a:stretch>
            </a:blipFill>
          </p:spPr>
        </p:sp>
      </p:grpSp>
      <p:sp>
        <p:nvSpPr>
          <p:cNvPr id="5" name="Freeform 5"/>
          <p:cNvSpPr/>
          <p:nvPr/>
        </p:nvSpPr>
        <p:spPr>
          <a:xfrm>
            <a:off x="5859" y="-328298"/>
            <a:ext cx="18282142" cy="1306449"/>
          </a:xfrm>
          <a:custGeom>
            <a:avLst/>
            <a:gdLst/>
            <a:ahLst/>
            <a:cxnLst/>
            <a:rect l="l" t="t" r="r" b="b"/>
            <a:pathLst>
              <a:path w="20000147" h="1306449">
                <a:moveTo>
                  <a:pt x="0" y="0"/>
                </a:moveTo>
                <a:lnTo>
                  <a:pt x="20000147" y="0"/>
                </a:lnTo>
                <a:lnTo>
                  <a:pt x="20000147" y="1306449"/>
                </a:lnTo>
                <a:lnTo>
                  <a:pt x="0" y="1306449"/>
                </a:lnTo>
                <a:lnTo>
                  <a:pt x="0" y="0"/>
                </a:lnTo>
                <a:close/>
              </a:path>
            </a:pathLst>
          </a:custGeom>
          <a:blipFill>
            <a:blip r:embed="rId4">
              <a:extLst>
                <a:ext uri="{96DAC541-7B7A-43D3-8B79-37D633B846F1}">
                  <asvg:svgBlip xmlns:asvg="http://schemas.microsoft.com/office/drawing/2016/SVG/main" r:embed="rId5"/>
                </a:ext>
              </a:extLst>
            </a:blip>
            <a:stretch>
              <a:fillRect t="-300" b="-300"/>
            </a:stretch>
          </a:blipFill>
        </p:spPr>
      </p:sp>
      <p:sp>
        <p:nvSpPr>
          <p:cNvPr id="6" name="TextBox 6"/>
          <p:cNvSpPr txBox="1"/>
          <p:nvPr/>
        </p:nvSpPr>
        <p:spPr>
          <a:xfrm>
            <a:off x="4092401" y="88278"/>
            <a:ext cx="10103197" cy="663530"/>
          </a:xfrm>
          <a:prstGeom prst="rect">
            <a:avLst/>
          </a:prstGeom>
        </p:spPr>
        <p:txBody>
          <a:bodyPr lIns="0" tIns="0" rIns="0" bIns="0" rtlCol="0" anchor="t">
            <a:spAutoFit/>
          </a:bodyPr>
          <a:lstStyle/>
          <a:p>
            <a:pPr algn="ctr">
              <a:lnSpc>
                <a:spcPts val="5200"/>
              </a:lnSpc>
            </a:pPr>
            <a:r>
              <a:rPr lang="en-US" sz="3999" b="1">
                <a:solidFill>
                  <a:srgbClr val="000000"/>
                </a:solidFill>
                <a:latin typeface="Arial Bold"/>
                <a:ea typeface="Arial Bold"/>
                <a:cs typeface="Arial Bold"/>
                <a:sym typeface="Arial Bold"/>
              </a:rPr>
              <a:t>PHẢN ÁNH/ KHIẾU NẠI LIÊN QUAN HĐBH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513</TotalTime>
  <Words>4396</Words>
  <Application>Microsoft Office PowerPoint</Application>
  <PresentationFormat>Custom</PresentationFormat>
  <Paragraphs>413</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 Bold Italics</vt:lpstr>
      <vt:lpstr>Arial Bold</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BẢO HIỂM</dc:title>
  <dc:creator>Thanh Phung Doan</dc:creator>
  <cp:lastModifiedBy>Cuong Nguyen Thi Bien</cp:lastModifiedBy>
  <cp:revision>22</cp:revision>
  <dcterms:created xsi:type="dcterms:W3CDTF">2006-08-16T00:00:00Z</dcterms:created>
  <dcterms:modified xsi:type="dcterms:W3CDTF">2026-02-25T10:23:38Z</dcterms:modified>
  <dc:identifier>DAHBGhHCQQU</dc:identifier>
</cp:coreProperties>
</file>