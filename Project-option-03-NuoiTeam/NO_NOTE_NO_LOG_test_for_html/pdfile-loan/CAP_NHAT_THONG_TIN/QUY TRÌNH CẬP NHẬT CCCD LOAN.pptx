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rial" panose="020B0604020202020204" pitchFamily="34" charset="0"/>
      <p:regular r:id="rId19"/>
    </p:embeddedFont>
    <p:embeddedFont>
      <p:font typeface="Arial Bold" panose="020B0704020202020204" pitchFamily="34" charset="0"/>
      <p:regular r:id="rId20"/>
      <p:bold r:id="rId21"/>
    </p:embeddedFont>
    <p:embeddedFont>
      <p:font typeface="Arial Bold Italics" panose="020B0604020202020204" charset="0"/>
      <p:regular r:id="rId22"/>
    </p:embeddedFont>
    <p:embeddedFont>
      <p:font typeface="Calibri" panose="020F0502020204030204"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R0pCd7B5DsDf0laOiLdqgw==" hashData="T+2KqZ78ObQYOCFW+VxjkhfSvE9LIPpIFlR/vEbIYN9DTWK2IjvENtsKPvwAW4MflxrlZuGDT8sKJO0yHsyKDA=="/>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13_TRA_CUU_TU_DONG/FEONLINE2.0/capnhatCCCD.pdf" TargetMode="Externa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913120"/>
            <a:chOff x="0" y="0"/>
            <a:chExt cx="24384000" cy="7884160"/>
          </a:xfrm>
        </p:grpSpPr>
        <p:sp>
          <p:nvSpPr>
            <p:cNvPr id="3" name="Freeform 3"/>
            <p:cNvSpPr/>
            <p:nvPr/>
          </p:nvSpPr>
          <p:spPr>
            <a:xfrm>
              <a:off x="0" y="0"/>
              <a:ext cx="24384000" cy="7884160"/>
            </a:xfrm>
            <a:custGeom>
              <a:avLst/>
              <a:gdLst/>
              <a:ahLst/>
              <a:cxnLst/>
              <a:rect l="l" t="t" r="r" b="b"/>
              <a:pathLst>
                <a:path w="24384000" h="7884160">
                  <a:moveTo>
                    <a:pt x="0" y="0"/>
                  </a:moveTo>
                  <a:lnTo>
                    <a:pt x="24384000" y="0"/>
                  </a:lnTo>
                  <a:lnTo>
                    <a:pt x="24384000" y="7884160"/>
                  </a:lnTo>
                  <a:lnTo>
                    <a:pt x="0" y="7884160"/>
                  </a:lnTo>
                  <a:lnTo>
                    <a:pt x="0" y="0"/>
                  </a:lnTo>
                  <a:close/>
                </a:path>
              </a:pathLst>
            </a:custGeom>
            <a:blipFill>
              <a:blip r:embed="rId2"/>
              <a:stretch>
                <a:fillRect t="-49" b="-49"/>
              </a:stretch>
            </a:blipFill>
          </p:spPr>
        </p:sp>
      </p:grpSp>
      <p:sp>
        <p:nvSpPr>
          <p:cNvPr id="4" name="Freeform 4"/>
          <p:cNvSpPr/>
          <p:nvPr/>
        </p:nvSpPr>
        <p:spPr>
          <a:xfrm>
            <a:off x="0" y="6694294"/>
            <a:ext cx="18288000" cy="1885045"/>
          </a:xfrm>
          <a:custGeom>
            <a:avLst/>
            <a:gdLst/>
            <a:ahLst/>
            <a:cxnLst/>
            <a:rect l="l" t="t" r="r" b="b"/>
            <a:pathLst>
              <a:path w="18288000" h="1885045">
                <a:moveTo>
                  <a:pt x="0" y="0"/>
                </a:moveTo>
                <a:lnTo>
                  <a:pt x="18288000" y="0"/>
                </a:lnTo>
                <a:lnTo>
                  <a:pt x="18288000" y="1885045"/>
                </a:lnTo>
                <a:lnTo>
                  <a:pt x="0" y="18850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149316" y="7018430"/>
            <a:ext cx="14166447" cy="1131380"/>
          </a:xfrm>
          <a:prstGeom prst="rect">
            <a:avLst/>
          </a:prstGeom>
        </p:spPr>
        <p:txBody>
          <a:bodyPr lIns="0" tIns="0" rIns="0" bIns="0" rtlCol="0" anchor="t">
            <a:spAutoFit/>
          </a:bodyPr>
          <a:lstStyle/>
          <a:p>
            <a:pPr algn="ctr">
              <a:lnSpc>
                <a:spcPts val="8118"/>
              </a:lnSpc>
            </a:pPr>
            <a:r>
              <a:rPr lang="en-US" sz="5798" b="1">
                <a:solidFill>
                  <a:srgbClr val="FFFFFF"/>
                </a:solidFill>
                <a:latin typeface="Arial Bold"/>
                <a:ea typeface="Arial Bold"/>
                <a:cs typeface="Arial Bold"/>
                <a:sym typeface="Arial Bold"/>
              </a:rPr>
              <a:t>CẬP NHẬT CCCD - HĐ VAY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852543413"/>
              </p:ext>
            </p:extLst>
          </p:nvPr>
        </p:nvGraphicFramePr>
        <p:xfrm>
          <a:off x="1035050" y="2337859"/>
          <a:ext cx="16217900" cy="3875963"/>
        </p:xfrm>
        <a:graphic>
          <a:graphicData uri="http://schemas.openxmlformats.org/drawingml/2006/table">
            <a:tbl>
              <a:tblPr/>
              <a:tblGrid>
                <a:gridCol w="9667766">
                  <a:extLst>
                    <a:ext uri="{9D8B030D-6E8A-4147-A177-3AD203B41FA5}">
                      <a16:colId xmlns:a16="http://schemas.microsoft.com/office/drawing/2014/main" val="20000"/>
                    </a:ext>
                  </a:extLst>
                </a:gridCol>
                <a:gridCol w="6550134">
                  <a:extLst>
                    <a:ext uri="{9D8B030D-6E8A-4147-A177-3AD203B41FA5}">
                      <a16:colId xmlns:a16="http://schemas.microsoft.com/office/drawing/2014/main" val="20001"/>
                    </a:ext>
                  </a:extLst>
                </a:gridCol>
              </a:tblGrid>
              <a:tr h="871631">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004332">
                <a:tc>
                  <a:txBody>
                    <a:bodyPr/>
                    <a:lstStyle/>
                    <a:p>
                      <a:pPr marL="241300" lvl="1" indent="-120650" algn="l">
                        <a:lnSpc>
                          <a:spcPts val="3000"/>
                        </a:lnSpc>
                        <a:buFont typeface="Arial"/>
                        <a:buChar char="•"/>
                        <a:defRPr/>
                      </a:pP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tải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CCCD trên FEOL 2.0 (</a:t>
                      </a:r>
                      <a:r>
                        <a:rPr lang="en-US" sz="2000" b="1" i="1" u="sng" kern="1200" dirty="0" err="1">
                          <a:solidFill>
                            <a:srgbClr val="4DA745"/>
                          </a:solidFill>
                          <a:latin typeface="Arial Bold Italics"/>
                          <a:ea typeface="Arial Bold"/>
                          <a:cs typeface="Arial Bold Italics"/>
                          <a:sym typeface="Arial Bold"/>
                          <a:hlinkClick r:id="rId2" action="ppaction://hlinkfile">
                            <a:extLst>
                              <a:ext uri="{A12FA001-AC4F-418D-AE19-62706E023703}">
                                <ahyp:hlinkClr xmlns:ahyp="http://schemas.microsoft.com/office/drawing/2018/hyperlinkcolor" val="tx"/>
                              </a:ext>
                            </a:extLst>
                          </a:hlinkClick>
                        </a:rPr>
                        <a:t>xem</a:t>
                      </a:r>
                      <a:r>
                        <a:rPr lang="en-US" sz="2000" b="1" i="1" u="sng" kern="1200" dirty="0">
                          <a:solidFill>
                            <a:srgbClr val="4DA745"/>
                          </a:solidFill>
                          <a:latin typeface="Arial Bold Italics"/>
                          <a:ea typeface="Arial Bold"/>
                          <a:cs typeface="Arial Bold Italics"/>
                          <a:sym typeface="Arial Bold"/>
                          <a:hlinkClick r:id="rId2" action="ppaction://hlinkfile">
                            <a:extLst>
                              <a:ext uri="{A12FA001-AC4F-418D-AE19-62706E023703}">
                                <ahyp:hlinkClr xmlns:ahyp="http://schemas.microsoft.com/office/drawing/2018/hyperlinkcolor" val="tx"/>
                              </a:ext>
                            </a:extLst>
                          </a:hlinkClick>
                        </a:rPr>
                        <a:t> chi </a:t>
                      </a:r>
                      <a:r>
                        <a:rPr lang="en-US" sz="2000" b="1" i="1" u="sng" kern="1200" dirty="0" err="1">
                          <a:solidFill>
                            <a:srgbClr val="4DA745"/>
                          </a:solidFill>
                          <a:latin typeface="Arial Bold Italics"/>
                          <a:ea typeface="Arial Bold"/>
                          <a:cs typeface="Arial Bold Italics"/>
                          <a:sym typeface="Arial Bold"/>
                          <a:hlinkClick r:id="rId2" action="ppaction://hlinkfile">
                            <a:extLst>
                              <a:ext uri="{A12FA001-AC4F-418D-AE19-62706E023703}">
                                <ahyp:hlinkClr xmlns:ahyp="http://schemas.microsoft.com/office/drawing/2018/hyperlinkcolor" val="tx"/>
                              </a:ext>
                            </a:extLst>
                          </a:hlinkClick>
                        </a:rPr>
                        <a:t>tiết</a:t>
                      </a:r>
                      <a:r>
                        <a:rPr lang="en-US" sz="2000" dirty="0">
                          <a:solidFill>
                            <a:srgbClr val="000000"/>
                          </a:solidFill>
                          <a:latin typeface="Arial"/>
                          <a:ea typeface="Arial"/>
                          <a:cs typeface="Arial"/>
                          <a:sym typeface="Arial"/>
                        </a:rPr>
                        <a:t>)</a:t>
                      </a:r>
                      <a:endParaRPr lang="en-US" sz="1100" dirty="0"/>
                    </a:p>
                    <a:p>
                      <a:pPr marL="241300" lvl="1" indent="-120650" algn="l">
                        <a:lnSpc>
                          <a:spcPts val="3333"/>
                        </a:lnSpc>
                        <a:buFont typeface="Arial"/>
                        <a:buChar char="•"/>
                      </a:pPr>
                      <a:r>
                        <a:rPr lang="en-US" sz="2000" dirty="0">
                          <a:solidFill>
                            <a:srgbClr val="000000"/>
                          </a:solidFill>
                          <a:latin typeface="Arial"/>
                          <a:ea typeface="Arial"/>
                          <a:cs typeface="Arial"/>
                          <a:sym typeface="Arial"/>
                        </a:rPr>
                        <a:t>Tham </a:t>
                      </a:r>
                      <a:r>
                        <a:rPr lang="en-US" sz="2000" dirty="0" err="1">
                          <a:solidFill>
                            <a:srgbClr val="000000"/>
                          </a:solidFill>
                          <a:latin typeface="Arial"/>
                          <a:ea typeface="Arial"/>
                          <a:cs typeface="Arial"/>
                          <a:sym typeface="Arial"/>
                        </a:rPr>
                        <a:t>khảo</a:t>
                      </a:r>
                      <a:r>
                        <a:rPr lang="en-US" sz="2000" dirty="0">
                          <a:solidFill>
                            <a:srgbClr val="000000"/>
                          </a:solidFill>
                          <a:latin typeface="Arial"/>
                          <a:ea typeface="Arial"/>
                          <a:cs typeface="Arial"/>
                          <a:sym typeface="Arial"/>
                        </a:rPr>
                        <a:t> các </a:t>
                      </a:r>
                      <a:r>
                        <a:rPr lang="en-US" sz="2000" dirty="0" err="1">
                          <a:solidFill>
                            <a:srgbClr val="000000"/>
                          </a:solidFill>
                          <a:latin typeface="Arial"/>
                          <a:ea typeface="Arial"/>
                          <a:cs typeface="Arial"/>
                          <a:sym typeface="Arial"/>
                        </a:rPr>
                        <a:t>bước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thực</a:t>
                      </a:r>
                      <a:r>
                        <a:rPr lang="en-US" sz="2000" dirty="0">
                          <a:solidFill>
                            <a:srgbClr val="000000"/>
                          </a:solidFill>
                          <a:latin typeface="Arial"/>
                          <a:ea typeface="Arial"/>
                          <a:cs typeface="Arial"/>
                          <a:sym typeface="Arial"/>
                        </a:rPr>
                        <a:t> hiện:</a:t>
                      </a:r>
                    </a:p>
                    <a:p>
                      <a:pPr marL="863601" lvl="2" indent="-287867" algn="l">
                        <a:lnSpc>
                          <a:spcPts val="3000"/>
                        </a:lnSpc>
                        <a:buFont typeface="Arial"/>
                        <a:buChar char="⚬"/>
                      </a:pPr>
                      <a:r>
                        <a:rPr lang="en-US" sz="2000" dirty="0" err="1">
                          <a:solidFill>
                            <a:srgbClr val="000000"/>
                          </a:solidFill>
                          <a:latin typeface="Arial"/>
                          <a:ea typeface="Arial"/>
                          <a:cs typeface="Arial"/>
                          <a:sym typeface="Arial"/>
                        </a:rPr>
                        <a:t>Từ</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trang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FE ONLINE 2.0, </a:t>
                      </a:r>
                      <a:r>
                        <a:rPr lang="en-US" sz="2000" dirty="0" err="1">
                          <a:solidFill>
                            <a:srgbClr val="000000"/>
                          </a:solidFill>
                          <a:latin typeface="Arial"/>
                          <a:ea typeface="Arial"/>
                          <a:cs typeface="Arial"/>
                          <a:sym typeface="Arial"/>
                        </a:rPr>
                        <a:t>chọn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đặt</a:t>
                      </a:r>
                      <a:r>
                        <a:rPr lang="en-US" sz="2000" dirty="0">
                          <a:solidFill>
                            <a:srgbClr val="000000"/>
                          </a:solidFill>
                          <a:latin typeface="Arial"/>
                          <a:ea typeface="Arial"/>
                          <a:cs typeface="Arial"/>
                          <a:sym typeface="Arial"/>
                        </a:rPr>
                        <a:t>"</a:t>
                      </a:r>
                    </a:p>
                    <a:p>
                      <a:pPr marL="863601" lvl="2" indent="-287867" algn="l">
                        <a:lnSpc>
                          <a:spcPts val="3000"/>
                        </a:lnSpc>
                        <a:buFont typeface="Arial"/>
                        <a:buChar char="⚬"/>
                      </a:pPr>
                      <a:r>
                        <a:rPr lang="en-US" sz="2000" dirty="0" err="1">
                          <a:solidFill>
                            <a:srgbClr val="000000"/>
                          </a:solidFill>
                          <a:latin typeface="Arial"/>
                          <a:ea typeface="Arial"/>
                          <a:cs typeface="Arial"/>
                          <a:sym typeface="Arial"/>
                        </a:rPr>
                        <a:t>Chọn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Quản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cá</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nhân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a:t>
                      </a:r>
                    </a:p>
                    <a:p>
                      <a:pPr marL="863601" lvl="2" indent="-287867" algn="l">
                        <a:lnSpc>
                          <a:spcPts val="3000"/>
                        </a:lnSpc>
                        <a:buFont typeface="Arial"/>
                        <a:buChar char="⚬"/>
                      </a:pPr>
                      <a:r>
                        <a:rPr lang="en-US" sz="2000" dirty="0" err="1">
                          <a:solidFill>
                            <a:srgbClr val="000000"/>
                          </a:solidFill>
                          <a:latin typeface="Arial"/>
                          <a:ea typeface="Arial"/>
                          <a:cs typeface="Arial"/>
                          <a:sym typeface="Arial"/>
                        </a:rPr>
                        <a:t>Chọn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biểu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tượng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cây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bút</a:t>
                      </a:r>
                      <a:r>
                        <a:rPr lang="en-US" sz="2000" dirty="0">
                          <a:solidFill>
                            <a:srgbClr val="000000"/>
                          </a:solidFill>
                          <a:latin typeface="Arial"/>
                          <a:ea typeface="Arial"/>
                          <a:cs typeface="Arial"/>
                          <a:sym typeface="Arial"/>
                        </a:rPr>
                        <a:t> ở </a:t>
                      </a:r>
                      <a:r>
                        <a:rPr lang="en-US" sz="2000" dirty="0" err="1">
                          <a:solidFill>
                            <a:srgbClr val="000000"/>
                          </a:solidFill>
                          <a:latin typeface="Arial"/>
                          <a:ea typeface="Arial"/>
                          <a:cs typeface="Arial"/>
                          <a:sym typeface="Arial"/>
                        </a:rPr>
                        <a:t>mục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CMND/CCCD” để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endParaRPr lang="en-US" sz="2000" dirty="0">
                        <a:solidFill>
                          <a:srgbClr val="000000"/>
                        </a:solidFill>
                        <a:latin typeface="Arial"/>
                        <a:ea typeface="Arial"/>
                        <a:cs typeface="Arial"/>
                        <a:sym typeface="Arial"/>
                      </a:endParaRPr>
                    </a:p>
                    <a:p>
                      <a:pPr marL="863601" lvl="2" indent="-287867" algn="l">
                        <a:lnSpc>
                          <a:spcPts val="3000"/>
                        </a:lnSpc>
                        <a:buFont typeface="Arial"/>
                        <a:buChar char="⚬"/>
                      </a:pPr>
                      <a:r>
                        <a:rPr lang="en-US" sz="2000" dirty="0" err="1">
                          <a:solidFill>
                            <a:srgbClr val="000000"/>
                          </a:solidFill>
                          <a:latin typeface="Arial"/>
                          <a:ea typeface="Arial"/>
                          <a:cs typeface="Arial"/>
                          <a:sym typeface="Arial"/>
                        </a:rPr>
                        <a:t>Khách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tiến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thực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khuôn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 để </a:t>
                      </a:r>
                      <a:r>
                        <a:rPr lang="en-US" sz="2000" dirty="0" err="1">
                          <a:solidFill>
                            <a:srgbClr val="000000"/>
                          </a:solidFill>
                          <a:latin typeface="Arial"/>
                          <a:ea typeface="Arial"/>
                          <a:cs typeface="Arial"/>
                          <a:sym typeface="Arial"/>
                        </a:rPr>
                        <a:t>bắt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đầu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CCCD</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dirty="0">
                          <a:solidFill>
                            <a:srgbClr val="000000"/>
                          </a:solidFill>
                          <a:latin typeface="Arial Bold"/>
                          <a:ea typeface="Arial Bold"/>
                          <a:cs typeface="Arial Bold"/>
                          <a:sym typeface="Arial Bold"/>
                        </a:rPr>
                        <a:t>Code:</a:t>
                      </a:r>
                      <a:r>
                        <a:rPr lang="en-US" sz="2000" dirty="0">
                          <a:solidFill>
                            <a:srgbClr val="000000"/>
                          </a:solidFill>
                          <a:latin typeface="Arial"/>
                          <a:ea typeface="Arial"/>
                          <a:cs typeface="Arial"/>
                          <a:sym typeface="Arial"/>
                        </a:rPr>
                        <a:t> IL33/ IC22-Cập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KH</a:t>
                      </a:r>
                      <a:endParaRPr lang="en-US" sz="1100" dirty="0"/>
                    </a:p>
                    <a:p>
                      <a:pPr algn="l">
                        <a:lnSpc>
                          <a:spcPts val="3000"/>
                        </a:lnSpc>
                      </a:pPr>
                      <a:r>
                        <a:rPr lang="en-US" sz="2000" b="1" dirty="0">
                          <a:solidFill>
                            <a:srgbClr val="000000"/>
                          </a:solidFill>
                          <a:latin typeface="Arial Bold"/>
                          <a:ea typeface="Arial Bold"/>
                          <a:cs typeface="Arial Bold"/>
                          <a:sym typeface="Arial Bold"/>
                        </a:rPr>
                        <a:t>Sub: </a:t>
                      </a:r>
                      <a:r>
                        <a:rPr lang="en-US" sz="2000" dirty="0">
                          <a:solidFill>
                            <a:srgbClr val="000000"/>
                          </a:solidFill>
                          <a:latin typeface="Arial"/>
                          <a:ea typeface="Arial"/>
                          <a:cs typeface="Arial"/>
                          <a:sym typeface="Arial"/>
                        </a:rPr>
                        <a:t>IL33.05/ IC22.05-Cập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CMND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CCCD</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23" r="-22" b="5"/>
              </a:stretch>
            </a:blipFill>
          </p:spPr>
        </p:sp>
      </p:grpSp>
      <p:sp>
        <p:nvSpPr>
          <p:cNvPr id="5" name="Freeform 5"/>
          <p:cNvSpPr/>
          <p:nvPr/>
        </p:nvSpPr>
        <p:spPr>
          <a:xfrm>
            <a:off x="-12697"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5665766" y="186285"/>
            <a:ext cx="6931075" cy="563804"/>
          </a:xfrm>
          <a:prstGeom prst="rect">
            <a:avLst/>
          </a:prstGeom>
        </p:spPr>
        <p:txBody>
          <a:bodyPr lIns="0" tIns="0" rIns="0" bIns="0" rtlCol="0" anchor="t">
            <a:spAutoFit/>
          </a:bodyPr>
          <a:lstStyle/>
          <a:p>
            <a:pPr algn="ctr">
              <a:lnSpc>
                <a:spcPts val="4365"/>
              </a:lnSpc>
            </a:pPr>
            <a:r>
              <a:rPr lang="en-US" sz="3400" b="1">
                <a:solidFill>
                  <a:srgbClr val="000000"/>
                </a:solidFill>
                <a:latin typeface="Arial Bold"/>
                <a:ea typeface="Arial Bold"/>
                <a:cs typeface="Arial Bold"/>
                <a:sym typeface="Arial Bold"/>
              </a:rPr>
              <a:t>CHƯA CẬP NHẬT TRÊN FEOL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25450" y="2337859"/>
          <a:ext cx="17437101" cy="2501363"/>
        </p:xfrm>
        <a:graphic>
          <a:graphicData uri="http://schemas.openxmlformats.org/drawingml/2006/table">
            <a:tbl>
              <a:tblPr/>
              <a:tblGrid>
                <a:gridCol w="4775227">
                  <a:extLst>
                    <a:ext uri="{9D8B030D-6E8A-4147-A177-3AD203B41FA5}">
                      <a16:colId xmlns:a16="http://schemas.microsoft.com/office/drawing/2014/main" val="20000"/>
                    </a:ext>
                  </a:extLst>
                </a:gridCol>
                <a:gridCol w="7029845">
                  <a:extLst>
                    <a:ext uri="{9D8B030D-6E8A-4147-A177-3AD203B41FA5}">
                      <a16:colId xmlns:a16="http://schemas.microsoft.com/office/drawing/2014/main" val="20001"/>
                    </a:ext>
                  </a:extLst>
                </a:gridCol>
                <a:gridCol w="5632029">
                  <a:extLst>
                    <a:ext uri="{9D8B030D-6E8A-4147-A177-3AD203B41FA5}">
                      <a16:colId xmlns:a16="http://schemas.microsoft.com/office/drawing/2014/main" val="20002"/>
                    </a:ext>
                  </a:extLst>
                </a:gridCol>
              </a:tblGrid>
              <a:tr h="876412">
                <a:tc>
                  <a:txBody>
                    <a:bodyPr/>
                    <a:lstStyle/>
                    <a:p>
                      <a:pPr algn="ctr">
                        <a:lnSpc>
                          <a:spcPts val="3600"/>
                        </a:lnSpc>
                        <a:defRPr/>
                      </a:pPr>
                      <a:r>
                        <a:rPr lang="en-US" sz="2000" b="1" spc="9">
                          <a:solidFill>
                            <a:srgbClr val="FFFFFF"/>
                          </a:solidFill>
                          <a:latin typeface="Arial Bold"/>
                          <a:ea typeface="Arial Bold"/>
                          <a:cs typeface="Arial Bold"/>
                          <a:sym typeface="Arial Bold"/>
                        </a:rPr>
                        <a:t>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624951">
                <a:tc>
                  <a:txBody>
                    <a:bodyPr/>
                    <a:lstStyle/>
                    <a:p>
                      <a:pPr algn="l">
                        <a:lnSpc>
                          <a:spcPts val="3000"/>
                        </a:lnSpc>
                        <a:defRPr/>
                      </a:pPr>
                      <a:r>
                        <a:rPr lang="en-US" sz="1999" b="1">
                          <a:solidFill>
                            <a:srgbClr val="000000"/>
                          </a:solidFill>
                          <a:latin typeface="Arial Bold"/>
                          <a:ea typeface="Arial Bold"/>
                          <a:cs typeface="Arial Bold"/>
                          <a:sym typeface="Arial Bold"/>
                        </a:rPr>
                        <a:t>Rất tiếc, xác minh thất bại</a:t>
                      </a:r>
                      <a:endParaRPr lang="en-US" sz="1100"/>
                    </a:p>
                    <a:p>
                      <a:pPr algn="l">
                        <a:lnSpc>
                          <a:spcPts val="3000"/>
                        </a:lnSpc>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a:solidFill>
                            <a:srgbClr val="000000"/>
                          </a:solidFill>
                          <a:latin typeface="Arial"/>
                          <a:ea typeface="Arial"/>
                          <a:cs typeface="Arial"/>
                          <a:sym typeface="Arial"/>
                        </a:rPr>
                        <a:t>Hướng dẫn KH bấm "Thử lại" để thực hiện lại bước selfie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IL33/ IC22-Cập nhật thông tin KH</a:t>
                      </a:r>
                      <a:endParaRPr lang="en-US" sz="1100"/>
                    </a:p>
                    <a:p>
                      <a:pPr algn="l">
                        <a:lnSpc>
                          <a:spcPts val="3000"/>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IL33.05/ IC22.05-Cập nhật CMND và CCCD</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455724"/>
            <a:ext cx="18364200" cy="17636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2692003" y="166823"/>
            <a:ext cx="12903994" cy="1116254"/>
          </a:xfrm>
          <a:prstGeom prst="rect">
            <a:avLst/>
          </a:prstGeom>
        </p:spPr>
        <p:txBody>
          <a:bodyPr lIns="0" tIns="0" rIns="0" bIns="0" rtlCol="0" anchor="t">
            <a:spAutoFit/>
          </a:bodyPr>
          <a:lstStyle/>
          <a:p>
            <a:pPr algn="l">
              <a:lnSpc>
                <a:spcPts val="4365"/>
              </a:lnSpc>
            </a:pPr>
            <a:r>
              <a:rPr lang="en-US" sz="3399" b="1" dirty="0">
                <a:solidFill>
                  <a:srgbClr val="000000"/>
                </a:solidFill>
                <a:latin typeface="Arial Bold"/>
                <a:ea typeface="Arial Bold"/>
                <a:cs typeface="Arial Bold"/>
                <a:sym typeface="Arial Bold"/>
              </a:rPr>
              <a:t>ĐÃ CẬP NHẬT TRÊN FEOL 2.0 NHƯNG KHÔNG THÀNH CÔNG </a:t>
            </a:r>
          </a:p>
          <a:p>
            <a:pPr algn="ctr">
              <a:lnSpc>
                <a:spcPts val="4365"/>
              </a:lnSpc>
            </a:pPr>
            <a:r>
              <a:rPr lang="en-US" sz="3400" b="1" dirty="0">
                <a:solidFill>
                  <a:srgbClr val="000000"/>
                </a:solidFill>
                <a:latin typeface="Arial Bold"/>
                <a:ea typeface="Arial Bold"/>
                <a:cs typeface="Arial Bold"/>
                <a:sym typeface="Arial Bold"/>
              </a:rPr>
              <a:t>(LỖI XÁC MINH THẤT BẠI)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25450" y="2337859"/>
          <a:ext cx="17437100" cy="2932193"/>
        </p:xfrm>
        <a:graphic>
          <a:graphicData uri="http://schemas.openxmlformats.org/drawingml/2006/table">
            <a:tbl>
              <a:tblPr/>
              <a:tblGrid>
                <a:gridCol w="4775227">
                  <a:extLst>
                    <a:ext uri="{9D8B030D-6E8A-4147-A177-3AD203B41FA5}">
                      <a16:colId xmlns:a16="http://schemas.microsoft.com/office/drawing/2014/main" val="20000"/>
                    </a:ext>
                  </a:extLst>
                </a:gridCol>
                <a:gridCol w="7234776">
                  <a:extLst>
                    <a:ext uri="{9D8B030D-6E8A-4147-A177-3AD203B41FA5}">
                      <a16:colId xmlns:a16="http://schemas.microsoft.com/office/drawing/2014/main" val="20001"/>
                    </a:ext>
                  </a:extLst>
                </a:gridCol>
                <a:gridCol w="5427097">
                  <a:extLst>
                    <a:ext uri="{9D8B030D-6E8A-4147-A177-3AD203B41FA5}">
                      <a16:colId xmlns:a16="http://schemas.microsoft.com/office/drawing/2014/main" val="20002"/>
                    </a:ext>
                  </a:extLst>
                </a:gridCol>
              </a:tblGrid>
              <a:tr h="874425">
                <a:tc>
                  <a:txBody>
                    <a:bodyPr/>
                    <a:lstStyle/>
                    <a:p>
                      <a:pPr algn="ctr">
                        <a:lnSpc>
                          <a:spcPts val="3600"/>
                        </a:lnSpc>
                        <a:defRPr/>
                      </a:pPr>
                      <a:r>
                        <a:rPr lang="en-US" sz="2000" b="1" spc="9">
                          <a:solidFill>
                            <a:srgbClr val="FFFFFF"/>
                          </a:solidFill>
                          <a:latin typeface="Arial Bold"/>
                          <a:ea typeface="Arial Bold"/>
                          <a:cs typeface="Arial Bold"/>
                          <a:sym typeface="Arial Bold"/>
                        </a:rPr>
                        <a:t>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057768">
                <a:tc>
                  <a:txBody>
                    <a:bodyPr/>
                    <a:lstStyle/>
                    <a:p>
                      <a:pPr algn="just">
                        <a:lnSpc>
                          <a:spcPts val="2999"/>
                        </a:lnSpc>
                        <a:defRPr/>
                      </a:pPr>
                      <a:r>
                        <a:rPr lang="en-US" sz="1999" b="1">
                          <a:solidFill>
                            <a:srgbClr val="000000"/>
                          </a:solidFill>
                          <a:latin typeface="Arial Bold"/>
                          <a:ea typeface="Arial Bold"/>
                          <a:cs typeface="Arial Bold"/>
                          <a:sym typeface="Arial Bold"/>
                        </a:rPr>
                        <a:t>Rất tiếc, bạn chưa đủ điều kiện để mở tài khoản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2999"/>
                        </a:lnSpc>
                        <a:defRPr/>
                      </a:pPr>
                      <a:r>
                        <a:rPr lang="en-US" sz="1999">
                          <a:solidFill>
                            <a:srgbClr val="000000"/>
                          </a:solidFill>
                          <a:latin typeface="Arial"/>
                          <a:ea typeface="Arial"/>
                          <a:cs typeface="Arial"/>
                          <a:sym typeface="Arial"/>
                        </a:rPr>
                        <a:t>Từ chối hỗ trợ KH chưa đủ điều kiện đăng ký (≥ 20 tuổi)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IL33/ IC22-Cập nhật thông tin KH</a:t>
                      </a:r>
                      <a:endParaRPr lang="en-US" sz="1100"/>
                    </a:p>
                    <a:p>
                      <a:pPr algn="l">
                        <a:lnSpc>
                          <a:spcPts val="3000"/>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IL33.05/ IC22.05-Cập nhật CMND và CCCD</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369587"/>
            <a:ext cx="18288000" cy="1550687"/>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752600" y="64846"/>
            <a:ext cx="15876869" cy="1116254"/>
          </a:xfrm>
          <a:prstGeom prst="rect">
            <a:avLst/>
          </a:prstGeom>
        </p:spPr>
        <p:txBody>
          <a:bodyPr lIns="0" tIns="0" rIns="0" bIns="0" rtlCol="0" anchor="t">
            <a:spAutoFit/>
          </a:bodyPr>
          <a:lstStyle/>
          <a:p>
            <a:pPr algn="ctr">
              <a:lnSpc>
                <a:spcPts val="4365"/>
              </a:lnSpc>
            </a:pPr>
            <a:r>
              <a:rPr lang="en-US" sz="3399" b="1" dirty="0">
                <a:solidFill>
                  <a:srgbClr val="000000"/>
                </a:solidFill>
                <a:latin typeface="Arial Bold"/>
                <a:ea typeface="Arial Bold"/>
                <a:cs typeface="Arial Bold"/>
                <a:sym typeface="Arial Bold"/>
              </a:rPr>
              <a:t>ĐÃ CẬP NHẬT TRÊN FEOL 2.0 NHƯNG KHÔNG THÀNH CÔNG </a:t>
            </a:r>
          </a:p>
          <a:p>
            <a:pPr algn="ctr">
              <a:lnSpc>
                <a:spcPts val="4365"/>
              </a:lnSpc>
            </a:pPr>
            <a:r>
              <a:rPr lang="en-US" sz="3400" b="1" dirty="0">
                <a:solidFill>
                  <a:srgbClr val="000000"/>
                </a:solidFill>
                <a:latin typeface="Arial Bold"/>
                <a:ea typeface="Arial Bold"/>
                <a:cs typeface="Arial Bold"/>
                <a:sym typeface="Arial Bold"/>
              </a:rPr>
              <a:t>(LỖI CHƯA ĐỦ TUỔI MỞ TÀI KHOẢN)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19100" y="2337859"/>
          <a:ext cx="17449800" cy="2120363"/>
        </p:xfrm>
        <a:graphic>
          <a:graphicData uri="http://schemas.openxmlformats.org/drawingml/2006/table">
            <a:tbl>
              <a:tblPr/>
              <a:tblGrid>
                <a:gridCol w="4778705">
                  <a:extLst>
                    <a:ext uri="{9D8B030D-6E8A-4147-A177-3AD203B41FA5}">
                      <a16:colId xmlns:a16="http://schemas.microsoft.com/office/drawing/2014/main" val="20000"/>
                    </a:ext>
                  </a:extLst>
                </a:gridCol>
                <a:gridCol w="5878454">
                  <a:extLst>
                    <a:ext uri="{9D8B030D-6E8A-4147-A177-3AD203B41FA5}">
                      <a16:colId xmlns:a16="http://schemas.microsoft.com/office/drawing/2014/main" val="20001"/>
                    </a:ext>
                  </a:extLst>
                </a:gridCol>
                <a:gridCol w="6792641">
                  <a:extLst>
                    <a:ext uri="{9D8B030D-6E8A-4147-A177-3AD203B41FA5}">
                      <a16:colId xmlns:a16="http://schemas.microsoft.com/office/drawing/2014/main" val="20002"/>
                    </a:ext>
                  </a:extLst>
                </a:gridCol>
              </a:tblGrid>
              <a:tr h="878855">
                <a:tc>
                  <a:txBody>
                    <a:bodyPr/>
                    <a:lstStyle/>
                    <a:p>
                      <a:pPr algn="ctr">
                        <a:lnSpc>
                          <a:spcPts val="3600"/>
                        </a:lnSpc>
                        <a:defRPr/>
                      </a:pPr>
                      <a:r>
                        <a:rPr lang="en-US" sz="2000" b="1" spc="9">
                          <a:solidFill>
                            <a:srgbClr val="FFFFFF"/>
                          </a:solidFill>
                          <a:latin typeface="Arial Bold"/>
                          <a:ea typeface="Arial Bold"/>
                          <a:cs typeface="Arial Bold"/>
                          <a:sym typeface="Arial Bold"/>
                        </a:rPr>
                        <a:t>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41508">
                <a:tc>
                  <a:txBody>
                    <a:bodyPr/>
                    <a:lstStyle/>
                    <a:p>
                      <a:pPr algn="l">
                        <a:lnSpc>
                          <a:spcPts val="2999"/>
                        </a:lnSpc>
                        <a:defRPr/>
                      </a:pPr>
                      <a:r>
                        <a:rPr lang="en-US" sz="1999" b="1">
                          <a:solidFill>
                            <a:srgbClr val="000000"/>
                          </a:solidFill>
                          <a:latin typeface="Arial Bold"/>
                          <a:ea typeface="Arial Bold"/>
                          <a:cs typeface="Arial Bold"/>
                          <a:sym typeface="Arial Bold"/>
                        </a:rPr>
                        <a:t>Rất tiếc, hình ảnh CMND/CCCD chưa đủ điều kiện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a:solidFill>
                            <a:srgbClr val="000000"/>
                          </a:solidFill>
                          <a:latin typeface="Arial"/>
                          <a:ea typeface="Arial"/>
                          <a:cs typeface="Arial"/>
                          <a:sym typeface="Arial"/>
                        </a:rPr>
                        <a:t>Hướng dẫn KH chụp ảnh lại theo yêu cầu</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IL33/ IC22-Cập nhật thông tin KH</a:t>
                      </a:r>
                      <a:endParaRPr lang="en-US" sz="1100"/>
                    </a:p>
                    <a:p>
                      <a:pPr algn="l">
                        <a:lnSpc>
                          <a:spcPts val="3000"/>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IL33.05/ IC22.05-Cập nhật CMND và CCCD</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342900"/>
            <a:ext cx="18288000" cy="1611249"/>
          </a:xfrm>
          <a:custGeom>
            <a:avLst/>
            <a:gdLst/>
            <a:ahLst/>
            <a:cxnLst/>
            <a:rect l="l" t="t" r="r" b="b"/>
            <a:pathLst>
              <a:path w="18300697" h="1307356">
                <a:moveTo>
                  <a:pt x="0" y="0"/>
                </a:moveTo>
                <a:lnTo>
                  <a:pt x="18300697" y="0"/>
                </a:lnTo>
                <a:lnTo>
                  <a:pt x="18300697" y="1307356"/>
                </a:lnTo>
                <a:lnTo>
                  <a:pt x="0" y="13073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2362200" y="110501"/>
            <a:ext cx="13887254" cy="1116254"/>
          </a:xfrm>
          <a:prstGeom prst="rect">
            <a:avLst/>
          </a:prstGeom>
        </p:spPr>
        <p:txBody>
          <a:bodyPr lIns="0" tIns="0" rIns="0" bIns="0" rtlCol="0" anchor="t">
            <a:spAutoFit/>
          </a:bodyPr>
          <a:lstStyle/>
          <a:p>
            <a:pPr algn="ctr">
              <a:lnSpc>
                <a:spcPts val="4365"/>
              </a:lnSpc>
            </a:pPr>
            <a:r>
              <a:rPr lang="en-US" sz="3399" b="1" dirty="0">
                <a:solidFill>
                  <a:srgbClr val="000000"/>
                </a:solidFill>
                <a:latin typeface="Arial Bold"/>
                <a:ea typeface="Arial Bold"/>
                <a:cs typeface="Arial Bold"/>
                <a:sym typeface="Arial Bold"/>
              </a:rPr>
              <a:t>ĐÃ CẬP NHẬT TRÊN FEOL 2.0 NHƯNG KHÔNG THÀNH CÔNG </a:t>
            </a:r>
          </a:p>
          <a:p>
            <a:pPr algn="ctr">
              <a:lnSpc>
                <a:spcPts val="4365"/>
              </a:lnSpc>
            </a:pPr>
            <a:r>
              <a:rPr lang="en-US" sz="3400" b="1" dirty="0">
                <a:solidFill>
                  <a:srgbClr val="000000"/>
                </a:solidFill>
                <a:latin typeface="Arial Bold"/>
                <a:ea typeface="Arial Bold"/>
                <a:cs typeface="Arial Bold"/>
                <a:sym typeface="Arial Bold"/>
              </a:rPr>
              <a:t>(LỖI CHỤP ẢNH CHƯA ĐẠT YÊU CẦU)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19100" y="2337859"/>
          <a:ext cx="17449801" cy="2120363"/>
        </p:xfrm>
        <a:graphic>
          <a:graphicData uri="http://schemas.openxmlformats.org/drawingml/2006/table">
            <a:tbl>
              <a:tblPr/>
              <a:tblGrid>
                <a:gridCol w="4778705">
                  <a:extLst>
                    <a:ext uri="{9D8B030D-6E8A-4147-A177-3AD203B41FA5}">
                      <a16:colId xmlns:a16="http://schemas.microsoft.com/office/drawing/2014/main" val="20000"/>
                    </a:ext>
                  </a:extLst>
                </a:gridCol>
                <a:gridCol w="5973038">
                  <a:extLst>
                    <a:ext uri="{9D8B030D-6E8A-4147-A177-3AD203B41FA5}">
                      <a16:colId xmlns:a16="http://schemas.microsoft.com/office/drawing/2014/main" val="20001"/>
                    </a:ext>
                  </a:extLst>
                </a:gridCol>
                <a:gridCol w="6698058">
                  <a:extLst>
                    <a:ext uri="{9D8B030D-6E8A-4147-A177-3AD203B41FA5}">
                      <a16:colId xmlns:a16="http://schemas.microsoft.com/office/drawing/2014/main" val="20002"/>
                    </a:ext>
                  </a:extLst>
                </a:gridCol>
              </a:tblGrid>
              <a:tr h="878855">
                <a:tc>
                  <a:txBody>
                    <a:bodyPr/>
                    <a:lstStyle/>
                    <a:p>
                      <a:pPr algn="ctr">
                        <a:lnSpc>
                          <a:spcPts val="3600"/>
                        </a:lnSpc>
                        <a:defRPr/>
                      </a:pPr>
                      <a:r>
                        <a:rPr lang="en-US" sz="2000" b="1" spc="9">
                          <a:solidFill>
                            <a:srgbClr val="FFFFFF"/>
                          </a:solidFill>
                          <a:latin typeface="Arial Bold"/>
                          <a:ea typeface="Arial Bold"/>
                          <a:cs typeface="Arial Bold"/>
                          <a:sym typeface="Arial Bold"/>
                        </a:rPr>
                        <a:t>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41508">
                <a:tc>
                  <a:txBody>
                    <a:bodyPr/>
                    <a:lstStyle/>
                    <a:p>
                      <a:pPr algn="l">
                        <a:lnSpc>
                          <a:spcPts val="2999"/>
                        </a:lnSpc>
                        <a:defRPr/>
                      </a:pPr>
                      <a:r>
                        <a:rPr lang="en-US" sz="1999" b="1">
                          <a:solidFill>
                            <a:srgbClr val="000000"/>
                          </a:solidFill>
                          <a:latin typeface="Arial Bold"/>
                          <a:ea typeface="Arial Bold"/>
                          <a:cs typeface="Arial Bold"/>
                          <a:sym typeface="Arial Bold"/>
                        </a:rPr>
                        <a:t>CCCD hết hạn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a:solidFill>
                            <a:srgbClr val="000000"/>
                          </a:solidFill>
                          <a:latin typeface="Arial"/>
                          <a:ea typeface="Arial"/>
                          <a:cs typeface="Arial"/>
                          <a:sym typeface="Arial"/>
                        </a:rPr>
                        <a:t>Hướng dẫn KH kiểm tra lại giấy tờ</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IL33/ IC22-Cập nhật thông tin KH</a:t>
                      </a:r>
                      <a:endParaRPr lang="en-US" sz="1100"/>
                    </a:p>
                    <a:p>
                      <a:pPr algn="l">
                        <a:lnSpc>
                          <a:spcPts val="3000"/>
                        </a:lnSpc>
                      </a:pPr>
                      <a:r>
                        <a:rPr lang="en-US" sz="2000" b="1">
                          <a:solidFill>
                            <a:srgbClr val="000000"/>
                          </a:solidFill>
                          <a:latin typeface="Arial Bold"/>
                          <a:ea typeface="Arial Bold"/>
                          <a:cs typeface="Arial Bold"/>
                          <a:sym typeface="Arial Bold"/>
                        </a:rPr>
                        <a:t>Sub: </a:t>
                      </a:r>
                      <a:r>
                        <a:rPr lang="en-US" sz="2000">
                          <a:solidFill>
                            <a:srgbClr val="000000"/>
                          </a:solidFill>
                          <a:latin typeface="Arial"/>
                          <a:ea typeface="Arial"/>
                          <a:cs typeface="Arial"/>
                          <a:sym typeface="Arial"/>
                        </a:rPr>
                        <a:t>IL33.05/ IC22.05-Cập nhật CMND và CCCD</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38100" y="-342900"/>
            <a:ext cx="18364200" cy="1535049"/>
          </a:xfrm>
          <a:custGeom>
            <a:avLst/>
            <a:gdLst/>
            <a:ahLst/>
            <a:cxnLst/>
            <a:rect l="l" t="t" r="r" b="b"/>
            <a:pathLst>
              <a:path w="18463108" h="1318958">
                <a:moveTo>
                  <a:pt x="0" y="0"/>
                </a:moveTo>
                <a:lnTo>
                  <a:pt x="18463108" y="0"/>
                </a:lnTo>
                <a:lnTo>
                  <a:pt x="18463108" y="1318958"/>
                </a:lnTo>
                <a:lnTo>
                  <a:pt x="0" y="1318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297104" y="75895"/>
            <a:ext cx="17693792" cy="1116254"/>
          </a:xfrm>
          <a:prstGeom prst="rect">
            <a:avLst/>
          </a:prstGeom>
        </p:spPr>
        <p:txBody>
          <a:bodyPr lIns="0" tIns="0" rIns="0" bIns="0" rtlCol="0" anchor="t">
            <a:spAutoFit/>
          </a:bodyPr>
          <a:lstStyle/>
          <a:p>
            <a:pPr algn="ctr">
              <a:lnSpc>
                <a:spcPts val="4365"/>
              </a:lnSpc>
            </a:pPr>
            <a:r>
              <a:rPr lang="en-US" sz="3399" b="1" dirty="0">
                <a:solidFill>
                  <a:srgbClr val="000000"/>
                </a:solidFill>
                <a:latin typeface="Arial Bold"/>
                <a:ea typeface="Arial Bold"/>
                <a:cs typeface="Arial Bold"/>
                <a:sym typeface="Arial Bold"/>
              </a:rPr>
              <a:t>ĐÃ CẬP NHẬT TRÊN FEOL 2.0 NHƯNG KHÔNG THÀNH CÔNG </a:t>
            </a:r>
          </a:p>
          <a:p>
            <a:pPr algn="ctr">
              <a:lnSpc>
                <a:spcPts val="4365"/>
              </a:lnSpc>
            </a:pPr>
            <a:r>
              <a:rPr lang="en-US" sz="3400" b="1" dirty="0">
                <a:solidFill>
                  <a:srgbClr val="000000"/>
                </a:solidFill>
                <a:latin typeface="Arial Bold"/>
                <a:ea typeface="Arial Bold"/>
                <a:cs typeface="Arial Bold"/>
                <a:sym typeface="Arial Bold"/>
              </a:rPr>
              <a:t>(LỖI CCCD HẾT HẠN)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19100" y="2337859"/>
          <a:ext cx="17449800" cy="2120363"/>
        </p:xfrm>
        <a:graphic>
          <a:graphicData uri="http://schemas.openxmlformats.org/drawingml/2006/table">
            <a:tbl>
              <a:tblPr/>
              <a:tblGrid>
                <a:gridCol w="4778705">
                  <a:extLst>
                    <a:ext uri="{9D8B030D-6E8A-4147-A177-3AD203B41FA5}">
                      <a16:colId xmlns:a16="http://schemas.microsoft.com/office/drawing/2014/main" val="20000"/>
                    </a:ext>
                  </a:extLst>
                </a:gridCol>
                <a:gridCol w="5326717">
                  <a:extLst>
                    <a:ext uri="{9D8B030D-6E8A-4147-A177-3AD203B41FA5}">
                      <a16:colId xmlns:a16="http://schemas.microsoft.com/office/drawing/2014/main" val="20001"/>
                    </a:ext>
                  </a:extLst>
                </a:gridCol>
                <a:gridCol w="7344378">
                  <a:extLst>
                    <a:ext uri="{9D8B030D-6E8A-4147-A177-3AD203B41FA5}">
                      <a16:colId xmlns:a16="http://schemas.microsoft.com/office/drawing/2014/main" val="20002"/>
                    </a:ext>
                  </a:extLst>
                </a:gridCol>
              </a:tblGrid>
              <a:tr h="878855">
                <a:tc>
                  <a:txBody>
                    <a:bodyPr/>
                    <a:lstStyle/>
                    <a:p>
                      <a:pPr algn="ctr">
                        <a:lnSpc>
                          <a:spcPts val="3600"/>
                        </a:lnSpc>
                        <a:defRPr/>
                      </a:pPr>
                      <a:r>
                        <a:rPr lang="en-US" sz="2000" b="1" spc="9">
                          <a:solidFill>
                            <a:srgbClr val="FFFFFF"/>
                          </a:solidFill>
                          <a:latin typeface="Arial Bold"/>
                          <a:ea typeface="Arial Bold"/>
                          <a:cs typeface="Arial Bold"/>
                          <a:sym typeface="Arial Bold"/>
                        </a:rPr>
                        <a:t>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41508">
                <a:tc>
                  <a:txBody>
                    <a:bodyPr/>
                    <a:lstStyle/>
                    <a:p>
                      <a:pPr algn="just">
                        <a:lnSpc>
                          <a:spcPts val="2999"/>
                        </a:lnSpc>
                        <a:defRPr/>
                      </a:pPr>
                      <a:r>
                        <a:rPr lang="en-US" sz="1999" b="1">
                          <a:solidFill>
                            <a:srgbClr val="000000"/>
                          </a:solidFill>
                          <a:latin typeface="Arial Bold"/>
                          <a:ea typeface="Arial Bold"/>
                          <a:cs typeface="Arial Bold"/>
                          <a:sym typeface="Arial Bold"/>
                        </a:rPr>
                        <a:t>Tính năng này đã tạm thời bị khóa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2999"/>
                        </a:lnSpc>
                        <a:defRPr/>
                      </a:pPr>
                      <a:r>
                        <a:rPr lang="en-US" sz="1999">
                          <a:solidFill>
                            <a:srgbClr val="000000"/>
                          </a:solidFill>
                          <a:latin typeface="Arial"/>
                          <a:ea typeface="Arial"/>
                          <a:cs typeface="Arial"/>
                          <a:sym typeface="Arial"/>
                        </a:rPr>
                        <a:t>Hướng dẫn KH thử lại sau 24h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IL33/ IC22-Cập nhật thông tin KH</a:t>
                      </a:r>
                      <a:endParaRPr lang="en-US" sz="1100"/>
                    </a:p>
                    <a:p>
                      <a:pPr algn="l">
                        <a:lnSpc>
                          <a:spcPts val="3000"/>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IL33.05/ IC22.05-Cập nhật CMND và CCCD</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6348" y="-342900"/>
            <a:ext cx="18275303" cy="16112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379621" y="128723"/>
            <a:ext cx="17902030" cy="1116254"/>
          </a:xfrm>
          <a:prstGeom prst="rect">
            <a:avLst/>
          </a:prstGeom>
        </p:spPr>
        <p:txBody>
          <a:bodyPr wrap="square" lIns="0" tIns="0" rIns="0" bIns="0" rtlCol="0" anchor="t">
            <a:spAutoFit/>
          </a:bodyPr>
          <a:lstStyle/>
          <a:p>
            <a:pPr algn="ctr">
              <a:lnSpc>
                <a:spcPts val="4365"/>
              </a:lnSpc>
            </a:pPr>
            <a:r>
              <a:rPr lang="en-US" sz="3399" b="1" dirty="0">
                <a:solidFill>
                  <a:srgbClr val="000000"/>
                </a:solidFill>
                <a:latin typeface="Arial Bold"/>
                <a:ea typeface="Arial Bold"/>
                <a:cs typeface="Arial Bold"/>
                <a:sym typeface="Arial Bold"/>
              </a:rPr>
              <a:t>ĐÃ CẬP NHẬT TRÊN FEOL 2.0 NHƯNG KHÔNG THÀNH CÔNG </a:t>
            </a:r>
          </a:p>
          <a:p>
            <a:pPr algn="ctr">
              <a:lnSpc>
                <a:spcPts val="4365"/>
              </a:lnSpc>
            </a:pPr>
            <a:r>
              <a:rPr lang="en-US" sz="3400" b="1" dirty="0">
                <a:solidFill>
                  <a:srgbClr val="000000"/>
                </a:solidFill>
                <a:latin typeface="Arial Bold"/>
                <a:ea typeface="Arial Bold"/>
                <a:cs typeface="Arial Bold"/>
                <a:sym typeface="Arial Bold"/>
              </a:rPr>
              <a:t>(LỖI QUÁ SỐ LẦN THỬ LẠI)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849152994"/>
              </p:ext>
            </p:extLst>
          </p:nvPr>
        </p:nvGraphicFramePr>
        <p:xfrm>
          <a:off x="193262" y="1638300"/>
          <a:ext cx="17868900" cy="4406900"/>
        </p:xfrm>
        <a:graphic>
          <a:graphicData uri="http://schemas.openxmlformats.org/drawingml/2006/table">
            <a:tbl>
              <a:tblPr/>
              <a:tblGrid>
                <a:gridCol w="8489357">
                  <a:extLst>
                    <a:ext uri="{9D8B030D-6E8A-4147-A177-3AD203B41FA5}">
                      <a16:colId xmlns:a16="http://schemas.microsoft.com/office/drawing/2014/main" val="20000"/>
                    </a:ext>
                  </a:extLst>
                </a:gridCol>
                <a:gridCol w="2406900">
                  <a:extLst>
                    <a:ext uri="{9D8B030D-6E8A-4147-A177-3AD203B41FA5}">
                      <a16:colId xmlns:a16="http://schemas.microsoft.com/office/drawing/2014/main" val="20001"/>
                    </a:ext>
                  </a:extLst>
                </a:gridCol>
                <a:gridCol w="6972643">
                  <a:extLst>
                    <a:ext uri="{9D8B030D-6E8A-4147-A177-3AD203B41FA5}">
                      <a16:colId xmlns:a16="http://schemas.microsoft.com/office/drawing/2014/main" val="20002"/>
                    </a:ext>
                  </a:extLst>
                </a:gridCol>
              </a:tblGrid>
              <a:tr h="925449">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CODE</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481451">
                <a:tc>
                  <a:txBody>
                    <a:bodyPr/>
                    <a:lstStyle/>
                    <a:p>
                      <a:pPr algn="l">
                        <a:lnSpc>
                          <a:spcPts val="2999"/>
                        </a:lnSpc>
                        <a:defRPr/>
                      </a:pPr>
                      <a:r>
                        <a:rPr lang="en-US" sz="2000">
                          <a:solidFill>
                            <a:srgbClr val="000000"/>
                          </a:solidFill>
                          <a:latin typeface="Arial"/>
                          <a:ea typeface="Arial"/>
                          <a:cs typeface="Arial"/>
                          <a:sym typeface="Arial"/>
                        </a:rPr>
                        <a:t>Gửi hình ảnh qua Zalo FE Credit (có dấu tick). Nếu KH không sử dụng Zalo, hướng dẫn gửi hình ảnh qua email </a:t>
                      </a:r>
                      <a:r>
                        <a:rPr lang="en-US" sz="2000" b="1">
                          <a:solidFill>
                            <a:srgbClr val="000000"/>
                          </a:solidFill>
                          <a:latin typeface="Arial Bold"/>
                          <a:ea typeface="Arial Bold"/>
                          <a:cs typeface="Arial Bold"/>
                          <a:sym typeface="Arial Bold"/>
                        </a:rPr>
                        <a:t>dichvukhachhang@fecredit.com.vn</a:t>
                      </a:r>
                      <a:endParaRPr lang="en-US" sz="1100"/>
                    </a:p>
                    <a:p>
                      <a:pPr marL="431800" lvl="1" indent="-215900" algn="l">
                        <a:lnSpc>
                          <a:spcPts val="2999"/>
                        </a:lnSpc>
                        <a:buFont typeface="Arial"/>
                        <a:buChar char="•"/>
                      </a:pPr>
                      <a:r>
                        <a:rPr lang="en-US" sz="2000">
                          <a:solidFill>
                            <a:srgbClr val="000000"/>
                          </a:solidFill>
                          <a:latin typeface="Arial"/>
                          <a:ea typeface="Arial"/>
                          <a:cs typeface="Arial"/>
                          <a:sym typeface="Arial"/>
                        </a:rPr>
                        <a:t>Hình ảnh KH cầm CMND/ CCCD mặt trước trên tay chụp cùng với khuôn mặt.</a:t>
                      </a:r>
                    </a:p>
                    <a:p>
                      <a:pPr marL="431800" lvl="1" indent="-215900" algn="l">
                        <a:lnSpc>
                          <a:spcPts val="2999"/>
                        </a:lnSpc>
                        <a:buFont typeface="Arial"/>
                        <a:buChar char="•"/>
                      </a:pPr>
                      <a:r>
                        <a:rPr lang="en-US" sz="2000">
                          <a:solidFill>
                            <a:srgbClr val="000000"/>
                          </a:solidFill>
                          <a:latin typeface="Arial"/>
                          <a:ea typeface="Arial"/>
                          <a:cs typeface="Arial"/>
                          <a:sym typeface="Arial"/>
                        </a:rPr>
                        <a:t>Hình ảnh 2 mặt CCCD mới nhất. </a:t>
                      </a:r>
                    </a:p>
                    <a:p>
                      <a:pPr algn="l">
                        <a:lnSpc>
                          <a:spcPts val="3332"/>
                        </a:lnSpc>
                      </a:pPr>
                      <a:r>
                        <a:rPr lang="en-US" sz="2000" b="1">
                          <a:solidFill>
                            <a:srgbClr val="000000"/>
                          </a:solidFill>
                          <a:latin typeface="Arial Bold"/>
                          <a:ea typeface="Arial Bold"/>
                          <a:cs typeface="Arial Bold"/>
                          <a:sym typeface="Arial Bold"/>
                        </a:rPr>
                        <a:t>Lưu ý:</a:t>
                      </a:r>
                      <a:r>
                        <a:rPr lang="en-US" sz="2000">
                          <a:solidFill>
                            <a:srgbClr val="000000"/>
                          </a:solidFill>
                          <a:latin typeface="Arial"/>
                          <a:ea typeface="Arial"/>
                          <a:cs typeface="Arial"/>
                          <a:sym typeface="Arial"/>
                        </a:rPr>
                        <a:t> Ảnh chụp cần to, rõ, không bị lóa sáng. Phần mã QR phải rõ để có thể quét được thông tin.</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400"/>
                        </a:lnSpc>
                        <a:defRPr/>
                      </a:pPr>
                      <a:r>
                        <a:rPr lang="en-US" sz="2000">
                          <a:solidFill>
                            <a:srgbClr val="000000"/>
                          </a:solidFill>
                          <a:latin typeface="Arial"/>
                          <a:ea typeface="Arial"/>
                          <a:cs typeface="Arial"/>
                          <a:sym typeface="Arial"/>
                        </a:rPr>
                        <a:t>6 ngày làm việc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dirty="0">
                          <a:solidFill>
                            <a:srgbClr val="000000"/>
                          </a:solidFill>
                          <a:latin typeface="Arial Bold"/>
                          <a:ea typeface="Arial Bold"/>
                          <a:cs typeface="Arial Bold"/>
                          <a:sym typeface="Arial Bold"/>
                        </a:rPr>
                        <a:t>Customer Profile Update</a:t>
                      </a:r>
                      <a:endParaRPr lang="en-US" sz="1100" dirty="0"/>
                    </a:p>
                    <a:p>
                      <a:pPr algn="l">
                        <a:lnSpc>
                          <a:spcPts val="3600"/>
                        </a:lnSpc>
                      </a:pPr>
                      <a:r>
                        <a:rPr lang="en-US" sz="2000" b="1" dirty="0">
                          <a:solidFill>
                            <a:srgbClr val="000000"/>
                          </a:solidFill>
                          <a:latin typeface="Arial Bold"/>
                          <a:ea typeface="Arial Bold"/>
                          <a:cs typeface="Arial Bold"/>
                          <a:sym typeface="Arial Bold"/>
                        </a:rPr>
                        <a:t>Subcode:</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Chọn</a:t>
                      </a:r>
                      <a:r>
                        <a:rPr lang="en-US" sz="2000" dirty="0">
                          <a:solidFill>
                            <a:srgbClr val="000000"/>
                          </a:solidFill>
                          <a:latin typeface="Arial"/>
                          <a:ea typeface="Arial"/>
                          <a:cs typeface="Arial"/>
                          <a:sym typeface="Arial"/>
                        </a:rPr>
                        <a:t> subcode </a:t>
                      </a:r>
                      <a:r>
                        <a:rPr lang="en-US" sz="2000" dirty="0" err="1">
                          <a:solidFill>
                            <a:srgbClr val="000000"/>
                          </a:solidFill>
                          <a:latin typeface="Arial"/>
                          <a:ea typeface="Arial"/>
                          <a:cs typeface="Arial"/>
                          <a:sym typeface="Arial"/>
                        </a:rPr>
                        <a:t>tương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endParaRPr lang="en-US" sz="2000" dirty="0">
                        <a:solidFill>
                          <a:srgbClr val="000000"/>
                        </a:solidFill>
                        <a:latin typeface="Arial"/>
                        <a:ea typeface="Arial"/>
                        <a:cs typeface="Arial"/>
                        <a:sym typeface="Arial"/>
                      </a:endParaRPr>
                    </a:p>
                    <a:p>
                      <a:pPr algn="l">
                        <a:lnSpc>
                          <a:spcPts val="3600"/>
                        </a:lnSpc>
                      </a:pPr>
                      <a:r>
                        <a:rPr lang="en-US" sz="2000" b="1" dirty="0">
                          <a:solidFill>
                            <a:srgbClr val="000000"/>
                          </a:solidFill>
                          <a:latin typeface="Arial Bold"/>
                          <a:ea typeface="Arial Bold"/>
                          <a:cs typeface="Arial Bold"/>
                          <a:sym typeface="Arial Bold"/>
                        </a:rPr>
                        <a:t>Properties:</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liệu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endParaRPr lang="en-US" sz="2000" dirty="0">
                        <a:solidFill>
                          <a:srgbClr val="000000"/>
                        </a:solidFill>
                        <a:latin typeface="Arial"/>
                        <a:ea typeface="Arial"/>
                        <a:cs typeface="Arial"/>
                        <a:sym typeface="Arial"/>
                      </a:endParaRPr>
                    </a:p>
                    <a:p>
                      <a:pPr algn="l">
                        <a:lnSpc>
                          <a:spcPts val="3600"/>
                        </a:lnSpc>
                      </a:pPr>
                      <a:r>
                        <a:rPr lang="en-US" sz="2000" b="1" dirty="0">
                          <a:solidFill>
                            <a:srgbClr val="000000"/>
                          </a:solidFill>
                          <a:latin typeface="Arial Bold"/>
                          <a:ea typeface="Arial Bold"/>
                          <a:cs typeface="Arial Bold"/>
                          <a:sym typeface="Arial Bold"/>
                        </a:rPr>
                        <a:t>Remark:</a:t>
                      </a:r>
                    </a:p>
                    <a:p>
                      <a:pPr algn="l">
                        <a:lnSpc>
                          <a:spcPts val="3600"/>
                        </a:lnSpc>
                      </a:pP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Kênh</a:t>
                      </a:r>
                      <a:r>
                        <a:rPr lang="en-US" sz="2000" b="1" dirty="0">
                          <a:solidFill>
                            <a:srgbClr val="000000"/>
                          </a:solidFill>
                          <a:latin typeface="Arial Bold"/>
                          <a:ea typeface="Arial Bold"/>
                          <a:cs typeface="Arial Bold"/>
                          <a:sym typeface="Arial Bold"/>
                        </a:rPr>
                        <a:t> IB:</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đổi</a:t>
                      </a:r>
                      <a:r>
                        <a:rPr lang="en-US" sz="2000" dirty="0">
                          <a:solidFill>
                            <a:srgbClr val="000000"/>
                          </a:solidFill>
                          <a:latin typeface="Arial"/>
                          <a:ea typeface="Arial"/>
                          <a:cs typeface="Arial"/>
                          <a:sym typeface="Arial"/>
                        </a:rPr>
                        <a:t> - ticket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Ecom</a:t>
                      </a:r>
                      <a:endParaRPr lang="en-US" sz="2000" dirty="0">
                        <a:solidFill>
                          <a:srgbClr val="000000"/>
                        </a:solidFill>
                        <a:latin typeface="Arial"/>
                        <a:ea typeface="Arial"/>
                        <a:cs typeface="Arial"/>
                        <a:sym typeface="Arial"/>
                      </a:endParaRPr>
                    </a:p>
                    <a:p>
                      <a:pPr algn="l">
                        <a:lnSpc>
                          <a:spcPts val="3600"/>
                        </a:lnSpc>
                      </a:pP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Kênh</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Ecom</a:t>
                      </a:r>
                      <a:r>
                        <a:rPr lang="en-US" sz="2000" b="1" dirty="0">
                          <a:solidFill>
                            <a:srgbClr val="000000"/>
                          </a:solidFill>
                          <a:latin typeface="Arial Bold"/>
                          <a:ea typeface="Arial Bold"/>
                          <a:cs typeface="Arial Bold"/>
                          <a:sym typeface="Arial Bold"/>
                        </a:rPr>
                        <a: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rõ</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đổi</a:t>
                      </a:r>
                      <a:r>
                        <a:rPr lang="en-US" sz="2000" dirty="0">
                          <a:solidFill>
                            <a:srgbClr val="000000"/>
                          </a:solidFill>
                          <a:latin typeface="Arial"/>
                          <a:ea typeface="Arial"/>
                          <a:cs typeface="Arial"/>
                          <a:sym typeface="Arial"/>
                        </a:rPr>
                        <a:t> - ticket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IB</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342900"/>
            <a:ext cx="18302901" cy="15350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99610" y="31474"/>
            <a:ext cx="17856203" cy="1116254"/>
          </a:xfrm>
          <a:prstGeom prst="rect">
            <a:avLst/>
          </a:prstGeom>
        </p:spPr>
        <p:txBody>
          <a:bodyPr lIns="0" tIns="0" rIns="0" bIns="0" rtlCol="0" anchor="t">
            <a:spAutoFit/>
          </a:bodyPr>
          <a:lstStyle/>
          <a:p>
            <a:pPr algn="ctr">
              <a:lnSpc>
                <a:spcPts val="4365"/>
              </a:lnSpc>
            </a:pPr>
            <a:r>
              <a:rPr lang="en-US" sz="3399" b="1" dirty="0">
                <a:solidFill>
                  <a:srgbClr val="000000"/>
                </a:solidFill>
                <a:latin typeface="Arial Bold"/>
                <a:ea typeface="Arial Bold"/>
                <a:cs typeface="Arial Bold"/>
                <a:sym typeface="Arial Bold"/>
              </a:rPr>
              <a:t>ĐÃ CẬP NHẬT TRÊN FEOL 2.0 NHƯNG KHÔNG THÀNH CÔNG</a:t>
            </a:r>
          </a:p>
          <a:p>
            <a:pPr algn="ctr">
              <a:lnSpc>
                <a:spcPts val="4365"/>
              </a:lnSpc>
            </a:pPr>
            <a:r>
              <a:rPr lang="en-US" sz="3399" b="1" dirty="0">
                <a:solidFill>
                  <a:srgbClr val="000000"/>
                </a:solidFill>
                <a:latin typeface="Arial Bold"/>
                <a:ea typeface="Arial Bold"/>
                <a:cs typeface="Arial Bold"/>
                <a:sym typeface="Arial Bold"/>
              </a:rPr>
              <a:t>(LỖI KHÁC – CẬP NHẬT THỦ CÔNG)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913120"/>
            <a:chOff x="0" y="0"/>
            <a:chExt cx="24384000" cy="7884160"/>
          </a:xfrm>
        </p:grpSpPr>
        <p:sp>
          <p:nvSpPr>
            <p:cNvPr id="3" name="Freeform 3"/>
            <p:cNvSpPr/>
            <p:nvPr/>
          </p:nvSpPr>
          <p:spPr>
            <a:xfrm>
              <a:off x="0" y="0"/>
              <a:ext cx="24384000" cy="7884160"/>
            </a:xfrm>
            <a:custGeom>
              <a:avLst/>
              <a:gdLst/>
              <a:ahLst/>
              <a:cxnLst/>
              <a:rect l="l" t="t" r="r" b="b"/>
              <a:pathLst>
                <a:path w="24384000" h="7884160">
                  <a:moveTo>
                    <a:pt x="0" y="0"/>
                  </a:moveTo>
                  <a:lnTo>
                    <a:pt x="24384000" y="0"/>
                  </a:lnTo>
                  <a:lnTo>
                    <a:pt x="24384000" y="7884160"/>
                  </a:lnTo>
                  <a:lnTo>
                    <a:pt x="0" y="7884160"/>
                  </a:lnTo>
                  <a:lnTo>
                    <a:pt x="0" y="0"/>
                  </a:lnTo>
                  <a:close/>
                </a:path>
              </a:pathLst>
            </a:custGeom>
            <a:blipFill>
              <a:blip r:embed="rId2"/>
              <a:stretch>
                <a:fillRect t="-49" b="-49"/>
              </a:stretch>
            </a:blipFill>
          </p:spPr>
        </p:sp>
      </p:grpSp>
      <p:sp>
        <p:nvSpPr>
          <p:cNvPr id="4" name="Freeform 4"/>
          <p:cNvSpPr/>
          <p:nvPr/>
        </p:nvSpPr>
        <p:spPr>
          <a:xfrm>
            <a:off x="-299466" y="6694294"/>
            <a:ext cx="18886932" cy="1885045"/>
          </a:xfrm>
          <a:custGeom>
            <a:avLst/>
            <a:gdLst/>
            <a:ahLst/>
            <a:cxnLst/>
            <a:rect l="l" t="t" r="r" b="b"/>
            <a:pathLst>
              <a:path w="18886932" h="1885045">
                <a:moveTo>
                  <a:pt x="0" y="0"/>
                </a:moveTo>
                <a:lnTo>
                  <a:pt x="18886932" y="0"/>
                </a:lnTo>
                <a:lnTo>
                  <a:pt x="18886932" y="1885045"/>
                </a:lnTo>
                <a:lnTo>
                  <a:pt x="0" y="18850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920240" y="7018430"/>
            <a:ext cx="14630400" cy="1131380"/>
          </a:xfrm>
          <a:prstGeom prst="rect">
            <a:avLst/>
          </a:prstGeom>
        </p:spPr>
        <p:txBody>
          <a:bodyPr lIns="0" tIns="0" rIns="0" bIns="0" rtlCol="0" anchor="t">
            <a:spAutoFit/>
          </a:bodyPr>
          <a:lstStyle/>
          <a:p>
            <a:pPr algn="ctr">
              <a:lnSpc>
                <a:spcPts val="8118"/>
              </a:lnSpc>
            </a:pPr>
            <a:r>
              <a:rPr lang="en-US" sz="5798" b="1">
                <a:solidFill>
                  <a:srgbClr val="FFFFFF"/>
                </a:solidFill>
                <a:latin typeface="Arial Bold"/>
                <a:ea typeface="Arial Bold"/>
                <a:cs typeface="Arial Bold"/>
                <a:sym typeface="Arial Bold"/>
              </a:rPr>
              <a:t>CẬP NHẬT CCCD - THẺ TÍN DỤNG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710946" y="213141"/>
            <a:ext cx="19709892" cy="1885045"/>
          </a:xfrm>
          <a:custGeom>
            <a:avLst/>
            <a:gdLst/>
            <a:ahLst/>
            <a:cxnLst/>
            <a:rect l="l" t="t" r="r" b="b"/>
            <a:pathLst>
              <a:path w="19709892" h="1885045">
                <a:moveTo>
                  <a:pt x="0" y="0"/>
                </a:moveTo>
                <a:lnTo>
                  <a:pt x="19709892" y="0"/>
                </a:lnTo>
                <a:lnTo>
                  <a:pt x="19709892" y="1885045"/>
                </a:lnTo>
                <a:lnTo>
                  <a:pt x="0" y="18850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605477" y="537286"/>
            <a:ext cx="15267889" cy="1131380"/>
          </a:xfrm>
          <a:prstGeom prst="rect">
            <a:avLst/>
          </a:prstGeom>
        </p:spPr>
        <p:txBody>
          <a:bodyPr lIns="0" tIns="0" rIns="0" bIns="0" rtlCol="0" anchor="t">
            <a:spAutoFit/>
          </a:bodyPr>
          <a:lstStyle/>
          <a:p>
            <a:pPr algn="ctr">
              <a:lnSpc>
                <a:spcPts val="8118"/>
              </a:lnSpc>
            </a:pPr>
            <a:r>
              <a:rPr lang="en-US" sz="5798" b="1">
                <a:solidFill>
                  <a:srgbClr val="FFFFFF"/>
                </a:solidFill>
                <a:latin typeface="Arial Bold"/>
                <a:ea typeface="Arial Bold"/>
                <a:cs typeface="Arial Bold"/>
                <a:sym typeface="Arial Bold"/>
              </a:rPr>
              <a:t>CẬP NHẬT CCCD</a:t>
            </a:r>
          </a:p>
        </p:txBody>
      </p:sp>
      <p:sp>
        <p:nvSpPr>
          <p:cNvPr id="6" name="TextBox 6"/>
          <p:cNvSpPr txBox="1"/>
          <p:nvPr/>
        </p:nvSpPr>
        <p:spPr>
          <a:xfrm>
            <a:off x="4387668" y="3799086"/>
            <a:ext cx="9512664" cy="698475"/>
          </a:xfrm>
          <a:prstGeom prst="rect">
            <a:avLst/>
          </a:prstGeom>
        </p:spPr>
        <p:txBody>
          <a:bodyPr lIns="0" tIns="0" rIns="0" bIns="0" rtlCol="0" anchor="t">
            <a:spAutoFit/>
          </a:bodyPr>
          <a:lstStyle/>
          <a:p>
            <a:pPr marL="733844" lvl="1" indent="-366922" algn="l">
              <a:lnSpc>
                <a:spcPts val="5779"/>
              </a:lnSpc>
              <a:buFont typeface="Arial"/>
              <a:buChar char="•"/>
            </a:pPr>
            <a:r>
              <a:rPr lang="en-US" sz="3399" b="1">
                <a:solidFill>
                  <a:srgbClr val="00974E"/>
                </a:solidFill>
                <a:latin typeface="Arial Bold"/>
                <a:ea typeface="Arial Bold"/>
                <a:cs typeface="Arial Bold"/>
                <a:sym typeface="Arial Bold"/>
              </a:rPr>
              <a:t>CẬP NHẬT SỐ/ NGÀY CẤP/ NƠI CẤP</a:t>
            </a:r>
          </a:p>
        </p:txBody>
      </p:sp>
      <p:sp>
        <p:nvSpPr>
          <p:cNvPr id="7" name="TextBox 7"/>
          <p:cNvSpPr txBox="1"/>
          <p:nvPr/>
        </p:nvSpPr>
        <p:spPr>
          <a:xfrm>
            <a:off x="4387668" y="4875039"/>
            <a:ext cx="9229533" cy="1431900"/>
          </a:xfrm>
          <a:prstGeom prst="rect">
            <a:avLst/>
          </a:prstGeom>
        </p:spPr>
        <p:txBody>
          <a:bodyPr lIns="0" tIns="0" rIns="0" bIns="0" rtlCol="0" anchor="t">
            <a:spAutoFit/>
          </a:bodyPr>
          <a:lstStyle/>
          <a:p>
            <a:pPr marL="733844" lvl="1" indent="-366922" algn="l">
              <a:lnSpc>
                <a:spcPts val="5779"/>
              </a:lnSpc>
              <a:buFont typeface="Arial"/>
              <a:buChar char="•"/>
            </a:pPr>
            <a:r>
              <a:rPr lang="en-US" sz="3399" b="1">
                <a:solidFill>
                  <a:srgbClr val="00974E"/>
                </a:solidFill>
                <a:latin typeface="Arial Bold"/>
                <a:ea typeface="Arial Bold"/>
                <a:cs typeface="Arial Bold"/>
                <a:sym typeface="Arial Bold"/>
              </a:rPr>
              <a:t>CẬP NHẬT HỌ TÊN/ NGÀY THÁNG NĂM SINH/GIỚI TÍNH/ TÊN IN NỔI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graphicFrame>
        <p:nvGraphicFramePr>
          <p:cNvPr id="4" name="Table 4"/>
          <p:cNvGraphicFramePr>
            <a:graphicFrameLocks noGrp="1"/>
          </p:cNvGraphicFramePr>
          <p:nvPr/>
        </p:nvGraphicFramePr>
        <p:xfrm>
          <a:off x="925166" y="953827"/>
          <a:ext cx="16395700" cy="6484238"/>
        </p:xfrm>
        <a:graphic>
          <a:graphicData uri="http://schemas.openxmlformats.org/drawingml/2006/table">
            <a:tbl>
              <a:tblPr/>
              <a:tblGrid>
                <a:gridCol w="2002397">
                  <a:extLst>
                    <a:ext uri="{9D8B030D-6E8A-4147-A177-3AD203B41FA5}">
                      <a16:colId xmlns:a16="http://schemas.microsoft.com/office/drawing/2014/main" val="20000"/>
                    </a:ext>
                  </a:extLst>
                </a:gridCol>
                <a:gridCol w="14393303">
                  <a:extLst>
                    <a:ext uri="{9D8B030D-6E8A-4147-A177-3AD203B41FA5}">
                      <a16:colId xmlns:a16="http://schemas.microsoft.com/office/drawing/2014/main" val="20001"/>
                    </a:ext>
                  </a:extLst>
                </a:gridCol>
              </a:tblGrid>
              <a:tr h="897125">
                <a:tc gridSpan="2">
                  <a:txBody>
                    <a:bodyPr/>
                    <a:lstStyle/>
                    <a:p>
                      <a:pPr algn="ctr">
                        <a:lnSpc>
                          <a:spcPts val="3600"/>
                        </a:lnSpc>
                        <a:defRPr/>
                      </a:pPr>
                      <a:r>
                        <a:rPr lang="en-US" sz="2000" b="1">
                          <a:solidFill>
                            <a:srgbClr val="FFFFFF"/>
                          </a:solidFill>
                          <a:latin typeface="Arial Bold"/>
                          <a:ea typeface="Arial Bold"/>
                          <a:cs typeface="Arial Bold"/>
                          <a:sym typeface="Arial Bold"/>
                        </a:rPr>
                        <a:t>ĐIỀU KIỆN HỖ TRỢ</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BA645"/>
                    </a:solidFill>
                  </a:tcPr>
                </a:tc>
                <a:tc hMerge="1">
                  <a:txBody>
                    <a:bodyPr/>
                    <a:lstStyle/>
                    <a:p>
                      <a:pPr algn="ctr">
                        <a:lnSpc>
                          <a:spcPts val="3600"/>
                        </a:lnSpc>
                        <a:defRPr/>
                      </a:pPr>
                      <a:r>
                        <a:rPr lang="en-US" sz="2000" b="1">
                          <a:solidFill>
                            <a:srgbClr val="FFFFFF"/>
                          </a:solidFill>
                          <a:latin typeface="Arial Bold"/>
                          <a:ea typeface="Arial Bold"/>
                          <a:cs typeface="Arial Bold"/>
                          <a:sym typeface="Arial Bold"/>
                        </a:rPr>
                        <a:t>ĐIỀU KIỆN HỖ TRỢ</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BA645"/>
                    </a:solidFill>
                  </a:tcPr>
                </a:tc>
                <a:extLst>
                  <a:ext uri="{0D108BD9-81ED-4DB2-BD59-A6C34878D82A}">
                    <a16:rowId xmlns:a16="http://schemas.microsoft.com/office/drawing/2014/main" val="10000"/>
                  </a:ext>
                </a:extLst>
              </a:tr>
              <a:tr h="852246">
                <a:tc>
                  <a:txBody>
                    <a:bodyPr/>
                    <a:lstStyle/>
                    <a:p>
                      <a:pPr algn="ctr">
                        <a:lnSpc>
                          <a:spcPts val="5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5000"/>
                        </a:lnSpc>
                        <a:defRPr/>
                      </a:pPr>
                      <a:r>
                        <a:rPr lang="en-US" sz="2000">
                          <a:solidFill>
                            <a:srgbClr val="000000"/>
                          </a:solidFill>
                          <a:latin typeface="Arial"/>
                          <a:ea typeface="Arial"/>
                          <a:cs typeface="Arial"/>
                          <a:sym typeface="Arial"/>
                        </a:rPr>
                        <a:t>Không có status Z, 8, 9</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852246">
                <a:tc>
                  <a:txBody>
                    <a:bodyPr/>
                    <a:lstStyle/>
                    <a:p>
                      <a:pPr algn="ctr">
                        <a:lnSpc>
                          <a:spcPts val="5000"/>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5000"/>
                        </a:lnSpc>
                        <a:defRPr/>
                      </a:pPr>
                      <a:r>
                        <a:rPr lang="en-US" sz="2000">
                          <a:solidFill>
                            <a:srgbClr val="000000"/>
                          </a:solidFill>
                          <a:latin typeface="Arial"/>
                          <a:ea typeface="Arial"/>
                          <a:cs typeface="Arial"/>
                          <a:sym typeface="Arial"/>
                        </a:rPr>
                        <a:t>Không có các Block code F, G, N trên ARQB</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2629439">
                <a:tc>
                  <a:txBody>
                    <a:bodyPr/>
                    <a:lstStyle/>
                    <a:p>
                      <a:pPr algn="ctr">
                        <a:lnSpc>
                          <a:spcPts val="5000"/>
                        </a:lnSpc>
                        <a:defRPr/>
                      </a:pPr>
                      <a:r>
                        <a:rPr lang="en-US" sz="2000" b="1">
                          <a:solidFill>
                            <a:srgbClr val="000000"/>
                          </a:solidFill>
                          <a:latin typeface="Arial Bold"/>
                          <a:ea typeface="Arial Bold"/>
                          <a:cs typeface="Arial Bold"/>
                          <a:sym typeface="Arial Bold"/>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5000"/>
                        </a:lnSpc>
                        <a:defRPr/>
                      </a:pPr>
                      <a:r>
                        <a:rPr lang="en-US" sz="2000">
                          <a:solidFill>
                            <a:srgbClr val="000000"/>
                          </a:solidFill>
                          <a:latin typeface="Arial"/>
                          <a:ea typeface="Arial"/>
                          <a:cs typeface="Arial"/>
                          <a:sym typeface="Arial"/>
                        </a:rPr>
                        <a:t>KH dùng đúng SĐT đăng ký liên hệ tổng đài XMTT</a:t>
                      </a:r>
                      <a:endParaRPr lang="en-US" sz="1100"/>
                    </a:p>
                    <a:p>
                      <a:pPr marL="457201" lvl="2" indent="-152400" algn="just">
                        <a:lnSpc>
                          <a:spcPts val="5000"/>
                        </a:lnSpc>
                        <a:buFont typeface="Arial"/>
                        <a:buChar char="⚬"/>
                      </a:pPr>
                      <a:r>
                        <a:rPr lang="en-US" sz="2000" b="1">
                          <a:solidFill>
                            <a:srgbClr val="000000"/>
                          </a:solidFill>
                          <a:latin typeface="Arial Bold"/>
                          <a:ea typeface="Arial Bold"/>
                          <a:cs typeface="Arial Bold"/>
                          <a:sym typeface="Arial Bold"/>
                        </a:rPr>
                        <a:t>Inbound: </a:t>
                      </a:r>
                      <a:r>
                        <a:rPr lang="en-US" sz="2000">
                          <a:solidFill>
                            <a:srgbClr val="000000"/>
                          </a:solidFill>
                          <a:latin typeface="Arial"/>
                          <a:ea typeface="Arial"/>
                          <a:cs typeface="Arial"/>
                          <a:sym typeface="Arial"/>
                        </a:rPr>
                        <a:t>Nếu quá 5 ngày làm việc kể từ thời điểm nhận ticket XMTT thành công gần nhất nhưng KH chưa gửi chứng từ, KH cần thực hiện XMTT lại từ đầu</a:t>
                      </a:r>
                    </a:p>
                    <a:p>
                      <a:pPr marL="457201" lvl="2" indent="-152400" algn="just">
                        <a:lnSpc>
                          <a:spcPts val="5000"/>
                        </a:lnSpc>
                        <a:buFont typeface="Arial"/>
                        <a:buChar char="⚬"/>
                      </a:pPr>
                      <a:r>
                        <a:rPr lang="en-US" sz="2000" b="1">
                          <a:solidFill>
                            <a:srgbClr val="000000"/>
                          </a:solidFill>
                          <a:latin typeface="Arial Bold"/>
                          <a:ea typeface="Arial Bold"/>
                          <a:cs typeface="Arial Bold"/>
                          <a:sym typeface="Arial Bold"/>
                        </a:rPr>
                        <a:t>Ecom:</a:t>
                      </a:r>
                      <a:r>
                        <a:rPr lang="en-US" sz="2000">
                          <a:solidFill>
                            <a:srgbClr val="000000"/>
                          </a:solidFill>
                          <a:latin typeface="Arial"/>
                          <a:ea typeface="Arial"/>
                          <a:cs typeface="Arial"/>
                          <a:sym typeface="Arial"/>
                        </a:rPr>
                        <a:t> kiểm tra ticket XMTT thành công của IB trong vòng 4 tuần</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852246">
                <a:tc>
                  <a:txBody>
                    <a:bodyPr/>
                    <a:lstStyle/>
                    <a:p>
                      <a:pPr algn="ctr">
                        <a:lnSpc>
                          <a:spcPts val="5000"/>
                        </a:lnSpc>
                        <a:defRPr/>
                      </a:pPr>
                      <a:r>
                        <a:rPr lang="en-US" sz="2000" b="1">
                          <a:solidFill>
                            <a:srgbClr val="000000"/>
                          </a:solidFill>
                          <a:latin typeface="Arial Bold"/>
                          <a:ea typeface="Arial Bold"/>
                          <a:cs typeface="Arial Bold"/>
                          <a:sym typeface="Arial Bold"/>
                        </a:rPr>
                        <a:t>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5000"/>
                        </a:lnSpc>
                        <a:defRPr/>
                      </a:pPr>
                      <a:r>
                        <a:rPr lang="en-US" sz="2000">
                          <a:solidFill>
                            <a:srgbClr val="000000"/>
                          </a:solidFill>
                          <a:latin typeface="Arial"/>
                          <a:ea typeface="Arial"/>
                          <a:cs typeface="Arial"/>
                          <a:sym typeface="Arial"/>
                        </a:rPr>
                        <a:t>KH cần cung đủ cấp hình ảnh/chứng từ</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89990034"/>
              </p:ext>
            </p:extLst>
          </p:nvPr>
        </p:nvGraphicFramePr>
        <p:xfrm>
          <a:off x="292100" y="1865505"/>
          <a:ext cx="17703800" cy="6997699"/>
        </p:xfrm>
        <a:graphic>
          <a:graphicData uri="http://schemas.openxmlformats.org/drawingml/2006/table">
            <a:tbl>
              <a:tblPr/>
              <a:tblGrid>
                <a:gridCol w="1017699">
                  <a:extLst>
                    <a:ext uri="{9D8B030D-6E8A-4147-A177-3AD203B41FA5}">
                      <a16:colId xmlns:a16="http://schemas.microsoft.com/office/drawing/2014/main" val="20000"/>
                    </a:ext>
                  </a:extLst>
                </a:gridCol>
                <a:gridCol w="4077963">
                  <a:extLst>
                    <a:ext uri="{9D8B030D-6E8A-4147-A177-3AD203B41FA5}">
                      <a16:colId xmlns:a16="http://schemas.microsoft.com/office/drawing/2014/main" val="20001"/>
                    </a:ext>
                  </a:extLst>
                </a:gridCol>
                <a:gridCol w="5663535">
                  <a:extLst>
                    <a:ext uri="{9D8B030D-6E8A-4147-A177-3AD203B41FA5}">
                      <a16:colId xmlns:a16="http://schemas.microsoft.com/office/drawing/2014/main" val="20002"/>
                    </a:ext>
                  </a:extLst>
                </a:gridCol>
                <a:gridCol w="6944603">
                  <a:extLst>
                    <a:ext uri="{9D8B030D-6E8A-4147-A177-3AD203B41FA5}">
                      <a16:colId xmlns:a16="http://schemas.microsoft.com/office/drawing/2014/main" val="20003"/>
                    </a:ext>
                  </a:extLst>
                </a:gridCol>
              </a:tblGrid>
              <a:tr h="887046">
                <a:tc>
                  <a:txBody>
                    <a:bodyPr/>
                    <a:lstStyle/>
                    <a:p>
                      <a:pPr algn="ctr">
                        <a:lnSpc>
                          <a:spcPts val="3600"/>
                        </a:lnSpc>
                        <a:defRPr/>
                      </a:pPr>
                      <a:r>
                        <a:rPr lang="en-US" sz="2000" b="1" spc="9">
                          <a:solidFill>
                            <a:srgbClr val="FFFFFF"/>
                          </a:solidFill>
                          <a:latin typeface="Arial Bold"/>
                          <a:ea typeface="Arial Bold"/>
                          <a:cs typeface="Arial Bold"/>
                          <a:sym typeface="Arial Bold"/>
                        </a:rPr>
                        <a:t>STT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gridSpan="2">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14441">
                <a:tc>
                  <a:txBody>
                    <a:bodyPr/>
                    <a:lstStyle/>
                    <a:p>
                      <a:pPr algn="ctr">
                        <a:lnSpc>
                          <a:spcPts val="3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Chưa Cập Nhật Trên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3000"/>
                        </a:lnSpc>
                        <a:defRPr/>
                      </a:pPr>
                      <a:r>
                        <a:rPr lang="en-US" sz="2000">
                          <a:solidFill>
                            <a:srgbClr val="000000"/>
                          </a:solidFill>
                          <a:latin typeface="Arial"/>
                          <a:ea typeface="Arial"/>
                          <a:cs typeface="Arial"/>
                          <a:sym typeface="Arial"/>
                        </a:rPr>
                        <a:t>Hướng dẫn KH tải ứng dụng và cập nhật CCCD trên FEOL 2.0 (</a:t>
                      </a:r>
                      <a:r>
                        <a:rPr lang="en-US" sz="2000" b="1" i="1" u="sng">
                          <a:solidFill>
                            <a:srgbClr val="4DA745"/>
                          </a:solidFill>
                          <a:latin typeface="Arial Bold Italics"/>
                          <a:ea typeface="Arial Bold Italics"/>
                          <a:cs typeface="Arial Bold Italics"/>
                          <a:sym typeface="Arial Bold Italics"/>
                        </a:rPr>
                        <a:t>xem chi tiết</a:t>
                      </a:r>
                      <a:r>
                        <a:rPr lang="en-US" sz="2000">
                          <a:solidFill>
                            <a:srgbClr val="000000"/>
                          </a:solidFill>
                          <a:latin typeface="Arial"/>
                          <a:ea typeface="Arial"/>
                          <a:cs typeface="Arial"/>
                          <a:sym typeface="Arial"/>
                        </a:rPr>
                        <a:t>) (tham khảo các bước </a:t>
                      </a:r>
                      <a:r>
                        <a:rPr lang="en-US" sz="2000" b="1" i="1" u="sng">
                          <a:solidFill>
                            <a:srgbClr val="4DA745"/>
                          </a:solidFill>
                          <a:latin typeface="Arial Bold Italics"/>
                          <a:ea typeface="Arial Bold Italics"/>
                          <a:cs typeface="Arial Bold Italics"/>
                          <a:sym typeface="Arial Bold Italics"/>
                        </a:rPr>
                        <a:t>tại đây</a:t>
                      </a:r>
                      <a:r>
                        <a:rPr lang="en-US" sz="2000">
                          <a:solidFill>
                            <a:srgbClr val="000000"/>
                          </a:solidFill>
                          <a:latin typeface="Arial"/>
                          <a:ea typeface="Arial"/>
                          <a:cs typeface="Arial"/>
                          <a:sym typeface="Arial"/>
                        </a:rPr>
                        <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3000"/>
                        </a:lnSpc>
                        <a:defRPr/>
                      </a:pPr>
                      <a:r>
                        <a:rPr lang="en-US" sz="2000">
                          <a:solidFill>
                            <a:srgbClr val="000000"/>
                          </a:solidFill>
                          <a:latin typeface="Arial"/>
                          <a:ea typeface="Arial"/>
                          <a:cs typeface="Arial"/>
                          <a:sym typeface="Arial"/>
                        </a:rPr>
                        <a:t>Hướng dẫn KH tải ứng dụng và cập nhật CCCD trên FEOL 2.0 (</a:t>
                      </a:r>
                      <a:r>
                        <a:rPr lang="en-US" sz="2000" b="1" i="1" u="sng">
                          <a:solidFill>
                            <a:srgbClr val="4DA745"/>
                          </a:solidFill>
                          <a:latin typeface="Arial Bold Italics"/>
                          <a:ea typeface="Arial Bold Italics"/>
                          <a:cs typeface="Arial Bold Italics"/>
                          <a:sym typeface="Arial Bold Italics"/>
                        </a:rPr>
                        <a:t>xem chi tiết</a:t>
                      </a:r>
                      <a:r>
                        <a:rPr lang="en-US" sz="2000">
                          <a:solidFill>
                            <a:srgbClr val="000000"/>
                          </a:solidFill>
                          <a:latin typeface="Arial"/>
                          <a:ea typeface="Arial"/>
                          <a:cs typeface="Arial"/>
                          <a:sym typeface="Arial"/>
                        </a:rPr>
                        <a:t>) (tham khảo các bước </a:t>
                      </a:r>
                      <a:r>
                        <a:rPr lang="en-US" sz="2000" b="1" i="1" u="sng">
                          <a:solidFill>
                            <a:srgbClr val="4DA745"/>
                          </a:solidFill>
                          <a:latin typeface="Arial Bold Italics"/>
                          <a:ea typeface="Arial Bold Italics"/>
                          <a:cs typeface="Arial Bold Italics"/>
                          <a:sym typeface="Arial Bold Italics"/>
                        </a:rPr>
                        <a:t>tại đây</a:t>
                      </a:r>
                      <a:r>
                        <a:rPr lang="en-US" sz="2000">
                          <a:solidFill>
                            <a:srgbClr val="000000"/>
                          </a:solidFill>
                          <a:latin typeface="Arial"/>
                          <a:ea typeface="Arial"/>
                          <a:cs typeface="Arial"/>
                          <a:sym typeface="Arial"/>
                        </a:rPr>
                        <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214441">
                <a:tc rowSpan="2">
                  <a:txBody>
                    <a:bodyPr/>
                    <a:lstStyle/>
                    <a:p>
                      <a:pPr algn="ctr">
                        <a:lnSpc>
                          <a:spcPts val="3000"/>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3000"/>
                        </a:lnSpc>
                        <a:defRPr/>
                      </a:pPr>
                      <a:r>
                        <a:rPr lang="en-US" sz="2000" b="1">
                          <a:solidFill>
                            <a:srgbClr val="000000"/>
                          </a:solidFill>
                          <a:latin typeface="Arial Bold"/>
                          <a:ea typeface="Arial Bold"/>
                          <a:cs typeface="Arial Bold"/>
                          <a:sym typeface="Arial Bold"/>
                        </a:rPr>
                        <a:t>Đã Cập Nhật Trên FEOL 2.0 Nhưng Không Thành Công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3000"/>
                        </a:lnSpc>
                        <a:defRPr/>
                      </a:pPr>
                      <a:r>
                        <a:rPr lang="en-US" sz="2000" b="1" dirty="0" err="1">
                          <a:solidFill>
                            <a:srgbClr val="000000"/>
                          </a:solidFill>
                          <a:latin typeface="Arial Bold"/>
                          <a:ea typeface="Arial Bold"/>
                          <a:cs typeface="Arial Bold"/>
                          <a:sym typeface="Arial Bold"/>
                        </a:rPr>
                        <a:t>Kiểm</a:t>
                      </a:r>
                      <a:r>
                        <a:rPr lang="en-US" sz="2000" b="1" dirty="0">
                          <a:solidFill>
                            <a:srgbClr val="000000"/>
                          </a:solidFill>
                          <a:latin typeface="Arial Bold"/>
                          <a:ea typeface="Arial Bold"/>
                          <a:cs typeface="Arial Bold"/>
                          <a:sym typeface="Arial Bold"/>
                        </a:rPr>
                        <a:t> tra file </a:t>
                      </a:r>
                      <a:r>
                        <a:rPr lang="en-US" sz="2000" b="1" i="1" u="sng" dirty="0" err="1">
                          <a:solidFill>
                            <a:srgbClr val="4DA745"/>
                          </a:solidFill>
                          <a:latin typeface="Arial Bold Italics"/>
                          <a:ea typeface="Arial Bold Italics"/>
                          <a:cs typeface="Arial Bold Italics"/>
                          <a:sym typeface="Arial Bold Italics"/>
                        </a:rPr>
                        <a:t>Lỗi</a:t>
                      </a:r>
                      <a:r>
                        <a:rPr lang="en-US" sz="2000" b="1" i="1" u="sng" dirty="0">
                          <a:solidFill>
                            <a:srgbClr val="4DA745"/>
                          </a:solidFill>
                          <a:latin typeface="Arial Bold Italics"/>
                          <a:ea typeface="Arial Bold Italics"/>
                          <a:cs typeface="Arial Bold Italics"/>
                          <a:sym typeface="Arial Bold Italics"/>
                        </a:rPr>
                        <a:t> tính </a:t>
                      </a:r>
                      <a:r>
                        <a:rPr lang="en-US" sz="2000" b="1" i="1" u="sng" dirty="0" err="1">
                          <a:solidFill>
                            <a:srgbClr val="4DA745"/>
                          </a:solidFill>
                          <a:latin typeface="Arial Bold Italics"/>
                          <a:ea typeface="Arial Bold Italics"/>
                          <a:cs typeface="Arial Bold Italics"/>
                          <a:sym typeface="Arial Bold Italics"/>
                        </a:rPr>
                        <a:t>năng</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cập</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nhật</a:t>
                      </a:r>
                      <a:r>
                        <a:rPr lang="en-US" sz="2000" b="1" i="1" u="sng" dirty="0">
                          <a:solidFill>
                            <a:srgbClr val="4DA745"/>
                          </a:solidFill>
                          <a:latin typeface="Arial Bold Italics"/>
                          <a:ea typeface="Arial Bold Italics"/>
                          <a:cs typeface="Arial Bold Italics"/>
                          <a:sym typeface="Arial Bold Italics"/>
                        </a:rPr>
                        <a:t> CCCD</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a:solidFill>
                            <a:srgbClr val="000000"/>
                          </a:solidFill>
                          <a:latin typeface="Arial"/>
                          <a:ea typeface="Arial"/>
                          <a:cs typeface="Arial"/>
                          <a:sym typeface="Arial"/>
                        </a:rPr>
                        <a:t> Thuộc file lỗi: Thực hiện theo hướng dẫn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1227257">
                <a:tc vMerge="1">
                  <a:txBody>
                    <a:bodyPr/>
                    <a:lstStyle/>
                    <a:p>
                      <a:pPr algn="ctr">
                        <a:lnSpc>
                          <a:spcPts val="3000"/>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000"/>
                        </a:lnSpc>
                        <a:defRPr/>
                      </a:pPr>
                      <a:r>
                        <a:rPr lang="en-US" sz="2000" b="1">
                          <a:solidFill>
                            <a:srgbClr val="000000"/>
                          </a:solidFill>
                          <a:latin typeface="Arial Bold"/>
                          <a:ea typeface="Arial Bold"/>
                          <a:cs typeface="Arial Bold"/>
                          <a:sym typeface="Arial Bold"/>
                        </a:rPr>
                        <a:t>Đã Cập Nhật Trên FEOL 2.0 Nhưng Không Thành Công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000"/>
                        </a:lnSpc>
                        <a:defRPr/>
                      </a:pPr>
                      <a:r>
                        <a:rPr lang="en-US" sz="2000" b="1">
                          <a:solidFill>
                            <a:srgbClr val="000000"/>
                          </a:solidFill>
                          <a:latin typeface="Arial Bold"/>
                          <a:ea typeface="Arial Bold"/>
                          <a:cs typeface="Arial Bold"/>
                          <a:sym typeface="Arial Bold"/>
                        </a:rPr>
                        <a:t>Kiểm tra file </a:t>
                      </a:r>
                      <a:r>
                        <a:rPr lang="en-US" sz="2000" b="1" i="1" u="sng">
                          <a:solidFill>
                            <a:srgbClr val="4DA745"/>
                          </a:solidFill>
                          <a:latin typeface="Arial Bold Italics"/>
                          <a:ea typeface="Arial Bold Italics"/>
                          <a:cs typeface="Arial Bold Italics"/>
                          <a:sym typeface="Arial Bold Italics"/>
                        </a:rPr>
                        <a:t>Lỗi tính năng cập nhật CCCD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a:solidFill>
                            <a:srgbClr val="000000"/>
                          </a:solidFill>
                          <a:latin typeface="Arial"/>
                          <a:ea typeface="Arial"/>
                          <a:cs typeface="Arial"/>
                          <a:sym typeface="Arial"/>
                        </a:rPr>
                        <a:t> Không thuộc file lỗi: Xử lý theo </a:t>
                      </a:r>
                      <a:r>
                        <a:rPr lang="en-US" sz="2000" b="1" i="1" u="sng">
                          <a:solidFill>
                            <a:srgbClr val="4DA745"/>
                          </a:solidFill>
                          <a:latin typeface="Arial Bold Italics"/>
                          <a:ea typeface="Arial Bold Italics"/>
                          <a:cs typeface="Arial Bold Italics"/>
                          <a:sym typeface="Arial Bold Italics"/>
                        </a:rPr>
                        <a:t>Cập nhật thủ công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1227257">
                <a:tc>
                  <a:txBody>
                    <a:bodyPr/>
                    <a:lstStyle/>
                    <a:p>
                      <a:pPr algn="ctr">
                        <a:lnSpc>
                          <a:spcPts val="3000"/>
                        </a:lnSpc>
                        <a:defRPr/>
                      </a:pPr>
                      <a:r>
                        <a:rPr lang="en-US" sz="2000" b="1">
                          <a:solidFill>
                            <a:srgbClr val="000000"/>
                          </a:solidFill>
                          <a:latin typeface="Arial Bold"/>
                          <a:ea typeface="Arial Bold"/>
                          <a:cs typeface="Arial Bold"/>
                          <a:sym typeface="Arial Bold"/>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Đã Cập Nhật Trên FEOL 2.0 Nhưng Không Đồng Bộ</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3000"/>
                        </a:lnSpc>
                        <a:defRPr/>
                      </a:pPr>
                      <a:r>
                        <a:rPr lang="en-US" sz="2000" b="1" i="1" u="sng">
                          <a:solidFill>
                            <a:srgbClr val="4DA745"/>
                          </a:solidFill>
                          <a:latin typeface="Arial Bold Italics"/>
                          <a:ea typeface="Arial Bold Italics"/>
                          <a:cs typeface="Arial Bold Italics"/>
                          <a:sym typeface="Arial Bold Italics"/>
                        </a:rPr>
                        <a:t>Cập nhật thủ công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3000"/>
                        </a:lnSpc>
                        <a:defRPr/>
                      </a:pPr>
                      <a:r>
                        <a:rPr lang="en-US" sz="2000" b="1" i="1" u="sng">
                          <a:solidFill>
                            <a:srgbClr val="4DA745"/>
                          </a:solidFill>
                          <a:latin typeface="Arial Bold Italics"/>
                          <a:ea typeface="Arial Bold Italics"/>
                          <a:cs typeface="Arial Bold Italics"/>
                          <a:sym typeface="Arial Bold Italics"/>
                        </a:rPr>
                        <a:t>Cập nhật thủ công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r h="1227257">
                <a:tc>
                  <a:txBody>
                    <a:bodyPr/>
                    <a:lstStyle/>
                    <a:p>
                      <a:pPr algn="ctr">
                        <a:lnSpc>
                          <a:spcPts val="3000"/>
                        </a:lnSpc>
                        <a:defRPr/>
                      </a:pPr>
                      <a:r>
                        <a:rPr lang="en-US" sz="2000" b="1">
                          <a:solidFill>
                            <a:srgbClr val="000000"/>
                          </a:solidFill>
                          <a:latin typeface="Arial Bold"/>
                          <a:ea typeface="Arial Bold"/>
                          <a:cs typeface="Arial Bold"/>
                          <a:sym typeface="Arial Bold"/>
                        </a:rPr>
                        <a:t>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Đồng Bộ Ngày Cấp/Nơi Cấp CCCD từ CMS lên Pega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3000"/>
                        </a:lnSpc>
                        <a:defRPr/>
                      </a:pPr>
                      <a:r>
                        <a:rPr lang="en-US" sz="2000" b="1" i="1" u="sng" dirty="0" err="1">
                          <a:solidFill>
                            <a:srgbClr val="4DA745"/>
                          </a:solidFill>
                          <a:latin typeface="Arial Bold Italics"/>
                          <a:ea typeface="Arial Bold Italics"/>
                          <a:cs typeface="Arial Bold Italics"/>
                          <a:sym typeface="Arial Bold Italics"/>
                        </a:rPr>
                        <a:t>Cập</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nhật</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thủ</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công</a:t>
                      </a:r>
                      <a:r>
                        <a:rPr lang="en-US" sz="2000" b="1" i="1" u="sng" dirty="0">
                          <a:solidFill>
                            <a:srgbClr val="4DA745"/>
                          </a:solidFill>
                          <a:latin typeface="Arial Bold Italics"/>
                          <a:ea typeface="Arial Bold Italics"/>
                          <a:cs typeface="Arial Bold Italics"/>
                          <a:sym typeface="Arial Bold Italics"/>
                        </a:rPr>
                        <a:t> 2</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3000"/>
                        </a:lnSpc>
                        <a:defRPr/>
                      </a:pPr>
                      <a:r>
                        <a:rPr lang="en-US" sz="2000" b="1" i="1" u="sng">
                          <a:solidFill>
                            <a:srgbClr val="4DA745"/>
                          </a:solidFill>
                          <a:latin typeface="Arial Bold Italics"/>
                          <a:ea typeface="Arial Bold Italics"/>
                          <a:cs typeface="Arial Bold Italics"/>
                          <a:sym typeface="Arial Bold Italics"/>
                        </a:rPr>
                        <a:t>Cập nhật thủ công 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019169" y="145428"/>
            <a:ext cx="10249652" cy="62354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CẬP NHẬT SỐ/ NGÀY CẤP/ NƠI CẤP CCCD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63754" y="1686533"/>
          <a:ext cx="17960493" cy="5803768"/>
        </p:xfrm>
        <a:graphic>
          <a:graphicData uri="http://schemas.openxmlformats.org/drawingml/2006/table">
            <a:tbl>
              <a:tblPr/>
              <a:tblGrid>
                <a:gridCol w="8849758">
                  <a:extLst>
                    <a:ext uri="{9D8B030D-6E8A-4147-A177-3AD203B41FA5}">
                      <a16:colId xmlns:a16="http://schemas.microsoft.com/office/drawing/2014/main" val="20000"/>
                    </a:ext>
                  </a:extLst>
                </a:gridCol>
                <a:gridCol w="2201071">
                  <a:extLst>
                    <a:ext uri="{9D8B030D-6E8A-4147-A177-3AD203B41FA5}">
                      <a16:colId xmlns:a16="http://schemas.microsoft.com/office/drawing/2014/main" val="20001"/>
                    </a:ext>
                  </a:extLst>
                </a:gridCol>
                <a:gridCol w="6909664">
                  <a:extLst>
                    <a:ext uri="{9D8B030D-6E8A-4147-A177-3AD203B41FA5}">
                      <a16:colId xmlns:a16="http://schemas.microsoft.com/office/drawing/2014/main" val="20002"/>
                    </a:ext>
                  </a:extLst>
                </a:gridCol>
              </a:tblGrid>
              <a:tr h="776623">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CODE</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5027145">
                <a:tc>
                  <a:txBody>
                    <a:bodyPr/>
                    <a:lstStyle/>
                    <a:p>
                      <a:pPr algn="l">
                        <a:lnSpc>
                          <a:spcPts val="2999"/>
                        </a:lnSpc>
                        <a:defRPr/>
                      </a:pPr>
                      <a:r>
                        <a:rPr lang="en-US" sz="1999">
                          <a:solidFill>
                            <a:srgbClr val="000000"/>
                          </a:solidFill>
                          <a:latin typeface="Arial"/>
                          <a:ea typeface="Arial"/>
                          <a:cs typeface="Arial"/>
                          <a:sym typeface="Arial"/>
                        </a:rPr>
                        <a:t>Gửi hình ảnh qua Zalo FE Credit (có dấu tick). Nếu KH không sử dụng Zalo, hướng dẫn gửi hình ảnh qua email </a:t>
                      </a:r>
                      <a:r>
                        <a:rPr lang="en-US" sz="1999" b="1">
                          <a:solidFill>
                            <a:srgbClr val="000000"/>
                          </a:solidFill>
                          <a:latin typeface="Arial Bold"/>
                          <a:ea typeface="Arial Bold"/>
                          <a:cs typeface="Arial Bold"/>
                          <a:sym typeface="Arial Bold"/>
                        </a:rPr>
                        <a:t>dichvukhachhang@fecredit.com.vn</a:t>
                      </a:r>
                      <a:endParaRPr lang="en-US" sz="1100"/>
                    </a:p>
                    <a:p>
                      <a:pPr marL="457079" lvl="2" indent="-152360" algn="l">
                        <a:lnSpc>
                          <a:spcPts val="2999"/>
                        </a:lnSpc>
                        <a:buFont typeface="Arial"/>
                        <a:buChar char="⚬"/>
                      </a:pPr>
                      <a:r>
                        <a:rPr lang="en-US" sz="1999" b="1">
                          <a:solidFill>
                            <a:srgbClr val="000000"/>
                          </a:solidFill>
                          <a:latin typeface="Arial Bold"/>
                          <a:ea typeface="Arial Bold"/>
                          <a:cs typeface="Arial Bold"/>
                          <a:sym typeface="Arial Bold"/>
                        </a:rPr>
                        <a:t>Hình ảnh CCCD mới và hình ảnh selfie </a:t>
                      </a:r>
                      <a:r>
                        <a:rPr lang="en-US" sz="1999" b="1" i="1" u="sng">
                          <a:solidFill>
                            <a:srgbClr val="4DA745"/>
                          </a:solidFill>
                          <a:latin typeface="Arial Bold Italics"/>
                          <a:ea typeface="Arial Bold Italics"/>
                          <a:cs typeface="Arial Bold Italics"/>
                          <a:sym typeface="Arial Bold Italics"/>
                        </a:rPr>
                        <a:t>(xem chi tiết)</a:t>
                      </a:r>
                    </a:p>
                    <a:p>
                      <a:pPr marL="816911" lvl="3" indent="-204228" algn="l">
                        <a:lnSpc>
                          <a:spcPts val="2999"/>
                        </a:lnSpc>
                        <a:buFont typeface="Arial"/>
                        <a:buChar char="￭"/>
                      </a:pPr>
                      <a:r>
                        <a:rPr lang="en-US" sz="1999">
                          <a:solidFill>
                            <a:srgbClr val="000000"/>
                          </a:solidFill>
                          <a:latin typeface="Arial"/>
                          <a:ea typeface="Arial"/>
                          <a:cs typeface="Arial"/>
                          <a:sym typeface="Arial"/>
                        </a:rPr>
                        <a:t>Cập nhật CMND sang CCCD không chip</a:t>
                      </a:r>
                    </a:p>
                    <a:p>
                      <a:pPr marL="816911" lvl="3" indent="-204228" algn="l">
                        <a:lnSpc>
                          <a:spcPts val="2999"/>
                        </a:lnSpc>
                        <a:buFont typeface="Arial"/>
                        <a:buChar char="￭"/>
                      </a:pPr>
                      <a:r>
                        <a:rPr lang="en-US" sz="1999">
                          <a:solidFill>
                            <a:srgbClr val="000000"/>
                          </a:solidFill>
                          <a:latin typeface="Arial"/>
                          <a:ea typeface="Arial"/>
                          <a:cs typeface="Arial"/>
                          <a:sym typeface="Arial"/>
                        </a:rPr>
                        <a:t>Cập nhật CMND/ CCCD không chip sang CCCD có chip</a:t>
                      </a:r>
                    </a:p>
                    <a:p>
                      <a:pPr marL="457079" lvl="2" indent="-152360" algn="l">
                        <a:lnSpc>
                          <a:spcPts val="2999"/>
                        </a:lnSpc>
                        <a:buFont typeface="Arial"/>
                        <a:buChar char="⚬"/>
                      </a:pPr>
                      <a:r>
                        <a:rPr lang="en-US" sz="1999" b="1">
                          <a:solidFill>
                            <a:srgbClr val="000000"/>
                          </a:solidFill>
                          <a:latin typeface="Arial Bold"/>
                          <a:ea typeface="Arial Bold"/>
                          <a:cs typeface="Arial Bold"/>
                          <a:sym typeface="Arial Bold"/>
                        </a:rPr>
                        <a:t>Hình ảnh lỗi và thông tin ứng dụng </a:t>
                      </a:r>
                      <a:r>
                        <a:rPr lang="en-US" sz="1999" b="1" i="1" u="sng">
                          <a:solidFill>
                            <a:srgbClr val="4DA745"/>
                          </a:solidFill>
                          <a:latin typeface="Arial Bold Italics"/>
                          <a:ea typeface="Arial Bold Italics"/>
                          <a:cs typeface="Arial Bold Italics"/>
                          <a:sym typeface="Arial Bold Italics"/>
                        </a:rPr>
                        <a:t>(xem chi tiết)</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600"/>
                        </a:lnSpc>
                        <a:defRPr/>
                      </a:pPr>
                      <a:r>
                        <a:rPr lang="en-US" sz="2000">
                          <a:solidFill>
                            <a:srgbClr val="000000"/>
                          </a:solidFill>
                          <a:latin typeface="Arial"/>
                          <a:ea typeface="Arial"/>
                          <a:cs typeface="Arial"/>
                          <a:sym typeface="Arial"/>
                        </a:rPr>
                        <a:t>Trong thời gian sớm nhất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a:solidFill>
                            <a:srgbClr val="000000"/>
                          </a:solidFill>
                          <a:latin typeface="Arial Bold"/>
                          <a:ea typeface="Arial Bold"/>
                          <a:cs typeface="Arial Bold"/>
                          <a:sym typeface="Arial Bold"/>
                        </a:rPr>
                        <a:t>Code: RC54 -FE Online 2.0</a:t>
                      </a:r>
                      <a:endParaRPr lang="en-US" sz="1100"/>
                    </a:p>
                    <a:p>
                      <a:pPr algn="l">
                        <a:lnSpc>
                          <a:spcPts val="3600"/>
                        </a:lnSpc>
                      </a:pPr>
                      <a:r>
                        <a:rPr lang="en-US" sz="2000" b="1">
                          <a:solidFill>
                            <a:srgbClr val="000000"/>
                          </a:solidFill>
                          <a:latin typeface="Arial Bold"/>
                          <a:ea typeface="Arial Bold"/>
                          <a:cs typeface="Arial Bold"/>
                          <a:sym typeface="Arial Bold"/>
                        </a:rPr>
                        <a:t>Sub Code: RC54.07-Cập nhật thông tin</a:t>
                      </a:r>
                    </a:p>
                    <a:p>
                      <a:pPr algn="l">
                        <a:lnSpc>
                          <a:spcPts val="3600"/>
                        </a:lnSpc>
                      </a:pPr>
                      <a:r>
                        <a:rPr lang="en-US" sz="2000" b="1">
                          <a:solidFill>
                            <a:srgbClr val="000000"/>
                          </a:solidFill>
                          <a:latin typeface="Arial Bold"/>
                          <a:ea typeface="Arial Bold"/>
                          <a:cs typeface="Arial Bold"/>
                          <a:sym typeface="Arial Bold"/>
                        </a:rPr>
                        <a:t>Properties: </a:t>
                      </a:r>
                      <a:r>
                        <a:rPr lang="en-US" sz="2000">
                          <a:solidFill>
                            <a:srgbClr val="000000"/>
                          </a:solidFill>
                          <a:latin typeface="Arial"/>
                          <a:ea typeface="Arial"/>
                          <a:cs typeface="Arial"/>
                          <a:sym typeface="Arial"/>
                        </a:rPr>
                        <a:t>Nhập theo yêu cầu</a:t>
                      </a:r>
                    </a:p>
                    <a:p>
                      <a:pPr algn="l">
                        <a:lnSpc>
                          <a:spcPts val="3600"/>
                        </a:lnSpc>
                      </a:pPr>
                      <a:r>
                        <a:rPr lang="en-US" sz="2000" b="1">
                          <a:solidFill>
                            <a:srgbClr val="000000"/>
                          </a:solidFill>
                          <a:latin typeface="Arial Bold"/>
                          <a:ea typeface="Arial Bold"/>
                          <a:cs typeface="Arial Bold"/>
                          <a:sym typeface="Arial Bold"/>
                        </a:rPr>
                        <a:t>Remark:</a:t>
                      </a:r>
                    </a:p>
                    <a:p>
                      <a:pPr algn="l">
                        <a:lnSpc>
                          <a:spcPts val="3600"/>
                        </a:lnSpc>
                      </a:pPr>
                      <a:r>
                        <a:rPr lang="en-US" sz="2000" b="1">
                          <a:solidFill>
                            <a:srgbClr val="000000"/>
                          </a:solidFill>
                          <a:latin typeface="Arial Bold"/>
                          <a:ea typeface="Arial Bold"/>
                          <a:cs typeface="Arial Bold"/>
                          <a:sym typeface="Arial Bold"/>
                        </a:rPr>
                        <a:t>- Ghi rõ thông tin cần thay đổi:</a:t>
                      </a:r>
                    </a:p>
                    <a:p>
                      <a:pPr algn="l">
                        <a:lnSpc>
                          <a:spcPts val="3600"/>
                        </a:lnSpc>
                      </a:pPr>
                      <a:r>
                        <a:rPr lang="en-US" sz="2000">
                          <a:solidFill>
                            <a:srgbClr val="000000"/>
                          </a:solidFill>
                          <a:latin typeface="Arial"/>
                          <a:ea typeface="Arial"/>
                          <a:cs typeface="Arial"/>
                          <a:sym typeface="Arial"/>
                        </a:rPr>
                        <a:t>Thông tin CMND/CCCD cũ: Số CMND/CCCD – Ngày cấp – Nơi cấp</a:t>
                      </a:r>
                    </a:p>
                    <a:p>
                      <a:pPr algn="l">
                        <a:lnSpc>
                          <a:spcPts val="3600"/>
                        </a:lnSpc>
                      </a:pPr>
                      <a:r>
                        <a:rPr lang="en-US" sz="2000">
                          <a:solidFill>
                            <a:srgbClr val="000000"/>
                          </a:solidFill>
                          <a:latin typeface="Arial"/>
                          <a:ea typeface="Arial"/>
                          <a:cs typeface="Arial"/>
                          <a:sym typeface="Arial"/>
                        </a:rPr>
                        <a:t>Thông tin CCCD mới: Số CCCD – Ngày cấp – Nơi cấp</a:t>
                      </a:r>
                    </a:p>
                    <a:p>
                      <a:pPr algn="l">
                        <a:lnSpc>
                          <a:spcPts val="3600"/>
                        </a:lnSpc>
                      </a:pPr>
                      <a:r>
                        <a:rPr lang="en-US" sz="2000" b="1">
                          <a:solidFill>
                            <a:srgbClr val="000000"/>
                          </a:solidFill>
                          <a:latin typeface="Arial Bold"/>
                          <a:ea typeface="Arial Bold"/>
                          <a:cs typeface="Arial Bold"/>
                          <a:sym typeface="Arial Bold"/>
                        </a:rPr>
                        <a:t>- Kênh IB: </a:t>
                      </a:r>
                      <a:r>
                        <a:rPr lang="en-US" sz="2000">
                          <a:solidFill>
                            <a:srgbClr val="000000"/>
                          </a:solidFill>
                          <a:latin typeface="Arial"/>
                          <a:ea typeface="Arial"/>
                          <a:cs typeface="Arial"/>
                          <a:sym typeface="Arial"/>
                        </a:rPr>
                        <a:t>Ghi thêm ticket của Ecom</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019169" y="145428"/>
            <a:ext cx="10249652" cy="56639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CẬP NHẬT THỦ CÔNG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graphicFrame>
        <p:nvGraphicFramePr>
          <p:cNvPr id="4" name="Table 4"/>
          <p:cNvGraphicFramePr>
            <a:graphicFrameLocks noGrp="1"/>
          </p:cNvGraphicFramePr>
          <p:nvPr/>
        </p:nvGraphicFramePr>
        <p:xfrm>
          <a:off x="387350" y="1487482"/>
          <a:ext cx="17513299" cy="6443377"/>
        </p:xfrm>
        <a:graphic>
          <a:graphicData uri="http://schemas.openxmlformats.org/drawingml/2006/table">
            <a:tbl>
              <a:tblPr/>
              <a:tblGrid>
                <a:gridCol w="2631951">
                  <a:extLst>
                    <a:ext uri="{9D8B030D-6E8A-4147-A177-3AD203B41FA5}">
                      <a16:colId xmlns:a16="http://schemas.microsoft.com/office/drawing/2014/main" val="20000"/>
                    </a:ext>
                  </a:extLst>
                </a:gridCol>
                <a:gridCol w="9917074">
                  <a:extLst>
                    <a:ext uri="{9D8B030D-6E8A-4147-A177-3AD203B41FA5}">
                      <a16:colId xmlns:a16="http://schemas.microsoft.com/office/drawing/2014/main" val="20001"/>
                    </a:ext>
                  </a:extLst>
                </a:gridCol>
                <a:gridCol w="4964274">
                  <a:extLst>
                    <a:ext uri="{9D8B030D-6E8A-4147-A177-3AD203B41FA5}">
                      <a16:colId xmlns:a16="http://schemas.microsoft.com/office/drawing/2014/main" val="20002"/>
                    </a:ext>
                  </a:extLst>
                </a:gridCol>
              </a:tblGrid>
              <a:tr h="921361">
                <a:tc>
                  <a:txBody>
                    <a:bodyPr/>
                    <a:lstStyle/>
                    <a:p>
                      <a:pPr algn="ctr">
                        <a:lnSpc>
                          <a:spcPts val="3958"/>
                        </a:lnSpc>
                        <a:defRPr/>
                      </a:pPr>
                      <a:r>
                        <a:rPr lang="en-US" sz="21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gridSpan="2">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145765">
                <a:tc>
                  <a:txBody>
                    <a:bodyPr/>
                    <a:lstStyle/>
                    <a:p>
                      <a:pPr algn="l">
                        <a:lnSpc>
                          <a:spcPts val="3000"/>
                        </a:lnSpc>
                        <a:defRPr/>
                      </a:pPr>
                      <a:r>
                        <a:rPr lang="en-US" sz="2000" b="1">
                          <a:solidFill>
                            <a:srgbClr val="000000"/>
                          </a:solidFill>
                          <a:latin typeface="Arial Bold"/>
                          <a:ea typeface="Arial Bold"/>
                          <a:cs typeface="Arial Bold"/>
                          <a:sym typeface="Arial Bold"/>
                        </a:rPr>
                        <a:t>CCCD có chip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a:solidFill>
                            <a:srgbClr val="000000"/>
                          </a:solidFill>
                          <a:latin typeface="Arial"/>
                          <a:ea typeface="Arial"/>
                          <a:cs typeface="Arial"/>
                          <a:sym typeface="Arial"/>
                        </a:rPr>
                        <a:t>Ảnh chụp bản gốc 2 mặt CCCD có chip</a:t>
                      </a:r>
                      <a:endParaRPr lang="en-US" sz="1100"/>
                    </a:p>
                    <a:p>
                      <a:pPr marL="457201" lvl="2" indent="-152400" algn="l">
                        <a:lnSpc>
                          <a:spcPts val="3000"/>
                        </a:lnSpc>
                        <a:buFont typeface="Arial"/>
                        <a:buChar char="⚬"/>
                      </a:pPr>
                      <a:r>
                        <a:rPr lang="en-US" sz="2000">
                          <a:solidFill>
                            <a:srgbClr val="000000"/>
                          </a:solidFill>
                          <a:latin typeface="Arial"/>
                          <a:ea typeface="Arial"/>
                          <a:cs typeface="Arial"/>
                          <a:sym typeface="Arial"/>
                        </a:rPr>
                        <a:t>Ảnh chụp KH cầm mặt trước CMND/CCCD mới trên tay và chụp cùng với khuôn mặt. </a:t>
                      </a:r>
                    </a:p>
                    <a:p>
                      <a:pPr marL="457201" lvl="2" indent="-152400" algn="l">
                        <a:lnSpc>
                          <a:spcPts val="3000"/>
                        </a:lnSpc>
                        <a:buFont typeface="Arial"/>
                        <a:buChar char="⚬"/>
                      </a:pPr>
                      <a:r>
                        <a:rPr lang="en-US" sz="2000">
                          <a:solidFill>
                            <a:srgbClr val="000000"/>
                          </a:solidFill>
                          <a:latin typeface="Arial"/>
                          <a:ea typeface="Arial"/>
                          <a:cs typeface="Arial"/>
                          <a:sym typeface="Arial"/>
                        </a:rPr>
                        <a:t>Nếu số CCCD cũ KH cung cấp </a:t>
                      </a:r>
                      <a:r>
                        <a:rPr lang="en-US" sz="2000" b="1">
                          <a:solidFill>
                            <a:srgbClr val="FF0000"/>
                          </a:solidFill>
                          <a:latin typeface="Arial Bold"/>
                          <a:ea typeface="Arial Bold"/>
                          <a:cs typeface="Arial Bold"/>
                          <a:sym typeface="Arial Bold"/>
                        </a:rPr>
                        <a:t>không trùng khớp</a:t>
                      </a:r>
                      <a:r>
                        <a:rPr lang="en-US" sz="2000">
                          <a:solidFill>
                            <a:srgbClr val="FF0000"/>
                          </a:solidFill>
                          <a:latin typeface="Arial"/>
                          <a:ea typeface="Arial"/>
                          <a:cs typeface="Arial"/>
                          <a:sym typeface="Arial"/>
                        </a:rPr>
                        <a:t> </a:t>
                      </a:r>
                      <a:r>
                        <a:rPr lang="en-US" sz="2000">
                          <a:solidFill>
                            <a:srgbClr val="000000"/>
                          </a:solidFill>
                          <a:latin typeface="Arial"/>
                          <a:ea typeface="Arial"/>
                          <a:cs typeface="Arial"/>
                          <a:sym typeface="Arial"/>
                        </a:rPr>
                        <a:t>CCCD hiện tại trên </a:t>
                      </a:r>
                      <a:r>
                        <a:rPr lang="en-US" sz="2000" b="1">
                          <a:solidFill>
                            <a:srgbClr val="000000"/>
                          </a:solidFill>
                          <a:latin typeface="Arial Bold"/>
                          <a:ea typeface="Arial Bold"/>
                          <a:cs typeface="Arial Bold"/>
                          <a:sym typeface="Arial Bold"/>
                        </a:rPr>
                        <a:t>CMS</a:t>
                      </a:r>
                      <a:r>
                        <a:rPr lang="en-US" sz="2000">
                          <a:solidFill>
                            <a:srgbClr val="000000"/>
                          </a:solidFill>
                          <a:latin typeface="Arial"/>
                          <a:ea typeface="Arial"/>
                          <a:cs typeface="Arial"/>
                          <a:sym typeface="Arial"/>
                        </a:rPr>
                        <a:t>, KH cần cung cấp tất cả các giấy xác nhận thay đổi CCCD từ lúc KH đăng ký CCCD với FE đến CCCD gần nhất.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3000"/>
                        </a:lnSpc>
                        <a:defRPr/>
                      </a:pPr>
                      <a:r>
                        <a:rPr lang="en-US" sz="2000" b="1">
                          <a:solidFill>
                            <a:srgbClr val="000000"/>
                          </a:solidFill>
                          <a:latin typeface="Arial Bold"/>
                          <a:ea typeface="Arial Bold"/>
                          <a:cs typeface="Arial Bold"/>
                          <a:sym typeface="Arial Bold"/>
                        </a:rPr>
                        <a:t>Lưu ý:</a:t>
                      </a:r>
                      <a:r>
                        <a:rPr lang="en-US" sz="2000">
                          <a:solidFill>
                            <a:srgbClr val="000000"/>
                          </a:solidFill>
                          <a:latin typeface="Arial"/>
                          <a:ea typeface="Arial"/>
                          <a:cs typeface="Arial"/>
                          <a:sym typeface="Arial"/>
                        </a:rPr>
                        <a:t> Hình ảnh cần to, rõ, chụp trần không để trong miếng nhựa bảo vệ để tránh bị lóa sáng, phần mã QR phải rõ để có thể quét được thông tin.</a:t>
                      </a:r>
                      <a:endParaRPr lang="en-US" sz="1100"/>
                    </a:p>
                    <a:p>
                      <a:pPr algn="l">
                        <a:lnSpc>
                          <a:spcPts val="3000"/>
                        </a:lnSpc>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376251">
                <a:tc>
                  <a:txBody>
                    <a:bodyPr/>
                    <a:lstStyle/>
                    <a:p>
                      <a:pPr algn="l">
                        <a:lnSpc>
                          <a:spcPts val="3000"/>
                        </a:lnSpc>
                        <a:defRPr/>
                      </a:pPr>
                      <a:r>
                        <a:rPr lang="en-US" sz="2000" b="1">
                          <a:solidFill>
                            <a:srgbClr val="000000"/>
                          </a:solidFill>
                          <a:latin typeface="Arial Bold"/>
                          <a:ea typeface="Arial Bold"/>
                          <a:cs typeface="Arial Bold"/>
                          <a:sym typeface="Arial Bold"/>
                        </a:rPr>
                        <a:t>CCCD không chip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a:solidFill>
                            <a:srgbClr val="000000"/>
                          </a:solidFill>
                          <a:latin typeface="Arial"/>
                          <a:ea typeface="Arial"/>
                          <a:cs typeface="Arial"/>
                          <a:sym typeface="Arial"/>
                        </a:rPr>
                        <a:t>Ảnh chụp bản gốc 2 mặt CCCD mới</a:t>
                      </a:r>
                      <a:endParaRPr lang="en-US" sz="1100"/>
                    </a:p>
                    <a:p>
                      <a:pPr marL="457201" lvl="2" indent="-152400" algn="l">
                        <a:lnSpc>
                          <a:spcPts val="3000"/>
                        </a:lnSpc>
                        <a:buFont typeface="Arial"/>
                        <a:buChar char="⚬"/>
                      </a:pPr>
                      <a:r>
                        <a:rPr lang="en-US" sz="2000">
                          <a:solidFill>
                            <a:srgbClr val="000000"/>
                          </a:solidFill>
                          <a:latin typeface="Arial"/>
                          <a:ea typeface="Arial"/>
                          <a:cs typeface="Arial"/>
                          <a:sym typeface="Arial"/>
                        </a:rPr>
                        <a:t>Ảnh chụp KH cầm mặt trước CCCD mới trên tay và chụp cùng với khuôn mặt.</a:t>
                      </a:r>
                    </a:p>
                    <a:p>
                      <a:pPr marL="457201" lvl="2" indent="-152400" algn="l">
                        <a:lnSpc>
                          <a:spcPts val="3000"/>
                        </a:lnSpc>
                        <a:buFont typeface="Arial"/>
                        <a:buChar char="⚬"/>
                      </a:pPr>
                      <a:r>
                        <a:rPr lang="en-US" sz="2000">
                          <a:solidFill>
                            <a:srgbClr val="000000"/>
                          </a:solidFill>
                          <a:latin typeface="Arial"/>
                          <a:ea typeface="Arial"/>
                          <a:cs typeface="Arial"/>
                          <a:sym typeface="Arial"/>
                        </a:rPr>
                        <a:t>Hình ảnh Giấy xác nhận chuyển đổi của cơ quan công an. (Hình chụp/ bản scan giấy xác nhận phải đủ 4 cạnh và 4 góc, phải có tên văn bản và số văn bản, có chữ ký và mộc đỏ của Cơ quan Công An, rõ ràng không bị mờ)</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000"/>
                        </a:lnSpc>
                        <a:defRPr/>
                      </a:pPr>
                      <a:r>
                        <a:rPr lang="en-US" sz="2000" b="1">
                          <a:solidFill>
                            <a:srgbClr val="000000"/>
                          </a:solidFill>
                          <a:latin typeface="Arial Bold"/>
                          <a:ea typeface="Arial Bold"/>
                          <a:cs typeface="Arial Bold"/>
                          <a:sym typeface="Arial Bold"/>
                        </a:rPr>
                        <a:t>Lưu ý:</a:t>
                      </a:r>
                      <a:r>
                        <a:rPr lang="en-US" sz="2000">
                          <a:solidFill>
                            <a:srgbClr val="000000"/>
                          </a:solidFill>
                          <a:latin typeface="Arial"/>
                          <a:ea typeface="Arial"/>
                          <a:cs typeface="Arial"/>
                          <a:sym typeface="Arial"/>
                        </a:rPr>
                        <a:t> Hình ảnh cần to, rõ, chụp trần không để trong miếng nhựa bảo vệ để tránh bị lóa sáng, phần mã QR phải rõ để có thể quét được thông tin.</a:t>
                      </a:r>
                      <a:endParaRPr lang="en-US" sz="1100"/>
                    </a:p>
                    <a:p>
                      <a:pPr algn="l">
                        <a:lnSpc>
                          <a:spcPts val="3000"/>
                        </a:lnSpc>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019174" y="180414"/>
            <a:ext cx="10249652" cy="56639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HÌNH ẢNH CCCD MỚI VÀ HÌNH ẢNH SELFIE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graphicFrame>
        <p:nvGraphicFramePr>
          <p:cNvPr id="4" name="Table 4"/>
          <p:cNvGraphicFramePr>
            <a:graphicFrameLocks noGrp="1"/>
          </p:cNvGraphicFramePr>
          <p:nvPr/>
        </p:nvGraphicFramePr>
        <p:xfrm>
          <a:off x="647700" y="1512734"/>
          <a:ext cx="16992600" cy="6561902"/>
        </p:xfrm>
        <a:graphic>
          <a:graphicData uri="http://schemas.openxmlformats.org/drawingml/2006/table">
            <a:tbl>
              <a:tblPr/>
              <a:tblGrid>
                <a:gridCol w="3765872">
                  <a:extLst>
                    <a:ext uri="{9D8B030D-6E8A-4147-A177-3AD203B41FA5}">
                      <a16:colId xmlns:a16="http://schemas.microsoft.com/office/drawing/2014/main" val="20000"/>
                    </a:ext>
                  </a:extLst>
                </a:gridCol>
                <a:gridCol w="13226728">
                  <a:extLst>
                    <a:ext uri="{9D8B030D-6E8A-4147-A177-3AD203B41FA5}">
                      <a16:colId xmlns:a16="http://schemas.microsoft.com/office/drawing/2014/main" val="20001"/>
                    </a:ext>
                  </a:extLst>
                </a:gridCol>
              </a:tblGrid>
              <a:tr h="921704">
                <a:tc>
                  <a:txBody>
                    <a:bodyPr/>
                    <a:lstStyle/>
                    <a:p>
                      <a:pPr algn="ctr">
                        <a:lnSpc>
                          <a:spcPts val="3600"/>
                        </a:lnSpc>
                        <a:defRPr/>
                      </a:pPr>
                      <a:r>
                        <a:rPr lang="en-US" sz="2000" b="1" spc="9">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092831">
                <a:tc>
                  <a:txBody>
                    <a:bodyPr/>
                    <a:lstStyle/>
                    <a:p>
                      <a:pPr algn="l">
                        <a:lnSpc>
                          <a:spcPts val="5000"/>
                        </a:lnSpc>
                        <a:defRPr/>
                      </a:pPr>
                      <a:r>
                        <a:rPr lang="en-US" sz="2000" b="1">
                          <a:solidFill>
                            <a:srgbClr val="000000"/>
                          </a:solidFill>
                          <a:latin typeface="Arial Bold"/>
                          <a:ea typeface="Arial Bold"/>
                          <a:cs typeface="Arial Bold"/>
                          <a:sym typeface="Arial Bold"/>
                        </a:rPr>
                        <a:t>1. Hình ảnh 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Không đồng bộ: Hình ảnh thông tin người dùng hiển thị tại mục Tài khoản, hình ảnh thông báo đã cập nhật thành công trên ứng dụng</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Không thể cập nhật: Hình ảnh/Video lỗi</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3310065">
                <a:tc>
                  <a:txBody>
                    <a:bodyPr/>
                    <a:lstStyle/>
                    <a:p>
                      <a:pPr algn="l">
                        <a:lnSpc>
                          <a:spcPts val="5000"/>
                        </a:lnSpc>
                        <a:defRPr/>
                      </a:pPr>
                      <a:r>
                        <a:rPr lang="en-US" sz="2000" b="1">
                          <a:solidFill>
                            <a:srgbClr val="000000"/>
                          </a:solidFill>
                          <a:latin typeface="Arial Bold"/>
                          <a:ea typeface="Arial Bold"/>
                          <a:cs typeface="Arial Bold"/>
                          <a:sym typeface="Arial Bold"/>
                        </a:rPr>
                        <a:t>2. Thông tin thiết bị</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CCCD đăng ký ứng dụng</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Số điện thoại đăng ký ứng dụng</a:t>
                      </a:r>
                    </a:p>
                    <a:p>
                      <a:pPr marL="457201" lvl="2" indent="-152400" algn="l">
                        <a:lnSpc>
                          <a:spcPts val="5000"/>
                        </a:lnSpc>
                        <a:buFont typeface="Arial"/>
                        <a:buChar char="⚬"/>
                      </a:pPr>
                      <a:r>
                        <a:rPr lang="en-US" sz="2000">
                          <a:solidFill>
                            <a:srgbClr val="000000"/>
                          </a:solidFill>
                          <a:latin typeface="Arial"/>
                          <a:ea typeface="Arial"/>
                          <a:cs typeface="Arial"/>
                          <a:sym typeface="Arial"/>
                        </a:rPr>
                        <a:t>Tên thiết bị (Ví dụ: Iphone, Samsung…)</a:t>
                      </a:r>
                    </a:p>
                    <a:p>
                      <a:pPr marL="457201" lvl="2" indent="-152400" algn="l">
                        <a:lnSpc>
                          <a:spcPts val="5000"/>
                        </a:lnSpc>
                        <a:buFont typeface="Arial"/>
                        <a:buChar char="⚬"/>
                      </a:pPr>
                      <a:r>
                        <a:rPr lang="en-US" sz="2000">
                          <a:solidFill>
                            <a:srgbClr val="000000"/>
                          </a:solidFill>
                          <a:latin typeface="Arial"/>
                          <a:ea typeface="Arial"/>
                          <a:cs typeface="Arial"/>
                          <a:sym typeface="Arial"/>
                        </a:rPr>
                        <a:t>Hệ điều hành (Ví dụ: Android, iOS, Windows...)</a:t>
                      </a:r>
                    </a:p>
                    <a:p>
                      <a:pPr marL="457201" lvl="2" indent="-152400" algn="l">
                        <a:lnSpc>
                          <a:spcPts val="5000"/>
                        </a:lnSpc>
                        <a:buFont typeface="Arial"/>
                        <a:buChar char="⚬"/>
                      </a:pPr>
                      <a:r>
                        <a:rPr lang="en-US" sz="2000">
                          <a:solidFill>
                            <a:srgbClr val="000000"/>
                          </a:solidFill>
                          <a:latin typeface="Arial"/>
                          <a:ea typeface="Arial"/>
                          <a:cs typeface="Arial"/>
                          <a:sym typeface="Arial"/>
                        </a:rPr>
                        <a:t>Phiên bản ĐT ( Ví dụ: IOS16.5, ...)</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sp>
        <p:nvSpPr>
          <p:cNvPr id="5" name="Freeform 5"/>
          <p:cNvSpPr/>
          <p:nvPr/>
        </p:nvSpPr>
        <p:spPr>
          <a:xfrm>
            <a:off x="-6758" y="-342900"/>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012416" y="130472"/>
            <a:ext cx="10249652" cy="56639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THÔNG TIN/ HÌNH ẢNH LỖI ỨNG DỤNG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646981562"/>
              </p:ext>
            </p:extLst>
          </p:nvPr>
        </p:nvGraphicFramePr>
        <p:xfrm>
          <a:off x="255227" y="1487557"/>
          <a:ext cx="17777545" cy="3657600"/>
        </p:xfrm>
        <a:graphic>
          <a:graphicData uri="http://schemas.openxmlformats.org/drawingml/2006/table">
            <a:tbl>
              <a:tblPr/>
              <a:tblGrid>
                <a:gridCol w="9514523">
                  <a:extLst>
                    <a:ext uri="{9D8B030D-6E8A-4147-A177-3AD203B41FA5}">
                      <a16:colId xmlns:a16="http://schemas.microsoft.com/office/drawing/2014/main" val="20000"/>
                    </a:ext>
                  </a:extLst>
                </a:gridCol>
                <a:gridCol w="2797447">
                  <a:extLst>
                    <a:ext uri="{9D8B030D-6E8A-4147-A177-3AD203B41FA5}">
                      <a16:colId xmlns:a16="http://schemas.microsoft.com/office/drawing/2014/main" val="20001"/>
                    </a:ext>
                  </a:extLst>
                </a:gridCol>
                <a:gridCol w="5465575">
                  <a:extLst>
                    <a:ext uri="{9D8B030D-6E8A-4147-A177-3AD203B41FA5}">
                      <a16:colId xmlns:a16="http://schemas.microsoft.com/office/drawing/2014/main" val="20002"/>
                    </a:ext>
                  </a:extLst>
                </a:gridCol>
              </a:tblGrid>
              <a:tr h="920773">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CODE</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736827">
                <a:tc>
                  <a:txBody>
                    <a:bodyPr/>
                    <a:lstStyle/>
                    <a:p>
                      <a:pPr marL="647619" lvl="2" indent="-342900" algn="l">
                        <a:lnSpc>
                          <a:spcPts val="2999"/>
                        </a:lnSpc>
                        <a:buFont typeface="Arial" panose="020B0604020202020204" pitchFamily="34" charset="0"/>
                        <a:buChar char="•"/>
                        <a:defRP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CCCD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CMS </a:t>
                      </a:r>
                      <a:r>
                        <a:rPr lang="en-US" sz="1999" dirty="0" err="1">
                          <a:solidFill>
                            <a:srgbClr val="000000"/>
                          </a:solidFill>
                          <a:latin typeface="Arial"/>
                          <a:ea typeface="Arial"/>
                          <a:cs typeface="Arial"/>
                          <a:sym typeface="Arial"/>
                        </a:rPr>
                        <a:t>là</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a:t>
                      </a:r>
                      <a:r>
                        <a:rPr lang="en-US" sz="1999" dirty="0" err="1">
                          <a:solidFill>
                            <a:srgbClr val="000000"/>
                          </a:solidFill>
                          <a:latin typeface="Arial"/>
                          <a:ea typeface="Arial"/>
                          <a:cs typeface="Arial"/>
                          <a:sym typeface="Arial"/>
                        </a:rPr>
                        <a:t>mới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nhất</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đang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sử</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dụng</a:t>
                      </a:r>
                      <a:endParaRPr lang="en-US" sz="1100" dirty="0"/>
                    </a:p>
                    <a:p>
                      <a:pPr marL="647619" lvl="2" indent="-342900" algn="l">
                        <a:lnSpc>
                          <a:spcPts val="2999"/>
                        </a:lnSpc>
                        <a:buFont typeface="Arial" panose="020B0604020202020204" pitchFamily="34" charset="0"/>
                        <a:buChar char="•"/>
                      </a:pPr>
                      <a:r>
                        <a:rPr lang="en-US" sz="1999" dirty="0" err="1">
                          <a:solidFill>
                            <a:srgbClr val="000000"/>
                          </a:solidFill>
                          <a:latin typeface="Arial"/>
                          <a:ea typeface="Arial"/>
                          <a:cs typeface="Arial"/>
                          <a:sym typeface="Arial"/>
                        </a:rPr>
                        <a:t>Điều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chỉnh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PEGA </a:t>
                      </a:r>
                      <a:r>
                        <a:rPr lang="en-US" sz="1999" dirty="0" err="1">
                          <a:solidFill>
                            <a:srgbClr val="000000"/>
                          </a:solidFill>
                          <a:latin typeface="Arial"/>
                          <a:ea typeface="Arial"/>
                          <a:cs typeface="Arial"/>
                          <a:sym typeface="Arial"/>
                        </a:rPr>
                        <a:t>để</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đồng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bộ</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CMS</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600"/>
                        </a:lnSpc>
                        <a:defRPr/>
                      </a:pPr>
                      <a:r>
                        <a:rPr lang="en-US" sz="2000" dirty="0">
                          <a:solidFill>
                            <a:srgbClr val="000000"/>
                          </a:solidFill>
                          <a:latin typeface="Arial"/>
                          <a:ea typeface="Arial"/>
                          <a:cs typeface="Arial"/>
                          <a:sym typeface="Arial"/>
                        </a:rPr>
                        <a:t>2 </a:t>
                      </a:r>
                      <a:r>
                        <a:rPr lang="en-US" sz="2000" dirty="0" err="1">
                          <a:solidFill>
                            <a:srgbClr val="000000"/>
                          </a:solidFill>
                          <a:latin typeface="Arial"/>
                          <a:ea typeface="Arial"/>
                          <a:cs typeface="Arial"/>
                          <a:sym typeface="Arial"/>
                        </a:rPr>
                        <a:t>ngày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làm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việc</a:t>
                      </a:r>
                      <a:r>
                        <a:rPr lang="en-US" sz="2000" dirty="0">
                          <a:solidFill>
                            <a:srgbClr val="000000"/>
                          </a:solidFill>
                          <a:latin typeface="Arial"/>
                          <a:ea typeface="Arial"/>
                          <a:cs typeface="Arial"/>
                          <a:sym typeface="Arial"/>
                        </a:rPr>
                        <a:t> </a:t>
                      </a:r>
                      <a:endParaRPr lang="en-US" sz="1100" dirty="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dirty="0">
                          <a:solidFill>
                            <a:srgbClr val="000000"/>
                          </a:solidFill>
                          <a:latin typeface="Arial Bold"/>
                          <a:ea typeface="Arial Bold"/>
                          <a:cs typeface="Arial Bold"/>
                          <a:sym typeface="Arial Bold"/>
                        </a:rPr>
                        <a:t>Customer Profile Update</a:t>
                      </a:r>
                      <a:endParaRPr lang="en-US" sz="1100" dirty="0"/>
                    </a:p>
                    <a:p>
                      <a:pPr algn="l">
                        <a:lnSpc>
                          <a:spcPts val="3600"/>
                        </a:lnSpc>
                      </a:pPr>
                      <a:r>
                        <a:rPr lang="en-US" sz="2000" b="1" dirty="0">
                          <a:solidFill>
                            <a:srgbClr val="000000"/>
                          </a:solidFill>
                          <a:latin typeface="Arial Bold"/>
                          <a:ea typeface="Arial Bold"/>
                          <a:cs typeface="Arial Bold"/>
                          <a:sym typeface="Arial Bold"/>
                        </a:rPr>
                        <a:t>Subcode</a:t>
                      </a:r>
                      <a:r>
                        <a:rPr lang="en-US" sz="2000" dirty="0">
                          <a:solidFill>
                            <a:srgbClr val="000000"/>
                          </a:solidFill>
                          <a:latin typeface="Arial"/>
                          <a:ea typeface="Arial"/>
                          <a:cs typeface="Arial"/>
                          <a:sym typeface="Arial"/>
                        </a:rPr>
                        <a:t>: RC18.05-Cập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CMND/ CCCD</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019174" y="208219"/>
            <a:ext cx="10249652" cy="56639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CẬP NHẬT THỦ CÔNG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240628" y="2095500"/>
          <a:ext cx="17806744" cy="4330700"/>
        </p:xfrm>
        <a:graphic>
          <a:graphicData uri="http://schemas.openxmlformats.org/drawingml/2006/table">
            <a:tbl>
              <a:tblPr/>
              <a:tblGrid>
                <a:gridCol w="10366482">
                  <a:extLst>
                    <a:ext uri="{9D8B030D-6E8A-4147-A177-3AD203B41FA5}">
                      <a16:colId xmlns:a16="http://schemas.microsoft.com/office/drawing/2014/main" val="20000"/>
                    </a:ext>
                  </a:extLst>
                </a:gridCol>
                <a:gridCol w="2178743">
                  <a:extLst>
                    <a:ext uri="{9D8B030D-6E8A-4147-A177-3AD203B41FA5}">
                      <a16:colId xmlns:a16="http://schemas.microsoft.com/office/drawing/2014/main" val="20001"/>
                    </a:ext>
                  </a:extLst>
                </a:gridCol>
                <a:gridCol w="5261519">
                  <a:extLst>
                    <a:ext uri="{9D8B030D-6E8A-4147-A177-3AD203B41FA5}">
                      <a16:colId xmlns:a16="http://schemas.microsoft.com/office/drawing/2014/main" val="20002"/>
                    </a:ext>
                  </a:extLst>
                </a:gridCol>
              </a:tblGrid>
              <a:tr h="924991">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a:solidFill>
                            <a:srgbClr val="FFFFFF"/>
                          </a:solidFill>
                          <a:latin typeface="Arial Bold"/>
                          <a:ea typeface="Arial Bold"/>
                          <a:cs typeface="Arial Bold"/>
                          <a:sym typeface="Arial Bold"/>
                        </a:rPr>
                        <a:t>CODE</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405709">
                <a:tc>
                  <a:txBody>
                    <a:bodyPr/>
                    <a:lstStyle/>
                    <a:p>
                      <a:pPr algn="l">
                        <a:lnSpc>
                          <a:spcPts val="2999"/>
                        </a:lnSpc>
                        <a:defRPr/>
                      </a:pPr>
                      <a:r>
                        <a:rPr lang="en-US" sz="1999">
                          <a:solidFill>
                            <a:srgbClr val="000000"/>
                          </a:solidFill>
                          <a:latin typeface="Arial"/>
                          <a:ea typeface="Arial"/>
                          <a:cs typeface="Arial"/>
                          <a:sym typeface="Arial"/>
                        </a:rPr>
                        <a:t>Gửi hình ảnh qua Zalo FE Credit (có dấu tick). Nếu KH không sử dụng Zalo, hướng dẫn gửi hình ảnh qua email </a:t>
                      </a:r>
                      <a:r>
                        <a:rPr lang="en-US" sz="1999" b="1">
                          <a:solidFill>
                            <a:srgbClr val="000000"/>
                          </a:solidFill>
                          <a:latin typeface="Arial Bold"/>
                          <a:ea typeface="Arial Bold"/>
                          <a:cs typeface="Arial Bold"/>
                          <a:sym typeface="Arial Bold"/>
                        </a:rPr>
                        <a:t>dichvukhachhang@fecredit.com.vn</a:t>
                      </a:r>
                      <a:endParaRPr lang="en-US" sz="1100"/>
                    </a:p>
                    <a:p>
                      <a:pPr marL="863168" lvl="2" indent="-287723" algn="l">
                        <a:lnSpc>
                          <a:spcPts val="2999"/>
                        </a:lnSpc>
                        <a:buFont typeface="Arial"/>
                        <a:buChar char="⚬"/>
                      </a:pPr>
                      <a:r>
                        <a:rPr lang="en-US" sz="1999">
                          <a:solidFill>
                            <a:srgbClr val="000000"/>
                          </a:solidFill>
                          <a:latin typeface="Arial"/>
                          <a:ea typeface="Arial"/>
                          <a:cs typeface="Arial"/>
                          <a:sym typeface="Arial"/>
                        </a:rPr>
                        <a:t>Ảnh chụp KH cầm CMND/ CCCD mặt trước trên tay và chụp cùng với khuôn mặt</a:t>
                      </a:r>
                    </a:p>
                    <a:p>
                      <a:pPr marL="863168" lvl="2" indent="-287723" algn="l">
                        <a:lnSpc>
                          <a:spcPts val="2999"/>
                        </a:lnSpc>
                        <a:buFont typeface="Arial"/>
                        <a:buChar char="⚬"/>
                      </a:pPr>
                      <a:r>
                        <a:rPr lang="en-US" sz="1999">
                          <a:solidFill>
                            <a:srgbClr val="000000"/>
                          </a:solidFill>
                          <a:latin typeface="Arial"/>
                          <a:ea typeface="Arial"/>
                          <a:cs typeface="Arial"/>
                          <a:sym typeface="Arial"/>
                        </a:rPr>
                        <a:t>Ảnh chụp bản gốc 2 mặt CMND/CCCD gốc</a:t>
                      </a:r>
                    </a:p>
                    <a:p>
                      <a:pPr algn="l">
                        <a:lnSpc>
                          <a:spcPts val="2999"/>
                        </a:lnSpc>
                      </a:pPr>
                      <a:r>
                        <a:rPr lang="en-US" sz="1999" b="1">
                          <a:solidFill>
                            <a:srgbClr val="000000"/>
                          </a:solidFill>
                          <a:latin typeface="Arial Bold"/>
                          <a:ea typeface="Arial Bold"/>
                          <a:cs typeface="Arial Bold"/>
                          <a:sym typeface="Arial Bold"/>
                        </a:rPr>
                        <a:t>Lưu ý:</a:t>
                      </a:r>
                      <a:r>
                        <a:rPr lang="en-US" sz="1999">
                          <a:solidFill>
                            <a:srgbClr val="000000"/>
                          </a:solidFill>
                          <a:latin typeface="Arial"/>
                          <a:ea typeface="Arial"/>
                          <a:cs typeface="Arial"/>
                          <a:sym typeface="Arial"/>
                        </a:rPr>
                        <a:t> Ảnh chụp cần to, rõ, không bị lóa sáng. Phần mã QR phải rõ để có thể quét được thông tin.</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600"/>
                        </a:lnSpc>
                        <a:defRPr/>
                      </a:pPr>
                      <a:r>
                        <a:rPr lang="en-US" sz="2000">
                          <a:solidFill>
                            <a:srgbClr val="000000"/>
                          </a:solidFill>
                          <a:latin typeface="Arial"/>
                          <a:ea typeface="Arial"/>
                          <a:cs typeface="Arial"/>
                          <a:sym typeface="Arial"/>
                        </a:rPr>
                        <a:t>Trong thời gian sớm nhất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a:solidFill>
                            <a:srgbClr val="000000"/>
                          </a:solidFill>
                          <a:latin typeface="Arial Bold"/>
                          <a:ea typeface="Arial Bold"/>
                          <a:cs typeface="Arial Bold"/>
                          <a:sym typeface="Arial Bold"/>
                        </a:rPr>
                        <a:t>Hướng dẫn nhập code: </a:t>
                      </a:r>
                      <a:r>
                        <a:rPr lang="en-US" sz="2000" b="1" i="1" u="sng">
                          <a:solidFill>
                            <a:srgbClr val="608D5C"/>
                          </a:solidFill>
                          <a:latin typeface="Arial Bold Italics"/>
                          <a:ea typeface="Arial Bold Italics"/>
                          <a:cs typeface="Arial Bold Italics"/>
                          <a:sym typeface="Arial Bold Italics"/>
                        </a:rPr>
                        <a:t>xem tại đây</a:t>
                      </a:r>
                      <a:endParaRPr lang="en-US" sz="1100"/>
                    </a:p>
                    <a:p>
                      <a:pPr algn="l">
                        <a:lnSpc>
                          <a:spcPts val="3600"/>
                        </a:lnSpc>
                      </a:pPr>
                      <a:r>
                        <a:rPr lang="en-US" sz="2000" b="1">
                          <a:solidFill>
                            <a:srgbClr val="000000"/>
                          </a:solidFill>
                          <a:latin typeface="Arial Bold"/>
                          <a:ea typeface="Arial Bold"/>
                          <a:cs typeface="Arial Bold"/>
                          <a:sym typeface="Arial Bold"/>
                        </a:rPr>
                        <a:t>Remark:</a:t>
                      </a:r>
                    </a:p>
                    <a:p>
                      <a:pPr algn="l">
                        <a:lnSpc>
                          <a:spcPts val="3600"/>
                        </a:lnSpc>
                      </a:pPr>
                      <a:r>
                        <a:rPr lang="en-US" sz="2000" b="1">
                          <a:solidFill>
                            <a:srgbClr val="000000"/>
                          </a:solidFill>
                          <a:latin typeface="Arial Bold"/>
                          <a:ea typeface="Arial Bold"/>
                          <a:cs typeface="Arial Bold"/>
                          <a:sym typeface="Arial Bold"/>
                        </a:rPr>
                        <a:t>- Kênh IB:</a:t>
                      </a:r>
                      <a:r>
                        <a:rPr lang="en-US" sz="2000">
                          <a:solidFill>
                            <a:srgbClr val="000000"/>
                          </a:solidFill>
                          <a:latin typeface="Arial"/>
                          <a:ea typeface="Arial"/>
                          <a:cs typeface="Arial"/>
                          <a:sym typeface="Arial"/>
                        </a:rPr>
                        <a:t> Ghi rõ thông tin cần thay đổi - ticket của Ecom</a:t>
                      </a:r>
                    </a:p>
                    <a:p>
                      <a:pPr algn="l">
                        <a:lnSpc>
                          <a:spcPts val="3600"/>
                        </a:lnSpc>
                      </a:pPr>
                      <a:r>
                        <a:rPr lang="en-US" sz="2000" b="1">
                          <a:solidFill>
                            <a:srgbClr val="000000"/>
                          </a:solidFill>
                          <a:latin typeface="Arial Bold"/>
                          <a:ea typeface="Arial Bold"/>
                          <a:cs typeface="Arial Bold"/>
                          <a:sym typeface="Arial Bold"/>
                        </a:rPr>
                        <a:t>- Kênh Ecom: </a:t>
                      </a:r>
                      <a:r>
                        <a:rPr lang="en-US" sz="2000">
                          <a:solidFill>
                            <a:srgbClr val="000000"/>
                          </a:solidFill>
                          <a:latin typeface="Arial"/>
                          <a:ea typeface="Arial"/>
                          <a:cs typeface="Arial"/>
                          <a:sym typeface="Arial"/>
                        </a:rPr>
                        <a:t>Ghi rõ thông tin cần thay đổi</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11351"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862256" y="208219"/>
            <a:ext cx="14563487" cy="56639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CẬP NHẬT HỌ TÊN/ NGÀY THÁNG NĂM SINH/ GIỚI TÍNH/ TÊN IN NỔI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1524</Words>
  <Application>Microsoft Office PowerPoint</Application>
  <PresentationFormat>Custom</PresentationFormat>
  <Paragraphs>170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Arial Bold</vt:lpstr>
      <vt:lpstr>Arial Bold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QUY TRÌNH CẬP NHẬT CCCD</dc:title>
  <dc:creator>Thanh Phung Doan</dc:creator>
  <cp:lastModifiedBy>Cuong Nguyen Thi Bien</cp:lastModifiedBy>
  <cp:revision>4</cp:revision>
  <dcterms:created xsi:type="dcterms:W3CDTF">2006-08-16T00:00:00Z</dcterms:created>
  <dcterms:modified xsi:type="dcterms:W3CDTF">2026-02-10T10:09:59Z</dcterms:modified>
  <dc:identifier>DAG5Bi8U7N8</dc:identifier>
</cp:coreProperties>
</file>