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8288000" cy="10287000"/>
  <p:notesSz cx="6858000" cy="9144000"/>
  <p:embeddedFontLst>
    <p:embeddedFont>
      <p:font typeface="Arial" panose="020B0604020202020204" pitchFamily="34" charset="0"/>
      <p:regular r:id="rId32"/>
    </p:embeddedFont>
    <p:embeddedFont>
      <p:font typeface="Arial Bold" panose="020B0704020202020204" pitchFamily="34" charset="0"/>
      <p:regular r:id="rId33"/>
      <p:bold r:id="rId34"/>
    </p:embeddedFont>
    <p:embeddedFont>
      <p:font typeface="Arial Bold Italics" panose="020B0604020202020204" charset="0"/>
      <p:regular r:id="rId35"/>
    </p:embeddedFont>
    <p:embeddedFont>
      <p:font typeface="Arial Italics" panose="020B0604020202020204" charset="0"/>
      <p:regular r:id="rId36"/>
    </p:embeddedFont>
    <p:embeddedFont>
      <p:font typeface="Calibri" panose="020F0502020204030204" pitchFamily="34" charset="0"/>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gWBWR4mGD6zHCAk18fPgKw==" hashData="hSLLwd0O/Umkp5mJeetx1rgImVXzKA0KvKMXkzuUndqxw50UD6EWwHePaDkfbxf2iCe6EiZyi3siDEd0vxO+4w=="/>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2" d="100"/>
          <a:sy n="42" d="100"/>
        </p:scale>
        <p:origin x="78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4.xml.rels><?xml version="1.0" encoding="UTF-8" standalone="yes"?>
<Relationships xmlns="http://schemas.openxmlformats.org/package/2006/relationships"><Relationship Id="rId3" Type="http://schemas.openxmlformats.org/officeDocument/2006/relationships/hyperlink" Target="file:///\\deltavn.vn\DeltaShare\DeptData\_CallCenter\CSPORTAL\Website\uat\UATWEBQC\pdfile-card\11_CAP_NHAT_THONG_TIN\CAP_NHAT_SDT\HINH_ANH_TTTB_HOP_LE_VA_CCCD_KHONG_KHOP_VOI_TREN_TTTB.pdf" TargetMode="External"/><Relationship Id="rId2" Type="http://schemas.openxmlformats.org/officeDocument/2006/relationships/hyperlink" Target="file:///\\deltavn.vn\DeltaShare\DeptData\_CallCenter\CSPORTAL\Website\uat\UATWEBQC\loan_v2.html#source=truyvan&amp;s=NoIgjAzAdABAKgJQIIwMKAu8AqvQD3g0AiAgG3gByA4iADQgBiAojAPIB2ANgJZMCmMATFAAyUQcALdMAFjGKBgQCYBzNOICu8oakC1eAAcp49QBcYAZXxwQAXSA" TargetMode="Externa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4.sv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hyperlink" Target="file:///\\deltavn.vn\DeltaShare\DeptData\_CallCenter\CSPORTAL\Website\uat\UATWEBQC\pdfile-loan\11_CAP_NHAT_THONG_TIN\CAP_NHAT_SDT\HINH_ANH_TTTB_HOP_LE_VA_CCCD_KHONG_KHOP_VOI_TREN_TTTB.pdf" TargetMode="External"/><Relationship Id="rId5" Type="http://schemas.openxmlformats.org/officeDocument/2006/relationships/hyperlink" Target="file:///\\deltavn.vn\DeltaShare\DeptData\_CallCenter\CSPORTAL\Website\uat\UATWEBQC\pdfile-loan\11_CAP_NHAT_THONG_TIN\CAP_NHAT_SDT\THONG_TIN_VA_HINH_ANH_LOI.pdf" TargetMode="External"/><Relationship Id="rId4" Type="http://schemas.openxmlformats.org/officeDocument/2006/relationships/image" Target="../media/image26.sv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hyperlink" Target="file:///\\deltavn.vn\DeltaShare\DeptData\_CallCenter\CSPORTAL\Website\uat\UATWEBQC\pdfile-loan\11_CAP_NHAT_THONG_TIN\CAP_NHAT_SDT\HINH_ANH_TTTB_HOP_LE_VA_CCCD_KHONG_KHOP_VOI_TREN_TTTB.pdf" TargetMode="External"/><Relationship Id="rId5" Type="http://schemas.openxmlformats.org/officeDocument/2006/relationships/hyperlink" Target="file:///\\deltavn.vn\DeltaShare\DeptData\_CallCenter\CSPORTAL\Website\uat\UATWEBQC\pdfile-loan\11_CAP_NHAT_THONG_TIN\CAP_NHAT_SDT\THONG_TIN_VA_HINH_ANH_LOI.pdf" TargetMode="External"/><Relationship Id="rId4" Type="http://schemas.openxmlformats.org/officeDocument/2006/relationships/image" Target="../media/image28.sv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file:///\\deltavn.vn\DeltaShare\DeptData\_CallCenter\CSPORTAL\Website\uat\UATWEBQC\pdfile-loan\11_CAP_NHAT_THONG_TIN\CAP_NHAT_SDT\HINH_ANH_TTTB_HOP_LE_VA_CCCD_KHONG_KHOP_VOI_TREN_TTTB.pdf" TargetMode="External"/><Relationship Id="rId2" Type="http://schemas.openxmlformats.org/officeDocument/2006/relationships/hyperlink" Target="NoIgjAzAdABAKgJQIIwMKAu8AqvQD3g0AiAgG3gByA4iADQgBiAojAPIB2ANgJZMCmMATFAAyUQcALdMAFjGKBgQCYBzNOICu8oakC1eAAcp49QBcYAZXxwQAXSA" TargetMode="Externa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2.sv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6.svg"/></Relationships>
</file>

<file path=ppt/slides/_rels/slide2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taoticket_choitxuly.html" TargetMode="External"/><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8.sv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913120"/>
            <a:chOff x="0" y="0"/>
            <a:chExt cx="24384000" cy="7884160"/>
          </a:xfrm>
        </p:grpSpPr>
        <p:sp>
          <p:nvSpPr>
            <p:cNvPr id="3" name="Freeform 3"/>
            <p:cNvSpPr/>
            <p:nvPr/>
          </p:nvSpPr>
          <p:spPr>
            <a:xfrm>
              <a:off x="0" y="0"/>
              <a:ext cx="24384000" cy="7884160"/>
            </a:xfrm>
            <a:custGeom>
              <a:avLst/>
              <a:gdLst/>
              <a:ahLst/>
              <a:cxnLst/>
              <a:rect l="l" t="t" r="r" b="b"/>
              <a:pathLst>
                <a:path w="24384000" h="7884160">
                  <a:moveTo>
                    <a:pt x="0" y="0"/>
                  </a:moveTo>
                  <a:lnTo>
                    <a:pt x="24384000" y="0"/>
                  </a:lnTo>
                  <a:lnTo>
                    <a:pt x="24384000" y="7884160"/>
                  </a:lnTo>
                  <a:lnTo>
                    <a:pt x="0" y="7884160"/>
                  </a:lnTo>
                  <a:lnTo>
                    <a:pt x="0" y="0"/>
                  </a:lnTo>
                  <a:close/>
                </a:path>
              </a:pathLst>
            </a:custGeom>
            <a:blipFill>
              <a:blip r:embed="rId2"/>
              <a:stretch>
                <a:fillRect t="-49" b="-49"/>
              </a:stretch>
            </a:blipFill>
          </p:spPr>
        </p:sp>
      </p:grpSp>
      <p:sp>
        <p:nvSpPr>
          <p:cNvPr id="4" name="Freeform 4"/>
          <p:cNvSpPr/>
          <p:nvPr/>
        </p:nvSpPr>
        <p:spPr>
          <a:xfrm>
            <a:off x="0" y="6694294"/>
            <a:ext cx="18288000" cy="1885045"/>
          </a:xfrm>
          <a:custGeom>
            <a:avLst/>
            <a:gdLst/>
            <a:ahLst/>
            <a:cxnLst/>
            <a:rect l="l" t="t" r="r" b="b"/>
            <a:pathLst>
              <a:path w="18288000" h="1885045">
                <a:moveTo>
                  <a:pt x="0" y="0"/>
                </a:moveTo>
                <a:lnTo>
                  <a:pt x="18288000" y="0"/>
                </a:lnTo>
                <a:lnTo>
                  <a:pt x="18288000" y="1885045"/>
                </a:lnTo>
                <a:lnTo>
                  <a:pt x="0" y="18850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2149316" y="7018430"/>
            <a:ext cx="14166447" cy="1131380"/>
          </a:xfrm>
          <a:prstGeom prst="rect">
            <a:avLst/>
          </a:prstGeom>
        </p:spPr>
        <p:txBody>
          <a:bodyPr lIns="0" tIns="0" rIns="0" bIns="0" rtlCol="0" anchor="t">
            <a:spAutoFit/>
          </a:bodyPr>
          <a:lstStyle/>
          <a:p>
            <a:pPr algn="ctr">
              <a:lnSpc>
                <a:spcPts val="8118"/>
              </a:lnSpc>
            </a:pPr>
            <a:r>
              <a:rPr lang="en-US" sz="5798" b="1">
                <a:solidFill>
                  <a:srgbClr val="FFFFFF"/>
                </a:solidFill>
                <a:latin typeface="Arial Bold"/>
                <a:ea typeface="Arial Bold"/>
                <a:cs typeface="Arial Bold"/>
                <a:sym typeface="Arial Bold"/>
              </a:rPr>
              <a:t>CẬP NHẬT THÔNG TIN - HĐ VAY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30249" y="9680162"/>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4" name="Freeform 4"/>
          <p:cNvSpPr/>
          <p:nvPr/>
        </p:nvSpPr>
        <p:spPr>
          <a:xfrm>
            <a:off x="1" y="213141"/>
            <a:ext cx="18288000" cy="1885045"/>
          </a:xfrm>
          <a:custGeom>
            <a:avLst/>
            <a:gdLst/>
            <a:ahLst/>
            <a:cxnLst/>
            <a:rect l="l" t="t" r="r" b="b"/>
            <a:pathLst>
              <a:path w="18288000" h="1885045">
                <a:moveTo>
                  <a:pt x="0" y="0"/>
                </a:moveTo>
                <a:lnTo>
                  <a:pt x="18288000" y="0"/>
                </a:lnTo>
                <a:lnTo>
                  <a:pt x="18288000" y="1885045"/>
                </a:lnTo>
                <a:lnTo>
                  <a:pt x="0" y="18850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2149316" y="537286"/>
            <a:ext cx="14166447" cy="1131380"/>
          </a:xfrm>
          <a:prstGeom prst="rect">
            <a:avLst/>
          </a:prstGeom>
        </p:spPr>
        <p:txBody>
          <a:bodyPr lIns="0" tIns="0" rIns="0" bIns="0" rtlCol="0" anchor="t">
            <a:spAutoFit/>
          </a:bodyPr>
          <a:lstStyle/>
          <a:p>
            <a:pPr algn="ctr">
              <a:lnSpc>
                <a:spcPts val="8118"/>
              </a:lnSpc>
            </a:pPr>
            <a:r>
              <a:rPr lang="en-US" sz="5798" b="1">
                <a:solidFill>
                  <a:srgbClr val="FFFFFF"/>
                </a:solidFill>
                <a:latin typeface="Arial Bold"/>
                <a:ea typeface="Arial Bold"/>
                <a:cs typeface="Arial Bold"/>
                <a:sym typeface="Arial Bold"/>
              </a:rPr>
              <a:t>CẬP NHẬT SỐ ĐIỆN THOẠI</a:t>
            </a:r>
          </a:p>
        </p:txBody>
      </p:sp>
      <p:sp>
        <p:nvSpPr>
          <p:cNvPr id="6" name="TextBox 6"/>
          <p:cNvSpPr txBox="1"/>
          <p:nvPr/>
        </p:nvSpPr>
        <p:spPr>
          <a:xfrm>
            <a:off x="5110067" y="2429713"/>
            <a:ext cx="10520182" cy="3813248"/>
          </a:xfrm>
          <a:prstGeom prst="rect">
            <a:avLst/>
          </a:prstGeom>
        </p:spPr>
        <p:txBody>
          <a:bodyPr lIns="0" tIns="0" rIns="0" bIns="0" rtlCol="0" anchor="t">
            <a:spAutoFit/>
          </a:bodyPr>
          <a:lstStyle/>
          <a:p>
            <a:pPr algn="l">
              <a:lnSpc>
                <a:spcPts val="5779"/>
              </a:lnSpc>
            </a:pPr>
            <a:r>
              <a:rPr lang="en-US" sz="3399" b="1">
                <a:solidFill>
                  <a:srgbClr val="00974E"/>
                </a:solidFill>
                <a:latin typeface="Arial Bold"/>
                <a:ea typeface="Arial Bold"/>
                <a:cs typeface="Arial Bold"/>
                <a:sym typeface="Arial Bold"/>
              </a:rPr>
              <a:t>1. ĐÃ CÓ HỢP ĐỒNG VAY</a:t>
            </a:r>
          </a:p>
          <a:p>
            <a:pPr marL="410089" lvl="1" indent="-205045" algn="l">
              <a:lnSpc>
                <a:spcPts val="5779"/>
              </a:lnSpc>
              <a:buFont typeface="Arial"/>
              <a:buChar char="•"/>
            </a:pPr>
            <a:r>
              <a:rPr lang="en-US" sz="3399" b="1">
                <a:solidFill>
                  <a:srgbClr val="00974E"/>
                </a:solidFill>
                <a:latin typeface="Arial Bold"/>
                <a:ea typeface="Arial Bold"/>
                <a:cs typeface="Arial Bold"/>
                <a:sym typeface="Arial Bold"/>
              </a:rPr>
              <a:t>    CHƯA CẬP NHẬT TRÊN FEOL 2.0</a:t>
            </a:r>
          </a:p>
          <a:p>
            <a:pPr marL="410089" lvl="1" indent="-205045" algn="l">
              <a:lnSpc>
                <a:spcPts val="5779"/>
              </a:lnSpc>
              <a:buFont typeface="Arial"/>
              <a:buChar char="•"/>
            </a:pPr>
            <a:r>
              <a:rPr lang="en-US" sz="3399" b="1">
                <a:solidFill>
                  <a:srgbClr val="00974E"/>
                </a:solidFill>
                <a:latin typeface="Arial Bold"/>
                <a:ea typeface="Arial Bold"/>
                <a:cs typeface="Arial Bold"/>
                <a:sym typeface="Arial Bold"/>
              </a:rPr>
              <a:t>    ĐÃ CẬP NHẬT NHƯNG KHÔNG THÀNH CÔNG</a:t>
            </a:r>
          </a:p>
          <a:p>
            <a:pPr marL="410089" lvl="1" indent="-205045" algn="l">
              <a:lnSpc>
                <a:spcPts val="5779"/>
              </a:lnSpc>
              <a:buFont typeface="Arial"/>
              <a:buChar char="•"/>
            </a:pPr>
            <a:r>
              <a:rPr lang="en-US" sz="3399" b="1">
                <a:solidFill>
                  <a:srgbClr val="00974E"/>
                </a:solidFill>
                <a:latin typeface="Arial Bold"/>
                <a:ea typeface="Arial Bold"/>
                <a:cs typeface="Arial Bold"/>
                <a:sym typeface="Arial Bold"/>
              </a:rPr>
              <a:t>    ĐÃ CẬP NHẬT NHƯNG KHÔNG ĐỒNG BỘ</a:t>
            </a:r>
          </a:p>
          <a:p>
            <a:pPr marL="410089" lvl="1" indent="-205045" algn="l">
              <a:lnSpc>
                <a:spcPts val="5779"/>
              </a:lnSpc>
            </a:pPr>
            <a:r>
              <a:rPr lang="en-US" sz="3399" b="1">
                <a:solidFill>
                  <a:srgbClr val="00974E"/>
                </a:solidFill>
                <a:latin typeface="Arial Bold"/>
                <a:ea typeface="Arial Bold"/>
                <a:cs typeface="Arial Bold"/>
                <a:sym typeface="Arial Bold"/>
              </a:rPr>
              <a:t>2. CHƯA CÓ HỢP ĐỒNG VAY</a:t>
            </a:r>
          </a:p>
        </p:txBody>
      </p:sp>
      <p:sp>
        <p:nvSpPr>
          <p:cNvPr id="7" name="Freeform 7"/>
          <p:cNvSpPr/>
          <p:nvPr/>
        </p:nvSpPr>
        <p:spPr>
          <a:xfrm>
            <a:off x="448180" y="2792835"/>
            <a:ext cx="4565209" cy="4565209"/>
          </a:xfrm>
          <a:custGeom>
            <a:avLst/>
            <a:gdLst/>
            <a:ahLst/>
            <a:cxnLst/>
            <a:rect l="l" t="t" r="r" b="b"/>
            <a:pathLst>
              <a:path w="4565209" h="4565209">
                <a:moveTo>
                  <a:pt x="0" y="0"/>
                </a:moveTo>
                <a:lnTo>
                  <a:pt x="4565208" y="0"/>
                </a:lnTo>
                <a:lnTo>
                  <a:pt x="4565208" y="4565208"/>
                </a:lnTo>
                <a:lnTo>
                  <a:pt x="0" y="45652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8" name="Freeform 8"/>
          <p:cNvSpPr/>
          <p:nvPr/>
        </p:nvSpPr>
        <p:spPr>
          <a:xfrm>
            <a:off x="673389" y="3018034"/>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2199" r="-2199"/>
            </a:stretch>
          </a:blipFill>
        </p:spPr>
      </p:sp>
      <p:sp>
        <p:nvSpPr>
          <p:cNvPr id="9" name="Freeform 9"/>
          <p:cNvSpPr/>
          <p:nvPr/>
        </p:nvSpPr>
        <p:spPr>
          <a:xfrm>
            <a:off x="1428912" y="3824049"/>
            <a:ext cx="2540889" cy="2787777"/>
          </a:xfrm>
          <a:custGeom>
            <a:avLst/>
            <a:gdLst/>
            <a:ahLst/>
            <a:cxnLst/>
            <a:rect l="l" t="t" r="r" b="b"/>
            <a:pathLst>
              <a:path w="2540889" h="2787777">
                <a:moveTo>
                  <a:pt x="0" y="0"/>
                </a:moveTo>
                <a:lnTo>
                  <a:pt x="2540889" y="0"/>
                </a:lnTo>
                <a:lnTo>
                  <a:pt x="2540889" y="2787777"/>
                </a:lnTo>
                <a:lnTo>
                  <a:pt x="0" y="278777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0" name="Freeform 10"/>
          <p:cNvSpPr/>
          <p:nvPr/>
        </p:nvSpPr>
        <p:spPr>
          <a:xfrm>
            <a:off x="1705832" y="4065784"/>
            <a:ext cx="2049923" cy="2057400"/>
          </a:xfrm>
          <a:custGeom>
            <a:avLst/>
            <a:gdLst/>
            <a:ahLst/>
            <a:cxnLst/>
            <a:rect l="l" t="t" r="r" b="b"/>
            <a:pathLst>
              <a:path w="2049923" h="2057400">
                <a:moveTo>
                  <a:pt x="0" y="0"/>
                </a:moveTo>
                <a:lnTo>
                  <a:pt x="2049923" y="0"/>
                </a:lnTo>
                <a:lnTo>
                  <a:pt x="2049923" y="2057400"/>
                </a:lnTo>
                <a:lnTo>
                  <a:pt x="0" y="2057400"/>
                </a:lnTo>
                <a:lnTo>
                  <a:pt x="0" y="0"/>
                </a:lnTo>
                <a:close/>
              </a:path>
            </a:pathLst>
          </a:custGeom>
          <a:blipFill>
            <a:blip r:embed="rId11">
              <a:extLst>
                <a:ext uri="{96DAC541-7B7A-43D3-8B79-37D633B846F1}">
                  <asvg:svgBlip xmlns:asvg="http://schemas.microsoft.com/office/drawing/2016/SVG/main" r:embed="rId12"/>
                </a:ext>
              </a:extLst>
            </a:blip>
            <a:stretch>
              <a:fillRect l="-182" r="-182"/>
            </a:stretch>
          </a:blipFill>
        </p:spPr>
      </p:sp>
      <p:sp>
        <p:nvSpPr>
          <p:cNvPr id="11" name="TextBox 11"/>
          <p:cNvSpPr txBox="1"/>
          <p:nvPr/>
        </p:nvSpPr>
        <p:spPr>
          <a:xfrm>
            <a:off x="6602416" y="7515225"/>
            <a:ext cx="11685584" cy="1310640"/>
          </a:xfrm>
          <a:prstGeom prst="rect">
            <a:avLst/>
          </a:prstGeom>
        </p:spPr>
        <p:txBody>
          <a:bodyPr lIns="0" tIns="0" rIns="0" bIns="0" rtlCol="0" anchor="t">
            <a:spAutoFit/>
          </a:bodyPr>
          <a:lstStyle/>
          <a:p>
            <a:pPr algn="just">
              <a:lnSpc>
                <a:spcPts val="3359"/>
              </a:lnSpc>
            </a:pPr>
            <a:r>
              <a:rPr lang="en-US" sz="2400" b="1" u="sng">
                <a:solidFill>
                  <a:srgbClr val="004AAD"/>
                </a:solidFill>
                <a:latin typeface="Arial Bold"/>
                <a:ea typeface="Arial Bold"/>
                <a:cs typeface="Arial Bold"/>
                <a:sym typeface="Arial Bold"/>
              </a:rPr>
              <a:t>Lưu ý</a:t>
            </a:r>
            <a:r>
              <a:rPr lang="en-US" sz="2400" b="1">
                <a:solidFill>
                  <a:srgbClr val="004AAD"/>
                </a:solidFill>
                <a:latin typeface="Arial Bold"/>
                <a:ea typeface="Arial Bold"/>
                <a:cs typeface="Arial Bold"/>
                <a:sym typeface="Arial Bold"/>
              </a:rPr>
              <a:t>: </a:t>
            </a:r>
          </a:p>
          <a:p>
            <a:pPr marL="980447" lvl="3" indent="-245112" algn="just">
              <a:lnSpc>
                <a:spcPts val="3359"/>
              </a:lnSpc>
              <a:buFont typeface="Arial"/>
              <a:buChar char="￭"/>
            </a:pPr>
            <a:r>
              <a:rPr lang="en-US" sz="2400" i="1">
                <a:solidFill>
                  <a:srgbClr val="004AAD"/>
                </a:solidFill>
                <a:latin typeface="Arial Italics"/>
                <a:ea typeface="Arial Italics"/>
                <a:cs typeface="Arial Italics"/>
                <a:sym typeface="Arial Italics"/>
              </a:rPr>
              <a:t>Nếu có cả Loan và Card thì hỗ trợ theo Card</a:t>
            </a:r>
          </a:p>
          <a:p>
            <a:pPr marL="980447" lvl="3" indent="-245112" algn="just">
              <a:lnSpc>
                <a:spcPts val="3359"/>
              </a:lnSpc>
              <a:buFont typeface="Arial"/>
              <a:buChar char="￭"/>
            </a:pPr>
            <a:r>
              <a:rPr lang="en-US" sz="2400" i="1">
                <a:solidFill>
                  <a:srgbClr val="004AAD"/>
                </a:solidFill>
                <a:latin typeface="Arial Italics"/>
                <a:ea typeface="Arial Italics"/>
                <a:cs typeface="Arial Italics"/>
                <a:sym typeface="Arial Italics"/>
              </a:rPr>
              <a:t>Không hỗ trợ cập nhật thông tin cho HĐ bán nợ toàn phần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33350" y="1738556"/>
          <a:ext cx="18021300" cy="2108067"/>
        </p:xfrm>
        <a:graphic>
          <a:graphicData uri="http://schemas.openxmlformats.org/drawingml/2006/table">
            <a:tbl>
              <a:tblPr/>
              <a:tblGrid>
                <a:gridCol w="10036124">
                  <a:extLst>
                    <a:ext uri="{9D8B030D-6E8A-4147-A177-3AD203B41FA5}">
                      <a16:colId xmlns:a16="http://schemas.microsoft.com/office/drawing/2014/main" val="20000"/>
                    </a:ext>
                  </a:extLst>
                </a:gridCol>
                <a:gridCol w="7985176">
                  <a:extLst>
                    <a:ext uri="{9D8B030D-6E8A-4147-A177-3AD203B41FA5}">
                      <a16:colId xmlns:a16="http://schemas.microsoft.com/office/drawing/2014/main" val="20001"/>
                    </a:ext>
                  </a:extLst>
                </a:gridCol>
              </a:tblGrid>
              <a:tr h="866426">
                <a:tc>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241641">
                <a:tc>
                  <a:txBody>
                    <a:bodyPr/>
                    <a:lstStyle/>
                    <a:p>
                      <a:pPr algn="l">
                        <a:lnSpc>
                          <a:spcPts val="3000"/>
                        </a:lnSpc>
                        <a:defRPr/>
                      </a:pP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tạo</a:t>
                      </a:r>
                      <a:r>
                        <a:rPr lang="en-US" sz="2000" dirty="0">
                          <a:solidFill>
                            <a:srgbClr val="000000"/>
                          </a:solidFill>
                          <a:latin typeface="Arial"/>
                          <a:ea typeface="Arial"/>
                          <a:cs typeface="Arial"/>
                          <a:sym typeface="Arial"/>
                        </a:rPr>
                        <a:t> TK FEOL 2.0 </a:t>
                      </a:r>
                      <a:r>
                        <a:rPr lang="en-US" sz="2000" dirty="0" err="1">
                          <a:solidFill>
                            <a:srgbClr val="000000"/>
                          </a:solidFill>
                          <a:latin typeface="Arial"/>
                          <a:ea typeface="Arial"/>
                          <a:cs typeface="Arial"/>
                          <a:sym typeface="Arial"/>
                        </a:rPr>
                        <a:t>bằng</a:t>
                      </a:r>
                      <a:r>
                        <a:rPr lang="en-US" sz="2000" dirty="0">
                          <a:solidFill>
                            <a:srgbClr val="000000"/>
                          </a:solidFill>
                          <a:latin typeface="Arial"/>
                          <a:ea typeface="Arial"/>
                          <a:cs typeface="Arial"/>
                          <a:sym typeface="Arial"/>
                        </a:rPr>
                        <a:t> SĐT </a:t>
                      </a:r>
                      <a:r>
                        <a:rPr lang="en-US" sz="2000" dirty="0" err="1">
                          <a:solidFill>
                            <a:srgbClr val="000000"/>
                          </a:solidFill>
                          <a:latin typeface="Arial"/>
                          <a:ea typeface="Arial"/>
                          <a:cs typeface="Arial"/>
                          <a:sym typeface="Arial"/>
                        </a:rPr>
                        <a:t>muốn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thay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đổi</a:t>
                      </a:r>
                      <a:r>
                        <a:rPr lang="en-US" sz="2000" dirty="0">
                          <a:solidFill>
                            <a:srgbClr val="000000"/>
                          </a:solidFill>
                          <a:latin typeface="Arial"/>
                          <a:ea typeface="Arial"/>
                          <a:cs typeface="Arial"/>
                          <a:sym typeface="Arial"/>
                        </a:rPr>
                        <a:t>.</a:t>
                      </a:r>
                      <a:endParaRPr lang="en-US" sz="1100" dirty="0"/>
                    </a:p>
                    <a:p>
                      <a:pPr algn="l">
                        <a:lnSpc>
                          <a:spcPts val="3000"/>
                        </a:lnSpc>
                      </a:pPr>
                      <a:r>
                        <a:rPr lang="en-US" sz="2000" b="1" dirty="0" err="1">
                          <a:solidFill>
                            <a:srgbClr val="000000"/>
                          </a:solidFill>
                          <a:latin typeface="Arial Bold"/>
                          <a:ea typeface="Arial Bold"/>
                          <a:cs typeface="Arial Bold"/>
                          <a:sym typeface="Arial Bold"/>
                        </a:rPr>
                        <a:t>Lưu</a:t>
                      </a:r>
                      <a:r>
                        <a:rPr lang="en-US" sz="2000" b="1" dirty="0">
                          <a:solidFill>
                            <a:srgbClr val="000000"/>
                          </a:solidFill>
                          <a:latin typeface="Arial Bold"/>
                          <a:ea typeface="Arial Bold"/>
                          <a:cs typeface="Arial Bold"/>
                          <a:sym typeface="Arial Bold"/>
                        </a:rPr>
                        <a:t> ý:</a:t>
                      </a:r>
                      <a:r>
                        <a:rPr lang="en-US" sz="2000" dirty="0">
                          <a:solidFill>
                            <a:srgbClr val="000000"/>
                          </a:solidFill>
                          <a:latin typeface="Arial"/>
                          <a:ea typeface="Arial"/>
                          <a:cs typeface="Arial"/>
                          <a:sym typeface="Arial"/>
                        </a:rPr>
                        <a:t> SĐT </a:t>
                      </a:r>
                      <a:r>
                        <a:rPr lang="en-US" sz="2000" dirty="0" err="1">
                          <a:solidFill>
                            <a:srgbClr val="000000"/>
                          </a:solidFill>
                          <a:latin typeface="Arial"/>
                          <a:ea typeface="Arial"/>
                          <a:cs typeface="Arial"/>
                          <a:sym typeface="Arial"/>
                        </a:rPr>
                        <a:t>cần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đăng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ký</a:t>
                      </a:r>
                      <a:r>
                        <a:rPr lang="en-US" sz="2000" dirty="0">
                          <a:solidFill>
                            <a:srgbClr val="000000"/>
                          </a:solidFill>
                          <a:latin typeface="Arial"/>
                          <a:ea typeface="Arial"/>
                          <a:cs typeface="Arial"/>
                          <a:sym typeface="Arial"/>
                        </a:rPr>
                        <a:t> sim </a:t>
                      </a:r>
                      <a:r>
                        <a:rPr lang="en-US" sz="2000" dirty="0" err="1">
                          <a:solidFill>
                            <a:srgbClr val="000000"/>
                          </a:solidFill>
                          <a:latin typeface="Arial"/>
                          <a:ea typeface="Arial"/>
                          <a:cs typeface="Arial"/>
                          <a:sym typeface="Arial"/>
                        </a:rPr>
                        <a:t>chính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chủ</a:t>
                      </a:r>
                      <a:endParaRPr lang="en-US" sz="2000" dirty="0">
                        <a:solidFill>
                          <a:srgbClr val="000000"/>
                        </a:solidFill>
                        <a:latin typeface="Arial"/>
                        <a:ea typeface="Arial"/>
                        <a:cs typeface="Arial"/>
                        <a:sym typeface="Arial"/>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dirty="0">
                          <a:solidFill>
                            <a:srgbClr val="000000"/>
                          </a:solidFill>
                          <a:latin typeface="Arial Bold"/>
                          <a:ea typeface="Arial Bold"/>
                          <a:cs typeface="Arial Bold"/>
                          <a:sym typeface="Arial Bold"/>
                        </a:rPr>
                        <a:t>Code: </a:t>
                      </a:r>
                      <a:r>
                        <a:rPr lang="en-US" sz="2000" dirty="0">
                          <a:solidFill>
                            <a:srgbClr val="000000"/>
                          </a:solidFill>
                          <a:latin typeface="Arial"/>
                          <a:ea typeface="Arial"/>
                          <a:cs typeface="Arial"/>
                          <a:sym typeface="Arial"/>
                        </a:rPr>
                        <a:t>IL33-Cập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KH</a:t>
                      </a:r>
                      <a:endParaRPr lang="en-US" sz="1100" dirty="0"/>
                    </a:p>
                    <a:p>
                      <a:pPr algn="l">
                        <a:lnSpc>
                          <a:spcPts val="3000"/>
                        </a:lnSpc>
                      </a:pPr>
                      <a:r>
                        <a:rPr lang="en-US" sz="2000" b="1" dirty="0">
                          <a:solidFill>
                            <a:srgbClr val="000000"/>
                          </a:solidFill>
                          <a:latin typeface="Arial Bold"/>
                          <a:ea typeface="Arial Bold"/>
                          <a:cs typeface="Arial Bold"/>
                          <a:sym typeface="Arial Bold"/>
                        </a:rPr>
                        <a:t>Subcode: </a:t>
                      </a:r>
                      <a:r>
                        <a:rPr lang="en-US" sz="2000" dirty="0">
                          <a:solidFill>
                            <a:srgbClr val="000000"/>
                          </a:solidFill>
                          <a:latin typeface="Arial"/>
                          <a:ea typeface="Arial"/>
                          <a:cs typeface="Arial"/>
                          <a:sym typeface="Arial"/>
                        </a:rPr>
                        <a:t>IL33.01-Cập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số</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thoại</a:t>
                      </a:r>
                      <a:endParaRPr lang="en-US" sz="2000" dirty="0">
                        <a:solidFill>
                          <a:srgbClr val="000000"/>
                        </a:solidFill>
                        <a:latin typeface="Arial"/>
                        <a:ea typeface="Arial"/>
                        <a:cs typeface="Arial"/>
                        <a:sym typeface="Arial"/>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45799"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701388" y="48431"/>
            <a:ext cx="19690775" cy="885892"/>
          </a:xfrm>
          <a:prstGeom prst="rect">
            <a:avLst/>
          </a:prstGeom>
        </p:spPr>
        <p:txBody>
          <a:bodyPr lIns="0" tIns="0" rIns="0" bIns="0" rtlCol="0" anchor="t">
            <a:spAutoFit/>
          </a:bodyPr>
          <a:lstStyle/>
          <a:p>
            <a:pPr algn="ctr">
              <a:lnSpc>
                <a:spcPts val="6027"/>
              </a:lnSpc>
            </a:pPr>
            <a:r>
              <a:rPr lang="en-US" sz="3399" b="1">
                <a:solidFill>
                  <a:srgbClr val="000000"/>
                </a:solidFill>
                <a:latin typeface="Arial Bold"/>
                <a:ea typeface="Arial Bold"/>
                <a:cs typeface="Arial Bold"/>
                <a:sym typeface="Arial Bold"/>
              </a:rPr>
              <a:t>ĐÃ CÓ HĐ VAY – CHƯA CẬP NHẬT TRÊN FEOL 2.0 – CHƯA CÓ TÀI KHOẢN FEOL 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458416776"/>
              </p:ext>
            </p:extLst>
          </p:nvPr>
        </p:nvGraphicFramePr>
        <p:xfrm>
          <a:off x="117971" y="1268082"/>
          <a:ext cx="18052057" cy="8863644"/>
        </p:xfrm>
        <a:graphic>
          <a:graphicData uri="http://schemas.openxmlformats.org/drawingml/2006/table">
            <a:tbl>
              <a:tblPr/>
              <a:tblGrid>
                <a:gridCol w="3565725">
                  <a:extLst>
                    <a:ext uri="{9D8B030D-6E8A-4147-A177-3AD203B41FA5}">
                      <a16:colId xmlns:a16="http://schemas.microsoft.com/office/drawing/2014/main" val="20000"/>
                    </a:ext>
                  </a:extLst>
                </a:gridCol>
                <a:gridCol w="1673009">
                  <a:extLst>
                    <a:ext uri="{9D8B030D-6E8A-4147-A177-3AD203B41FA5}">
                      <a16:colId xmlns:a16="http://schemas.microsoft.com/office/drawing/2014/main" val="20001"/>
                    </a:ext>
                  </a:extLst>
                </a:gridCol>
                <a:gridCol w="7105384">
                  <a:extLst>
                    <a:ext uri="{9D8B030D-6E8A-4147-A177-3AD203B41FA5}">
                      <a16:colId xmlns:a16="http://schemas.microsoft.com/office/drawing/2014/main" val="20002"/>
                    </a:ext>
                  </a:extLst>
                </a:gridCol>
                <a:gridCol w="1490927">
                  <a:extLst>
                    <a:ext uri="{9D8B030D-6E8A-4147-A177-3AD203B41FA5}">
                      <a16:colId xmlns:a16="http://schemas.microsoft.com/office/drawing/2014/main" val="20003"/>
                    </a:ext>
                  </a:extLst>
                </a:gridCol>
                <a:gridCol w="4217012">
                  <a:extLst>
                    <a:ext uri="{9D8B030D-6E8A-4147-A177-3AD203B41FA5}">
                      <a16:colId xmlns:a16="http://schemas.microsoft.com/office/drawing/2014/main" val="20004"/>
                    </a:ext>
                  </a:extLst>
                </a:gridCol>
              </a:tblGrid>
              <a:tr h="835275">
                <a:tc gridSpan="3">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14300" marR="114300" marT="114300" marB="1143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14300" marR="114300" marT="114300" marB="1143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14300" marR="114300" marT="114300" marB="1143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TAT</a:t>
                      </a:r>
                      <a:endParaRPr lang="en-US" sz="1100"/>
                    </a:p>
                  </a:txBody>
                  <a:tcPr marL="114300" marR="114300" marT="114300" marB="1143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CODE</a:t>
                      </a:r>
                      <a:endParaRPr lang="en-US" sz="1100"/>
                    </a:p>
                  </a:txBody>
                  <a:tcPr marL="114300" marR="114300" marT="114300" marB="1143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2757170">
                <a:tc rowSpan="2">
                  <a:txBody>
                    <a:bodyPr/>
                    <a:lstStyle/>
                    <a:p>
                      <a:pPr marL="457202" lvl="2" indent="-152401" algn="l">
                        <a:lnSpc>
                          <a:spcPts val="5000"/>
                        </a:lnSpc>
                        <a:buFont typeface="Arial"/>
                        <a:buChar char="⚬"/>
                        <a:defRPr/>
                      </a:pP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thao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tác</a:t>
                      </a:r>
                      <a:r>
                        <a:rPr lang="en-US" sz="2000" dirty="0">
                          <a:solidFill>
                            <a:srgbClr val="000000"/>
                          </a:solidFill>
                          <a:latin typeface="Arial"/>
                          <a:ea typeface="Arial"/>
                          <a:cs typeface="Arial"/>
                          <a:sym typeface="Arial"/>
                        </a:rPr>
                        <a:t> trên </a:t>
                      </a:r>
                      <a:r>
                        <a:rPr lang="en-US" sz="2000" dirty="0" err="1">
                          <a:solidFill>
                            <a:srgbClr val="000000"/>
                          </a:solidFill>
                          <a:latin typeface="Arial"/>
                          <a:ea typeface="Arial"/>
                          <a:cs typeface="Arial"/>
                          <a:sym typeface="Arial"/>
                        </a:rPr>
                        <a:t>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FEOL 2.0 </a:t>
                      </a:r>
                      <a:r>
                        <a:rPr lang="en-US" sz="2000" b="1" i="1" u="sng" kern="1200" dirty="0">
                          <a:solidFill>
                            <a:srgbClr val="4DA745"/>
                          </a:solidFill>
                          <a:latin typeface="Arial Bold Italics"/>
                          <a:ea typeface="Arial Bold Italics"/>
                          <a:cs typeface="Arial Bold Italics"/>
                          <a:sym typeface="Arial Bold Italics"/>
                          <a:hlinkClick r:id="rId2">
                            <a:extLst>
                              <a:ext uri="{A12FA001-AC4F-418D-AE19-62706E023703}">
                                <ahyp:hlinkClr xmlns:ahyp="http://schemas.microsoft.com/office/drawing/2018/hyperlinkcolor" val="tx"/>
                              </a:ext>
                            </a:extLst>
                          </a:hlinkClick>
                        </a:rPr>
                        <a:t>(</a:t>
                      </a:r>
                      <a:r>
                        <a:rPr lang="en-US" sz="2000" b="1" i="1" u="sng" kern="1200" dirty="0" err="1">
                          <a:solidFill>
                            <a:srgbClr val="4DA745"/>
                          </a:solidFill>
                          <a:latin typeface="Arial Bold Italics"/>
                          <a:ea typeface="Arial Bold Italics"/>
                          <a:cs typeface="Arial Bold Italics"/>
                          <a:sym typeface="Arial Bold Italics"/>
                          <a:hlinkClick r:id="rId2">
                            <a:extLst>
                              <a:ext uri="{A12FA001-AC4F-418D-AE19-62706E023703}">
                                <ahyp:hlinkClr xmlns:ahyp="http://schemas.microsoft.com/office/drawing/2018/hyperlinkcolor" val="tx"/>
                              </a:ext>
                            </a:extLst>
                          </a:hlinkClick>
                        </a:rPr>
                        <a:t>tham</a:t>
                      </a:r>
                      <a:r>
                        <a:rPr lang="en-US" sz="2000" b="1" i="1" u="sng" kern="1200" dirty="0">
                          <a:solidFill>
                            <a:srgbClr val="4DA745"/>
                          </a:solidFill>
                          <a:latin typeface="Arial Bold Italics"/>
                          <a:ea typeface="Arial Bold Italics"/>
                          <a:cs typeface="Arial Bold Italics"/>
                          <a:sym typeface="Arial Bold Italics"/>
                          <a:hlinkClick r:id="rId2">
                            <a:extLst>
                              <a:ext uri="{A12FA001-AC4F-418D-AE19-62706E023703}">
                                <ahyp:hlinkClr xmlns:ahyp="http://schemas.microsoft.com/office/drawing/2018/hyperlinkcolor" val="tx"/>
                              </a:ext>
                            </a:extLst>
                          </a:hlinkClick>
                        </a:rPr>
                        <a:t> </a:t>
                      </a:r>
                      <a:r>
                        <a:rPr lang="en-US" sz="2000" b="1" i="1" u="sng" kern="1200" dirty="0" err="1">
                          <a:solidFill>
                            <a:srgbClr val="4DA745"/>
                          </a:solidFill>
                          <a:latin typeface="Arial Bold Italics"/>
                          <a:ea typeface="Arial Bold Italics"/>
                          <a:cs typeface="Arial Bold Italics"/>
                          <a:sym typeface="Arial Bold Italics"/>
                          <a:hlinkClick r:id="rId2">
                            <a:extLst>
                              <a:ext uri="{A12FA001-AC4F-418D-AE19-62706E023703}">
                                <ahyp:hlinkClr xmlns:ahyp="http://schemas.microsoft.com/office/drawing/2018/hyperlinkcolor" val="tx"/>
                              </a:ext>
                            </a:extLst>
                          </a:hlinkClick>
                        </a:rPr>
                        <a:t>khảo</a:t>
                      </a:r>
                      <a:r>
                        <a:rPr lang="en-US" sz="2000" b="1" i="1" u="sng" kern="1200" dirty="0">
                          <a:solidFill>
                            <a:srgbClr val="4DA745"/>
                          </a:solidFill>
                          <a:latin typeface="Arial Bold Italics"/>
                          <a:ea typeface="Arial Bold Italics"/>
                          <a:cs typeface="Arial Bold Italics"/>
                          <a:sym typeface="Arial Bold Italics"/>
                          <a:hlinkClick r:id="rId2">
                            <a:extLst>
                              <a:ext uri="{A12FA001-AC4F-418D-AE19-62706E023703}">
                                <ahyp:hlinkClr xmlns:ahyp="http://schemas.microsoft.com/office/drawing/2018/hyperlinkcolor" val="tx"/>
                              </a:ext>
                            </a:extLst>
                          </a:hlinkClick>
                        </a:rPr>
                        <a:t>)</a:t>
                      </a:r>
                      <a:endParaRPr lang="en-US" sz="2000" b="1" i="1" u="sng" kern="1200" dirty="0">
                        <a:solidFill>
                          <a:srgbClr val="4DA745"/>
                        </a:solidFill>
                        <a:latin typeface="Arial Bold Italics"/>
                        <a:cs typeface="Arial Bold Italics"/>
                      </a:endParaRPr>
                    </a:p>
                    <a:p>
                      <a:pPr marL="457202" lvl="2" indent="-152401" algn="l">
                        <a:lnSpc>
                          <a:spcPts val="5000"/>
                        </a:lnSpc>
                        <a:buFont typeface="Arial"/>
                        <a:buChar char="⚬"/>
                      </a:pPr>
                      <a:r>
                        <a:rPr lang="en-US" sz="2000" dirty="0" err="1">
                          <a:solidFill>
                            <a:srgbClr val="000000"/>
                          </a:solidFill>
                          <a:latin typeface="Arial"/>
                          <a:ea typeface="Arial"/>
                          <a:cs typeface="Arial"/>
                          <a:sym typeface="Arial"/>
                        </a:rPr>
                        <a:t>Nếu</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quên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 </a:t>
                      </a:r>
                      <a:r>
                        <a:rPr lang="en-US" sz="2000" dirty="0" err="1">
                          <a:solidFill>
                            <a:srgbClr val="000000"/>
                          </a:solidFill>
                          <a:latin typeface="Arial"/>
                          <a:ea typeface="Arial"/>
                          <a:cs typeface="Arial"/>
                          <a:sym typeface="Arial"/>
                        </a:rPr>
                        <a:t>đăng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còn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SĐT </a:t>
                      </a:r>
                      <a:r>
                        <a:rPr lang="en-US" sz="2000" dirty="0" err="1">
                          <a:solidFill>
                            <a:srgbClr val="000000"/>
                          </a:solidFill>
                          <a:latin typeface="Arial"/>
                          <a:ea typeface="Arial"/>
                          <a:cs typeface="Arial"/>
                          <a:sym typeface="Arial"/>
                        </a:rPr>
                        <a:t>cũ</a:t>
                      </a:r>
                      <a:r>
                        <a:rPr lang="en-US" sz="2000" dirty="0">
                          <a:solidFill>
                            <a:srgbClr val="000000"/>
                          </a:solidFill>
                          <a:latin typeface="Arial"/>
                          <a:ea typeface="Arial"/>
                          <a:cs typeface="Arial"/>
                          <a:sym typeface="Arial"/>
                        </a:rPr>
                        <a:t>, CS </a:t>
                      </a:r>
                      <a:r>
                        <a:rPr lang="en-US" sz="2000" dirty="0" err="1">
                          <a:solidFill>
                            <a:srgbClr val="000000"/>
                          </a:solidFill>
                          <a:latin typeface="Arial"/>
                          <a:ea typeface="Arial"/>
                          <a:cs typeface="Arial"/>
                          <a:sym typeface="Arial"/>
                        </a:rPr>
                        <a:t>xét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trạng</a:t>
                      </a:r>
                      <a:r>
                        <a:rPr lang="en-US" sz="2000" dirty="0">
                          <a:solidFill>
                            <a:srgbClr val="000000"/>
                          </a:solidFill>
                          <a:latin typeface="Arial"/>
                          <a:ea typeface="Arial"/>
                          <a:cs typeface="Arial"/>
                          <a:sym typeface="Arial"/>
                        </a:rPr>
                        <a:t> HĐ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tương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ứng</a:t>
                      </a:r>
                      <a:r>
                        <a:rPr lang="en-US" sz="2000" dirty="0">
                          <a:solidFill>
                            <a:srgbClr val="000000"/>
                          </a:solidFill>
                          <a:latin typeface="Arial"/>
                          <a:ea typeface="Arial"/>
                          <a:cs typeface="Arial"/>
                          <a:sym typeface="Arial"/>
                        </a:rPr>
                        <a:t>:</a:t>
                      </a:r>
                    </a:p>
                    <a:p>
                      <a:pPr marL="457202" lvl="2" indent="-152401" algn="l">
                        <a:lnSpc>
                          <a:spcPts val="5000"/>
                        </a:lnSpc>
                      </a:pPr>
                      <a:endParaRPr lang="en-US" sz="2000" dirty="0">
                        <a:solidFill>
                          <a:srgbClr val="000000"/>
                        </a:solidFill>
                        <a:latin typeface="Arial"/>
                        <a:ea typeface="Arial"/>
                        <a:cs typeface="Arial"/>
                        <a:sym typeface="Arial"/>
                      </a:endParaRPr>
                    </a:p>
                  </a:txBody>
                  <a:tcPr marL="114300" marR="114300" marT="114300" marB="1143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dirty="0">
                          <a:solidFill>
                            <a:srgbClr val="000000"/>
                          </a:solidFill>
                          <a:latin typeface="Arial"/>
                          <a:ea typeface="Arial"/>
                          <a:cs typeface="Arial"/>
                          <a:sym typeface="Arial"/>
                        </a:rPr>
                        <a:t>HĐ Active</a:t>
                      </a:r>
                      <a:endParaRPr lang="en-US" sz="1100" b="1" dirty="0"/>
                    </a:p>
                  </a:txBody>
                  <a:tcPr marL="114300" marR="114300" marT="114300" marB="1143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2" lvl="2" indent="-152401" algn="l">
                        <a:lnSpc>
                          <a:spcPts val="5000"/>
                        </a:lnSpc>
                        <a:buFont typeface="Arial"/>
                        <a:buChar char="⚬"/>
                        <a:defRPr/>
                      </a:pPr>
                      <a:r>
                        <a:rPr lang="en-US" sz="2000">
                          <a:solidFill>
                            <a:srgbClr val="000000"/>
                          </a:solidFill>
                          <a:latin typeface="Arial"/>
                          <a:ea typeface="Arial"/>
                          <a:cs typeface="Arial"/>
                          <a:sym typeface="Arial"/>
                        </a:rPr>
                        <a:t>Xác nhận SĐT cần cập nhật </a:t>
                      </a:r>
                      <a:endParaRPr lang="en-US" sz="1100"/>
                    </a:p>
                    <a:p>
                      <a:pPr marL="457202" lvl="2" indent="-152401" algn="l">
                        <a:lnSpc>
                          <a:spcPts val="5000"/>
                        </a:lnSpc>
                        <a:buFont typeface="Arial"/>
                        <a:buChar char="⚬"/>
                      </a:pPr>
                      <a:r>
                        <a:rPr lang="en-US" sz="2000">
                          <a:solidFill>
                            <a:srgbClr val="000000"/>
                          </a:solidFill>
                          <a:latin typeface="Arial"/>
                          <a:ea typeface="Arial"/>
                          <a:cs typeface="Arial"/>
                          <a:sym typeface="Arial"/>
                        </a:rPr>
                        <a:t>Thông báo sau khi cập nhật thành công thì tên đăng nhập FEOL 2.0 là số điện thoại mới với định dạng là số “0” đầu.</a:t>
                      </a:r>
                    </a:p>
                  </a:txBody>
                  <a:tcPr marL="114300" marR="114300" marT="114300" marB="1143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algn="ctr">
                        <a:lnSpc>
                          <a:spcPts val="5000"/>
                        </a:lnSpc>
                        <a:defRPr/>
                      </a:pPr>
                      <a:r>
                        <a:rPr lang="en-US" sz="2000">
                          <a:solidFill>
                            <a:srgbClr val="000000"/>
                          </a:solidFill>
                          <a:latin typeface="Arial"/>
                          <a:ea typeface="Arial"/>
                          <a:cs typeface="Arial"/>
                          <a:sym typeface="Arial"/>
                        </a:rPr>
                        <a:t>4 ngày làm việc</a:t>
                      </a:r>
                      <a:endParaRPr lang="en-US" sz="1100"/>
                    </a:p>
                  </a:txBody>
                  <a:tcPr marL="114300" marR="114300" marT="114300" marB="1143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a:solidFill>
                            <a:srgbClr val="000000"/>
                          </a:solidFill>
                          <a:latin typeface="Arial Bold"/>
                          <a:ea typeface="Arial Bold"/>
                          <a:cs typeface="Arial Bold"/>
                          <a:sym typeface="Arial Bold"/>
                        </a:rPr>
                        <a:t>Chọn: Cập nhật Số điện thoại</a:t>
                      </a:r>
                      <a:endParaRPr lang="en-US" sz="1100"/>
                    </a:p>
                    <a:p>
                      <a:pPr algn="l">
                        <a:lnSpc>
                          <a:spcPts val="3600"/>
                        </a:lnSpc>
                      </a:pPr>
                      <a:r>
                        <a:rPr lang="en-US" sz="2000" b="1">
                          <a:solidFill>
                            <a:srgbClr val="000000"/>
                          </a:solidFill>
                          <a:latin typeface="Arial Bold"/>
                          <a:ea typeface="Arial Bold"/>
                          <a:cs typeface="Arial Bold"/>
                          <a:sym typeface="Arial Bold"/>
                        </a:rPr>
                        <a:t>Remark: </a:t>
                      </a:r>
                      <a:r>
                        <a:rPr lang="en-US" sz="2000">
                          <a:solidFill>
                            <a:srgbClr val="000000"/>
                          </a:solidFill>
                          <a:latin typeface="Arial"/>
                          <a:ea typeface="Arial"/>
                          <a:cs typeface="Arial"/>
                          <a:sym typeface="Arial"/>
                        </a:rPr>
                        <a:t>SĐT mới - KH đã có tài khoản FEOL 2.0 - SĐT hiện tại của KH trên FEOL 2.0 - Lý do cập nhật</a:t>
                      </a:r>
                    </a:p>
                  </a:txBody>
                  <a:tcPr marL="114300" marR="114300" marT="114300" marB="1143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5046854">
                <a:tc vMerge="1">
                  <a:txBody>
                    <a:bodyPr/>
                    <a:lstStyle/>
                    <a:p>
                      <a:pPr marL="457202" lvl="2" indent="-152401" algn="l">
                        <a:lnSpc>
                          <a:spcPts val="5000"/>
                        </a:lnSpc>
                        <a:buFont typeface="Arial"/>
                        <a:buChar char="⚬"/>
                        <a:defRPr/>
                      </a:pPr>
                      <a:r>
                        <a:rPr lang="en-US" sz="2000">
                          <a:solidFill>
                            <a:srgbClr val="000000"/>
                          </a:solidFill>
                          <a:latin typeface="Arial"/>
                          <a:ea typeface="Arial"/>
                          <a:cs typeface="Arial"/>
                          <a:sym typeface="Arial"/>
                        </a:rPr>
                        <a:t>Hướng dẫn KH thao tác trên ứng dụng FEOL 2.0 </a:t>
                      </a:r>
                      <a:r>
                        <a:rPr lang="en-US" sz="2000" b="1" i="1" u="sng">
                          <a:solidFill>
                            <a:srgbClr val="4DA745"/>
                          </a:solidFill>
                          <a:latin typeface="Arial Bold Italics"/>
                          <a:ea typeface="Arial Bold Italics"/>
                          <a:cs typeface="Arial Bold Italics"/>
                          <a:sym typeface="Arial Bold Italics"/>
                        </a:rPr>
                        <a:t>(tham khảo)</a:t>
                      </a:r>
                      <a:endParaRPr lang="en-US" sz="1100"/>
                    </a:p>
                    <a:p>
                      <a:pPr marL="457202" lvl="2" indent="-152401" algn="l">
                        <a:lnSpc>
                          <a:spcPts val="5000"/>
                        </a:lnSpc>
                        <a:buFont typeface="Arial"/>
                        <a:buChar char="⚬"/>
                      </a:pPr>
                      <a:r>
                        <a:rPr lang="en-US" sz="2000">
                          <a:solidFill>
                            <a:srgbClr val="000000"/>
                          </a:solidFill>
                          <a:latin typeface="Arial"/>
                          <a:ea typeface="Arial"/>
                          <a:cs typeface="Arial"/>
                          <a:sym typeface="Arial"/>
                        </a:rPr>
                        <a:t>Nếu KH quên thông tin đăng nhập và không còn sử dụng SĐT cũ, CS xét tình trạng HĐ và hỗ trợ tương ứng:</a:t>
                      </a:r>
                    </a:p>
                    <a:p>
                      <a:pPr marL="457202" lvl="2" indent="-152401" algn="l">
                        <a:lnSpc>
                          <a:spcPts val="5000"/>
                        </a:lnSpc>
                      </a:pPr>
                      <a:endParaRPr lang="en-US" sz="2000">
                        <a:solidFill>
                          <a:srgbClr val="000000"/>
                        </a:solidFill>
                        <a:latin typeface="Arial"/>
                        <a:ea typeface="Arial"/>
                        <a:cs typeface="Arial"/>
                        <a:sym typeface="Arial"/>
                      </a:endParaRPr>
                    </a:p>
                  </a:txBody>
                  <a:tcPr marL="114300" marR="114300" marT="114300" marB="1143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dirty="0">
                          <a:solidFill>
                            <a:srgbClr val="000000"/>
                          </a:solidFill>
                          <a:latin typeface="Arial"/>
                          <a:ea typeface="Arial"/>
                          <a:cs typeface="Arial"/>
                          <a:sym typeface="Arial"/>
                        </a:rPr>
                        <a:t>HĐ Closed</a:t>
                      </a:r>
                      <a:endParaRPr lang="en-US" sz="1100" b="1" dirty="0"/>
                    </a:p>
                  </a:txBody>
                  <a:tcPr marL="114300" marR="114300" marT="114300" marB="1143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309" lvl="2" indent="-152436" algn="l">
                        <a:lnSpc>
                          <a:spcPts val="3000"/>
                        </a:lnSpc>
                        <a:buFont typeface="Arial"/>
                        <a:buChar char="⚬"/>
                        <a:defRPr/>
                      </a:pPr>
                      <a:r>
                        <a:rPr lang="en-US" sz="2000" dirty="0" err="1">
                          <a:solidFill>
                            <a:srgbClr val="000000"/>
                          </a:solidFill>
                          <a:latin typeface="Arial"/>
                          <a:ea typeface="Arial"/>
                          <a:cs typeface="Arial"/>
                          <a:sym typeface="Arial"/>
                        </a:rPr>
                        <a:t>Xác</a:t>
                      </a:r>
                      <a:r>
                        <a:rPr lang="en-US" sz="2000" dirty="0">
                          <a:solidFill>
                            <a:srgbClr val="000000"/>
                          </a:solidFill>
                          <a:latin typeface="Arial"/>
                          <a:ea typeface="Arial"/>
                          <a:cs typeface="Arial"/>
                          <a:sym typeface="Arial"/>
                        </a:rPr>
                        <a:t> nhận SĐT </a:t>
                      </a:r>
                      <a:r>
                        <a:rPr lang="en-US" sz="2000" dirty="0" err="1">
                          <a:solidFill>
                            <a:srgbClr val="000000"/>
                          </a:solidFill>
                          <a:latin typeface="Arial"/>
                          <a:ea typeface="Arial"/>
                          <a:cs typeface="Arial"/>
                          <a:sym typeface="Arial"/>
                        </a:rPr>
                        <a:t>cần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a:t>
                      </a:r>
                      <a:endParaRPr lang="en-US" sz="1100" dirty="0"/>
                    </a:p>
                    <a:p>
                      <a:pPr marL="457309" lvl="2" indent="-152436" algn="l">
                        <a:lnSpc>
                          <a:spcPts val="3000"/>
                        </a:lnSpc>
                        <a:buFont typeface="Arial"/>
                        <a:buChar char="⚬"/>
                      </a:pPr>
                      <a:r>
                        <a:rPr lang="en-US" sz="2000" dirty="0" err="1">
                          <a:solidFill>
                            <a:srgbClr val="000000"/>
                          </a:solidFill>
                          <a:latin typeface="Arial"/>
                          <a:ea typeface="Arial"/>
                          <a:cs typeface="Arial"/>
                          <a:sym typeface="Arial"/>
                        </a:rPr>
                        <a:t>Gửi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ảnh</a:t>
                      </a:r>
                      <a:r>
                        <a:rPr lang="en-US" sz="2000" dirty="0">
                          <a:solidFill>
                            <a:srgbClr val="000000"/>
                          </a:solidFill>
                          <a:latin typeface="Arial"/>
                          <a:ea typeface="Arial"/>
                          <a:cs typeface="Arial"/>
                          <a:sym typeface="Arial"/>
                        </a:rPr>
                        <a:t> qua </a:t>
                      </a:r>
                      <a:r>
                        <a:rPr lang="en-US" sz="2000" dirty="0" err="1">
                          <a:solidFill>
                            <a:srgbClr val="000000"/>
                          </a:solidFill>
                          <a:latin typeface="Arial"/>
                          <a:ea typeface="Arial"/>
                          <a:cs typeface="Arial"/>
                          <a:sym typeface="Arial"/>
                        </a:rPr>
                        <a:t>Zalo</a:t>
                      </a:r>
                      <a:r>
                        <a:rPr lang="en-US" sz="2000" dirty="0">
                          <a:solidFill>
                            <a:srgbClr val="000000"/>
                          </a:solidFill>
                          <a:latin typeface="Arial"/>
                          <a:ea typeface="Arial"/>
                          <a:cs typeface="Arial"/>
                          <a:sym typeface="Arial"/>
                        </a:rPr>
                        <a:t> FE Credit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dấu</a:t>
                      </a:r>
                      <a:r>
                        <a:rPr lang="en-US" sz="2000" dirty="0">
                          <a:solidFill>
                            <a:srgbClr val="000000"/>
                          </a:solidFill>
                          <a:latin typeface="Arial"/>
                          <a:ea typeface="Arial"/>
                          <a:cs typeface="Arial"/>
                          <a:sym typeface="Arial"/>
                        </a:rPr>
                        <a:t> tick). </a:t>
                      </a:r>
                      <a:r>
                        <a:rPr lang="en-US" sz="2000" dirty="0" err="1">
                          <a:solidFill>
                            <a:srgbClr val="000000"/>
                          </a:solidFill>
                          <a:latin typeface="Arial"/>
                          <a:ea typeface="Arial"/>
                          <a:cs typeface="Arial"/>
                          <a:sym typeface="Arial"/>
                        </a:rPr>
                        <a:t>Nếu</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Zalo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gửi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ảnh</a:t>
                      </a:r>
                      <a:r>
                        <a:rPr lang="en-US" sz="2000" dirty="0">
                          <a:solidFill>
                            <a:srgbClr val="000000"/>
                          </a:solidFill>
                          <a:latin typeface="Arial"/>
                          <a:ea typeface="Arial"/>
                          <a:cs typeface="Arial"/>
                          <a:sym typeface="Arial"/>
                        </a:rPr>
                        <a:t> qua email </a:t>
                      </a:r>
                      <a:r>
                        <a:rPr lang="en-US" sz="2000" b="1" dirty="0">
                          <a:solidFill>
                            <a:srgbClr val="000000"/>
                          </a:solidFill>
                          <a:latin typeface="Arial Bold"/>
                          <a:ea typeface="Arial Bold"/>
                          <a:cs typeface="Arial Bold"/>
                          <a:sym typeface="Arial Bold"/>
                        </a:rPr>
                        <a:t>dichvukhachhang@fecredit.com.vn</a:t>
                      </a:r>
                    </a:p>
                    <a:p>
                      <a:pPr marL="817321" lvl="3" indent="-204330" algn="l">
                        <a:lnSpc>
                          <a:spcPts val="3000"/>
                        </a:lnSpc>
                        <a:buFont typeface="Arial"/>
                        <a:buChar char="￭"/>
                      </a:pPr>
                      <a:r>
                        <a:rPr lang="en-US" sz="2000" dirty="0" err="1">
                          <a:solidFill>
                            <a:srgbClr val="000000"/>
                          </a:solidFill>
                          <a:latin typeface="Arial"/>
                          <a:ea typeface="Arial"/>
                          <a:cs typeface="Arial"/>
                          <a:sym typeface="Arial"/>
                        </a:rPr>
                        <a:t>Hình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ảnh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thuê</a:t>
                      </a:r>
                      <a:r>
                        <a:rPr lang="en-US" sz="2000" dirty="0">
                          <a:solidFill>
                            <a:srgbClr val="000000"/>
                          </a:solidFill>
                          <a:latin typeface="Arial"/>
                          <a:ea typeface="Arial"/>
                          <a:cs typeface="Arial"/>
                          <a:sym typeface="Arial"/>
                        </a:rPr>
                        <a:t> bao </a:t>
                      </a:r>
                      <a:r>
                        <a:rPr lang="en-US" sz="2000" dirty="0" err="1">
                          <a:solidFill>
                            <a:srgbClr val="000000"/>
                          </a:solidFill>
                          <a:latin typeface="Arial"/>
                          <a:ea typeface="Arial"/>
                          <a:cs typeface="Arial"/>
                          <a:sym typeface="Arial"/>
                        </a:rPr>
                        <a:t>chính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chủ</a:t>
                      </a:r>
                      <a:r>
                        <a:rPr lang="en-US" sz="2000" dirty="0">
                          <a:solidFill>
                            <a:srgbClr val="000000"/>
                          </a:solidFill>
                          <a:latin typeface="Arial"/>
                          <a:ea typeface="Arial"/>
                          <a:cs typeface="Arial"/>
                          <a:sym typeface="Arial"/>
                        </a:rPr>
                        <a:t> (TTTB)</a:t>
                      </a:r>
                    </a:p>
                    <a:p>
                      <a:pPr marL="817321" lvl="3" indent="-204330" algn="l">
                        <a:lnSpc>
                          <a:spcPts val="3000"/>
                        </a:lnSpc>
                        <a:buFont typeface="Arial"/>
                        <a:buChar char="￭"/>
                      </a:pPr>
                      <a:r>
                        <a:rPr lang="en-US" sz="2000" dirty="0" err="1">
                          <a:solidFill>
                            <a:srgbClr val="000000"/>
                          </a:solidFill>
                          <a:latin typeface="Arial"/>
                          <a:ea typeface="Arial"/>
                          <a:cs typeface="Arial"/>
                          <a:sym typeface="Arial"/>
                        </a:rPr>
                        <a:t>Hình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ảnh</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cầm</a:t>
                      </a:r>
                      <a:r>
                        <a:rPr lang="en-US" sz="2000" dirty="0">
                          <a:solidFill>
                            <a:srgbClr val="000000"/>
                          </a:solidFill>
                          <a:latin typeface="Arial"/>
                          <a:ea typeface="Arial"/>
                          <a:cs typeface="Arial"/>
                          <a:sym typeface="Arial"/>
                        </a:rPr>
                        <a:t> CCCD </a:t>
                      </a:r>
                      <a:r>
                        <a:rPr lang="en-US" sz="2000" dirty="0" err="1">
                          <a:solidFill>
                            <a:srgbClr val="000000"/>
                          </a:solidFill>
                          <a:latin typeface="Arial"/>
                          <a:ea typeface="Arial"/>
                          <a:cs typeface="Arial"/>
                          <a:sym typeface="Arial"/>
                        </a:rPr>
                        <a:t>mặt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trước</a:t>
                      </a:r>
                      <a:r>
                        <a:rPr lang="en-US" sz="2000" dirty="0">
                          <a:solidFill>
                            <a:srgbClr val="000000"/>
                          </a:solidFill>
                          <a:latin typeface="Arial"/>
                          <a:ea typeface="Arial"/>
                          <a:cs typeface="Arial"/>
                          <a:sym typeface="Arial"/>
                        </a:rPr>
                        <a:t> trên </a:t>
                      </a:r>
                      <a:r>
                        <a:rPr lang="en-US" sz="2000" dirty="0" err="1">
                          <a:solidFill>
                            <a:srgbClr val="000000"/>
                          </a:solidFill>
                          <a:latin typeface="Arial"/>
                          <a:ea typeface="Arial"/>
                          <a:cs typeface="Arial"/>
                          <a:sym typeface="Arial"/>
                        </a:rPr>
                        <a:t>tay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chụp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cùng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với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khuôn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mặt</a:t>
                      </a:r>
                      <a:r>
                        <a:rPr lang="en-US" sz="2000" dirty="0">
                          <a:solidFill>
                            <a:srgbClr val="000000"/>
                          </a:solidFill>
                          <a:latin typeface="Arial"/>
                          <a:ea typeface="Arial"/>
                          <a:cs typeface="Arial"/>
                          <a:sym typeface="Arial"/>
                        </a:rPr>
                        <a:t>.</a:t>
                      </a:r>
                    </a:p>
                    <a:p>
                      <a:pPr marL="817321" lvl="3" indent="-204330" algn="l">
                        <a:lnSpc>
                          <a:spcPts val="3000"/>
                        </a:lnSpc>
                        <a:buFont typeface="Arial"/>
                        <a:buChar char="￭"/>
                      </a:pPr>
                      <a:r>
                        <a:rPr lang="en-US" sz="2000" dirty="0" err="1">
                          <a:solidFill>
                            <a:srgbClr val="000000"/>
                          </a:solidFill>
                          <a:latin typeface="Arial"/>
                          <a:ea typeface="Arial"/>
                          <a:cs typeface="Arial"/>
                          <a:sym typeface="Arial"/>
                        </a:rPr>
                        <a:t>Hình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ảnh</a:t>
                      </a:r>
                      <a:r>
                        <a:rPr lang="en-US" sz="2000" dirty="0">
                          <a:solidFill>
                            <a:srgbClr val="000000"/>
                          </a:solidFill>
                          <a:latin typeface="Arial"/>
                          <a:ea typeface="Arial"/>
                          <a:cs typeface="Arial"/>
                          <a:sym typeface="Arial"/>
                        </a:rPr>
                        <a:t> 2 </a:t>
                      </a:r>
                      <a:r>
                        <a:rPr lang="en-US" sz="2000" dirty="0" err="1">
                          <a:solidFill>
                            <a:srgbClr val="000000"/>
                          </a:solidFill>
                          <a:latin typeface="Arial"/>
                          <a:ea typeface="Arial"/>
                          <a:cs typeface="Arial"/>
                          <a:sym typeface="Arial"/>
                        </a:rPr>
                        <a:t>mặt</a:t>
                      </a:r>
                      <a:r>
                        <a:rPr lang="en-US" sz="2000" dirty="0">
                          <a:solidFill>
                            <a:srgbClr val="000000"/>
                          </a:solidFill>
                          <a:latin typeface="Arial"/>
                          <a:ea typeface="Arial"/>
                          <a:cs typeface="Arial"/>
                          <a:sym typeface="Arial"/>
                        </a:rPr>
                        <a:t> CCCD mới </a:t>
                      </a:r>
                      <a:r>
                        <a:rPr lang="en-US" sz="2000" dirty="0" err="1">
                          <a:solidFill>
                            <a:srgbClr val="000000"/>
                          </a:solidFill>
                          <a:latin typeface="Arial"/>
                          <a:ea typeface="Arial"/>
                          <a:cs typeface="Arial"/>
                          <a:sym typeface="Arial"/>
                        </a:rPr>
                        <a:t>nhất</a:t>
                      </a:r>
                      <a:r>
                        <a:rPr lang="en-US" sz="2000" dirty="0">
                          <a:solidFill>
                            <a:srgbClr val="000000"/>
                          </a:solidFill>
                          <a:latin typeface="Arial"/>
                          <a:ea typeface="Arial"/>
                          <a:cs typeface="Arial"/>
                          <a:sym typeface="Arial"/>
                        </a:rPr>
                        <a:t>. </a:t>
                      </a:r>
                    </a:p>
                    <a:p>
                      <a:pPr marL="457202" lvl="2" indent="-152401" algn="l" defTabSz="914400" rtl="0" eaLnBrk="1" latinLnBrk="0" hangingPunct="1">
                        <a:lnSpc>
                          <a:spcPts val="5000"/>
                        </a:lnSpc>
                        <a:buFont typeface="Arial"/>
                        <a:buChar char="⚬"/>
                        <a:defRPr/>
                      </a:pPr>
                      <a:r>
                        <a:rPr lang="en-US" sz="2000" b="1" dirty="0" err="1">
                          <a:solidFill>
                            <a:srgbClr val="000000"/>
                          </a:solidFill>
                          <a:latin typeface="Arial Bold"/>
                          <a:ea typeface="Arial Bold"/>
                          <a:cs typeface="Arial Bold"/>
                          <a:sym typeface="Arial Bold"/>
                        </a:rPr>
                        <a:t>Lưu</a:t>
                      </a:r>
                      <a:r>
                        <a:rPr lang="en-US" sz="2000" b="1" dirty="0">
                          <a:solidFill>
                            <a:srgbClr val="000000"/>
                          </a:solidFill>
                          <a:latin typeface="Arial Bold"/>
                          <a:ea typeface="Arial Bold"/>
                          <a:cs typeface="Arial Bold"/>
                          <a:sym typeface="Arial Bold"/>
                        </a:rPr>
                        <a:t> ý: </a:t>
                      </a:r>
                      <a:r>
                        <a:rPr lang="en-US" sz="2000" dirty="0">
                          <a:solidFill>
                            <a:srgbClr val="000000"/>
                          </a:solidFill>
                          <a:latin typeface="Arial"/>
                          <a:ea typeface="Arial"/>
                          <a:cs typeface="Arial"/>
                          <a:sym typeface="Arial"/>
                        </a:rPr>
                        <a:t>TTTB </a:t>
                      </a:r>
                      <a:r>
                        <a:rPr lang="en-US" sz="2000" dirty="0" err="1">
                          <a:solidFill>
                            <a:srgbClr val="000000"/>
                          </a:solidFill>
                          <a:latin typeface="Arial"/>
                          <a:ea typeface="Arial"/>
                          <a:cs typeface="Arial"/>
                          <a:sym typeface="Arial"/>
                        </a:rPr>
                        <a:t>chính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chủ</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hợp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lệ</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CCCD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trùng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khớp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với</a:t>
                      </a:r>
                      <a:r>
                        <a:rPr lang="en-US" sz="2000" dirty="0">
                          <a:solidFill>
                            <a:srgbClr val="000000"/>
                          </a:solidFill>
                          <a:latin typeface="Arial"/>
                          <a:ea typeface="Arial"/>
                          <a:cs typeface="Arial"/>
                          <a:sym typeface="Arial"/>
                        </a:rPr>
                        <a:t> trên TTTB </a:t>
                      </a:r>
                      <a:r>
                        <a:rPr lang="en-US" sz="2000" b="1" i="1" u="sng" kern="1200" dirty="0">
                          <a:solidFill>
                            <a:srgbClr val="4DA745"/>
                          </a:solidFill>
                          <a:latin typeface="Arial Bold Italics"/>
                          <a:ea typeface="Arial Italics"/>
                          <a:cs typeface="Arial Bold Italics"/>
                          <a:sym typeface="Arial Italics"/>
                          <a:hlinkClick r:id="rId3" action="ppaction://hlinkfile">
                            <a:extLst>
                              <a:ext uri="{A12FA001-AC4F-418D-AE19-62706E023703}">
                                <ahyp:hlinkClr xmlns:ahyp="http://schemas.microsoft.com/office/drawing/2018/hyperlinkcolor" val="tx"/>
                              </a:ext>
                            </a:extLst>
                          </a:hlinkClick>
                        </a:rPr>
                        <a:t>(</a:t>
                      </a:r>
                      <a:r>
                        <a:rPr lang="en-US" sz="2000" b="1" i="1" u="sng" kern="1200" dirty="0" err="1">
                          <a:solidFill>
                            <a:srgbClr val="4DA745"/>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xem</a:t>
                      </a:r>
                      <a:r>
                        <a:rPr lang="en-US" sz="2000" b="1" i="1" u="sng" kern="1200" dirty="0">
                          <a:solidFill>
                            <a:srgbClr val="4DA745"/>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 chi </a:t>
                      </a:r>
                      <a:r>
                        <a:rPr lang="en-US" sz="2000" b="1" i="1" u="sng" kern="1200" dirty="0" err="1">
                          <a:solidFill>
                            <a:srgbClr val="4DA745"/>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tiết</a:t>
                      </a:r>
                      <a:r>
                        <a:rPr lang="en-US" sz="2000" b="1" i="1" u="sng" kern="1200" dirty="0">
                          <a:solidFill>
                            <a:srgbClr val="4DA745"/>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a:t>
                      </a:r>
                      <a:endParaRPr lang="en-US" sz="2000" b="1" i="1" u="sng" kern="1200" dirty="0">
                        <a:solidFill>
                          <a:srgbClr val="4DA745"/>
                        </a:solidFill>
                        <a:latin typeface="Arial Bold Italics"/>
                        <a:ea typeface="Arial Bold Italics"/>
                        <a:cs typeface="Arial Bold Italics"/>
                        <a:sym typeface="Arial Bold Italics"/>
                      </a:endParaRPr>
                    </a:p>
                    <a:p>
                      <a:pPr marL="457309" lvl="2" indent="-152436" algn="l">
                        <a:lnSpc>
                          <a:spcPts val="3000"/>
                        </a:lnSpc>
                        <a:buFont typeface="Arial"/>
                        <a:buChar char="⚬"/>
                      </a:pP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báo </a:t>
                      </a:r>
                      <a:r>
                        <a:rPr lang="en-US" sz="2000" dirty="0" err="1">
                          <a:solidFill>
                            <a:srgbClr val="000000"/>
                          </a:solidFill>
                          <a:latin typeface="Arial"/>
                          <a:ea typeface="Arial"/>
                          <a:cs typeface="Arial"/>
                          <a:sym typeface="Arial"/>
                        </a:rPr>
                        <a:t>sau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thành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thì </a:t>
                      </a:r>
                      <a:r>
                        <a:rPr lang="en-US" sz="2000" dirty="0" err="1">
                          <a:solidFill>
                            <a:srgbClr val="000000"/>
                          </a:solidFill>
                          <a:latin typeface="Arial"/>
                          <a:ea typeface="Arial"/>
                          <a:cs typeface="Arial"/>
                          <a:sym typeface="Arial"/>
                        </a:rPr>
                        <a:t>tên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đăng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nhập</a:t>
                      </a:r>
                      <a:r>
                        <a:rPr lang="en-US" sz="2000" dirty="0">
                          <a:solidFill>
                            <a:srgbClr val="000000"/>
                          </a:solidFill>
                          <a:latin typeface="Arial"/>
                          <a:ea typeface="Arial"/>
                          <a:cs typeface="Arial"/>
                          <a:sym typeface="Arial"/>
                        </a:rPr>
                        <a:t> FEOL 2.0 là SĐT mới </a:t>
                      </a:r>
                      <a:r>
                        <a:rPr lang="en-US" sz="2000" dirty="0" err="1">
                          <a:solidFill>
                            <a:srgbClr val="000000"/>
                          </a:solidFill>
                          <a:latin typeface="Arial"/>
                          <a:ea typeface="Arial"/>
                          <a:cs typeface="Arial"/>
                          <a:sym typeface="Arial"/>
                        </a:rPr>
                        <a:t>với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định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dạng</a:t>
                      </a:r>
                      <a:r>
                        <a:rPr lang="en-US" sz="2000" dirty="0">
                          <a:solidFill>
                            <a:srgbClr val="000000"/>
                          </a:solidFill>
                          <a:latin typeface="Arial"/>
                          <a:ea typeface="Arial"/>
                          <a:cs typeface="Arial"/>
                          <a:sym typeface="Arial"/>
                        </a:rPr>
                        <a:t> là </a:t>
                      </a:r>
                      <a:r>
                        <a:rPr lang="en-US" sz="2000" dirty="0" err="1">
                          <a:solidFill>
                            <a:srgbClr val="000000"/>
                          </a:solidFill>
                          <a:latin typeface="Arial"/>
                          <a:ea typeface="Arial"/>
                          <a:cs typeface="Arial"/>
                          <a:sym typeface="Arial"/>
                        </a:rPr>
                        <a:t>số</a:t>
                      </a:r>
                      <a:r>
                        <a:rPr lang="en-US" sz="2000" dirty="0">
                          <a:solidFill>
                            <a:srgbClr val="000000"/>
                          </a:solidFill>
                          <a:latin typeface="Arial"/>
                          <a:ea typeface="Arial"/>
                          <a:cs typeface="Arial"/>
                          <a:sym typeface="Arial"/>
                        </a:rPr>
                        <a:t> “0” </a:t>
                      </a:r>
                      <a:r>
                        <a:rPr lang="en-US" sz="2000" dirty="0" err="1">
                          <a:solidFill>
                            <a:srgbClr val="000000"/>
                          </a:solidFill>
                          <a:latin typeface="Arial"/>
                          <a:ea typeface="Arial"/>
                          <a:cs typeface="Arial"/>
                          <a:sym typeface="Arial"/>
                        </a:rPr>
                        <a:t>đầu</a:t>
                      </a:r>
                      <a:r>
                        <a:rPr lang="en-US" sz="2000" dirty="0">
                          <a:solidFill>
                            <a:srgbClr val="000000"/>
                          </a:solidFill>
                          <a:latin typeface="Arial"/>
                          <a:ea typeface="Arial"/>
                          <a:cs typeface="Arial"/>
                          <a:sym typeface="Arial"/>
                        </a:rPr>
                        <a:t>.</a:t>
                      </a:r>
                    </a:p>
                  </a:txBody>
                  <a:tcPr marL="114300" marR="114300" marT="114300" marB="1143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ctr">
                        <a:lnSpc>
                          <a:spcPts val="5000"/>
                        </a:lnSpc>
                        <a:defRPr/>
                      </a:pPr>
                      <a:r>
                        <a:rPr lang="en-US" sz="2000">
                          <a:solidFill>
                            <a:srgbClr val="000000"/>
                          </a:solidFill>
                          <a:latin typeface="Arial"/>
                          <a:ea typeface="Arial"/>
                          <a:cs typeface="Arial"/>
                          <a:sym typeface="Arial"/>
                        </a:rPr>
                        <a:t>4 ngày làm việc</a:t>
                      </a:r>
                      <a:endParaRPr lang="en-US" sz="1100"/>
                    </a:p>
                  </a:txBody>
                  <a:tcPr marL="114300" marR="114300" marT="114300" marB="1143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600"/>
                        </a:lnSpc>
                        <a:defRPr/>
                      </a:pPr>
                      <a:r>
                        <a:rPr lang="en-US" sz="2000" b="1" dirty="0">
                          <a:solidFill>
                            <a:srgbClr val="000000"/>
                          </a:solidFill>
                          <a:latin typeface="Arial Bold"/>
                          <a:ea typeface="Arial Bold"/>
                          <a:cs typeface="Arial Bold"/>
                          <a:sym typeface="Arial Bold"/>
                        </a:rPr>
                        <a:t>Code: RL57-FE Online 2.0</a:t>
                      </a:r>
                      <a:endParaRPr lang="en-US" sz="1100" dirty="0"/>
                    </a:p>
                    <a:p>
                      <a:pPr algn="l">
                        <a:lnSpc>
                          <a:spcPts val="3600"/>
                        </a:lnSpc>
                      </a:pPr>
                      <a:r>
                        <a:rPr lang="en-US" sz="2000" b="1" dirty="0">
                          <a:solidFill>
                            <a:srgbClr val="000000"/>
                          </a:solidFill>
                          <a:latin typeface="Arial Bold"/>
                          <a:ea typeface="Arial Bold"/>
                          <a:cs typeface="Arial Bold"/>
                          <a:sym typeface="Arial Bold"/>
                        </a:rPr>
                        <a:t>Sub code: RL57.07-Lỗi </a:t>
                      </a:r>
                      <a:r>
                        <a:rPr lang="en-US" sz="2000" b="1" dirty="0" err="1">
                          <a:solidFill>
                            <a:srgbClr val="000000"/>
                          </a:solidFill>
                          <a:latin typeface="Arial Bold"/>
                          <a:ea typeface="Arial Bold"/>
                          <a:cs typeface="Arial Bold"/>
                          <a:sym typeface="Arial Bold"/>
                        </a:rPr>
                        <a:t>cập</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nhật</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thông</a:t>
                      </a:r>
                      <a:r>
                        <a:rPr lang="en-US" sz="2000" b="1" dirty="0">
                          <a:solidFill>
                            <a:srgbClr val="000000"/>
                          </a:solidFill>
                          <a:latin typeface="Arial Bold"/>
                          <a:ea typeface="Arial Bold"/>
                          <a:cs typeface="Arial Bold"/>
                          <a:sym typeface="Arial Bold"/>
                        </a:rPr>
                        <a:t> tin</a:t>
                      </a:r>
                    </a:p>
                    <a:p>
                      <a:pPr algn="l">
                        <a:lnSpc>
                          <a:spcPts val="3600"/>
                        </a:lnSpc>
                      </a:pPr>
                      <a:r>
                        <a:rPr lang="en-US" sz="2000" b="1" dirty="0">
                          <a:solidFill>
                            <a:srgbClr val="000000"/>
                          </a:solidFill>
                          <a:latin typeface="Arial Bold"/>
                          <a:ea typeface="Arial Bold"/>
                          <a:cs typeface="Arial Bold"/>
                          <a:sym typeface="Arial Bold"/>
                        </a:rPr>
                        <a:t>Properties:</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theo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yêu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cầu</a:t>
                      </a:r>
                      <a:r>
                        <a:rPr lang="en-US" sz="2000" dirty="0">
                          <a:solidFill>
                            <a:srgbClr val="000000"/>
                          </a:solidFill>
                          <a:latin typeface="Arial"/>
                          <a:ea typeface="Arial"/>
                          <a:cs typeface="Arial"/>
                          <a:sym typeface="Arial"/>
                        </a:rPr>
                        <a:t> </a:t>
                      </a:r>
                    </a:p>
                    <a:p>
                      <a:pPr algn="l">
                        <a:lnSpc>
                          <a:spcPts val="3600"/>
                        </a:lnSpc>
                      </a:pPr>
                      <a:r>
                        <a:rPr lang="en-US" sz="2000" b="1" dirty="0">
                          <a:solidFill>
                            <a:srgbClr val="000000"/>
                          </a:solidFill>
                          <a:latin typeface="Arial Bold"/>
                          <a:ea typeface="Arial Bold"/>
                          <a:cs typeface="Arial Bold"/>
                          <a:sym typeface="Arial Bold"/>
                        </a:rPr>
                        <a:t>Remark:</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trên</a:t>
                      </a:r>
                      <a:r>
                        <a:rPr lang="en-US" sz="2000" dirty="0">
                          <a:solidFill>
                            <a:srgbClr val="000000"/>
                          </a:solidFill>
                          <a:latin typeface="Arial"/>
                          <a:ea typeface="Arial"/>
                          <a:cs typeface="Arial"/>
                          <a:sym typeface="Arial"/>
                        </a:rPr>
                        <a:t> FEOL 2.0 - SĐT </a:t>
                      </a:r>
                      <a:r>
                        <a:rPr lang="en-US" sz="2000" dirty="0" err="1">
                          <a:solidFill>
                            <a:srgbClr val="000000"/>
                          </a:solidFill>
                          <a:latin typeface="Arial"/>
                          <a:ea typeface="Arial"/>
                          <a:cs typeface="Arial"/>
                          <a:sym typeface="Arial"/>
                        </a:rPr>
                        <a:t>cần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 </a:t>
                      </a:r>
                      <a:r>
                        <a:rPr lang="en-US" sz="2000" dirty="0" err="1">
                          <a:solidFill>
                            <a:srgbClr val="000000"/>
                          </a:solidFill>
                          <a:latin typeface="Arial"/>
                          <a:ea typeface="Arial"/>
                          <a:cs typeface="Arial"/>
                          <a:sym typeface="Arial"/>
                        </a:rPr>
                        <a:t>Lý</a:t>
                      </a:r>
                      <a:r>
                        <a:rPr lang="en-US" sz="2000" dirty="0">
                          <a:solidFill>
                            <a:srgbClr val="000000"/>
                          </a:solidFill>
                          <a:latin typeface="Arial"/>
                          <a:ea typeface="Arial"/>
                          <a:cs typeface="Arial"/>
                          <a:sym typeface="Arial"/>
                        </a:rPr>
                        <a:t> do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endParaRPr lang="en-US" sz="2000" dirty="0">
                        <a:solidFill>
                          <a:srgbClr val="000000"/>
                        </a:solidFill>
                        <a:latin typeface="Arial"/>
                        <a:ea typeface="Arial"/>
                        <a:cs typeface="Arial"/>
                        <a:sym typeface="Arial"/>
                      </a:endParaRPr>
                    </a:p>
                  </a:txBody>
                  <a:tcPr marL="114300" marR="114300" marT="114300" marB="1143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bl>
          </a:graphicData>
        </a:graphic>
      </p:graphicFrame>
      <p:grpSp>
        <p:nvGrpSpPr>
          <p:cNvPr id="3" name="Group 3"/>
          <p:cNvGrpSpPr/>
          <p:nvPr/>
        </p:nvGrpSpPr>
        <p:grpSpPr>
          <a:xfrm>
            <a:off x="15748155" y="9940023"/>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4"/>
              <a:stretch>
                <a:fillRect l="-23" r="-22" b="5"/>
              </a:stretch>
            </a:blipFill>
          </p:spPr>
        </p:sp>
      </p:grpSp>
      <p:sp>
        <p:nvSpPr>
          <p:cNvPr id="5" name="Freeform 5"/>
          <p:cNvSpPr/>
          <p:nvPr/>
        </p:nvSpPr>
        <p:spPr>
          <a:xfrm>
            <a:off x="-6925" y="-235315"/>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701388" y="142808"/>
            <a:ext cx="19690775" cy="885892"/>
          </a:xfrm>
          <a:prstGeom prst="rect">
            <a:avLst/>
          </a:prstGeom>
        </p:spPr>
        <p:txBody>
          <a:bodyPr lIns="0" tIns="0" rIns="0" bIns="0" rtlCol="0" anchor="t">
            <a:spAutoFit/>
          </a:bodyPr>
          <a:lstStyle/>
          <a:p>
            <a:pPr algn="ctr">
              <a:lnSpc>
                <a:spcPts val="6027"/>
              </a:lnSpc>
            </a:pPr>
            <a:r>
              <a:rPr lang="en-US" sz="3399" b="1">
                <a:solidFill>
                  <a:srgbClr val="000000"/>
                </a:solidFill>
                <a:latin typeface="Arial Bold"/>
                <a:ea typeface="Arial Bold"/>
                <a:cs typeface="Arial Bold"/>
                <a:sym typeface="Arial Bold"/>
              </a:rPr>
              <a:t>ĐÃ CÓ HĐ VAY – CHƯA CẬP NHẬT TRÊN FEOL 2.0 – ĐÃ CÓ TÀI KHOẢN FEOL 2.0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91018" y="9790919"/>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4" name="Freeform 4"/>
          <p:cNvSpPr/>
          <p:nvPr/>
        </p:nvSpPr>
        <p:spPr>
          <a:xfrm>
            <a:off x="242278" y="1239383"/>
            <a:ext cx="6998541" cy="8018917"/>
          </a:xfrm>
          <a:custGeom>
            <a:avLst/>
            <a:gdLst/>
            <a:ahLst/>
            <a:cxnLst/>
            <a:rect l="l" t="t" r="r" b="b"/>
            <a:pathLst>
              <a:path w="6998541" h="8018917">
                <a:moveTo>
                  <a:pt x="0" y="0"/>
                </a:moveTo>
                <a:lnTo>
                  <a:pt x="6998541" y="0"/>
                </a:lnTo>
                <a:lnTo>
                  <a:pt x="6998541" y="8018917"/>
                </a:lnTo>
                <a:lnTo>
                  <a:pt x="0" y="801891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348378" y="2024605"/>
            <a:ext cx="4712303" cy="987171"/>
          </a:xfrm>
          <a:custGeom>
            <a:avLst/>
            <a:gdLst/>
            <a:ahLst/>
            <a:cxnLst/>
            <a:rect l="l" t="t" r="r" b="b"/>
            <a:pathLst>
              <a:path w="4712303" h="987171">
                <a:moveTo>
                  <a:pt x="0" y="0"/>
                </a:moveTo>
                <a:lnTo>
                  <a:pt x="4712303" y="0"/>
                </a:lnTo>
                <a:lnTo>
                  <a:pt x="4712303" y="987171"/>
                </a:lnTo>
                <a:lnTo>
                  <a:pt x="0" y="98717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1348378" y="2048065"/>
            <a:ext cx="4840205" cy="831552"/>
          </a:xfrm>
          <a:prstGeom prst="rect">
            <a:avLst/>
          </a:prstGeom>
        </p:spPr>
        <p:txBody>
          <a:bodyPr lIns="0" tIns="0" rIns="0" bIns="0" rtlCol="0" anchor="t">
            <a:spAutoFit/>
          </a:bodyPr>
          <a:lstStyle/>
          <a:p>
            <a:pPr algn="ctr">
              <a:lnSpc>
                <a:spcPts val="5673"/>
              </a:lnSpc>
            </a:pPr>
            <a:r>
              <a:rPr lang="en-US" sz="3200" b="1" spc="35">
                <a:solidFill>
                  <a:srgbClr val="FFFFFF"/>
                </a:solidFill>
                <a:latin typeface="Arial Bold"/>
                <a:ea typeface="Arial Bold"/>
                <a:cs typeface="Arial Bold"/>
                <a:sym typeface="Arial Bold"/>
              </a:rPr>
              <a:t>CẤU TRÚC TIN NHẮN</a:t>
            </a:r>
          </a:p>
        </p:txBody>
      </p:sp>
      <p:sp>
        <p:nvSpPr>
          <p:cNvPr id="7" name="TextBox 7"/>
          <p:cNvSpPr txBox="1"/>
          <p:nvPr/>
        </p:nvSpPr>
        <p:spPr>
          <a:xfrm>
            <a:off x="755971" y="4668679"/>
            <a:ext cx="5737812" cy="3409226"/>
          </a:xfrm>
          <a:prstGeom prst="rect">
            <a:avLst/>
          </a:prstGeom>
        </p:spPr>
        <p:txBody>
          <a:bodyPr lIns="0" tIns="0" rIns="0" bIns="0" rtlCol="0" anchor="t">
            <a:spAutoFit/>
          </a:bodyPr>
          <a:lstStyle/>
          <a:p>
            <a:pPr algn="l">
              <a:lnSpc>
                <a:spcPts val="3778"/>
              </a:lnSpc>
            </a:pPr>
            <a:r>
              <a:rPr lang="en-US" sz="2518" b="1" u="sng" spc="-25">
                <a:solidFill>
                  <a:srgbClr val="000000"/>
                </a:solidFill>
                <a:latin typeface="Arial Bold"/>
                <a:ea typeface="Arial Bold"/>
                <a:cs typeface="Arial Bold"/>
                <a:sym typeface="Arial Bold"/>
              </a:rPr>
              <a:t>Lưu ý</a:t>
            </a:r>
          </a:p>
          <a:p>
            <a:pPr marL="575717" lvl="2" indent="-191906" algn="l">
              <a:lnSpc>
                <a:spcPts val="3778"/>
              </a:lnSpc>
              <a:buFont typeface="Arial"/>
              <a:buChar char="⚬"/>
            </a:pPr>
            <a:r>
              <a:rPr lang="en-US" sz="2518" b="1" i="1" spc="-25">
                <a:solidFill>
                  <a:srgbClr val="008145"/>
                </a:solidFill>
                <a:latin typeface="Arial Bold Italics"/>
                <a:ea typeface="Arial Bold Italics"/>
                <a:cs typeface="Arial Bold Italics"/>
                <a:sym typeface="Arial Bold Italics"/>
              </a:rPr>
              <a:t>Số giấy tờ</a:t>
            </a:r>
            <a:r>
              <a:rPr lang="en-US" sz="2518" i="1" spc="-25">
                <a:solidFill>
                  <a:srgbClr val="000000"/>
                </a:solidFill>
                <a:latin typeface="Arial Italics"/>
                <a:ea typeface="Arial Italics"/>
                <a:cs typeface="Arial Italics"/>
                <a:sym typeface="Arial Italics"/>
              </a:rPr>
              <a:t> là số dùng để đăng ký thông tin thuê bao (CMND/CCCD...)</a:t>
            </a:r>
          </a:p>
          <a:p>
            <a:pPr marL="575717" lvl="2" indent="-191906" algn="l">
              <a:lnSpc>
                <a:spcPts val="3778"/>
              </a:lnSpc>
            </a:pPr>
            <a:endParaRPr lang="en-US" sz="2518" i="1" spc="-25">
              <a:solidFill>
                <a:srgbClr val="000000"/>
              </a:solidFill>
              <a:latin typeface="Arial Italics"/>
              <a:ea typeface="Arial Italics"/>
              <a:cs typeface="Arial Italics"/>
              <a:sym typeface="Arial Italics"/>
            </a:endParaRPr>
          </a:p>
          <a:p>
            <a:pPr marL="575717" lvl="2" indent="-191906" algn="l">
              <a:lnSpc>
                <a:spcPts val="3778"/>
              </a:lnSpc>
              <a:buFont typeface="Arial"/>
              <a:buChar char="⚬"/>
            </a:pPr>
            <a:r>
              <a:rPr lang="en-US" sz="2518" i="1" spc="-25">
                <a:solidFill>
                  <a:srgbClr val="000000"/>
                </a:solidFill>
                <a:latin typeface="Arial Italics"/>
                <a:ea typeface="Arial Italics"/>
                <a:cs typeface="Arial Italics"/>
                <a:sym typeface="Arial Italics"/>
              </a:rPr>
              <a:t>Hình ảnh hợp lệ cần thể hiện đầy đủ thông tin bao gồm: Số tổng đài 1414, họ tên, ngày tháng năm sinh, số giấy tờ, CMND/CCCD</a:t>
            </a:r>
          </a:p>
        </p:txBody>
      </p:sp>
      <p:sp>
        <p:nvSpPr>
          <p:cNvPr id="8" name="TextBox 8"/>
          <p:cNvSpPr txBox="1"/>
          <p:nvPr/>
        </p:nvSpPr>
        <p:spPr>
          <a:xfrm>
            <a:off x="388991" y="3272790"/>
            <a:ext cx="6758978" cy="594512"/>
          </a:xfrm>
          <a:prstGeom prst="rect">
            <a:avLst/>
          </a:prstGeom>
        </p:spPr>
        <p:txBody>
          <a:bodyPr lIns="0" tIns="0" rIns="0" bIns="0" rtlCol="0" anchor="t">
            <a:spAutoFit/>
          </a:bodyPr>
          <a:lstStyle/>
          <a:p>
            <a:pPr algn="ctr">
              <a:lnSpc>
                <a:spcPts val="4195"/>
              </a:lnSpc>
            </a:pPr>
            <a:r>
              <a:rPr lang="en-US" sz="2833" b="1" spc="-27">
                <a:solidFill>
                  <a:srgbClr val="008145"/>
                </a:solidFill>
                <a:latin typeface="Arial Bold"/>
                <a:ea typeface="Arial Bold"/>
                <a:cs typeface="Arial Bold"/>
                <a:sym typeface="Arial Bold"/>
              </a:rPr>
              <a:t>TTTB&lt;khoảng cách&gt;Số giấy tờ</a:t>
            </a:r>
            <a:r>
              <a:rPr lang="en-US" sz="2833" spc="-27">
                <a:solidFill>
                  <a:srgbClr val="008145"/>
                </a:solidFill>
                <a:latin typeface="Arial"/>
                <a:ea typeface="Arial"/>
                <a:cs typeface="Arial"/>
                <a:sym typeface="Arial"/>
              </a:rPr>
              <a:t> gửi </a:t>
            </a:r>
            <a:r>
              <a:rPr lang="en-US" sz="2833" b="1" spc="-27">
                <a:solidFill>
                  <a:srgbClr val="008145"/>
                </a:solidFill>
                <a:latin typeface="Arial Bold"/>
                <a:ea typeface="Arial Bold"/>
                <a:cs typeface="Arial Bold"/>
                <a:sym typeface="Arial Bold"/>
              </a:rPr>
              <a:t>1414</a:t>
            </a:r>
          </a:p>
        </p:txBody>
      </p:sp>
      <p:sp>
        <p:nvSpPr>
          <p:cNvPr id="9" name="TextBox 9"/>
          <p:cNvSpPr txBox="1"/>
          <p:nvPr/>
        </p:nvSpPr>
        <p:spPr>
          <a:xfrm>
            <a:off x="10964351" y="7846647"/>
            <a:ext cx="3757698" cy="514731"/>
          </a:xfrm>
          <a:prstGeom prst="rect">
            <a:avLst/>
          </a:prstGeom>
        </p:spPr>
        <p:txBody>
          <a:bodyPr lIns="0" tIns="0" rIns="0" bIns="0" rtlCol="0" anchor="t">
            <a:spAutoFit/>
          </a:bodyPr>
          <a:lstStyle/>
          <a:p>
            <a:pPr algn="ctr">
              <a:lnSpc>
                <a:spcPts val="3551"/>
              </a:lnSpc>
            </a:pPr>
            <a:r>
              <a:rPr lang="en-US" sz="2400" i="1" spc="-24">
                <a:solidFill>
                  <a:srgbClr val="000000"/>
                </a:solidFill>
                <a:latin typeface="Arial Italics"/>
                <a:ea typeface="Arial Italics"/>
                <a:cs typeface="Arial Italics"/>
                <a:sym typeface="Arial Italics"/>
              </a:rPr>
              <a:t>Hình ảnh minh họa</a:t>
            </a:r>
          </a:p>
        </p:txBody>
      </p:sp>
      <p:grpSp>
        <p:nvGrpSpPr>
          <p:cNvPr id="10" name="Group 10"/>
          <p:cNvGrpSpPr/>
          <p:nvPr/>
        </p:nvGrpSpPr>
        <p:grpSpPr>
          <a:xfrm>
            <a:off x="7744330" y="3187113"/>
            <a:ext cx="4993767" cy="4535443"/>
            <a:chOff x="0" y="0"/>
            <a:chExt cx="6658356" cy="6047257"/>
          </a:xfrm>
        </p:grpSpPr>
        <p:sp>
          <p:nvSpPr>
            <p:cNvPr id="11" name="Freeform 11"/>
            <p:cNvSpPr/>
            <p:nvPr/>
          </p:nvSpPr>
          <p:spPr>
            <a:xfrm>
              <a:off x="6350" y="6350"/>
              <a:ext cx="6648831" cy="6037707"/>
            </a:xfrm>
            <a:custGeom>
              <a:avLst/>
              <a:gdLst/>
              <a:ahLst/>
              <a:cxnLst/>
              <a:rect l="l" t="t" r="r" b="b"/>
              <a:pathLst>
                <a:path w="6648831" h="6037707">
                  <a:moveTo>
                    <a:pt x="0" y="0"/>
                  </a:moveTo>
                  <a:lnTo>
                    <a:pt x="6648831" y="0"/>
                  </a:lnTo>
                  <a:lnTo>
                    <a:pt x="6648831" y="6037707"/>
                  </a:lnTo>
                  <a:lnTo>
                    <a:pt x="0" y="6037707"/>
                  </a:lnTo>
                  <a:lnTo>
                    <a:pt x="0" y="0"/>
                  </a:lnTo>
                  <a:close/>
                </a:path>
              </a:pathLst>
            </a:custGeom>
            <a:blipFill>
              <a:blip r:embed="rId7"/>
              <a:stretch>
                <a:fillRect l="-95" t="-40132" r="-47" b="-40080"/>
              </a:stretch>
            </a:blipFill>
          </p:spPr>
        </p:sp>
        <p:sp>
          <p:nvSpPr>
            <p:cNvPr id="12" name="Freeform 12"/>
            <p:cNvSpPr/>
            <p:nvPr/>
          </p:nvSpPr>
          <p:spPr>
            <a:xfrm>
              <a:off x="0" y="0"/>
              <a:ext cx="6661531" cy="6050407"/>
            </a:xfrm>
            <a:custGeom>
              <a:avLst/>
              <a:gdLst/>
              <a:ahLst/>
              <a:cxnLst/>
              <a:rect l="l" t="t" r="r" b="b"/>
              <a:pathLst>
                <a:path w="6661531" h="6050407">
                  <a:moveTo>
                    <a:pt x="6350" y="0"/>
                  </a:moveTo>
                  <a:lnTo>
                    <a:pt x="6655181" y="0"/>
                  </a:lnTo>
                  <a:cubicBezTo>
                    <a:pt x="6658738" y="0"/>
                    <a:pt x="6661531" y="2794"/>
                    <a:pt x="6661531" y="6350"/>
                  </a:cubicBezTo>
                  <a:lnTo>
                    <a:pt x="6661531" y="6044057"/>
                  </a:lnTo>
                  <a:cubicBezTo>
                    <a:pt x="6661531" y="6047613"/>
                    <a:pt x="6658738" y="6050407"/>
                    <a:pt x="6655181" y="6050407"/>
                  </a:cubicBezTo>
                  <a:lnTo>
                    <a:pt x="6350" y="6050407"/>
                  </a:lnTo>
                  <a:cubicBezTo>
                    <a:pt x="2794" y="6050407"/>
                    <a:pt x="0" y="6047613"/>
                    <a:pt x="0" y="6044057"/>
                  </a:cubicBezTo>
                  <a:lnTo>
                    <a:pt x="0" y="6350"/>
                  </a:lnTo>
                  <a:cubicBezTo>
                    <a:pt x="0" y="2794"/>
                    <a:pt x="2794" y="0"/>
                    <a:pt x="6350" y="0"/>
                  </a:cubicBezTo>
                  <a:moveTo>
                    <a:pt x="6350" y="12700"/>
                  </a:moveTo>
                  <a:lnTo>
                    <a:pt x="6350" y="6350"/>
                  </a:lnTo>
                  <a:lnTo>
                    <a:pt x="12700" y="6350"/>
                  </a:lnTo>
                  <a:lnTo>
                    <a:pt x="12700" y="6044057"/>
                  </a:lnTo>
                  <a:lnTo>
                    <a:pt x="6350" y="6044057"/>
                  </a:lnTo>
                  <a:lnTo>
                    <a:pt x="6350" y="6037707"/>
                  </a:lnTo>
                  <a:lnTo>
                    <a:pt x="6655181" y="6037707"/>
                  </a:lnTo>
                  <a:lnTo>
                    <a:pt x="6655181" y="6044057"/>
                  </a:lnTo>
                  <a:lnTo>
                    <a:pt x="6648831" y="6044057"/>
                  </a:lnTo>
                  <a:lnTo>
                    <a:pt x="6648831" y="6350"/>
                  </a:lnTo>
                  <a:lnTo>
                    <a:pt x="6655181" y="6350"/>
                  </a:lnTo>
                  <a:lnTo>
                    <a:pt x="6655181" y="12700"/>
                  </a:lnTo>
                  <a:lnTo>
                    <a:pt x="6350" y="12700"/>
                  </a:lnTo>
                  <a:close/>
                </a:path>
              </a:pathLst>
            </a:custGeom>
            <a:solidFill>
              <a:srgbClr val="4BA645"/>
            </a:solidFill>
            <a:ln w="12700">
              <a:solidFill>
                <a:srgbClr val="000000"/>
              </a:solidFill>
            </a:ln>
          </p:spPr>
        </p:sp>
      </p:grpSp>
      <p:sp>
        <p:nvSpPr>
          <p:cNvPr id="13" name="TextBox 13"/>
          <p:cNvSpPr txBox="1"/>
          <p:nvPr/>
        </p:nvSpPr>
        <p:spPr>
          <a:xfrm>
            <a:off x="9245918" y="2417997"/>
            <a:ext cx="1990592" cy="526732"/>
          </a:xfrm>
          <a:prstGeom prst="rect">
            <a:avLst/>
          </a:prstGeom>
        </p:spPr>
        <p:txBody>
          <a:bodyPr lIns="0" tIns="0" rIns="0" bIns="0" rtlCol="0" anchor="t">
            <a:spAutoFit/>
          </a:bodyPr>
          <a:lstStyle/>
          <a:p>
            <a:pPr algn="ctr">
              <a:lnSpc>
                <a:spcPts val="3746"/>
              </a:lnSpc>
            </a:pPr>
            <a:r>
              <a:rPr lang="en-US" sz="2531" spc="-25">
                <a:solidFill>
                  <a:srgbClr val="4DA745"/>
                </a:solidFill>
                <a:latin typeface="Arial"/>
                <a:ea typeface="Arial"/>
                <a:cs typeface="Arial"/>
                <a:sym typeface="Arial"/>
              </a:rPr>
              <a:t>Mạng Viettel</a:t>
            </a:r>
          </a:p>
        </p:txBody>
      </p:sp>
      <p:grpSp>
        <p:nvGrpSpPr>
          <p:cNvPr id="14" name="Group 14"/>
          <p:cNvGrpSpPr/>
          <p:nvPr/>
        </p:nvGrpSpPr>
        <p:grpSpPr>
          <a:xfrm>
            <a:off x="13023171" y="3187113"/>
            <a:ext cx="4918900" cy="4535443"/>
            <a:chOff x="0" y="0"/>
            <a:chExt cx="6558534" cy="6047257"/>
          </a:xfrm>
        </p:grpSpPr>
        <p:sp>
          <p:nvSpPr>
            <p:cNvPr id="15" name="Freeform 15"/>
            <p:cNvSpPr/>
            <p:nvPr/>
          </p:nvSpPr>
          <p:spPr>
            <a:xfrm>
              <a:off x="6350" y="6350"/>
              <a:ext cx="6549009" cy="6037707"/>
            </a:xfrm>
            <a:custGeom>
              <a:avLst/>
              <a:gdLst/>
              <a:ahLst/>
              <a:cxnLst/>
              <a:rect l="l" t="t" r="r" b="b"/>
              <a:pathLst>
                <a:path w="6549009" h="6037707">
                  <a:moveTo>
                    <a:pt x="0" y="0"/>
                  </a:moveTo>
                  <a:lnTo>
                    <a:pt x="6549009" y="0"/>
                  </a:lnTo>
                  <a:lnTo>
                    <a:pt x="6549009" y="6037707"/>
                  </a:lnTo>
                  <a:lnTo>
                    <a:pt x="0" y="6037707"/>
                  </a:lnTo>
                  <a:lnTo>
                    <a:pt x="0" y="0"/>
                  </a:lnTo>
                  <a:close/>
                </a:path>
              </a:pathLst>
            </a:custGeom>
            <a:blipFill>
              <a:blip r:embed="rId8"/>
              <a:stretch>
                <a:fillRect l="-96" t="-35408" r="-48" b="-35355"/>
              </a:stretch>
            </a:blipFill>
          </p:spPr>
        </p:sp>
        <p:sp>
          <p:nvSpPr>
            <p:cNvPr id="16" name="Freeform 16"/>
            <p:cNvSpPr/>
            <p:nvPr/>
          </p:nvSpPr>
          <p:spPr>
            <a:xfrm>
              <a:off x="0" y="0"/>
              <a:ext cx="6561709" cy="6050407"/>
            </a:xfrm>
            <a:custGeom>
              <a:avLst/>
              <a:gdLst/>
              <a:ahLst/>
              <a:cxnLst/>
              <a:rect l="l" t="t" r="r" b="b"/>
              <a:pathLst>
                <a:path w="6561709" h="6050407">
                  <a:moveTo>
                    <a:pt x="6350" y="0"/>
                  </a:moveTo>
                  <a:lnTo>
                    <a:pt x="6555359" y="0"/>
                  </a:lnTo>
                  <a:cubicBezTo>
                    <a:pt x="6558915" y="0"/>
                    <a:pt x="6561709" y="2794"/>
                    <a:pt x="6561709" y="6350"/>
                  </a:cubicBezTo>
                  <a:lnTo>
                    <a:pt x="6561709" y="6044057"/>
                  </a:lnTo>
                  <a:cubicBezTo>
                    <a:pt x="6561709" y="6047613"/>
                    <a:pt x="6558915" y="6050407"/>
                    <a:pt x="6555359" y="6050407"/>
                  </a:cubicBezTo>
                  <a:lnTo>
                    <a:pt x="6350" y="6050407"/>
                  </a:lnTo>
                  <a:cubicBezTo>
                    <a:pt x="2794" y="6050407"/>
                    <a:pt x="0" y="6047613"/>
                    <a:pt x="0" y="6044057"/>
                  </a:cubicBezTo>
                  <a:lnTo>
                    <a:pt x="0" y="6350"/>
                  </a:lnTo>
                  <a:cubicBezTo>
                    <a:pt x="0" y="2794"/>
                    <a:pt x="2794" y="0"/>
                    <a:pt x="6350" y="0"/>
                  </a:cubicBezTo>
                  <a:moveTo>
                    <a:pt x="6350" y="12700"/>
                  </a:moveTo>
                  <a:lnTo>
                    <a:pt x="6350" y="6350"/>
                  </a:lnTo>
                  <a:lnTo>
                    <a:pt x="12700" y="6350"/>
                  </a:lnTo>
                  <a:lnTo>
                    <a:pt x="12700" y="6044057"/>
                  </a:lnTo>
                  <a:lnTo>
                    <a:pt x="6350" y="6044057"/>
                  </a:lnTo>
                  <a:lnTo>
                    <a:pt x="6350" y="6037707"/>
                  </a:lnTo>
                  <a:lnTo>
                    <a:pt x="6555359" y="6037707"/>
                  </a:lnTo>
                  <a:lnTo>
                    <a:pt x="6555359" y="6044057"/>
                  </a:lnTo>
                  <a:lnTo>
                    <a:pt x="6549009" y="6044057"/>
                  </a:lnTo>
                  <a:lnTo>
                    <a:pt x="6549009" y="6350"/>
                  </a:lnTo>
                  <a:lnTo>
                    <a:pt x="6555359" y="6350"/>
                  </a:lnTo>
                  <a:lnTo>
                    <a:pt x="6555359" y="12700"/>
                  </a:lnTo>
                  <a:lnTo>
                    <a:pt x="6350" y="12700"/>
                  </a:lnTo>
                  <a:close/>
                </a:path>
              </a:pathLst>
            </a:custGeom>
            <a:solidFill>
              <a:srgbClr val="4BA645"/>
            </a:solidFill>
            <a:ln w="12700">
              <a:solidFill>
                <a:srgbClr val="000000"/>
              </a:solidFill>
            </a:ln>
          </p:spPr>
        </p:sp>
      </p:grpSp>
      <p:sp>
        <p:nvSpPr>
          <p:cNvPr id="17" name="TextBox 17"/>
          <p:cNvSpPr txBox="1"/>
          <p:nvPr/>
        </p:nvSpPr>
        <p:spPr>
          <a:xfrm>
            <a:off x="14138024" y="2417997"/>
            <a:ext cx="2689193" cy="526732"/>
          </a:xfrm>
          <a:prstGeom prst="rect">
            <a:avLst/>
          </a:prstGeom>
        </p:spPr>
        <p:txBody>
          <a:bodyPr lIns="0" tIns="0" rIns="0" bIns="0" rtlCol="0" anchor="t">
            <a:spAutoFit/>
          </a:bodyPr>
          <a:lstStyle/>
          <a:p>
            <a:pPr algn="ctr">
              <a:lnSpc>
                <a:spcPts val="3746"/>
              </a:lnSpc>
            </a:pPr>
            <a:r>
              <a:rPr lang="en-US" sz="2531" spc="-25">
                <a:solidFill>
                  <a:srgbClr val="4DA745"/>
                </a:solidFill>
                <a:latin typeface="Arial"/>
                <a:ea typeface="Arial"/>
                <a:cs typeface="Arial"/>
                <a:sym typeface="Arial"/>
              </a:rPr>
              <a:t>Mạng Mobiphone</a:t>
            </a:r>
          </a:p>
        </p:txBody>
      </p:sp>
      <p:sp>
        <p:nvSpPr>
          <p:cNvPr id="18" name="Freeform 18"/>
          <p:cNvSpPr/>
          <p:nvPr/>
        </p:nvSpPr>
        <p:spPr>
          <a:xfrm>
            <a:off x="-154991" y="-1272258"/>
            <a:ext cx="18597983" cy="2273516"/>
          </a:xfrm>
          <a:custGeom>
            <a:avLst/>
            <a:gdLst/>
            <a:ahLst/>
            <a:cxnLst/>
            <a:rect l="l" t="t" r="r" b="b"/>
            <a:pathLst>
              <a:path w="18597983" h="2273516">
                <a:moveTo>
                  <a:pt x="0" y="0"/>
                </a:moveTo>
                <a:lnTo>
                  <a:pt x="18597982" y="0"/>
                </a:lnTo>
                <a:lnTo>
                  <a:pt x="18597982" y="2273516"/>
                </a:lnTo>
                <a:lnTo>
                  <a:pt x="0" y="227351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9" name="TextBox 19"/>
          <p:cNvSpPr txBox="1"/>
          <p:nvPr/>
        </p:nvSpPr>
        <p:spPr>
          <a:xfrm>
            <a:off x="-701388" y="48692"/>
            <a:ext cx="19690775" cy="885892"/>
          </a:xfrm>
          <a:prstGeom prst="rect">
            <a:avLst/>
          </a:prstGeom>
        </p:spPr>
        <p:txBody>
          <a:bodyPr lIns="0" tIns="0" rIns="0" bIns="0" rtlCol="0" anchor="t">
            <a:spAutoFit/>
          </a:bodyPr>
          <a:lstStyle/>
          <a:p>
            <a:pPr algn="ctr">
              <a:lnSpc>
                <a:spcPts val="6027"/>
              </a:lnSpc>
            </a:pPr>
            <a:r>
              <a:rPr lang="en-US" sz="3399" b="1">
                <a:solidFill>
                  <a:srgbClr val="FF751F"/>
                </a:solidFill>
                <a:latin typeface="Arial Bold"/>
                <a:ea typeface="Arial Bold"/>
                <a:cs typeface="Arial Bold"/>
                <a:sym typeface="Arial Bold"/>
              </a:rPr>
              <a:t>HÌNH ẢNH TTTB CHÍNH CHỦ HỢP LỆ VÀ CCCD KHÔNG TRÙNG KHỚP VỚI TRÊN TTTB</a:t>
            </a:r>
          </a:p>
        </p:txBody>
      </p:sp>
      <p:sp>
        <p:nvSpPr>
          <p:cNvPr id="20" name="TextBox 20"/>
          <p:cNvSpPr txBox="1"/>
          <p:nvPr/>
        </p:nvSpPr>
        <p:spPr>
          <a:xfrm>
            <a:off x="137027" y="1254166"/>
            <a:ext cx="15873260" cy="454181"/>
          </a:xfrm>
          <a:prstGeom prst="rect">
            <a:avLst/>
          </a:prstGeom>
        </p:spPr>
        <p:txBody>
          <a:bodyPr lIns="0" tIns="0" rIns="0" bIns="0" rtlCol="0" anchor="t">
            <a:spAutoFit/>
          </a:bodyPr>
          <a:lstStyle/>
          <a:p>
            <a:pPr algn="l">
              <a:lnSpc>
                <a:spcPts val="3359"/>
              </a:lnSpc>
            </a:pPr>
            <a:r>
              <a:rPr lang="en-US" sz="2400" b="1">
                <a:solidFill>
                  <a:srgbClr val="00974E"/>
                </a:solidFill>
                <a:latin typeface="Arial Bold"/>
                <a:ea typeface="Arial Bold"/>
                <a:cs typeface="Arial Bold"/>
                <a:sym typeface="Arial Bold"/>
              </a:rPr>
              <a:t>1. THÔNG TIN THUÊ BAO CHÍNH CHỦ HỢP LỆ</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91018" y="9790919"/>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graphicFrame>
        <p:nvGraphicFramePr>
          <p:cNvPr id="4" name="Table 4"/>
          <p:cNvGraphicFramePr>
            <a:graphicFrameLocks noGrp="1"/>
          </p:cNvGraphicFramePr>
          <p:nvPr/>
        </p:nvGraphicFramePr>
        <p:xfrm>
          <a:off x="137030" y="2365560"/>
          <a:ext cx="17754600" cy="6870700"/>
        </p:xfrm>
        <a:graphic>
          <a:graphicData uri="http://schemas.openxmlformats.org/drawingml/2006/table">
            <a:tbl>
              <a:tblPr/>
              <a:tblGrid>
                <a:gridCol w="3932857">
                  <a:extLst>
                    <a:ext uri="{9D8B030D-6E8A-4147-A177-3AD203B41FA5}">
                      <a16:colId xmlns:a16="http://schemas.microsoft.com/office/drawing/2014/main" val="20000"/>
                    </a:ext>
                  </a:extLst>
                </a:gridCol>
                <a:gridCol w="13821743">
                  <a:extLst>
                    <a:ext uri="{9D8B030D-6E8A-4147-A177-3AD203B41FA5}">
                      <a16:colId xmlns:a16="http://schemas.microsoft.com/office/drawing/2014/main" val="20001"/>
                    </a:ext>
                  </a:extLst>
                </a:gridCol>
              </a:tblGrid>
              <a:tr h="996813">
                <a:tc>
                  <a:txBody>
                    <a:bodyPr/>
                    <a:lstStyle/>
                    <a:p>
                      <a:pPr algn="ctr">
                        <a:lnSpc>
                          <a:spcPts val="3958"/>
                        </a:lnSpc>
                        <a:defRPr/>
                      </a:pPr>
                      <a:r>
                        <a:rPr lang="en-US" sz="2199" b="1" spc="10">
                          <a:solidFill>
                            <a:srgbClr val="FFFFFF"/>
                          </a:solidFill>
                          <a:latin typeface="Arial Bold"/>
                          <a:ea typeface="Arial Bold"/>
                          <a:cs typeface="Arial Bold"/>
                          <a:sym typeface="Arial Bold"/>
                        </a:rPr>
                        <a:t>TRƯỜNG HỢP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3512090">
                <a:tc>
                  <a:txBody>
                    <a:bodyPr/>
                    <a:lstStyle/>
                    <a:p>
                      <a:pPr algn="l">
                        <a:lnSpc>
                          <a:spcPts val="5000"/>
                        </a:lnSpc>
                        <a:defRPr/>
                      </a:pPr>
                      <a:r>
                        <a:rPr lang="en-US" sz="2000" b="1">
                          <a:solidFill>
                            <a:srgbClr val="000000"/>
                          </a:solidFill>
                          <a:latin typeface="Arial Bold"/>
                          <a:ea typeface="Arial Bold"/>
                          <a:cs typeface="Arial Bold"/>
                          <a:sym typeface="Arial Bold"/>
                        </a:rPr>
                        <a:t>CCCD có chip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5000"/>
                        </a:lnSpc>
                        <a:buFont typeface="Arial"/>
                        <a:buChar char="⚬"/>
                        <a:defRPr/>
                      </a:pPr>
                      <a:r>
                        <a:rPr lang="en-US" sz="2000">
                          <a:solidFill>
                            <a:srgbClr val="000000"/>
                          </a:solidFill>
                          <a:latin typeface="Arial"/>
                          <a:ea typeface="Arial"/>
                          <a:cs typeface="Arial"/>
                          <a:sym typeface="Arial"/>
                        </a:rPr>
                        <a:t>Hình ảnh chụp bản gốc mặt trước CCCD có chip</a:t>
                      </a:r>
                      <a:endParaRPr lang="en-US" sz="1100"/>
                    </a:p>
                    <a:p>
                      <a:pPr marL="457201" lvl="2" indent="-152400" algn="l">
                        <a:lnSpc>
                          <a:spcPts val="5000"/>
                        </a:lnSpc>
                        <a:buFont typeface="Arial"/>
                        <a:buChar char="⚬"/>
                      </a:pPr>
                      <a:r>
                        <a:rPr lang="en-US" sz="2000">
                          <a:solidFill>
                            <a:srgbClr val="000000"/>
                          </a:solidFill>
                          <a:latin typeface="Arial"/>
                          <a:ea typeface="Arial"/>
                          <a:cs typeface="Arial"/>
                          <a:sym typeface="Arial"/>
                        </a:rPr>
                        <a:t>Hình ảnh cần: to, rõ, chụp trần không để trong miếng nhựa bảo vệ để tránh bị lóa sáng, phần mã QR phải rõ để có thể quét được thông tin.</a:t>
                      </a:r>
                    </a:p>
                    <a:p>
                      <a:pPr marL="457201" lvl="2" indent="-152400" algn="l">
                        <a:lnSpc>
                          <a:spcPts val="5000"/>
                        </a:lnSpc>
                        <a:buFont typeface="Arial"/>
                        <a:buChar char="⚬"/>
                      </a:pPr>
                      <a:r>
                        <a:rPr lang="en-US" sz="2000">
                          <a:solidFill>
                            <a:srgbClr val="000000"/>
                          </a:solidFill>
                          <a:latin typeface="Arial"/>
                          <a:ea typeface="Arial"/>
                          <a:cs typeface="Arial"/>
                          <a:sym typeface="Arial"/>
                        </a:rPr>
                        <a:t>KH có thể tự quét kiểm tra ảnh chụp trước khi gửi để đảm bảo yêu cầu sẽ được cập nhật thành công.</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2361797">
                <a:tc>
                  <a:txBody>
                    <a:bodyPr/>
                    <a:lstStyle/>
                    <a:p>
                      <a:pPr algn="l">
                        <a:lnSpc>
                          <a:spcPts val="5000"/>
                        </a:lnSpc>
                        <a:defRPr/>
                      </a:pPr>
                      <a:r>
                        <a:rPr lang="en-US" sz="2000" b="1">
                          <a:solidFill>
                            <a:srgbClr val="000000"/>
                          </a:solidFill>
                          <a:latin typeface="Arial Bold"/>
                          <a:ea typeface="Arial Bold"/>
                          <a:cs typeface="Arial Bold"/>
                          <a:sym typeface="Arial Bold"/>
                        </a:rPr>
                        <a:t>CCCD không chip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5000"/>
                        </a:lnSpc>
                        <a:buFont typeface="Arial"/>
                        <a:buChar char="⚬"/>
                        <a:defRPr/>
                      </a:pPr>
                      <a:r>
                        <a:rPr lang="en-US" sz="2000">
                          <a:solidFill>
                            <a:srgbClr val="000000"/>
                          </a:solidFill>
                          <a:latin typeface="Arial"/>
                          <a:ea typeface="Arial"/>
                          <a:cs typeface="Arial"/>
                          <a:sym typeface="Arial"/>
                        </a:rPr>
                        <a:t>Hình ảnh Giấy xác nhận chuyển đổi của cơ quan công an. </a:t>
                      </a:r>
                      <a:endParaRPr lang="en-US" sz="1100"/>
                    </a:p>
                    <a:p>
                      <a:pPr marL="457201" lvl="2" indent="-152400" algn="l">
                        <a:lnSpc>
                          <a:spcPts val="5000"/>
                        </a:lnSpc>
                        <a:buFont typeface="Arial"/>
                        <a:buChar char="⚬"/>
                      </a:pPr>
                      <a:r>
                        <a:rPr lang="en-US" sz="2000">
                          <a:solidFill>
                            <a:srgbClr val="000000"/>
                          </a:solidFill>
                          <a:latin typeface="Arial"/>
                          <a:ea typeface="Arial"/>
                          <a:cs typeface="Arial"/>
                          <a:sym typeface="Arial"/>
                        </a:rPr>
                        <a:t>Hình chụp/ bản scan giấy xác nhận phải đủ 4 cạnh và 4 góc, phải có tên văn bản và số văn bản, có chữ ký và mộc đỏ của Cơ quan Công An, rõ ràng không bị mờ.</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bl>
          </a:graphicData>
        </a:graphic>
      </p:graphicFrame>
      <p:sp>
        <p:nvSpPr>
          <p:cNvPr id="5" name="TextBox 5"/>
          <p:cNvSpPr txBox="1"/>
          <p:nvPr/>
        </p:nvSpPr>
        <p:spPr>
          <a:xfrm>
            <a:off x="121787" y="1682382"/>
            <a:ext cx="15873260" cy="454181"/>
          </a:xfrm>
          <a:prstGeom prst="rect">
            <a:avLst/>
          </a:prstGeom>
        </p:spPr>
        <p:txBody>
          <a:bodyPr lIns="0" tIns="0" rIns="0" bIns="0" rtlCol="0" anchor="t">
            <a:spAutoFit/>
          </a:bodyPr>
          <a:lstStyle/>
          <a:p>
            <a:pPr algn="l">
              <a:lnSpc>
                <a:spcPts val="3359"/>
              </a:lnSpc>
            </a:pPr>
            <a:r>
              <a:rPr lang="en-US" sz="2400" b="1">
                <a:solidFill>
                  <a:srgbClr val="00974E"/>
                </a:solidFill>
                <a:latin typeface="Arial Bold"/>
                <a:ea typeface="Arial Bold"/>
                <a:cs typeface="Arial Bold"/>
                <a:sym typeface="Arial Bold"/>
              </a:rPr>
              <a:t>2. CCCD KHÔNG TRÙNG KHỚP VỚI TRÊN TTTB: CS cần hướng dẫn KH cung cấp thêm hình ảnh để hỗ trợ </a:t>
            </a:r>
          </a:p>
        </p:txBody>
      </p:sp>
      <p:sp>
        <p:nvSpPr>
          <p:cNvPr id="6" name="Freeform 6"/>
          <p:cNvSpPr/>
          <p:nvPr/>
        </p:nvSpPr>
        <p:spPr>
          <a:xfrm>
            <a:off x="-142335" y="-1241722"/>
            <a:ext cx="18572671" cy="2270422"/>
          </a:xfrm>
          <a:custGeom>
            <a:avLst/>
            <a:gdLst/>
            <a:ahLst/>
            <a:cxnLst/>
            <a:rect l="l" t="t" r="r" b="b"/>
            <a:pathLst>
              <a:path w="18572671" h="2270422">
                <a:moveTo>
                  <a:pt x="0" y="0"/>
                </a:moveTo>
                <a:lnTo>
                  <a:pt x="18572670" y="0"/>
                </a:lnTo>
                <a:lnTo>
                  <a:pt x="18572670" y="2270422"/>
                </a:lnTo>
                <a:lnTo>
                  <a:pt x="0" y="22704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701388" y="6735"/>
            <a:ext cx="19690775" cy="885892"/>
          </a:xfrm>
          <a:prstGeom prst="rect">
            <a:avLst/>
          </a:prstGeom>
        </p:spPr>
        <p:txBody>
          <a:bodyPr lIns="0" tIns="0" rIns="0" bIns="0" rtlCol="0" anchor="t">
            <a:spAutoFit/>
          </a:bodyPr>
          <a:lstStyle/>
          <a:p>
            <a:pPr algn="ctr">
              <a:lnSpc>
                <a:spcPts val="6027"/>
              </a:lnSpc>
            </a:pPr>
            <a:r>
              <a:rPr lang="en-US" sz="3399" b="1">
                <a:solidFill>
                  <a:srgbClr val="000000"/>
                </a:solidFill>
                <a:latin typeface="Arial Bold"/>
                <a:ea typeface="Arial Bold"/>
                <a:cs typeface="Arial Bold"/>
                <a:sym typeface="Arial Bold"/>
              </a:rPr>
              <a:t>HÌNH ẢNH TTTB CHÍNH CHỦ HỢP LỆ VÀ CCCD KHÔNG TRÙNG KHỚP VỚI TRÊN TTTB</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91018" y="9790919"/>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4" name="Freeform 4"/>
          <p:cNvSpPr/>
          <p:nvPr/>
        </p:nvSpPr>
        <p:spPr>
          <a:xfrm>
            <a:off x="0" y="-1211056"/>
            <a:ext cx="18548326" cy="2422112"/>
          </a:xfrm>
          <a:custGeom>
            <a:avLst/>
            <a:gdLst/>
            <a:ahLst/>
            <a:cxnLst/>
            <a:rect l="l" t="t" r="r" b="b"/>
            <a:pathLst>
              <a:path w="18548326" h="2422112">
                <a:moveTo>
                  <a:pt x="0" y="0"/>
                </a:moveTo>
                <a:lnTo>
                  <a:pt x="18548326" y="0"/>
                </a:lnTo>
                <a:lnTo>
                  <a:pt x="18548326" y="2422112"/>
                </a:lnTo>
                <a:lnTo>
                  <a:pt x="0" y="242211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701388" y="-80048"/>
            <a:ext cx="19690775" cy="1261148"/>
          </a:xfrm>
          <a:prstGeom prst="rect">
            <a:avLst/>
          </a:prstGeom>
        </p:spPr>
        <p:txBody>
          <a:bodyPr lIns="0" tIns="0" rIns="0" bIns="0" rtlCol="0" anchor="t">
            <a:spAutoFit/>
          </a:bodyPr>
          <a:lstStyle/>
          <a:p>
            <a:pPr algn="ctr">
              <a:lnSpc>
                <a:spcPts val="5098"/>
              </a:lnSpc>
            </a:pPr>
            <a:r>
              <a:rPr lang="en-US" sz="3399" b="1" dirty="0">
                <a:solidFill>
                  <a:srgbClr val="000000"/>
                </a:solidFill>
                <a:latin typeface="Arial Bold"/>
                <a:ea typeface="Arial Bold"/>
                <a:cs typeface="Arial Bold"/>
                <a:sym typeface="Arial Bold"/>
              </a:rPr>
              <a:t>ĐÃ CẬP NHẬT TRÊN FEOL 2.0 NHƯNG KHÔNG THÀNH CÔNG – </a:t>
            </a:r>
          </a:p>
          <a:p>
            <a:pPr algn="ctr">
              <a:lnSpc>
                <a:spcPts val="5098"/>
              </a:lnSpc>
            </a:pPr>
            <a:r>
              <a:rPr lang="en-US" sz="3399" b="1" dirty="0">
                <a:solidFill>
                  <a:srgbClr val="000000"/>
                </a:solidFill>
                <a:latin typeface="Arial Bold"/>
                <a:ea typeface="Arial Bold"/>
                <a:cs typeface="Arial Bold"/>
                <a:sym typeface="Arial Bold"/>
              </a:rPr>
              <a:t>THẺ TÍN DỤNG CHƯA ĐƯỢC KÍCH HOẠT</a:t>
            </a:r>
          </a:p>
        </p:txBody>
      </p:sp>
      <p:graphicFrame>
        <p:nvGraphicFramePr>
          <p:cNvPr id="6" name="Table 6"/>
          <p:cNvGraphicFramePr>
            <a:graphicFrameLocks noGrp="1"/>
          </p:cNvGraphicFramePr>
          <p:nvPr/>
        </p:nvGraphicFramePr>
        <p:xfrm>
          <a:off x="229883" y="2095500"/>
          <a:ext cx="17868900" cy="3084199"/>
        </p:xfrm>
        <a:graphic>
          <a:graphicData uri="http://schemas.openxmlformats.org/drawingml/2006/table">
            <a:tbl>
              <a:tblPr/>
              <a:tblGrid>
                <a:gridCol w="5829314">
                  <a:extLst>
                    <a:ext uri="{9D8B030D-6E8A-4147-A177-3AD203B41FA5}">
                      <a16:colId xmlns:a16="http://schemas.microsoft.com/office/drawing/2014/main" val="20000"/>
                    </a:ext>
                  </a:extLst>
                </a:gridCol>
                <a:gridCol w="6019793">
                  <a:extLst>
                    <a:ext uri="{9D8B030D-6E8A-4147-A177-3AD203B41FA5}">
                      <a16:colId xmlns:a16="http://schemas.microsoft.com/office/drawing/2014/main" val="20001"/>
                    </a:ext>
                  </a:extLst>
                </a:gridCol>
                <a:gridCol w="6019793">
                  <a:extLst>
                    <a:ext uri="{9D8B030D-6E8A-4147-A177-3AD203B41FA5}">
                      <a16:colId xmlns:a16="http://schemas.microsoft.com/office/drawing/2014/main" val="20002"/>
                    </a:ext>
                  </a:extLst>
                </a:gridCol>
              </a:tblGrid>
              <a:tr h="887261">
                <a:tc>
                  <a:txBody>
                    <a:bodyPr/>
                    <a:lstStyle/>
                    <a:p>
                      <a:pPr algn="ctr">
                        <a:lnSpc>
                          <a:spcPts val="3958"/>
                        </a:lnSpc>
                        <a:defRPr/>
                      </a:pPr>
                      <a:r>
                        <a:rPr lang="en-US" sz="2199" b="1">
                          <a:solidFill>
                            <a:srgbClr val="FFFFFF"/>
                          </a:solidFill>
                          <a:latin typeface="Arial Bold"/>
                          <a:ea typeface="Arial Bold"/>
                          <a:cs typeface="Arial Bold"/>
                          <a:sym typeface="Arial Bold"/>
                        </a:rPr>
                        <a:t>NGUYÊN NHÂN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2196938">
                <a:tc>
                  <a:txBody>
                    <a:bodyPr/>
                    <a:lstStyle/>
                    <a:p>
                      <a:pPr algn="l">
                        <a:lnSpc>
                          <a:spcPts val="2999"/>
                        </a:lnSpc>
                        <a:defRPr/>
                      </a:pPr>
                      <a:r>
                        <a:rPr lang="en-US" sz="1999">
                          <a:solidFill>
                            <a:srgbClr val="000000"/>
                          </a:solidFill>
                          <a:latin typeface="Arial"/>
                          <a:ea typeface="Arial"/>
                          <a:cs typeface="Arial"/>
                          <a:sym typeface="Arial"/>
                        </a:rPr>
                        <a:t>User chưa kích hoạt thẻ</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1999">
                          <a:solidFill>
                            <a:srgbClr val="000000"/>
                          </a:solidFill>
                          <a:latin typeface="Arial"/>
                          <a:ea typeface="Arial"/>
                          <a:cs typeface="Arial"/>
                          <a:sym typeface="Arial"/>
                        </a:rPr>
                        <a:t>KH kích hoạt thẻ, sau đó thực hiện lại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1999" b="1">
                          <a:solidFill>
                            <a:srgbClr val="000000"/>
                          </a:solidFill>
                          <a:latin typeface="Arial Bold"/>
                          <a:ea typeface="Arial Bold"/>
                          <a:cs typeface="Arial Bold"/>
                          <a:sym typeface="Arial Bold"/>
                        </a:rPr>
                        <a:t>Code:</a:t>
                      </a:r>
                      <a:r>
                        <a:rPr lang="en-US" sz="1999">
                          <a:solidFill>
                            <a:srgbClr val="000000"/>
                          </a:solidFill>
                          <a:latin typeface="Arial"/>
                          <a:ea typeface="Arial"/>
                          <a:cs typeface="Arial"/>
                          <a:sym typeface="Arial"/>
                        </a:rPr>
                        <a:t> IL33/ IC22-Cập nhật thông tin KH</a:t>
                      </a:r>
                      <a:endParaRPr lang="en-US" sz="1100"/>
                    </a:p>
                    <a:p>
                      <a:pPr algn="l">
                        <a:lnSpc>
                          <a:spcPts val="2999"/>
                        </a:lnSpc>
                      </a:pPr>
                      <a:r>
                        <a:rPr lang="en-US" sz="1999" b="1">
                          <a:solidFill>
                            <a:srgbClr val="000000"/>
                          </a:solidFill>
                          <a:latin typeface="Arial Bold"/>
                          <a:ea typeface="Arial Bold"/>
                          <a:cs typeface="Arial Bold"/>
                          <a:sym typeface="Arial Bold"/>
                        </a:rPr>
                        <a:t>Sub:</a:t>
                      </a:r>
                      <a:r>
                        <a:rPr lang="en-US" sz="1999">
                          <a:solidFill>
                            <a:srgbClr val="000000"/>
                          </a:solidFill>
                          <a:latin typeface="Arial"/>
                          <a:ea typeface="Arial"/>
                          <a:cs typeface="Arial"/>
                          <a:sym typeface="Arial"/>
                        </a:rPr>
                        <a:t> IL33.01/ IC22.01-Cập nhật số điện thoại</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91018" y="9790919"/>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4" name="Freeform 4"/>
          <p:cNvSpPr/>
          <p:nvPr/>
        </p:nvSpPr>
        <p:spPr>
          <a:xfrm>
            <a:off x="20333" y="-1194059"/>
            <a:ext cx="18288000" cy="2388118"/>
          </a:xfrm>
          <a:custGeom>
            <a:avLst/>
            <a:gdLst/>
            <a:ahLst/>
            <a:cxnLst/>
            <a:rect l="l" t="t" r="r" b="b"/>
            <a:pathLst>
              <a:path w="18288000" h="2388118">
                <a:moveTo>
                  <a:pt x="0" y="0"/>
                </a:moveTo>
                <a:lnTo>
                  <a:pt x="18288000" y="0"/>
                </a:lnTo>
                <a:lnTo>
                  <a:pt x="18288000" y="2388118"/>
                </a:lnTo>
                <a:lnTo>
                  <a:pt x="0" y="23881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701388" y="-114302"/>
            <a:ext cx="19690775" cy="1261148"/>
          </a:xfrm>
          <a:prstGeom prst="rect">
            <a:avLst/>
          </a:prstGeom>
        </p:spPr>
        <p:txBody>
          <a:bodyPr lIns="0" tIns="0" rIns="0" bIns="0" rtlCol="0" anchor="t">
            <a:spAutoFit/>
          </a:bodyPr>
          <a:lstStyle/>
          <a:p>
            <a:pPr algn="ctr">
              <a:lnSpc>
                <a:spcPts val="5098"/>
              </a:lnSpc>
            </a:pPr>
            <a:r>
              <a:rPr lang="en-US" sz="3399" b="1" dirty="0">
                <a:solidFill>
                  <a:srgbClr val="000000"/>
                </a:solidFill>
                <a:latin typeface="Arial Bold"/>
                <a:ea typeface="Arial Bold"/>
                <a:cs typeface="Arial Bold"/>
                <a:sym typeface="Arial Bold"/>
              </a:rPr>
              <a:t>ĐÃ CẬP NHẬT TRÊN FEOL 2.0 NHƯNG KHÔNG THÀNH CÔNG – </a:t>
            </a:r>
          </a:p>
          <a:p>
            <a:pPr algn="ctr">
              <a:lnSpc>
                <a:spcPts val="5098"/>
              </a:lnSpc>
            </a:pPr>
            <a:r>
              <a:rPr lang="en-US" sz="3399" b="1" dirty="0">
                <a:solidFill>
                  <a:srgbClr val="000000"/>
                </a:solidFill>
                <a:latin typeface="Arial Bold"/>
                <a:ea typeface="Arial Bold"/>
                <a:cs typeface="Arial Bold"/>
                <a:sym typeface="Arial Bold"/>
              </a:rPr>
              <a:t>THẺ TÍN DỤNG ĐANG CÒN DƯ NỢ</a:t>
            </a:r>
          </a:p>
        </p:txBody>
      </p:sp>
      <p:graphicFrame>
        <p:nvGraphicFramePr>
          <p:cNvPr id="6" name="Table 6"/>
          <p:cNvGraphicFramePr>
            <a:graphicFrameLocks noGrp="1"/>
          </p:cNvGraphicFramePr>
          <p:nvPr/>
        </p:nvGraphicFramePr>
        <p:xfrm>
          <a:off x="229883" y="2095500"/>
          <a:ext cx="17868900" cy="3461707"/>
        </p:xfrm>
        <a:graphic>
          <a:graphicData uri="http://schemas.openxmlformats.org/drawingml/2006/table">
            <a:tbl>
              <a:tblPr/>
              <a:tblGrid>
                <a:gridCol w="5829314">
                  <a:extLst>
                    <a:ext uri="{9D8B030D-6E8A-4147-A177-3AD203B41FA5}">
                      <a16:colId xmlns:a16="http://schemas.microsoft.com/office/drawing/2014/main" val="20000"/>
                    </a:ext>
                  </a:extLst>
                </a:gridCol>
                <a:gridCol w="6019793">
                  <a:extLst>
                    <a:ext uri="{9D8B030D-6E8A-4147-A177-3AD203B41FA5}">
                      <a16:colId xmlns:a16="http://schemas.microsoft.com/office/drawing/2014/main" val="20001"/>
                    </a:ext>
                  </a:extLst>
                </a:gridCol>
                <a:gridCol w="6019793">
                  <a:extLst>
                    <a:ext uri="{9D8B030D-6E8A-4147-A177-3AD203B41FA5}">
                      <a16:colId xmlns:a16="http://schemas.microsoft.com/office/drawing/2014/main" val="20002"/>
                    </a:ext>
                  </a:extLst>
                </a:gridCol>
              </a:tblGrid>
              <a:tr h="886052">
                <a:tc>
                  <a:txBody>
                    <a:bodyPr/>
                    <a:lstStyle/>
                    <a:p>
                      <a:pPr algn="ctr">
                        <a:lnSpc>
                          <a:spcPts val="3958"/>
                        </a:lnSpc>
                        <a:defRPr/>
                      </a:pPr>
                      <a:r>
                        <a:rPr lang="en-US" sz="2199" b="1">
                          <a:solidFill>
                            <a:srgbClr val="FFFFFF"/>
                          </a:solidFill>
                          <a:latin typeface="Arial Bold"/>
                          <a:ea typeface="Arial Bold"/>
                          <a:cs typeface="Arial Bold"/>
                          <a:sym typeface="Arial Bold"/>
                        </a:rPr>
                        <a:t>NGUYÊN NHÂN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2575655">
                <a:tc>
                  <a:txBody>
                    <a:bodyPr/>
                    <a:lstStyle/>
                    <a:p>
                      <a:pPr algn="l">
                        <a:lnSpc>
                          <a:spcPts val="2999"/>
                        </a:lnSpc>
                        <a:defRPr/>
                      </a:pPr>
                      <a:r>
                        <a:rPr lang="en-US" sz="1999">
                          <a:solidFill>
                            <a:srgbClr val="000000"/>
                          </a:solidFill>
                          <a:latin typeface="Arial"/>
                          <a:ea typeface="Arial"/>
                          <a:cs typeface="Arial"/>
                          <a:sym typeface="Arial"/>
                        </a:rPr>
                        <a:t>User có card đang block code D, E trên block code 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1999">
                          <a:solidFill>
                            <a:srgbClr val="000000"/>
                          </a:solidFill>
                          <a:latin typeface="Arial"/>
                          <a:ea typeface="Arial"/>
                          <a:cs typeface="Arial"/>
                          <a:sym typeface="Arial"/>
                        </a:rPr>
                        <a:t>KH thanh toán dư nợ, sau đó thực hiện lại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1999" b="1">
                          <a:solidFill>
                            <a:srgbClr val="000000"/>
                          </a:solidFill>
                          <a:latin typeface="Arial Bold"/>
                          <a:ea typeface="Arial Bold"/>
                          <a:cs typeface="Arial Bold"/>
                          <a:sym typeface="Arial Bold"/>
                        </a:rPr>
                        <a:t>Code: </a:t>
                      </a:r>
                      <a:r>
                        <a:rPr lang="en-US" sz="1999">
                          <a:solidFill>
                            <a:srgbClr val="000000"/>
                          </a:solidFill>
                          <a:latin typeface="Arial"/>
                          <a:ea typeface="Arial"/>
                          <a:cs typeface="Arial"/>
                          <a:sym typeface="Arial"/>
                        </a:rPr>
                        <a:t>IL33/ IC22-Cập nhật thông tin KH</a:t>
                      </a:r>
                      <a:endParaRPr lang="en-US" sz="1100"/>
                    </a:p>
                    <a:p>
                      <a:pPr algn="l">
                        <a:lnSpc>
                          <a:spcPts val="2999"/>
                        </a:lnSpc>
                      </a:pPr>
                      <a:r>
                        <a:rPr lang="en-US" sz="1999" b="1">
                          <a:solidFill>
                            <a:srgbClr val="000000"/>
                          </a:solidFill>
                          <a:latin typeface="Arial Bold"/>
                          <a:ea typeface="Arial Bold"/>
                          <a:cs typeface="Arial Bold"/>
                          <a:sym typeface="Arial Bold"/>
                        </a:rPr>
                        <a:t>Sub:</a:t>
                      </a:r>
                      <a:r>
                        <a:rPr lang="en-US" sz="1999">
                          <a:solidFill>
                            <a:srgbClr val="000000"/>
                          </a:solidFill>
                          <a:latin typeface="Arial"/>
                          <a:ea typeface="Arial"/>
                          <a:cs typeface="Arial"/>
                          <a:sym typeface="Arial"/>
                        </a:rPr>
                        <a:t> IL33.01/ IC22.01-Cập nhật số điện thoại</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91018" y="9790919"/>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4" name="Freeform 4"/>
          <p:cNvSpPr/>
          <p:nvPr/>
        </p:nvSpPr>
        <p:spPr>
          <a:xfrm>
            <a:off x="0" y="-1086670"/>
            <a:ext cx="18288000" cy="2388118"/>
          </a:xfrm>
          <a:custGeom>
            <a:avLst/>
            <a:gdLst/>
            <a:ahLst/>
            <a:cxnLst/>
            <a:rect l="l" t="t" r="r" b="b"/>
            <a:pathLst>
              <a:path w="18288000" h="2388118">
                <a:moveTo>
                  <a:pt x="0" y="0"/>
                </a:moveTo>
                <a:lnTo>
                  <a:pt x="18288000" y="0"/>
                </a:lnTo>
                <a:lnTo>
                  <a:pt x="18288000" y="2388118"/>
                </a:lnTo>
                <a:lnTo>
                  <a:pt x="0" y="23881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701383" y="-209552"/>
            <a:ext cx="19690775" cy="1655331"/>
          </a:xfrm>
          <a:prstGeom prst="rect">
            <a:avLst/>
          </a:prstGeom>
        </p:spPr>
        <p:txBody>
          <a:bodyPr lIns="0" tIns="0" rIns="0" bIns="0" rtlCol="0" anchor="t">
            <a:spAutoFit/>
          </a:bodyPr>
          <a:lstStyle/>
          <a:p>
            <a:pPr algn="ctr">
              <a:lnSpc>
                <a:spcPts val="6027"/>
              </a:lnSpc>
            </a:pPr>
            <a:r>
              <a:rPr lang="en-US" sz="3399" b="1">
                <a:solidFill>
                  <a:srgbClr val="000000"/>
                </a:solidFill>
                <a:latin typeface="Arial Bold"/>
                <a:ea typeface="Arial Bold"/>
                <a:cs typeface="Arial Bold"/>
                <a:sym typeface="Arial Bold"/>
              </a:rPr>
              <a:t>ĐÃ CẬP NHẬT TRÊN FEOL 2.0 NHƯNG KHÔNG THÀNH CÔNG – </a:t>
            </a:r>
          </a:p>
          <a:p>
            <a:pPr algn="ctr">
              <a:lnSpc>
                <a:spcPts val="6027"/>
              </a:lnSpc>
            </a:pPr>
            <a:r>
              <a:rPr lang="en-US" sz="3399" b="1">
                <a:solidFill>
                  <a:srgbClr val="000000"/>
                </a:solidFill>
                <a:latin typeface="Arial Bold"/>
                <a:ea typeface="Arial Bold"/>
                <a:cs typeface="Arial Bold"/>
                <a:sym typeface="Arial Bold"/>
              </a:rPr>
              <a:t>THẺ TÍN DỤNG ĐANG BỊ KHÓA</a:t>
            </a:r>
          </a:p>
        </p:txBody>
      </p:sp>
      <p:graphicFrame>
        <p:nvGraphicFramePr>
          <p:cNvPr id="6" name="Table 6"/>
          <p:cNvGraphicFramePr>
            <a:graphicFrameLocks noGrp="1"/>
          </p:cNvGraphicFramePr>
          <p:nvPr/>
        </p:nvGraphicFramePr>
        <p:xfrm>
          <a:off x="229883" y="2095500"/>
          <a:ext cx="17868900" cy="2114550"/>
        </p:xfrm>
        <a:graphic>
          <a:graphicData uri="http://schemas.openxmlformats.org/drawingml/2006/table">
            <a:tbl>
              <a:tblPr/>
              <a:tblGrid>
                <a:gridCol w="5829314">
                  <a:extLst>
                    <a:ext uri="{9D8B030D-6E8A-4147-A177-3AD203B41FA5}">
                      <a16:colId xmlns:a16="http://schemas.microsoft.com/office/drawing/2014/main" val="20000"/>
                    </a:ext>
                  </a:extLst>
                </a:gridCol>
                <a:gridCol w="6019793">
                  <a:extLst>
                    <a:ext uri="{9D8B030D-6E8A-4147-A177-3AD203B41FA5}">
                      <a16:colId xmlns:a16="http://schemas.microsoft.com/office/drawing/2014/main" val="20001"/>
                    </a:ext>
                  </a:extLst>
                </a:gridCol>
                <a:gridCol w="6019793">
                  <a:extLst>
                    <a:ext uri="{9D8B030D-6E8A-4147-A177-3AD203B41FA5}">
                      <a16:colId xmlns:a16="http://schemas.microsoft.com/office/drawing/2014/main" val="20002"/>
                    </a:ext>
                  </a:extLst>
                </a:gridCol>
              </a:tblGrid>
              <a:tr h="892379">
                <a:tc>
                  <a:txBody>
                    <a:bodyPr/>
                    <a:lstStyle/>
                    <a:p>
                      <a:pPr algn="ctr">
                        <a:lnSpc>
                          <a:spcPts val="3958"/>
                        </a:lnSpc>
                        <a:defRPr/>
                      </a:pPr>
                      <a:r>
                        <a:rPr lang="en-US" sz="2199" b="1">
                          <a:solidFill>
                            <a:srgbClr val="FFFFFF"/>
                          </a:solidFill>
                          <a:latin typeface="Arial Bold"/>
                          <a:ea typeface="Arial Bold"/>
                          <a:cs typeface="Arial Bold"/>
                          <a:sym typeface="Arial Bold"/>
                        </a:rPr>
                        <a:t>NGUYÊN NHÂN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222171">
                <a:tc>
                  <a:txBody>
                    <a:bodyPr/>
                    <a:lstStyle/>
                    <a:p>
                      <a:pPr algn="l">
                        <a:lnSpc>
                          <a:spcPts val="2999"/>
                        </a:lnSpc>
                        <a:defRPr/>
                      </a:pPr>
                      <a:r>
                        <a:rPr lang="en-US" sz="1999" dirty="0">
                          <a:solidFill>
                            <a:srgbClr val="000000"/>
                          </a:solidFill>
                          <a:latin typeface="Arial"/>
                          <a:ea typeface="Arial"/>
                          <a:cs typeface="Arial"/>
                          <a:sym typeface="Arial"/>
                        </a:rPr>
                        <a:t>User </a:t>
                      </a:r>
                      <a:r>
                        <a:rPr lang="en-US" sz="1999" dirty="0" err="1">
                          <a:solidFill>
                            <a:srgbClr val="000000"/>
                          </a:solidFill>
                          <a:latin typeface="Arial"/>
                          <a:ea typeface="Arial"/>
                          <a:cs typeface="Arial"/>
                          <a:sym typeface="Arial"/>
                        </a:rPr>
                        <a:t>có</a:t>
                      </a:r>
                      <a:r>
                        <a:rPr lang="en-US" sz="1999" dirty="0">
                          <a:solidFill>
                            <a:srgbClr val="000000"/>
                          </a:solidFill>
                          <a:latin typeface="Arial"/>
                          <a:ea typeface="Arial"/>
                          <a:cs typeface="Arial"/>
                          <a:sym typeface="Arial"/>
                        </a:rPr>
                        <a:t> card </a:t>
                      </a:r>
                      <a:r>
                        <a:rPr lang="en-US" sz="1999" dirty="0" err="1">
                          <a:solidFill>
                            <a:srgbClr val="000000"/>
                          </a:solidFill>
                          <a:latin typeface="Arial"/>
                          <a:ea typeface="Arial"/>
                          <a:cs typeface="Arial"/>
                          <a:sym typeface="Arial"/>
                        </a:rPr>
                        <a:t>đang</a:t>
                      </a:r>
                      <a:r>
                        <a:rPr lang="en-US" sz="1999" dirty="0">
                          <a:solidFill>
                            <a:srgbClr val="000000"/>
                          </a:solidFill>
                          <a:latin typeface="Arial"/>
                          <a:ea typeface="Arial"/>
                          <a:cs typeface="Arial"/>
                          <a:sym typeface="Arial"/>
                        </a:rPr>
                        <a:t> block code A</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1999" dirty="0">
                          <a:solidFill>
                            <a:srgbClr val="000000"/>
                          </a:solidFill>
                          <a:latin typeface="Arial"/>
                          <a:ea typeface="Arial"/>
                          <a:cs typeface="Arial"/>
                          <a:sym typeface="Arial"/>
                        </a:rPr>
                        <a:t>KH </a:t>
                      </a:r>
                      <a:r>
                        <a:rPr lang="en-US" sz="1999" dirty="0" err="1">
                          <a:solidFill>
                            <a:srgbClr val="000000"/>
                          </a:solidFill>
                          <a:latin typeface="Arial"/>
                          <a:ea typeface="Arial"/>
                          <a:cs typeface="Arial"/>
                          <a:sym typeface="Arial"/>
                        </a:rPr>
                        <a:t>thực</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hiện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mở</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khóa</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thẻ</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sau</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đó</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thử</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lại</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1999" b="1" dirty="0">
                          <a:solidFill>
                            <a:srgbClr val="000000"/>
                          </a:solidFill>
                          <a:latin typeface="Arial Bold"/>
                          <a:ea typeface="Arial Bold"/>
                          <a:cs typeface="Arial Bold"/>
                          <a:sym typeface="Arial Bold"/>
                        </a:rPr>
                        <a:t>Code:</a:t>
                      </a:r>
                      <a:r>
                        <a:rPr lang="en-US" sz="1999" dirty="0">
                          <a:solidFill>
                            <a:srgbClr val="000000"/>
                          </a:solidFill>
                          <a:latin typeface="Arial"/>
                          <a:ea typeface="Arial"/>
                          <a:cs typeface="Arial"/>
                          <a:sym typeface="Arial"/>
                        </a:rPr>
                        <a:t> IL33/ IC22-Cập </a:t>
                      </a:r>
                      <a:r>
                        <a:rPr lang="en-US" sz="1999" dirty="0" err="1">
                          <a:solidFill>
                            <a:srgbClr val="000000"/>
                          </a:solidFill>
                          <a:latin typeface="Arial"/>
                          <a:ea typeface="Arial"/>
                          <a:cs typeface="Arial"/>
                          <a:sym typeface="Arial"/>
                        </a:rPr>
                        <a:t>nhật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thông</a:t>
                      </a:r>
                      <a:r>
                        <a:rPr lang="en-US" sz="1999" dirty="0">
                          <a:solidFill>
                            <a:srgbClr val="000000"/>
                          </a:solidFill>
                          <a:latin typeface="Arial"/>
                          <a:ea typeface="Arial"/>
                          <a:cs typeface="Arial"/>
                          <a:sym typeface="Arial"/>
                        </a:rPr>
                        <a:t> tin KH</a:t>
                      </a:r>
                      <a:endParaRPr lang="en-US" sz="1100" dirty="0"/>
                    </a:p>
                    <a:p>
                      <a:pPr algn="l">
                        <a:lnSpc>
                          <a:spcPts val="2999"/>
                        </a:lnSpc>
                      </a:pPr>
                      <a:r>
                        <a:rPr lang="en-US" sz="1999" b="1" dirty="0">
                          <a:solidFill>
                            <a:srgbClr val="000000"/>
                          </a:solidFill>
                          <a:latin typeface="Arial Bold"/>
                          <a:ea typeface="Arial Bold"/>
                          <a:cs typeface="Arial Bold"/>
                          <a:sym typeface="Arial Bold"/>
                        </a:rPr>
                        <a:t>Sub:</a:t>
                      </a:r>
                      <a:r>
                        <a:rPr lang="en-US" sz="1999" dirty="0">
                          <a:solidFill>
                            <a:srgbClr val="000000"/>
                          </a:solidFill>
                          <a:latin typeface="Arial"/>
                          <a:ea typeface="Arial"/>
                          <a:cs typeface="Arial"/>
                          <a:sym typeface="Arial"/>
                        </a:rPr>
                        <a:t> IL33.01/ IC22.01-Cập </a:t>
                      </a:r>
                      <a:r>
                        <a:rPr lang="en-US" sz="1999" dirty="0" err="1">
                          <a:solidFill>
                            <a:srgbClr val="000000"/>
                          </a:solidFill>
                          <a:latin typeface="Arial"/>
                          <a:ea typeface="Arial"/>
                          <a:cs typeface="Arial"/>
                          <a:sym typeface="Arial"/>
                        </a:rPr>
                        <a:t>nhật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số</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điện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thoại</a:t>
                      </a:r>
                      <a:endParaRPr lang="en-US" sz="1999" dirty="0">
                        <a:solidFill>
                          <a:srgbClr val="000000"/>
                        </a:solidFill>
                        <a:latin typeface="Arial"/>
                        <a:ea typeface="Arial"/>
                        <a:cs typeface="Arial"/>
                        <a:sym typeface="Arial"/>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91018" y="9790919"/>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4" name="Freeform 4"/>
          <p:cNvSpPr/>
          <p:nvPr/>
        </p:nvSpPr>
        <p:spPr>
          <a:xfrm>
            <a:off x="0" y="-1055211"/>
            <a:ext cx="18288000" cy="2388118"/>
          </a:xfrm>
          <a:custGeom>
            <a:avLst/>
            <a:gdLst/>
            <a:ahLst/>
            <a:cxnLst/>
            <a:rect l="l" t="t" r="r" b="b"/>
            <a:pathLst>
              <a:path w="18288000" h="2388118">
                <a:moveTo>
                  <a:pt x="0" y="0"/>
                </a:moveTo>
                <a:lnTo>
                  <a:pt x="18288000" y="0"/>
                </a:lnTo>
                <a:lnTo>
                  <a:pt x="18288000" y="2388118"/>
                </a:lnTo>
                <a:lnTo>
                  <a:pt x="0" y="23881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701388" y="24548"/>
            <a:ext cx="19690775" cy="1261148"/>
          </a:xfrm>
          <a:prstGeom prst="rect">
            <a:avLst/>
          </a:prstGeom>
        </p:spPr>
        <p:txBody>
          <a:bodyPr lIns="0" tIns="0" rIns="0" bIns="0" rtlCol="0" anchor="t">
            <a:spAutoFit/>
          </a:bodyPr>
          <a:lstStyle/>
          <a:p>
            <a:pPr algn="ctr">
              <a:lnSpc>
                <a:spcPts val="5098"/>
              </a:lnSpc>
            </a:pPr>
            <a:r>
              <a:rPr lang="en-US" sz="3399" b="1">
                <a:solidFill>
                  <a:srgbClr val="000000"/>
                </a:solidFill>
                <a:latin typeface="Arial Bold"/>
                <a:ea typeface="Arial Bold"/>
                <a:cs typeface="Arial Bold"/>
                <a:sym typeface="Arial Bold"/>
              </a:rPr>
              <a:t>ĐÃ CẬP NHẬT TRÊN FEOL 2.0 NHƯNG KHÔNG THÀNH CÔNG – </a:t>
            </a:r>
          </a:p>
          <a:p>
            <a:pPr algn="ctr">
              <a:lnSpc>
                <a:spcPts val="5098"/>
              </a:lnSpc>
            </a:pPr>
            <a:r>
              <a:rPr lang="en-US" sz="3399" b="1">
                <a:solidFill>
                  <a:srgbClr val="000000"/>
                </a:solidFill>
                <a:latin typeface="Arial Bold"/>
                <a:ea typeface="Arial Bold"/>
                <a:cs typeface="Arial Bold"/>
                <a:sym typeface="Arial Bold"/>
              </a:rPr>
              <a:t>CHỨC NĂNG CẬP NHẬT SĐT KHÔNG KHẢ DỤNG</a:t>
            </a:r>
          </a:p>
        </p:txBody>
      </p:sp>
      <p:graphicFrame>
        <p:nvGraphicFramePr>
          <p:cNvPr id="6" name="Table 6"/>
          <p:cNvGraphicFramePr>
            <a:graphicFrameLocks noGrp="1"/>
          </p:cNvGraphicFramePr>
          <p:nvPr>
            <p:extLst>
              <p:ext uri="{D42A27DB-BD31-4B8C-83A1-F6EECF244321}">
                <p14:modId xmlns:p14="http://schemas.microsoft.com/office/powerpoint/2010/main" val="1942470037"/>
              </p:ext>
            </p:extLst>
          </p:nvPr>
        </p:nvGraphicFramePr>
        <p:xfrm>
          <a:off x="229883" y="2095500"/>
          <a:ext cx="17868900" cy="2114550"/>
        </p:xfrm>
        <a:graphic>
          <a:graphicData uri="http://schemas.openxmlformats.org/drawingml/2006/table">
            <a:tbl>
              <a:tblPr/>
              <a:tblGrid>
                <a:gridCol w="5829314">
                  <a:extLst>
                    <a:ext uri="{9D8B030D-6E8A-4147-A177-3AD203B41FA5}">
                      <a16:colId xmlns:a16="http://schemas.microsoft.com/office/drawing/2014/main" val="20000"/>
                    </a:ext>
                  </a:extLst>
                </a:gridCol>
                <a:gridCol w="6019793">
                  <a:extLst>
                    <a:ext uri="{9D8B030D-6E8A-4147-A177-3AD203B41FA5}">
                      <a16:colId xmlns:a16="http://schemas.microsoft.com/office/drawing/2014/main" val="20001"/>
                    </a:ext>
                  </a:extLst>
                </a:gridCol>
                <a:gridCol w="6019793">
                  <a:extLst>
                    <a:ext uri="{9D8B030D-6E8A-4147-A177-3AD203B41FA5}">
                      <a16:colId xmlns:a16="http://schemas.microsoft.com/office/drawing/2014/main" val="20002"/>
                    </a:ext>
                  </a:extLst>
                </a:gridCol>
              </a:tblGrid>
              <a:tr h="892379">
                <a:tc>
                  <a:txBody>
                    <a:bodyPr/>
                    <a:lstStyle/>
                    <a:p>
                      <a:pPr algn="ctr">
                        <a:lnSpc>
                          <a:spcPts val="3958"/>
                        </a:lnSpc>
                        <a:defRPr/>
                      </a:pPr>
                      <a:r>
                        <a:rPr lang="en-US" sz="2199" b="1">
                          <a:solidFill>
                            <a:srgbClr val="FFFFFF"/>
                          </a:solidFill>
                          <a:latin typeface="Arial Bold"/>
                          <a:ea typeface="Arial Bold"/>
                          <a:cs typeface="Arial Bold"/>
                          <a:sym typeface="Arial Bold"/>
                        </a:rPr>
                        <a:t>NGUYÊN NHÂN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222171">
                <a:tc>
                  <a:txBody>
                    <a:bodyPr/>
                    <a:lstStyle/>
                    <a:p>
                      <a:pPr marL="241219" lvl="2" indent="0" algn="l">
                        <a:lnSpc>
                          <a:spcPts val="2999"/>
                        </a:lnSpc>
                        <a:buFont typeface="Arial"/>
                        <a:buNone/>
                        <a:defRPr/>
                      </a:pPr>
                      <a:r>
                        <a:rPr lang="en-US" sz="1999" dirty="0">
                          <a:solidFill>
                            <a:srgbClr val="000000"/>
                          </a:solidFill>
                          <a:latin typeface="Arial"/>
                          <a:ea typeface="Arial"/>
                          <a:cs typeface="Arial"/>
                          <a:sym typeface="Arial"/>
                        </a:rPr>
                        <a:t>Sai </a:t>
                      </a:r>
                      <a:r>
                        <a:rPr lang="en-US" sz="1999" dirty="0" err="1">
                          <a:solidFill>
                            <a:srgbClr val="000000"/>
                          </a:solidFill>
                          <a:latin typeface="Arial"/>
                          <a:ea typeface="Arial"/>
                          <a:cs typeface="Arial"/>
                          <a:sym typeface="Arial"/>
                        </a:rPr>
                        <a:t>quá</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số</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lần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quy</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định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nhập</a:t>
                      </a:r>
                      <a:r>
                        <a:rPr lang="en-US" sz="1999" dirty="0">
                          <a:solidFill>
                            <a:srgbClr val="000000"/>
                          </a:solidFill>
                          <a:latin typeface="Arial"/>
                          <a:ea typeface="Arial"/>
                          <a:cs typeface="Arial"/>
                          <a:sym typeface="Arial"/>
                        </a:rPr>
                        <a:t> OTP  </a:t>
                      </a:r>
                      <a:r>
                        <a:rPr lang="en-US" sz="1999" dirty="0" err="1">
                          <a:solidFill>
                            <a:srgbClr val="000000"/>
                          </a:solidFill>
                          <a:latin typeface="Arial"/>
                          <a:ea typeface="Arial"/>
                          <a:cs typeface="Arial"/>
                          <a:sym typeface="Arial"/>
                        </a:rPr>
                        <a:t>hoặc</a:t>
                      </a:r>
                      <a:endParaRPr lang="en-US" sz="1100" dirty="0"/>
                    </a:p>
                    <a:p>
                      <a:pPr marL="241219" lvl="2" indent="0" algn="l">
                        <a:lnSpc>
                          <a:spcPts val="2999"/>
                        </a:lnSpc>
                        <a:buFont typeface="Arial"/>
                        <a:buNone/>
                      </a:pPr>
                      <a:r>
                        <a:rPr lang="en-US" sz="1999" dirty="0">
                          <a:solidFill>
                            <a:srgbClr val="000000"/>
                          </a:solidFill>
                          <a:latin typeface="Arial"/>
                          <a:ea typeface="Arial"/>
                          <a:cs typeface="Arial"/>
                          <a:sym typeface="Arial"/>
                        </a:rPr>
                        <a:t>User </a:t>
                      </a:r>
                      <a:r>
                        <a:rPr lang="en-US" sz="1999" dirty="0" err="1">
                          <a:solidFill>
                            <a:srgbClr val="000000"/>
                          </a:solidFill>
                          <a:latin typeface="Arial"/>
                          <a:ea typeface="Arial"/>
                          <a:cs typeface="Arial"/>
                          <a:sym typeface="Arial"/>
                        </a:rPr>
                        <a:t>cập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sđt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quá</a:t>
                      </a:r>
                      <a:r>
                        <a:rPr lang="en-US" sz="1999" dirty="0">
                          <a:solidFill>
                            <a:srgbClr val="000000"/>
                          </a:solidFill>
                          <a:latin typeface="Arial"/>
                          <a:ea typeface="Arial"/>
                          <a:cs typeface="Arial"/>
                          <a:sym typeface="Arial"/>
                        </a:rPr>
                        <a:t> 3 </a:t>
                      </a:r>
                      <a:r>
                        <a:rPr lang="en-US" sz="1999" dirty="0" err="1">
                          <a:solidFill>
                            <a:srgbClr val="000000"/>
                          </a:solidFill>
                          <a:latin typeface="Arial"/>
                          <a:ea typeface="Arial"/>
                          <a:cs typeface="Arial"/>
                          <a:sym typeface="Arial"/>
                        </a:rPr>
                        <a:t>lần</a:t>
                      </a:r>
                      <a:r>
                        <a:rPr lang="en-US" sz="1999" dirty="0">
                          <a:solidFill>
                            <a:srgbClr val="000000"/>
                          </a:solidFill>
                          <a:latin typeface="Arial"/>
                          <a:ea typeface="Arial"/>
                          <a:cs typeface="Arial"/>
                          <a:sym typeface="Arial"/>
                        </a:rPr>
                        <a:t>/</a:t>
                      </a:r>
                      <a:r>
                        <a:rPr lang="en-US" sz="1999" dirty="0" err="1">
                          <a:solidFill>
                            <a:srgbClr val="000000"/>
                          </a:solidFill>
                          <a:latin typeface="Arial"/>
                          <a:ea typeface="Arial"/>
                          <a:cs typeface="Arial"/>
                          <a:sym typeface="Arial"/>
                        </a:rPr>
                        <a:t>ngày</a:t>
                      </a:r>
                      <a:r>
                        <a:rPr lang="en-US" sz="1999" dirty="0">
                          <a:solidFill>
                            <a:srgbClr val="000000"/>
                          </a:solidFill>
                          <a:latin typeface="Arial"/>
                          <a:ea typeface="Arial"/>
                          <a:cs typeface="Arial"/>
                          <a:sym typeface="Arial"/>
                        </a:rPr>
                        <a:t> </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1999">
                          <a:solidFill>
                            <a:srgbClr val="000000"/>
                          </a:solidFill>
                          <a:latin typeface="Arial"/>
                          <a:ea typeface="Arial"/>
                          <a:cs typeface="Arial"/>
                          <a:sym typeface="Arial"/>
                        </a:rPr>
                        <a:t>Thử lại sau 24h</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1999" b="1" dirty="0">
                          <a:solidFill>
                            <a:srgbClr val="000000"/>
                          </a:solidFill>
                          <a:latin typeface="Arial Bold"/>
                          <a:ea typeface="Arial Bold"/>
                          <a:cs typeface="Arial Bold"/>
                          <a:sym typeface="Arial Bold"/>
                        </a:rPr>
                        <a:t>Code:</a:t>
                      </a:r>
                      <a:r>
                        <a:rPr lang="en-US" sz="1999" dirty="0">
                          <a:solidFill>
                            <a:srgbClr val="000000"/>
                          </a:solidFill>
                          <a:latin typeface="Arial"/>
                          <a:ea typeface="Arial"/>
                          <a:cs typeface="Arial"/>
                          <a:sym typeface="Arial"/>
                        </a:rPr>
                        <a:t> IL33/ IC22-Cập </a:t>
                      </a:r>
                      <a:r>
                        <a:rPr lang="en-US" sz="1999" dirty="0" err="1">
                          <a:solidFill>
                            <a:srgbClr val="000000"/>
                          </a:solidFill>
                          <a:latin typeface="Arial"/>
                          <a:ea typeface="Arial"/>
                          <a:cs typeface="Arial"/>
                          <a:sym typeface="Arial"/>
                        </a:rPr>
                        <a:t>nhật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thông</a:t>
                      </a:r>
                      <a:r>
                        <a:rPr lang="en-US" sz="1999" dirty="0">
                          <a:solidFill>
                            <a:srgbClr val="000000"/>
                          </a:solidFill>
                          <a:latin typeface="Arial"/>
                          <a:ea typeface="Arial"/>
                          <a:cs typeface="Arial"/>
                          <a:sym typeface="Arial"/>
                        </a:rPr>
                        <a:t> tin KH</a:t>
                      </a:r>
                      <a:endParaRPr lang="en-US" sz="1100" dirty="0"/>
                    </a:p>
                    <a:p>
                      <a:pPr algn="l">
                        <a:lnSpc>
                          <a:spcPts val="2999"/>
                        </a:lnSpc>
                      </a:pPr>
                      <a:r>
                        <a:rPr lang="en-US" sz="1999" b="1" dirty="0">
                          <a:solidFill>
                            <a:srgbClr val="000000"/>
                          </a:solidFill>
                          <a:latin typeface="Arial Bold"/>
                          <a:ea typeface="Arial Bold"/>
                          <a:cs typeface="Arial Bold"/>
                          <a:sym typeface="Arial Bold"/>
                        </a:rPr>
                        <a:t>Sub: </a:t>
                      </a:r>
                      <a:r>
                        <a:rPr lang="en-US" sz="1999" dirty="0">
                          <a:solidFill>
                            <a:srgbClr val="000000"/>
                          </a:solidFill>
                          <a:latin typeface="Arial"/>
                          <a:ea typeface="Arial"/>
                          <a:cs typeface="Arial"/>
                          <a:sym typeface="Arial"/>
                        </a:rPr>
                        <a:t>IL33.01/ IC22.01-Cập </a:t>
                      </a:r>
                      <a:r>
                        <a:rPr lang="en-US" sz="1999" dirty="0" err="1">
                          <a:solidFill>
                            <a:srgbClr val="000000"/>
                          </a:solidFill>
                          <a:latin typeface="Arial"/>
                          <a:ea typeface="Arial"/>
                          <a:cs typeface="Arial"/>
                          <a:sym typeface="Arial"/>
                        </a:rPr>
                        <a:t>nhật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số</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điện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thoại</a:t>
                      </a:r>
                      <a:endParaRPr lang="en-US" sz="1999" dirty="0">
                        <a:solidFill>
                          <a:srgbClr val="000000"/>
                        </a:solidFill>
                        <a:latin typeface="Arial"/>
                        <a:ea typeface="Arial"/>
                        <a:cs typeface="Arial"/>
                        <a:sym typeface="Arial"/>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91018" y="9790919"/>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4" name="Freeform 4"/>
          <p:cNvSpPr/>
          <p:nvPr/>
        </p:nvSpPr>
        <p:spPr>
          <a:xfrm>
            <a:off x="20333" y="-929375"/>
            <a:ext cx="18288000" cy="2388118"/>
          </a:xfrm>
          <a:custGeom>
            <a:avLst/>
            <a:gdLst/>
            <a:ahLst/>
            <a:cxnLst/>
            <a:rect l="l" t="t" r="r" b="b"/>
            <a:pathLst>
              <a:path w="18288000" h="2388118">
                <a:moveTo>
                  <a:pt x="0" y="0"/>
                </a:moveTo>
                <a:lnTo>
                  <a:pt x="18288000" y="0"/>
                </a:lnTo>
                <a:lnTo>
                  <a:pt x="18288000" y="2388118"/>
                </a:lnTo>
                <a:lnTo>
                  <a:pt x="0" y="23881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701388" y="42993"/>
            <a:ext cx="19690775" cy="1261148"/>
          </a:xfrm>
          <a:prstGeom prst="rect">
            <a:avLst/>
          </a:prstGeom>
        </p:spPr>
        <p:txBody>
          <a:bodyPr lIns="0" tIns="0" rIns="0" bIns="0" rtlCol="0" anchor="t">
            <a:spAutoFit/>
          </a:bodyPr>
          <a:lstStyle/>
          <a:p>
            <a:pPr algn="ctr">
              <a:lnSpc>
                <a:spcPts val="5098"/>
              </a:lnSpc>
            </a:pPr>
            <a:r>
              <a:rPr lang="en-US" sz="3399" b="1">
                <a:solidFill>
                  <a:srgbClr val="000000"/>
                </a:solidFill>
                <a:latin typeface="Arial Bold"/>
                <a:ea typeface="Arial Bold"/>
                <a:cs typeface="Arial Bold"/>
                <a:sym typeface="Arial Bold"/>
              </a:rPr>
              <a:t>ĐÃ CẬP NHẬT TRÊN FEOL 2.0 NHƯNG KHÔNG THÀNH CÔNG – </a:t>
            </a:r>
          </a:p>
          <a:p>
            <a:pPr algn="ctr">
              <a:lnSpc>
                <a:spcPts val="5098"/>
              </a:lnSpc>
            </a:pPr>
            <a:r>
              <a:rPr lang="en-US" sz="3399" b="1">
                <a:solidFill>
                  <a:srgbClr val="000000"/>
                </a:solidFill>
                <a:latin typeface="Arial Bold"/>
                <a:ea typeface="Arial Bold"/>
                <a:cs typeface="Arial Bold"/>
                <a:sym typeface="Arial Bold"/>
              </a:rPr>
              <a:t>RẤT TIẾC ĐÃ XẢY RA LỖI</a:t>
            </a:r>
          </a:p>
        </p:txBody>
      </p:sp>
      <p:graphicFrame>
        <p:nvGraphicFramePr>
          <p:cNvPr id="6" name="Table 6"/>
          <p:cNvGraphicFramePr>
            <a:graphicFrameLocks noGrp="1"/>
          </p:cNvGraphicFramePr>
          <p:nvPr>
            <p:extLst>
              <p:ext uri="{D42A27DB-BD31-4B8C-83A1-F6EECF244321}">
                <p14:modId xmlns:p14="http://schemas.microsoft.com/office/powerpoint/2010/main" val="1689746371"/>
              </p:ext>
            </p:extLst>
          </p:nvPr>
        </p:nvGraphicFramePr>
        <p:xfrm>
          <a:off x="229883" y="2095500"/>
          <a:ext cx="17868900" cy="2114550"/>
        </p:xfrm>
        <a:graphic>
          <a:graphicData uri="http://schemas.openxmlformats.org/drawingml/2006/table">
            <a:tbl>
              <a:tblPr/>
              <a:tblGrid>
                <a:gridCol w="5829314">
                  <a:extLst>
                    <a:ext uri="{9D8B030D-6E8A-4147-A177-3AD203B41FA5}">
                      <a16:colId xmlns:a16="http://schemas.microsoft.com/office/drawing/2014/main" val="20000"/>
                    </a:ext>
                  </a:extLst>
                </a:gridCol>
                <a:gridCol w="6019793">
                  <a:extLst>
                    <a:ext uri="{9D8B030D-6E8A-4147-A177-3AD203B41FA5}">
                      <a16:colId xmlns:a16="http://schemas.microsoft.com/office/drawing/2014/main" val="20001"/>
                    </a:ext>
                  </a:extLst>
                </a:gridCol>
                <a:gridCol w="6019793">
                  <a:extLst>
                    <a:ext uri="{9D8B030D-6E8A-4147-A177-3AD203B41FA5}">
                      <a16:colId xmlns:a16="http://schemas.microsoft.com/office/drawing/2014/main" val="20002"/>
                    </a:ext>
                  </a:extLst>
                </a:gridCol>
              </a:tblGrid>
              <a:tr h="892379">
                <a:tc>
                  <a:txBody>
                    <a:bodyPr/>
                    <a:lstStyle/>
                    <a:p>
                      <a:pPr algn="ctr">
                        <a:lnSpc>
                          <a:spcPts val="3958"/>
                        </a:lnSpc>
                        <a:defRPr/>
                      </a:pPr>
                      <a:r>
                        <a:rPr lang="en-US" sz="2199" b="1">
                          <a:solidFill>
                            <a:srgbClr val="FFFFFF"/>
                          </a:solidFill>
                          <a:latin typeface="Arial Bold"/>
                          <a:ea typeface="Arial Bold"/>
                          <a:cs typeface="Arial Bold"/>
                          <a:sym typeface="Arial Bold"/>
                        </a:rPr>
                        <a:t>NGUYÊN NHÂN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222171">
                <a:tc>
                  <a:txBody>
                    <a:bodyPr/>
                    <a:lstStyle/>
                    <a:p>
                      <a:pPr algn="just">
                        <a:lnSpc>
                          <a:spcPts val="2999"/>
                        </a:lnSpc>
                        <a:defRPr/>
                      </a:pPr>
                      <a:r>
                        <a:rPr lang="en-US" sz="1999" dirty="0">
                          <a:solidFill>
                            <a:srgbClr val="000000"/>
                          </a:solidFill>
                          <a:latin typeface="Arial"/>
                          <a:ea typeface="Arial"/>
                          <a:cs typeface="Arial"/>
                          <a:sym typeface="Arial"/>
                        </a:rPr>
                        <a:t>Sai qua </a:t>
                      </a:r>
                      <a:r>
                        <a:rPr lang="en-US" sz="1999" dirty="0" err="1">
                          <a:solidFill>
                            <a:srgbClr val="000000"/>
                          </a:solidFill>
                          <a:latin typeface="Arial"/>
                          <a:ea typeface="Arial"/>
                          <a:cs typeface="Arial"/>
                          <a:sym typeface="Arial"/>
                        </a:rPr>
                        <a:t>số</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lần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quy</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định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chụp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KYC</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just">
                        <a:lnSpc>
                          <a:spcPts val="2999"/>
                        </a:lnSpc>
                        <a:defRPr/>
                      </a:pPr>
                      <a:r>
                        <a:rPr lang="en-US" sz="1999">
                          <a:solidFill>
                            <a:srgbClr val="000000"/>
                          </a:solidFill>
                          <a:latin typeface="Arial"/>
                          <a:ea typeface="Arial"/>
                          <a:cs typeface="Arial"/>
                          <a:sym typeface="Arial"/>
                        </a:rPr>
                        <a:t>Trên màn hình thông báo lỗi sẽ hiển thị thời gian chờ. KH thử lại sau hh:mm</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1999" b="1" dirty="0">
                          <a:solidFill>
                            <a:srgbClr val="000000"/>
                          </a:solidFill>
                          <a:latin typeface="Arial Bold"/>
                          <a:ea typeface="Arial Bold"/>
                          <a:cs typeface="Arial Bold"/>
                          <a:sym typeface="Arial Bold"/>
                        </a:rPr>
                        <a:t>Code:</a:t>
                      </a:r>
                      <a:r>
                        <a:rPr lang="en-US" sz="1999" dirty="0">
                          <a:solidFill>
                            <a:srgbClr val="000000"/>
                          </a:solidFill>
                          <a:latin typeface="Arial"/>
                          <a:ea typeface="Arial"/>
                          <a:cs typeface="Arial"/>
                          <a:sym typeface="Arial"/>
                        </a:rPr>
                        <a:t> IL33/ IC22-Cập </a:t>
                      </a:r>
                      <a:r>
                        <a:rPr lang="en-US" sz="1999" dirty="0" err="1">
                          <a:solidFill>
                            <a:srgbClr val="000000"/>
                          </a:solidFill>
                          <a:latin typeface="Arial"/>
                          <a:ea typeface="Arial"/>
                          <a:cs typeface="Arial"/>
                          <a:sym typeface="Arial"/>
                        </a:rPr>
                        <a:t>nhật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thông</a:t>
                      </a:r>
                      <a:r>
                        <a:rPr lang="en-US" sz="1999" dirty="0">
                          <a:solidFill>
                            <a:srgbClr val="000000"/>
                          </a:solidFill>
                          <a:latin typeface="Arial"/>
                          <a:ea typeface="Arial"/>
                          <a:cs typeface="Arial"/>
                          <a:sym typeface="Arial"/>
                        </a:rPr>
                        <a:t> tin KH</a:t>
                      </a:r>
                      <a:endParaRPr lang="en-US" sz="1100" dirty="0"/>
                    </a:p>
                    <a:p>
                      <a:pPr algn="l">
                        <a:lnSpc>
                          <a:spcPts val="2999"/>
                        </a:lnSpc>
                      </a:pPr>
                      <a:r>
                        <a:rPr lang="en-US" sz="1999" b="1" dirty="0">
                          <a:solidFill>
                            <a:srgbClr val="000000"/>
                          </a:solidFill>
                          <a:latin typeface="Arial Bold"/>
                          <a:ea typeface="Arial Bold"/>
                          <a:cs typeface="Arial Bold"/>
                          <a:sym typeface="Arial Bold"/>
                        </a:rPr>
                        <a:t>Sub:</a:t>
                      </a:r>
                      <a:r>
                        <a:rPr lang="en-US" sz="1999" dirty="0">
                          <a:solidFill>
                            <a:srgbClr val="000000"/>
                          </a:solidFill>
                          <a:latin typeface="Arial"/>
                          <a:ea typeface="Arial"/>
                          <a:cs typeface="Arial"/>
                          <a:sym typeface="Arial"/>
                        </a:rPr>
                        <a:t> IL33.01/ IC22.01-Cập </a:t>
                      </a:r>
                      <a:r>
                        <a:rPr lang="en-US" sz="1999" dirty="0" err="1">
                          <a:solidFill>
                            <a:srgbClr val="000000"/>
                          </a:solidFill>
                          <a:latin typeface="Arial"/>
                          <a:ea typeface="Arial"/>
                          <a:cs typeface="Arial"/>
                          <a:sym typeface="Arial"/>
                        </a:rPr>
                        <a:t>nhật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số</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điện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thoại</a:t>
                      </a:r>
                      <a:endParaRPr lang="en-US" sz="1999" dirty="0">
                        <a:solidFill>
                          <a:srgbClr val="000000"/>
                        </a:solidFill>
                        <a:latin typeface="Arial"/>
                        <a:ea typeface="Arial"/>
                        <a:cs typeface="Arial"/>
                        <a:sym typeface="Arial"/>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91018" y="9790919"/>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4" name="Freeform 4"/>
          <p:cNvSpPr/>
          <p:nvPr/>
        </p:nvSpPr>
        <p:spPr>
          <a:xfrm>
            <a:off x="0" y="-942339"/>
            <a:ext cx="18288000" cy="2388118"/>
          </a:xfrm>
          <a:custGeom>
            <a:avLst/>
            <a:gdLst/>
            <a:ahLst/>
            <a:cxnLst/>
            <a:rect l="l" t="t" r="r" b="b"/>
            <a:pathLst>
              <a:path w="18288000" h="2388118">
                <a:moveTo>
                  <a:pt x="0" y="0"/>
                </a:moveTo>
                <a:lnTo>
                  <a:pt x="18288000" y="0"/>
                </a:lnTo>
                <a:lnTo>
                  <a:pt x="18288000" y="2388118"/>
                </a:lnTo>
                <a:lnTo>
                  <a:pt x="0" y="23881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701388" y="27263"/>
            <a:ext cx="19690775" cy="1261148"/>
          </a:xfrm>
          <a:prstGeom prst="rect">
            <a:avLst/>
          </a:prstGeom>
        </p:spPr>
        <p:txBody>
          <a:bodyPr lIns="0" tIns="0" rIns="0" bIns="0" rtlCol="0" anchor="t">
            <a:spAutoFit/>
          </a:bodyPr>
          <a:lstStyle/>
          <a:p>
            <a:pPr algn="ctr">
              <a:lnSpc>
                <a:spcPts val="5098"/>
              </a:lnSpc>
            </a:pPr>
            <a:r>
              <a:rPr lang="en-US" sz="3399" b="1">
                <a:solidFill>
                  <a:srgbClr val="000000"/>
                </a:solidFill>
                <a:latin typeface="Arial Bold"/>
                <a:ea typeface="Arial Bold"/>
                <a:cs typeface="Arial Bold"/>
                <a:sym typeface="Arial Bold"/>
              </a:rPr>
              <a:t>ĐÃ CẬP NHẬT TRÊN FEOL 2.0 NHƯNG KHÔNG THÀNH CÔNG – </a:t>
            </a:r>
          </a:p>
          <a:p>
            <a:pPr algn="ctr">
              <a:lnSpc>
                <a:spcPts val="5098"/>
              </a:lnSpc>
            </a:pPr>
            <a:r>
              <a:rPr lang="en-US" sz="3399" b="1">
                <a:solidFill>
                  <a:srgbClr val="000000"/>
                </a:solidFill>
                <a:latin typeface="Arial Bold"/>
                <a:ea typeface="Arial Bold"/>
                <a:cs typeface="Arial Bold"/>
                <a:sym typeface="Arial Bold"/>
              </a:rPr>
              <a:t>TÍNH NĂNG NÀY ĐÃ TẠM THỜI BỊ KHÓA</a:t>
            </a:r>
          </a:p>
        </p:txBody>
      </p:sp>
      <p:graphicFrame>
        <p:nvGraphicFramePr>
          <p:cNvPr id="6" name="Table 6"/>
          <p:cNvGraphicFramePr>
            <a:graphicFrameLocks noGrp="1"/>
          </p:cNvGraphicFramePr>
          <p:nvPr/>
        </p:nvGraphicFramePr>
        <p:xfrm>
          <a:off x="229883" y="2095500"/>
          <a:ext cx="17868900" cy="2114550"/>
        </p:xfrm>
        <a:graphic>
          <a:graphicData uri="http://schemas.openxmlformats.org/drawingml/2006/table">
            <a:tbl>
              <a:tblPr/>
              <a:tblGrid>
                <a:gridCol w="5829314">
                  <a:extLst>
                    <a:ext uri="{9D8B030D-6E8A-4147-A177-3AD203B41FA5}">
                      <a16:colId xmlns:a16="http://schemas.microsoft.com/office/drawing/2014/main" val="20000"/>
                    </a:ext>
                  </a:extLst>
                </a:gridCol>
                <a:gridCol w="6019793">
                  <a:extLst>
                    <a:ext uri="{9D8B030D-6E8A-4147-A177-3AD203B41FA5}">
                      <a16:colId xmlns:a16="http://schemas.microsoft.com/office/drawing/2014/main" val="20001"/>
                    </a:ext>
                  </a:extLst>
                </a:gridCol>
                <a:gridCol w="6019793">
                  <a:extLst>
                    <a:ext uri="{9D8B030D-6E8A-4147-A177-3AD203B41FA5}">
                      <a16:colId xmlns:a16="http://schemas.microsoft.com/office/drawing/2014/main" val="20002"/>
                    </a:ext>
                  </a:extLst>
                </a:gridCol>
              </a:tblGrid>
              <a:tr h="892379">
                <a:tc>
                  <a:txBody>
                    <a:bodyPr/>
                    <a:lstStyle/>
                    <a:p>
                      <a:pPr algn="ctr">
                        <a:lnSpc>
                          <a:spcPts val="3958"/>
                        </a:lnSpc>
                        <a:defRPr/>
                      </a:pPr>
                      <a:r>
                        <a:rPr lang="en-US" sz="2199" b="1">
                          <a:solidFill>
                            <a:srgbClr val="FFFFFF"/>
                          </a:solidFill>
                          <a:latin typeface="Arial Bold"/>
                          <a:ea typeface="Arial Bold"/>
                          <a:cs typeface="Arial Bold"/>
                          <a:sym typeface="Arial Bold"/>
                        </a:rPr>
                        <a:t>NGUYÊN NHÂN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222171">
                <a:tc>
                  <a:txBody>
                    <a:bodyPr/>
                    <a:lstStyle/>
                    <a:p>
                      <a:pPr algn="just">
                        <a:lnSpc>
                          <a:spcPts val="2999"/>
                        </a:lnSpc>
                        <a:defRPr/>
                      </a:pPr>
                      <a:r>
                        <a:rPr lang="en-US" sz="1999">
                          <a:solidFill>
                            <a:srgbClr val="000000"/>
                          </a:solidFill>
                          <a:latin typeface="Arial"/>
                          <a:ea typeface="Arial"/>
                          <a:cs typeface="Arial"/>
                          <a:sym typeface="Arial"/>
                        </a:rPr>
                        <a:t>Sai qua số lần quy định khi chụp hình KYC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just">
                        <a:lnSpc>
                          <a:spcPts val="2999"/>
                        </a:lnSpc>
                        <a:defRPr/>
                      </a:pPr>
                      <a:r>
                        <a:rPr lang="en-US" sz="1999">
                          <a:solidFill>
                            <a:srgbClr val="000000"/>
                          </a:solidFill>
                          <a:latin typeface="Arial"/>
                          <a:ea typeface="Arial"/>
                          <a:cs typeface="Arial"/>
                          <a:sym typeface="Arial"/>
                        </a:rPr>
                        <a:t>Trên màn hình thông báo lỗi sẽ hiển thị thời gian chờ. KH thử lại sau hh:mm</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1999" b="1">
                          <a:solidFill>
                            <a:srgbClr val="000000"/>
                          </a:solidFill>
                          <a:latin typeface="Arial Bold"/>
                          <a:ea typeface="Arial Bold"/>
                          <a:cs typeface="Arial Bold"/>
                          <a:sym typeface="Arial Bold"/>
                        </a:rPr>
                        <a:t>Code:</a:t>
                      </a:r>
                      <a:r>
                        <a:rPr lang="en-US" sz="1999">
                          <a:solidFill>
                            <a:srgbClr val="000000"/>
                          </a:solidFill>
                          <a:latin typeface="Arial"/>
                          <a:ea typeface="Arial"/>
                          <a:cs typeface="Arial"/>
                          <a:sym typeface="Arial"/>
                        </a:rPr>
                        <a:t> IL33/ IC22-Cập nhật thông tin KH</a:t>
                      </a:r>
                      <a:endParaRPr lang="en-US" sz="1100"/>
                    </a:p>
                    <a:p>
                      <a:pPr algn="l">
                        <a:lnSpc>
                          <a:spcPts val="2999"/>
                        </a:lnSpc>
                      </a:pPr>
                      <a:r>
                        <a:rPr lang="en-US" sz="1999" b="1">
                          <a:solidFill>
                            <a:srgbClr val="000000"/>
                          </a:solidFill>
                          <a:latin typeface="Arial Bold"/>
                          <a:ea typeface="Arial Bold"/>
                          <a:cs typeface="Arial Bold"/>
                          <a:sym typeface="Arial Bold"/>
                        </a:rPr>
                        <a:t>Sub:</a:t>
                      </a:r>
                      <a:r>
                        <a:rPr lang="en-US" sz="1999">
                          <a:solidFill>
                            <a:srgbClr val="000000"/>
                          </a:solidFill>
                          <a:latin typeface="Arial"/>
                          <a:ea typeface="Arial"/>
                          <a:cs typeface="Arial"/>
                          <a:sym typeface="Arial"/>
                        </a:rPr>
                        <a:t> IL33.01/ IC22.01-Cập nhật số điện thoại</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91018" y="9790919"/>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4" name="Freeform 4"/>
          <p:cNvSpPr/>
          <p:nvPr/>
        </p:nvSpPr>
        <p:spPr>
          <a:xfrm>
            <a:off x="0" y="-850727"/>
            <a:ext cx="18288000" cy="2388118"/>
          </a:xfrm>
          <a:custGeom>
            <a:avLst/>
            <a:gdLst/>
            <a:ahLst/>
            <a:cxnLst/>
            <a:rect l="l" t="t" r="r" b="b"/>
            <a:pathLst>
              <a:path w="18288000" h="2388118">
                <a:moveTo>
                  <a:pt x="0" y="0"/>
                </a:moveTo>
                <a:lnTo>
                  <a:pt x="18288000" y="0"/>
                </a:lnTo>
                <a:lnTo>
                  <a:pt x="18288000" y="2388117"/>
                </a:lnTo>
                <a:lnTo>
                  <a:pt x="0" y="238811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802988" y="121640"/>
            <a:ext cx="19690775" cy="1261148"/>
          </a:xfrm>
          <a:prstGeom prst="rect">
            <a:avLst/>
          </a:prstGeom>
        </p:spPr>
        <p:txBody>
          <a:bodyPr lIns="0" tIns="0" rIns="0" bIns="0" rtlCol="0" anchor="t">
            <a:spAutoFit/>
          </a:bodyPr>
          <a:lstStyle/>
          <a:p>
            <a:pPr algn="ctr">
              <a:lnSpc>
                <a:spcPts val="5098"/>
              </a:lnSpc>
            </a:pPr>
            <a:r>
              <a:rPr lang="en-US" sz="3399" b="1">
                <a:solidFill>
                  <a:srgbClr val="000000"/>
                </a:solidFill>
                <a:latin typeface="Arial Bold"/>
                <a:ea typeface="Arial Bold"/>
                <a:cs typeface="Arial Bold"/>
                <a:sym typeface="Arial Bold"/>
              </a:rPr>
              <a:t>ĐÃ CÓ HĐ VAY - ĐÃ CẬP NHẬT TRÊN FEOL 2.0 NHƯNG KHÔNG THÀNH CÔNG – </a:t>
            </a:r>
          </a:p>
          <a:p>
            <a:pPr algn="ctr">
              <a:lnSpc>
                <a:spcPts val="5098"/>
              </a:lnSpc>
            </a:pPr>
            <a:r>
              <a:rPr lang="en-US" sz="3399" b="1">
                <a:solidFill>
                  <a:srgbClr val="000000"/>
                </a:solidFill>
                <a:latin typeface="Arial Bold"/>
                <a:ea typeface="Arial Bold"/>
                <a:cs typeface="Arial Bold"/>
                <a:sym typeface="Arial Bold"/>
              </a:rPr>
              <a:t>YÊU CẦU CỦA BẠN KHÔNG ĐƯỢC TIẾP TỤC</a:t>
            </a:r>
          </a:p>
        </p:txBody>
      </p:sp>
      <p:graphicFrame>
        <p:nvGraphicFramePr>
          <p:cNvPr id="6" name="Table 6"/>
          <p:cNvGraphicFramePr>
            <a:graphicFrameLocks noGrp="1"/>
          </p:cNvGraphicFramePr>
          <p:nvPr>
            <p:extLst>
              <p:ext uri="{D42A27DB-BD31-4B8C-83A1-F6EECF244321}">
                <p14:modId xmlns:p14="http://schemas.microsoft.com/office/powerpoint/2010/main" val="423143549"/>
              </p:ext>
            </p:extLst>
          </p:nvPr>
        </p:nvGraphicFramePr>
        <p:xfrm>
          <a:off x="64898" y="1906542"/>
          <a:ext cx="18158204" cy="7540122"/>
        </p:xfrm>
        <a:graphic>
          <a:graphicData uri="http://schemas.openxmlformats.org/drawingml/2006/table">
            <a:tbl>
              <a:tblPr/>
              <a:tblGrid>
                <a:gridCol w="2070693">
                  <a:extLst>
                    <a:ext uri="{9D8B030D-6E8A-4147-A177-3AD203B41FA5}">
                      <a16:colId xmlns:a16="http://schemas.microsoft.com/office/drawing/2014/main" val="20000"/>
                    </a:ext>
                  </a:extLst>
                </a:gridCol>
                <a:gridCol w="9534765">
                  <a:extLst>
                    <a:ext uri="{9D8B030D-6E8A-4147-A177-3AD203B41FA5}">
                      <a16:colId xmlns:a16="http://schemas.microsoft.com/office/drawing/2014/main" val="20001"/>
                    </a:ext>
                  </a:extLst>
                </a:gridCol>
                <a:gridCol w="1899419">
                  <a:extLst>
                    <a:ext uri="{9D8B030D-6E8A-4147-A177-3AD203B41FA5}">
                      <a16:colId xmlns:a16="http://schemas.microsoft.com/office/drawing/2014/main" val="20002"/>
                    </a:ext>
                  </a:extLst>
                </a:gridCol>
                <a:gridCol w="4653327">
                  <a:extLst>
                    <a:ext uri="{9D8B030D-6E8A-4147-A177-3AD203B41FA5}">
                      <a16:colId xmlns:a16="http://schemas.microsoft.com/office/drawing/2014/main" val="20003"/>
                    </a:ext>
                  </a:extLst>
                </a:gridCol>
              </a:tblGrid>
              <a:tr h="651000">
                <a:tc>
                  <a:txBody>
                    <a:bodyPr/>
                    <a:lstStyle/>
                    <a:p>
                      <a:pPr algn="ctr">
                        <a:lnSpc>
                          <a:spcPts val="3600"/>
                        </a:lnSpc>
                        <a:defRPr/>
                      </a:pPr>
                      <a:r>
                        <a:rPr lang="en-US" sz="2000" b="1" spc="9">
                          <a:solidFill>
                            <a:srgbClr val="FFFFFF"/>
                          </a:solidFill>
                          <a:latin typeface="Arial Bold"/>
                          <a:ea typeface="Arial Bold"/>
                          <a:cs typeface="Arial Bold"/>
                          <a:sym typeface="Arial Bold"/>
                        </a:rPr>
                        <a:t>TRƯỜNG HỢP</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9">
                          <a:solidFill>
                            <a:srgbClr val="FFFFFF"/>
                          </a:solidFill>
                          <a:latin typeface="Arial Bold"/>
                          <a:ea typeface="Arial Bold"/>
                          <a:cs typeface="Arial Bold"/>
                          <a:sym typeface="Arial Bold"/>
                        </a:rPr>
                        <a:t>HƯỚNG XỬ LÝ</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9">
                          <a:solidFill>
                            <a:srgbClr val="FFFFFF"/>
                          </a:solidFill>
                          <a:latin typeface="Arial Bold"/>
                          <a:ea typeface="Arial Bold"/>
                          <a:cs typeface="Arial Bold"/>
                          <a:sym typeface="Arial Bold"/>
                        </a:rPr>
                        <a:t>TAT</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9">
                          <a:solidFill>
                            <a:srgbClr val="FFFFFF"/>
                          </a:solidFill>
                          <a:latin typeface="Arial Bold"/>
                          <a:ea typeface="Arial Bold"/>
                          <a:cs typeface="Arial Bold"/>
                          <a:sym typeface="Arial Bold"/>
                        </a:rPr>
                        <a:t>CODE</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2115751">
                <a:tc>
                  <a:txBody>
                    <a:bodyPr/>
                    <a:lstStyle/>
                    <a:p>
                      <a:pPr algn="l">
                        <a:lnSpc>
                          <a:spcPts val="5000"/>
                        </a:lnSpc>
                        <a:defRPr/>
                      </a:pPr>
                      <a:r>
                        <a:rPr lang="en-US" sz="2000" b="1">
                          <a:solidFill>
                            <a:srgbClr val="000000"/>
                          </a:solidFill>
                          <a:latin typeface="Arial Bold"/>
                          <a:ea typeface="Arial Bold"/>
                          <a:cs typeface="Arial Bold"/>
                          <a:sym typeface="Arial Bold"/>
                        </a:rPr>
                        <a:t>HĐ ACTIVE</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5000"/>
                        </a:lnSpc>
                        <a:buFont typeface="Arial"/>
                        <a:buChar char="⚬"/>
                        <a:defRPr/>
                      </a:pPr>
                      <a:r>
                        <a:rPr lang="en-US" sz="2000">
                          <a:solidFill>
                            <a:srgbClr val="000000"/>
                          </a:solidFill>
                          <a:latin typeface="Arial"/>
                          <a:ea typeface="Arial"/>
                          <a:cs typeface="Arial"/>
                          <a:sym typeface="Arial"/>
                        </a:rPr>
                        <a:t>Xác nhận SĐT cần cập nhật </a:t>
                      </a:r>
                      <a:endParaRPr lang="en-US" sz="1100"/>
                    </a:p>
                    <a:p>
                      <a:pPr marL="457201" lvl="2" indent="-152400" algn="l">
                        <a:lnSpc>
                          <a:spcPts val="5000"/>
                        </a:lnSpc>
                        <a:buFont typeface="Arial"/>
                        <a:buChar char="⚬"/>
                      </a:pPr>
                      <a:r>
                        <a:rPr lang="en-US" sz="2000">
                          <a:solidFill>
                            <a:srgbClr val="000000"/>
                          </a:solidFill>
                          <a:latin typeface="Arial"/>
                          <a:ea typeface="Arial"/>
                          <a:cs typeface="Arial"/>
                          <a:sym typeface="Arial"/>
                        </a:rPr>
                        <a:t>Thông báo sau khi cập nhật thành công thì tên đăng nhập FEOL 2.0 là số điện thoại mới với định dạng là số “0” đầu.</a:t>
                      </a:r>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algn="ctr">
                        <a:lnSpc>
                          <a:spcPts val="5000"/>
                        </a:lnSpc>
                        <a:defRPr/>
                      </a:pPr>
                      <a:r>
                        <a:rPr lang="en-US" sz="2000">
                          <a:solidFill>
                            <a:srgbClr val="000000"/>
                          </a:solidFill>
                          <a:latin typeface="Arial"/>
                          <a:ea typeface="Arial"/>
                          <a:cs typeface="Arial"/>
                          <a:sym typeface="Arial"/>
                        </a:rPr>
                        <a:t>4 ngày làm việc</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a:solidFill>
                            <a:srgbClr val="000000"/>
                          </a:solidFill>
                          <a:latin typeface="Arial Bold"/>
                          <a:ea typeface="Arial Bold"/>
                          <a:cs typeface="Arial Bold"/>
                          <a:sym typeface="Arial Bold"/>
                        </a:rPr>
                        <a:t>Chọn: Cập nhật Số điện thoại</a:t>
                      </a:r>
                      <a:endParaRPr lang="en-US" sz="1100"/>
                    </a:p>
                    <a:p>
                      <a:pPr algn="l">
                        <a:lnSpc>
                          <a:spcPts val="3600"/>
                        </a:lnSpc>
                      </a:pPr>
                      <a:r>
                        <a:rPr lang="en-US" sz="2000" b="1">
                          <a:solidFill>
                            <a:srgbClr val="000000"/>
                          </a:solidFill>
                          <a:latin typeface="Arial Bold"/>
                          <a:ea typeface="Arial Bold"/>
                          <a:cs typeface="Arial Bold"/>
                          <a:sym typeface="Arial Bold"/>
                        </a:rPr>
                        <a:t>Remark: </a:t>
                      </a:r>
                      <a:r>
                        <a:rPr lang="en-US" sz="2000">
                          <a:solidFill>
                            <a:srgbClr val="000000"/>
                          </a:solidFill>
                          <a:latin typeface="Arial"/>
                          <a:ea typeface="Arial"/>
                          <a:cs typeface="Arial"/>
                          <a:sym typeface="Arial"/>
                        </a:rPr>
                        <a:t>SĐT mới - KH đã có tài khoản FEOL 2.0 - SĐT hiện tại của KH trên FEOL 2.0 - Lý do cập nhật</a:t>
                      </a:r>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4748473">
                <a:tc>
                  <a:txBody>
                    <a:bodyPr/>
                    <a:lstStyle/>
                    <a:p>
                      <a:pPr algn="l">
                        <a:lnSpc>
                          <a:spcPts val="5000"/>
                        </a:lnSpc>
                        <a:defRPr/>
                      </a:pPr>
                      <a:r>
                        <a:rPr lang="en-US" sz="2000" b="1">
                          <a:solidFill>
                            <a:srgbClr val="000000"/>
                          </a:solidFill>
                          <a:latin typeface="Arial Bold"/>
                          <a:ea typeface="Arial Bold"/>
                          <a:cs typeface="Arial Bold"/>
                          <a:sym typeface="Arial Bold"/>
                        </a:rPr>
                        <a:t>HĐ CLOSED</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079" lvl="2" indent="-152360" algn="l">
                        <a:lnSpc>
                          <a:spcPts val="2999"/>
                        </a:lnSpc>
                        <a:buFont typeface="Arial"/>
                        <a:buChar char="⚬"/>
                        <a:defRPr/>
                      </a:pPr>
                      <a:r>
                        <a:rPr lang="en-US" sz="1999" dirty="0" err="1">
                          <a:solidFill>
                            <a:srgbClr val="000000"/>
                          </a:solidFill>
                          <a:latin typeface="Arial"/>
                          <a:ea typeface="Arial"/>
                          <a:cs typeface="Arial"/>
                          <a:sym typeface="Arial"/>
                        </a:rPr>
                        <a:t>Xác</a:t>
                      </a:r>
                      <a:r>
                        <a:rPr lang="en-US" sz="1999" dirty="0">
                          <a:solidFill>
                            <a:srgbClr val="000000"/>
                          </a:solidFill>
                          <a:latin typeface="Arial"/>
                          <a:ea typeface="Arial"/>
                          <a:cs typeface="Arial"/>
                          <a:sym typeface="Arial"/>
                        </a:rPr>
                        <a:t> nhận SĐT </a:t>
                      </a:r>
                      <a:r>
                        <a:rPr lang="en-US" sz="1999" dirty="0" err="1">
                          <a:solidFill>
                            <a:srgbClr val="000000"/>
                          </a:solidFill>
                          <a:latin typeface="Arial"/>
                          <a:ea typeface="Arial"/>
                          <a:cs typeface="Arial"/>
                          <a:sym typeface="Arial"/>
                        </a:rPr>
                        <a:t>cần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cập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nhật</a:t>
                      </a:r>
                      <a:r>
                        <a:rPr lang="en-US" sz="1999" dirty="0">
                          <a:solidFill>
                            <a:srgbClr val="000000"/>
                          </a:solidFill>
                          <a:latin typeface="Arial"/>
                          <a:ea typeface="Arial"/>
                          <a:cs typeface="Arial"/>
                          <a:sym typeface="Arial"/>
                        </a:rPr>
                        <a:t> </a:t>
                      </a:r>
                      <a:endParaRPr lang="en-US" sz="1100" dirty="0"/>
                    </a:p>
                    <a:p>
                      <a:pPr marL="457079" lvl="2" indent="-152360" algn="l">
                        <a:lnSpc>
                          <a:spcPts val="2999"/>
                        </a:lnSpc>
                        <a:buFont typeface="Arial"/>
                        <a:buChar char="⚬"/>
                      </a:pPr>
                      <a:r>
                        <a:rPr lang="en-US" sz="1999" dirty="0" err="1">
                          <a:solidFill>
                            <a:srgbClr val="000000"/>
                          </a:solidFill>
                          <a:latin typeface="Arial"/>
                          <a:ea typeface="Arial"/>
                          <a:cs typeface="Arial"/>
                          <a:sym typeface="Arial"/>
                        </a:rPr>
                        <a:t>Xác</a:t>
                      </a:r>
                      <a:r>
                        <a:rPr lang="en-US" sz="1999" dirty="0">
                          <a:solidFill>
                            <a:srgbClr val="000000"/>
                          </a:solidFill>
                          <a:latin typeface="Arial"/>
                          <a:ea typeface="Arial"/>
                          <a:cs typeface="Arial"/>
                          <a:sym typeface="Arial"/>
                        </a:rPr>
                        <a:t> nhận SĐT trên FEOL 2.0 (</a:t>
                      </a:r>
                      <a:r>
                        <a:rPr lang="en-US" sz="1999" dirty="0" err="1">
                          <a:solidFill>
                            <a:srgbClr val="000000"/>
                          </a:solidFill>
                          <a:latin typeface="Arial"/>
                          <a:ea typeface="Arial"/>
                          <a:cs typeface="Arial"/>
                          <a:sym typeface="Arial"/>
                        </a:rPr>
                        <a:t>nếu</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có</a:t>
                      </a:r>
                      <a:r>
                        <a:rPr lang="en-US" sz="1999" dirty="0">
                          <a:solidFill>
                            <a:srgbClr val="000000"/>
                          </a:solidFill>
                          <a:latin typeface="Arial"/>
                          <a:ea typeface="Arial"/>
                          <a:cs typeface="Arial"/>
                          <a:sym typeface="Arial"/>
                        </a:rPr>
                        <a:t>)</a:t>
                      </a:r>
                    </a:p>
                    <a:p>
                      <a:pPr marL="457079" lvl="2" indent="-152360" algn="l">
                        <a:lnSpc>
                          <a:spcPts val="2999"/>
                        </a:lnSpc>
                        <a:buFont typeface="Arial"/>
                        <a:buChar char="⚬"/>
                      </a:pPr>
                      <a:r>
                        <a:rPr lang="en-US" sz="1999" dirty="0" err="1">
                          <a:solidFill>
                            <a:srgbClr val="000000"/>
                          </a:solidFill>
                          <a:latin typeface="Arial"/>
                          <a:ea typeface="Arial"/>
                          <a:cs typeface="Arial"/>
                          <a:sym typeface="Arial"/>
                        </a:rPr>
                        <a:t>Gửi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qua </a:t>
                      </a:r>
                      <a:r>
                        <a:rPr lang="en-US" sz="1999" dirty="0" err="1">
                          <a:solidFill>
                            <a:srgbClr val="000000"/>
                          </a:solidFill>
                          <a:latin typeface="Arial"/>
                          <a:ea typeface="Arial"/>
                          <a:cs typeface="Arial"/>
                          <a:sym typeface="Arial"/>
                        </a:rPr>
                        <a:t>Zalo</a:t>
                      </a:r>
                      <a:r>
                        <a:rPr lang="en-US" sz="1999" dirty="0">
                          <a:solidFill>
                            <a:srgbClr val="000000"/>
                          </a:solidFill>
                          <a:latin typeface="Arial"/>
                          <a:ea typeface="Arial"/>
                          <a:cs typeface="Arial"/>
                          <a:sym typeface="Arial"/>
                        </a:rPr>
                        <a:t> FE Credit (</a:t>
                      </a:r>
                      <a:r>
                        <a:rPr lang="en-US" sz="1999" dirty="0" err="1">
                          <a:solidFill>
                            <a:srgbClr val="000000"/>
                          </a:solidFill>
                          <a:latin typeface="Arial"/>
                          <a:ea typeface="Arial"/>
                          <a:cs typeface="Arial"/>
                          <a:sym typeface="Arial"/>
                        </a:rPr>
                        <a:t>có</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dấu</a:t>
                      </a:r>
                      <a:r>
                        <a:rPr lang="en-US" sz="1999" dirty="0">
                          <a:solidFill>
                            <a:srgbClr val="000000"/>
                          </a:solidFill>
                          <a:latin typeface="Arial"/>
                          <a:ea typeface="Arial"/>
                          <a:cs typeface="Arial"/>
                          <a:sym typeface="Arial"/>
                        </a:rPr>
                        <a:t> tick). </a:t>
                      </a:r>
                      <a:r>
                        <a:rPr lang="en-US" sz="1999" dirty="0" err="1">
                          <a:solidFill>
                            <a:srgbClr val="000000"/>
                          </a:solidFill>
                          <a:latin typeface="Arial"/>
                          <a:ea typeface="Arial"/>
                          <a:cs typeface="Arial"/>
                          <a:sym typeface="Arial"/>
                        </a:rPr>
                        <a:t>Nếu</a:t>
                      </a:r>
                      <a:r>
                        <a:rPr lang="en-US" sz="1999" dirty="0">
                          <a:solidFill>
                            <a:srgbClr val="000000"/>
                          </a:solidFill>
                          <a:latin typeface="Arial"/>
                          <a:ea typeface="Arial"/>
                          <a:cs typeface="Arial"/>
                          <a:sym typeface="Arial"/>
                        </a:rPr>
                        <a:t> KH </a:t>
                      </a:r>
                      <a:r>
                        <a:rPr lang="en-US" sz="1999" dirty="0" err="1">
                          <a:solidFill>
                            <a:srgbClr val="000000"/>
                          </a:solidFill>
                          <a:latin typeface="Arial"/>
                          <a:ea typeface="Arial"/>
                          <a:cs typeface="Arial"/>
                          <a:sym typeface="Arial"/>
                        </a:rPr>
                        <a:t>không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sử</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dụng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Zalo</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hướng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dẫn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gửi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qua email </a:t>
                      </a:r>
                      <a:r>
                        <a:rPr lang="en-US" sz="1999" b="1" dirty="0">
                          <a:solidFill>
                            <a:srgbClr val="000000"/>
                          </a:solidFill>
                          <a:latin typeface="Arial Bold"/>
                          <a:ea typeface="Arial Bold"/>
                          <a:cs typeface="Arial Bold"/>
                          <a:sym typeface="Arial Bold"/>
                        </a:rPr>
                        <a:t>dichvukhachhang@fecredit.com.vn</a:t>
                      </a:r>
                    </a:p>
                    <a:p>
                      <a:pPr marL="816911" lvl="3" indent="-204228" algn="l">
                        <a:lnSpc>
                          <a:spcPts val="2999"/>
                        </a:lnSpc>
                        <a:buFont typeface="Arial"/>
                        <a:buChar char="￭"/>
                      </a:pP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thuê</a:t>
                      </a:r>
                      <a:r>
                        <a:rPr lang="en-US" sz="1999" dirty="0">
                          <a:solidFill>
                            <a:srgbClr val="000000"/>
                          </a:solidFill>
                          <a:latin typeface="Arial"/>
                          <a:ea typeface="Arial"/>
                          <a:cs typeface="Arial"/>
                          <a:sym typeface="Arial"/>
                        </a:rPr>
                        <a:t> bao </a:t>
                      </a:r>
                      <a:r>
                        <a:rPr lang="en-US" sz="1999" dirty="0" err="1">
                          <a:solidFill>
                            <a:srgbClr val="000000"/>
                          </a:solidFill>
                          <a:latin typeface="Arial"/>
                          <a:ea typeface="Arial"/>
                          <a:cs typeface="Arial"/>
                          <a:sym typeface="Arial"/>
                        </a:rPr>
                        <a:t>chính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chủ</a:t>
                      </a:r>
                      <a:r>
                        <a:rPr lang="en-US" sz="1999" dirty="0">
                          <a:solidFill>
                            <a:srgbClr val="000000"/>
                          </a:solidFill>
                          <a:latin typeface="Arial"/>
                          <a:ea typeface="Arial"/>
                          <a:cs typeface="Arial"/>
                          <a:sym typeface="Arial"/>
                        </a:rPr>
                        <a:t> (TTTB)</a:t>
                      </a:r>
                    </a:p>
                    <a:p>
                      <a:pPr marL="816911" lvl="3" indent="-204228" algn="l">
                        <a:lnSpc>
                          <a:spcPts val="2999"/>
                        </a:lnSpc>
                        <a:buFont typeface="Arial"/>
                        <a:buChar char="￭"/>
                      </a:pP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KH </a:t>
                      </a:r>
                      <a:r>
                        <a:rPr lang="en-US" sz="1999" dirty="0" err="1">
                          <a:solidFill>
                            <a:srgbClr val="000000"/>
                          </a:solidFill>
                          <a:latin typeface="Arial"/>
                          <a:ea typeface="Arial"/>
                          <a:cs typeface="Arial"/>
                          <a:sym typeface="Arial"/>
                        </a:rPr>
                        <a:t>cầm</a:t>
                      </a:r>
                      <a:r>
                        <a:rPr lang="en-US" sz="1999" dirty="0">
                          <a:solidFill>
                            <a:srgbClr val="000000"/>
                          </a:solidFill>
                          <a:latin typeface="Arial"/>
                          <a:ea typeface="Arial"/>
                          <a:cs typeface="Arial"/>
                          <a:sym typeface="Arial"/>
                        </a:rPr>
                        <a:t> CCCD </a:t>
                      </a:r>
                      <a:r>
                        <a:rPr lang="en-US" sz="1999" dirty="0" err="1">
                          <a:solidFill>
                            <a:srgbClr val="000000"/>
                          </a:solidFill>
                          <a:latin typeface="Arial"/>
                          <a:ea typeface="Arial"/>
                          <a:cs typeface="Arial"/>
                          <a:sym typeface="Arial"/>
                        </a:rPr>
                        <a:t>mặt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trước</a:t>
                      </a:r>
                      <a:r>
                        <a:rPr lang="en-US" sz="1999" dirty="0">
                          <a:solidFill>
                            <a:srgbClr val="000000"/>
                          </a:solidFill>
                          <a:latin typeface="Arial"/>
                          <a:ea typeface="Arial"/>
                          <a:cs typeface="Arial"/>
                          <a:sym typeface="Arial"/>
                        </a:rPr>
                        <a:t> trên </a:t>
                      </a:r>
                      <a:r>
                        <a:rPr lang="en-US" sz="1999" dirty="0" err="1">
                          <a:solidFill>
                            <a:srgbClr val="000000"/>
                          </a:solidFill>
                          <a:latin typeface="Arial"/>
                          <a:ea typeface="Arial"/>
                          <a:cs typeface="Arial"/>
                          <a:sym typeface="Arial"/>
                        </a:rPr>
                        <a:t>tay</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chụp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cùng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khuôn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mặt</a:t>
                      </a:r>
                      <a:r>
                        <a:rPr lang="en-US" sz="1999" dirty="0">
                          <a:solidFill>
                            <a:srgbClr val="000000"/>
                          </a:solidFill>
                          <a:latin typeface="Arial"/>
                          <a:ea typeface="Arial"/>
                          <a:cs typeface="Arial"/>
                          <a:sym typeface="Arial"/>
                        </a:rPr>
                        <a:t>.</a:t>
                      </a:r>
                    </a:p>
                    <a:p>
                      <a:pPr marL="816911" lvl="3" indent="-204228" algn="l">
                        <a:lnSpc>
                          <a:spcPts val="2999"/>
                        </a:lnSpc>
                        <a:buFont typeface="Arial"/>
                        <a:buChar char="￭"/>
                      </a:pP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2 </a:t>
                      </a:r>
                      <a:r>
                        <a:rPr lang="en-US" sz="1999" dirty="0" err="1">
                          <a:solidFill>
                            <a:srgbClr val="000000"/>
                          </a:solidFill>
                          <a:latin typeface="Arial"/>
                          <a:ea typeface="Arial"/>
                          <a:cs typeface="Arial"/>
                          <a:sym typeface="Arial"/>
                        </a:rPr>
                        <a:t>mặt</a:t>
                      </a:r>
                      <a:r>
                        <a:rPr lang="en-US" sz="1999" dirty="0">
                          <a:solidFill>
                            <a:srgbClr val="000000"/>
                          </a:solidFill>
                          <a:latin typeface="Arial"/>
                          <a:ea typeface="Arial"/>
                          <a:cs typeface="Arial"/>
                          <a:sym typeface="Arial"/>
                        </a:rPr>
                        <a:t> CCCD mới </a:t>
                      </a:r>
                      <a:r>
                        <a:rPr lang="en-US" sz="1999" dirty="0" err="1">
                          <a:solidFill>
                            <a:srgbClr val="000000"/>
                          </a:solidFill>
                          <a:latin typeface="Arial"/>
                          <a:ea typeface="Arial"/>
                          <a:cs typeface="Arial"/>
                          <a:sym typeface="Arial"/>
                        </a:rPr>
                        <a:t>nhất</a:t>
                      </a:r>
                      <a:r>
                        <a:rPr lang="en-US" sz="1999" dirty="0">
                          <a:solidFill>
                            <a:srgbClr val="000000"/>
                          </a:solidFill>
                          <a:latin typeface="Arial"/>
                          <a:ea typeface="Arial"/>
                          <a:cs typeface="Arial"/>
                          <a:sym typeface="Arial"/>
                        </a:rPr>
                        <a:t>. </a:t>
                      </a:r>
                    </a:p>
                    <a:p>
                      <a:pPr marL="816911" lvl="3" indent="-204228" algn="l">
                        <a:lnSpc>
                          <a:spcPts val="2999"/>
                        </a:lnSpc>
                        <a:buFont typeface="Arial"/>
                        <a:buChar char="￭"/>
                      </a:pPr>
                      <a:r>
                        <a:rPr lang="en-US" sz="1999" dirty="0" err="1">
                          <a:solidFill>
                            <a:srgbClr val="000000"/>
                          </a:solidFill>
                          <a:latin typeface="Arial"/>
                          <a:ea typeface="Arial"/>
                          <a:cs typeface="Arial"/>
                          <a:sym typeface="Arial"/>
                        </a:rPr>
                        <a:t>Thông</a:t>
                      </a:r>
                      <a:r>
                        <a:rPr lang="en-US" sz="1999" dirty="0">
                          <a:solidFill>
                            <a:srgbClr val="000000"/>
                          </a:solidFill>
                          <a:latin typeface="Arial"/>
                          <a:ea typeface="Arial"/>
                          <a:cs typeface="Arial"/>
                          <a:sym typeface="Arial"/>
                        </a:rPr>
                        <a:t> tin </a:t>
                      </a:r>
                      <a:r>
                        <a:rPr lang="en-US" sz="1999" dirty="0" err="1">
                          <a:solidFill>
                            <a:srgbClr val="000000"/>
                          </a:solidFill>
                          <a:latin typeface="Arial"/>
                          <a:ea typeface="Arial"/>
                          <a:cs typeface="Arial"/>
                          <a:sym typeface="Arial"/>
                        </a:rPr>
                        <a:t>và</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lỗi</a:t>
                      </a:r>
                      <a:r>
                        <a:rPr lang="en-US" sz="1999" dirty="0">
                          <a:solidFill>
                            <a:srgbClr val="000000"/>
                          </a:solidFill>
                          <a:latin typeface="Arial"/>
                          <a:ea typeface="Arial"/>
                          <a:cs typeface="Arial"/>
                          <a:sym typeface="Arial"/>
                        </a:rPr>
                        <a:t> </a:t>
                      </a:r>
                      <a:r>
                        <a:rPr lang="en-US" sz="1999" b="1" i="1" u="sng" kern="1200" dirty="0">
                          <a:solidFill>
                            <a:srgbClr val="4DA745"/>
                          </a:solidFill>
                          <a:latin typeface="Arial Italics"/>
                          <a:ea typeface="Arial Bold Italics"/>
                          <a:cs typeface="Arial Italics"/>
                          <a:sym typeface="Arial Bold Italics"/>
                          <a:hlinkClick r:id="rId5" action="ppaction://hlinkfile">
                            <a:extLst>
                              <a:ext uri="{A12FA001-AC4F-418D-AE19-62706E023703}">
                                <ahyp:hlinkClr xmlns:ahyp="http://schemas.microsoft.com/office/drawing/2018/hyperlinkcolor" val="tx"/>
                              </a:ext>
                            </a:extLst>
                          </a:hlinkClick>
                        </a:rPr>
                        <a:t>(</a:t>
                      </a:r>
                      <a:r>
                        <a:rPr lang="en-US" sz="1999" b="1" i="1" u="sng" kern="1200" dirty="0" err="1">
                          <a:solidFill>
                            <a:srgbClr val="4DA745"/>
                          </a:solidFill>
                          <a:latin typeface="Arial Italics"/>
                          <a:ea typeface="Arial Bold Italics"/>
                          <a:cs typeface="Arial Italics"/>
                          <a:sym typeface="Arial Bold Italics"/>
                          <a:hlinkClick r:id="rId5" action="ppaction://hlinkfile">
                            <a:extLst>
                              <a:ext uri="{A12FA001-AC4F-418D-AE19-62706E023703}">
                                <ahyp:hlinkClr xmlns:ahyp="http://schemas.microsoft.com/office/drawing/2018/hyperlinkcolor" val="tx"/>
                              </a:ext>
                            </a:extLst>
                          </a:hlinkClick>
                        </a:rPr>
                        <a:t>xem</a:t>
                      </a:r>
                      <a:r>
                        <a:rPr lang="en-US" sz="1999" b="1" i="1" u="sng" kern="1200" dirty="0">
                          <a:solidFill>
                            <a:srgbClr val="4DA745"/>
                          </a:solidFill>
                          <a:latin typeface="Arial Italics"/>
                          <a:ea typeface="Arial Bold Italics"/>
                          <a:cs typeface="Arial Italics"/>
                          <a:sym typeface="Arial Bold Italics"/>
                          <a:hlinkClick r:id="rId5" action="ppaction://hlinkfile">
                            <a:extLst>
                              <a:ext uri="{A12FA001-AC4F-418D-AE19-62706E023703}">
                                <ahyp:hlinkClr xmlns:ahyp="http://schemas.microsoft.com/office/drawing/2018/hyperlinkcolor" val="tx"/>
                              </a:ext>
                            </a:extLst>
                          </a:hlinkClick>
                        </a:rPr>
                        <a:t> chi </a:t>
                      </a:r>
                      <a:r>
                        <a:rPr lang="en-US" sz="1999" b="1" i="1" u="sng" kern="1200" dirty="0" err="1">
                          <a:solidFill>
                            <a:srgbClr val="4DA745"/>
                          </a:solidFill>
                          <a:latin typeface="Arial Italics"/>
                          <a:ea typeface="Arial Bold Italics"/>
                          <a:cs typeface="Arial Italics"/>
                          <a:sym typeface="Arial Bold Italics"/>
                          <a:hlinkClick r:id="rId5" action="ppaction://hlinkfile">
                            <a:extLst>
                              <a:ext uri="{A12FA001-AC4F-418D-AE19-62706E023703}">
                                <ahyp:hlinkClr xmlns:ahyp="http://schemas.microsoft.com/office/drawing/2018/hyperlinkcolor" val="tx"/>
                              </a:ext>
                            </a:extLst>
                          </a:hlinkClick>
                        </a:rPr>
                        <a:t>tiết</a:t>
                      </a:r>
                      <a:r>
                        <a:rPr lang="en-US" sz="1999" b="1" i="1" u="sng" kern="1200" dirty="0">
                          <a:solidFill>
                            <a:srgbClr val="4DA745"/>
                          </a:solidFill>
                          <a:latin typeface="Arial Italics"/>
                          <a:ea typeface="Arial Bold Italics"/>
                          <a:cs typeface="Arial Italics"/>
                          <a:sym typeface="Arial Bold Italics"/>
                          <a:hlinkClick r:id="rId5" action="ppaction://hlinkfile">
                            <a:extLst>
                              <a:ext uri="{A12FA001-AC4F-418D-AE19-62706E023703}">
                                <ahyp:hlinkClr xmlns:ahyp="http://schemas.microsoft.com/office/drawing/2018/hyperlinkcolor" val="tx"/>
                              </a:ext>
                            </a:extLst>
                          </a:hlinkClick>
                        </a:rPr>
                        <a:t>)</a:t>
                      </a:r>
                      <a:endParaRPr lang="en-US" sz="1999" b="1" i="1" u="sng" kern="1200" dirty="0">
                        <a:solidFill>
                          <a:srgbClr val="4DA745"/>
                        </a:solidFill>
                        <a:latin typeface="Arial Italics"/>
                        <a:ea typeface="Arial Bold Italics"/>
                        <a:cs typeface="Arial Italics"/>
                        <a:sym typeface="Arial Bold Italics"/>
                      </a:endParaRPr>
                    </a:p>
                    <a:p>
                      <a:pPr marL="816911" lvl="3" indent="-204228" algn="l" defTabSz="914400" rtl="0" eaLnBrk="1" latinLnBrk="0" hangingPunct="1">
                        <a:lnSpc>
                          <a:spcPts val="2999"/>
                        </a:lnSpc>
                        <a:buFont typeface="Arial"/>
                        <a:buChar char="￭"/>
                      </a:pPr>
                      <a:r>
                        <a:rPr lang="en-US" sz="1999" b="1" dirty="0" err="1">
                          <a:solidFill>
                            <a:srgbClr val="000000"/>
                          </a:solidFill>
                          <a:latin typeface="Arial Bold"/>
                          <a:ea typeface="Arial Bold"/>
                          <a:cs typeface="Arial Bold"/>
                          <a:sym typeface="Arial Bold"/>
                        </a:rPr>
                        <a:t>Lưu</a:t>
                      </a:r>
                      <a:r>
                        <a:rPr lang="en-US" sz="1999" b="1" dirty="0">
                          <a:solidFill>
                            <a:srgbClr val="000000"/>
                          </a:solidFill>
                          <a:latin typeface="Arial Bold"/>
                          <a:ea typeface="Arial Bold"/>
                          <a:cs typeface="Arial Bold"/>
                          <a:sym typeface="Arial Bold"/>
                        </a:rPr>
                        <a:t> ý: </a:t>
                      </a:r>
                      <a:r>
                        <a:rPr lang="en-US" sz="1999" dirty="0">
                          <a:solidFill>
                            <a:srgbClr val="000000"/>
                          </a:solidFill>
                          <a:latin typeface="Arial"/>
                          <a:ea typeface="Arial"/>
                          <a:cs typeface="Arial"/>
                          <a:sym typeface="Arial"/>
                        </a:rPr>
                        <a:t>TTTB </a:t>
                      </a:r>
                      <a:r>
                        <a:rPr lang="en-US" sz="1999" dirty="0" err="1">
                          <a:solidFill>
                            <a:srgbClr val="000000"/>
                          </a:solidFill>
                          <a:latin typeface="Arial"/>
                          <a:ea typeface="Arial"/>
                          <a:cs typeface="Arial"/>
                          <a:sym typeface="Arial"/>
                        </a:rPr>
                        <a:t>chính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chủ</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hợp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lệ</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và</a:t>
                      </a:r>
                      <a:r>
                        <a:rPr lang="en-US" sz="1999" dirty="0">
                          <a:solidFill>
                            <a:srgbClr val="000000"/>
                          </a:solidFill>
                          <a:latin typeface="Arial"/>
                          <a:ea typeface="Arial"/>
                          <a:cs typeface="Arial"/>
                          <a:sym typeface="Arial"/>
                        </a:rPr>
                        <a:t> CCCD </a:t>
                      </a:r>
                      <a:r>
                        <a:rPr lang="en-US" sz="1999" dirty="0" err="1">
                          <a:solidFill>
                            <a:srgbClr val="000000"/>
                          </a:solidFill>
                          <a:latin typeface="Arial"/>
                          <a:ea typeface="Arial"/>
                          <a:cs typeface="Arial"/>
                          <a:sym typeface="Arial"/>
                        </a:rPr>
                        <a:t>không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trùng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khớp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với</a:t>
                      </a:r>
                      <a:r>
                        <a:rPr lang="en-US" sz="1999" dirty="0">
                          <a:solidFill>
                            <a:srgbClr val="000000"/>
                          </a:solidFill>
                          <a:latin typeface="Arial"/>
                          <a:ea typeface="Arial"/>
                          <a:cs typeface="Arial"/>
                          <a:sym typeface="Arial"/>
                        </a:rPr>
                        <a:t> trên TTTB </a:t>
                      </a:r>
                      <a:r>
                        <a:rPr lang="en-US" sz="1999" b="1" i="1" u="sng" kern="1200" dirty="0">
                          <a:solidFill>
                            <a:srgbClr val="4DA745"/>
                          </a:solidFill>
                          <a:latin typeface="Arial Italics"/>
                          <a:ea typeface="Arial Italics"/>
                          <a:cs typeface="Arial Italics"/>
                          <a:sym typeface="Arial Italics"/>
                          <a:hlinkClick r:id="rId6" action="ppaction://hlinkfile">
                            <a:extLst>
                              <a:ext uri="{A12FA001-AC4F-418D-AE19-62706E023703}">
                                <ahyp:hlinkClr xmlns:ahyp="http://schemas.microsoft.com/office/drawing/2018/hyperlinkcolor" val="tx"/>
                              </a:ext>
                            </a:extLst>
                          </a:hlinkClick>
                        </a:rPr>
                        <a:t>(</a:t>
                      </a:r>
                      <a:r>
                        <a:rPr lang="en-US" sz="1999" b="1" i="1" u="sng" kern="1200" dirty="0" err="1">
                          <a:solidFill>
                            <a:srgbClr val="4DA745"/>
                          </a:solidFill>
                          <a:latin typeface="Arial Italics"/>
                          <a:ea typeface="Arial Bold Italics"/>
                          <a:cs typeface="Arial Italics"/>
                          <a:sym typeface="Arial Bold Italics"/>
                          <a:hlinkClick r:id="rId6" action="ppaction://hlinkfile">
                            <a:extLst>
                              <a:ext uri="{A12FA001-AC4F-418D-AE19-62706E023703}">
                                <ahyp:hlinkClr xmlns:ahyp="http://schemas.microsoft.com/office/drawing/2018/hyperlinkcolor" val="tx"/>
                              </a:ext>
                            </a:extLst>
                          </a:hlinkClick>
                        </a:rPr>
                        <a:t>xem</a:t>
                      </a:r>
                      <a:r>
                        <a:rPr lang="en-US" sz="1999" b="1" i="1" u="sng" kern="1200" dirty="0">
                          <a:solidFill>
                            <a:srgbClr val="4DA745"/>
                          </a:solidFill>
                          <a:latin typeface="Arial Italics"/>
                          <a:ea typeface="Arial Bold Italics"/>
                          <a:cs typeface="Arial Italics"/>
                          <a:sym typeface="Arial Bold Italics"/>
                          <a:hlinkClick r:id="rId6" action="ppaction://hlinkfile">
                            <a:extLst>
                              <a:ext uri="{A12FA001-AC4F-418D-AE19-62706E023703}">
                                <ahyp:hlinkClr xmlns:ahyp="http://schemas.microsoft.com/office/drawing/2018/hyperlinkcolor" val="tx"/>
                              </a:ext>
                            </a:extLst>
                          </a:hlinkClick>
                        </a:rPr>
                        <a:t> chi </a:t>
                      </a:r>
                      <a:r>
                        <a:rPr lang="en-US" sz="1999" b="1" i="1" u="sng" kern="1200" dirty="0" err="1">
                          <a:solidFill>
                            <a:srgbClr val="4DA745"/>
                          </a:solidFill>
                          <a:latin typeface="Arial Italics"/>
                          <a:ea typeface="Arial Bold Italics"/>
                          <a:cs typeface="Arial Italics"/>
                          <a:sym typeface="Arial Bold Italics"/>
                          <a:hlinkClick r:id="rId6" action="ppaction://hlinkfile">
                            <a:extLst>
                              <a:ext uri="{A12FA001-AC4F-418D-AE19-62706E023703}">
                                <ahyp:hlinkClr xmlns:ahyp="http://schemas.microsoft.com/office/drawing/2018/hyperlinkcolor" val="tx"/>
                              </a:ext>
                            </a:extLst>
                          </a:hlinkClick>
                        </a:rPr>
                        <a:t>tiết</a:t>
                      </a:r>
                      <a:r>
                        <a:rPr lang="en-US" sz="1999" b="1" i="1" u="sng" kern="1200" dirty="0">
                          <a:solidFill>
                            <a:srgbClr val="4DA745"/>
                          </a:solidFill>
                          <a:latin typeface="Arial Italics"/>
                          <a:ea typeface="Arial Bold Italics"/>
                          <a:cs typeface="Arial Italics"/>
                          <a:sym typeface="Arial Bold Italics"/>
                          <a:hlinkClick r:id="rId6" action="ppaction://hlinkfile">
                            <a:extLst>
                              <a:ext uri="{A12FA001-AC4F-418D-AE19-62706E023703}">
                                <ahyp:hlinkClr xmlns:ahyp="http://schemas.microsoft.com/office/drawing/2018/hyperlinkcolor" val="tx"/>
                              </a:ext>
                            </a:extLst>
                          </a:hlinkClick>
                        </a:rPr>
                        <a:t>).</a:t>
                      </a:r>
                      <a:endParaRPr lang="en-US" sz="1999" b="1" i="1" u="sng" kern="1200" dirty="0">
                        <a:solidFill>
                          <a:srgbClr val="4DA745"/>
                        </a:solidFill>
                        <a:latin typeface="Arial Italics"/>
                        <a:ea typeface="Arial Bold Italics"/>
                        <a:cs typeface="Arial Italics"/>
                        <a:sym typeface="Arial Bold Italics"/>
                      </a:endParaRPr>
                    </a:p>
                    <a:p>
                      <a:pPr marL="457079" lvl="2" indent="-152360" algn="l">
                        <a:lnSpc>
                          <a:spcPts val="2999"/>
                        </a:lnSpc>
                        <a:buFont typeface="Arial"/>
                        <a:buChar char="⚬"/>
                      </a:pPr>
                      <a:r>
                        <a:rPr lang="en-US" sz="1999" dirty="0" err="1">
                          <a:solidFill>
                            <a:srgbClr val="000000"/>
                          </a:solidFill>
                          <a:latin typeface="Arial"/>
                          <a:ea typeface="Arial"/>
                          <a:cs typeface="Arial"/>
                          <a:sym typeface="Arial"/>
                        </a:rPr>
                        <a:t>Thông</a:t>
                      </a:r>
                      <a:r>
                        <a:rPr lang="en-US" sz="1999" dirty="0">
                          <a:solidFill>
                            <a:srgbClr val="000000"/>
                          </a:solidFill>
                          <a:latin typeface="Arial"/>
                          <a:ea typeface="Arial"/>
                          <a:cs typeface="Arial"/>
                          <a:sym typeface="Arial"/>
                        </a:rPr>
                        <a:t> báo </a:t>
                      </a:r>
                      <a:r>
                        <a:rPr lang="en-US" sz="1999" dirty="0" err="1">
                          <a:solidFill>
                            <a:srgbClr val="000000"/>
                          </a:solidFill>
                          <a:latin typeface="Arial"/>
                          <a:ea typeface="Arial"/>
                          <a:cs typeface="Arial"/>
                          <a:sym typeface="Arial"/>
                        </a:rPr>
                        <a:t>sau</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cập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thành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công</a:t>
                      </a:r>
                      <a:r>
                        <a:rPr lang="en-US" sz="1999" dirty="0">
                          <a:solidFill>
                            <a:srgbClr val="000000"/>
                          </a:solidFill>
                          <a:latin typeface="Arial"/>
                          <a:ea typeface="Arial"/>
                          <a:cs typeface="Arial"/>
                          <a:sym typeface="Arial"/>
                        </a:rPr>
                        <a:t> thì </a:t>
                      </a:r>
                      <a:r>
                        <a:rPr lang="en-US" sz="1999" dirty="0" err="1">
                          <a:solidFill>
                            <a:srgbClr val="000000"/>
                          </a:solidFill>
                          <a:latin typeface="Arial"/>
                          <a:ea typeface="Arial"/>
                          <a:cs typeface="Arial"/>
                          <a:sym typeface="Arial"/>
                        </a:rPr>
                        <a:t>tên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đăng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nhập</a:t>
                      </a:r>
                      <a:r>
                        <a:rPr lang="en-US" sz="1999" dirty="0">
                          <a:solidFill>
                            <a:srgbClr val="000000"/>
                          </a:solidFill>
                          <a:latin typeface="Arial"/>
                          <a:ea typeface="Arial"/>
                          <a:cs typeface="Arial"/>
                          <a:sym typeface="Arial"/>
                        </a:rPr>
                        <a:t> FEOL 2.0 là SĐT mới </a:t>
                      </a:r>
                      <a:r>
                        <a:rPr lang="en-US" sz="1999" dirty="0" err="1">
                          <a:solidFill>
                            <a:srgbClr val="000000"/>
                          </a:solidFill>
                          <a:latin typeface="Arial"/>
                          <a:ea typeface="Arial"/>
                          <a:cs typeface="Arial"/>
                          <a:sym typeface="Arial"/>
                        </a:rPr>
                        <a:t>với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định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dạng</a:t>
                      </a:r>
                      <a:r>
                        <a:rPr lang="en-US" sz="1999" dirty="0">
                          <a:solidFill>
                            <a:srgbClr val="000000"/>
                          </a:solidFill>
                          <a:latin typeface="Arial"/>
                          <a:ea typeface="Arial"/>
                          <a:cs typeface="Arial"/>
                          <a:sym typeface="Arial"/>
                        </a:rPr>
                        <a:t> là </a:t>
                      </a:r>
                      <a:r>
                        <a:rPr lang="en-US" sz="1999" dirty="0" err="1">
                          <a:solidFill>
                            <a:srgbClr val="000000"/>
                          </a:solidFill>
                          <a:latin typeface="Arial"/>
                          <a:ea typeface="Arial"/>
                          <a:cs typeface="Arial"/>
                          <a:sym typeface="Arial"/>
                        </a:rPr>
                        <a:t>số</a:t>
                      </a:r>
                      <a:r>
                        <a:rPr lang="en-US" sz="1999" dirty="0">
                          <a:solidFill>
                            <a:srgbClr val="000000"/>
                          </a:solidFill>
                          <a:latin typeface="Arial"/>
                          <a:ea typeface="Arial"/>
                          <a:cs typeface="Arial"/>
                          <a:sym typeface="Arial"/>
                        </a:rPr>
                        <a:t> “0” </a:t>
                      </a:r>
                      <a:r>
                        <a:rPr lang="en-US" sz="1999" dirty="0" err="1">
                          <a:solidFill>
                            <a:srgbClr val="000000"/>
                          </a:solidFill>
                          <a:latin typeface="Arial"/>
                          <a:ea typeface="Arial"/>
                          <a:cs typeface="Arial"/>
                          <a:sym typeface="Arial"/>
                        </a:rPr>
                        <a:t>đầu</a:t>
                      </a:r>
                      <a:r>
                        <a:rPr lang="en-US" sz="1999" dirty="0">
                          <a:solidFill>
                            <a:srgbClr val="000000"/>
                          </a:solidFill>
                          <a:latin typeface="Arial"/>
                          <a:ea typeface="Arial"/>
                          <a:cs typeface="Arial"/>
                          <a:sym typeface="Arial"/>
                        </a:rPr>
                        <a:t>.</a:t>
                      </a:r>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ctr">
                        <a:lnSpc>
                          <a:spcPts val="5000"/>
                        </a:lnSpc>
                        <a:defRPr/>
                      </a:pPr>
                      <a:r>
                        <a:rPr lang="en-US" sz="2000">
                          <a:solidFill>
                            <a:srgbClr val="000000"/>
                          </a:solidFill>
                          <a:latin typeface="Arial"/>
                          <a:ea typeface="Arial"/>
                          <a:cs typeface="Arial"/>
                          <a:sym typeface="Arial"/>
                        </a:rPr>
                        <a:t>4 ngày làm việc</a:t>
                      </a:r>
                      <a:endParaRPr lang="en-US" sz="1100"/>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2000" b="1" dirty="0">
                          <a:solidFill>
                            <a:srgbClr val="000000"/>
                          </a:solidFill>
                          <a:latin typeface="Arial Bold"/>
                          <a:ea typeface="Arial Bold"/>
                          <a:cs typeface="Arial Bold"/>
                          <a:sym typeface="Arial Bold"/>
                        </a:rPr>
                        <a:t>Code: RL57-FE Online 2.0</a:t>
                      </a:r>
                      <a:endParaRPr lang="en-US" sz="1100" dirty="0"/>
                    </a:p>
                    <a:p>
                      <a:pPr algn="l">
                        <a:lnSpc>
                          <a:spcPts val="2999"/>
                        </a:lnSpc>
                      </a:pPr>
                      <a:r>
                        <a:rPr lang="en-US" sz="2000" b="1" dirty="0">
                          <a:solidFill>
                            <a:srgbClr val="000000"/>
                          </a:solidFill>
                          <a:latin typeface="Arial Bold"/>
                          <a:ea typeface="Arial Bold"/>
                          <a:cs typeface="Arial Bold"/>
                          <a:sym typeface="Arial Bold"/>
                        </a:rPr>
                        <a:t>Sub code: </a:t>
                      </a:r>
                      <a:r>
                        <a:rPr lang="en-US" sz="2000" dirty="0">
                          <a:solidFill>
                            <a:srgbClr val="000000"/>
                          </a:solidFill>
                          <a:latin typeface="Arial"/>
                          <a:ea typeface="Arial"/>
                          <a:cs typeface="Arial"/>
                          <a:sym typeface="Arial"/>
                        </a:rPr>
                        <a:t>RL57.07- </a:t>
                      </a:r>
                      <a:r>
                        <a:rPr lang="en-US" sz="2000" dirty="0" err="1">
                          <a:solidFill>
                            <a:srgbClr val="000000"/>
                          </a:solidFill>
                          <a:latin typeface="Arial"/>
                          <a:ea typeface="Arial"/>
                          <a:cs typeface="Arial"/>
                          <a:sym typeface="Arial"/>
                        </a:rPr>
                        <a:t>Lỗi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a:t>
                      </a:r>
                    </a:p>
                    <a:p>
                      <a:pPr algn="l">
                        <a:lnSpc>
                          <a:spcPts val="2999"/>
                        </a:lnSpc>
                      </a:pPr>
                      <a:r>
                        <a:rPr lang="en-US" sz="2000" b="1" dirty="0">
                          <a:solidFill>
                            <a:srgbClr val="000000"/>
                          </a:solidFill>
                          <a:latin typeface="Arial Bold"/>
                          <a:ea typeface="Arial Bold"/>
                          <a:cs typeface="Arial Bold"/>
                          <a:sym typeface="Arial Bold"/>
                        </a:rPr>
                        <a:t>Remark: </a:t>
                      </a:r>
                      <a:r>
                        <a:rPr lang="en-US" sz="2000" dirty="0">
                          <a:solidFill>
                            <a:srgbClr val="000000"/>
                          </a:solidFill>
                          <a:latin typeface="Arial"/>
                          <a:ea typeface="Arial"/>
                          <a:cs typeface="Arial"/>
                          <a:sym typeface="Arial"/>
                        </a:rPr>
                        <a:t>SĐT </a:t>
                      </a:r>
                      <a:r>
                        <a:rPr lang="en-US" sz="2000" dirty="0" err="1">
                          <a:solidFill>
                            <a:srgbClr val="000000"/>
                          </a:solidFill>
                          <a:latin typeface="Arial"/>
                          <a:ea typeface="Arial"/>
                          <a:cs typeface="Arial"/>
                          <a:sym typeface="Arial"/>
                        </a:rPr>
                        <a:t>đăng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ký</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 </a:t>
                      </a:r>
                      <a:r>
                        <a:rPr lang="en-US" sz="2000" dirty="0" err="1">
                          <a:solidFill>
                            <a:srgbClr val="000000"/>
                          </a:solidFill>
                          <a:latin typeface="Arial"/>
                          <a:ea typeface="Arial"/>
                          <a:cs typeface="Arial"/>
                          <a:sym typeface="Arial"/>
                        </a:rPr>
                        <a:t>Mã</a:t>
                      </a:r>
                      <a:r>
                        <a:rPr lang="en-US" sz="2000" dirty="0">
                          <a:solidFill>
                            <a:srgbClr val="000000"/>
                          </a:solidFill>
                          <a:latin typeface="Arial"/>
                          <a:ea typeface="Arial"/>
                          <a:cs typeface="Arial"/>
                          <a:sym typeface="Arial"/>
                        </a:rPr>
                        <a:t> ticket </a:t>
                      </a:r>
                      <a:r>
                        <a:rPr lang="en-US" sz="2000" dirty="0" err="1">
                          <a:solidFill>
                            <a:srgbClr val="000000"/>
                          </a:solidFill>
                          <a:latin typeface="Arial"/>
                          <a:ea typeface="Arial"/>
                          <a:cs typeface="Arial"/>
                          <a:sym typeface="Arial"/>
                        </a:rPr>
                        <a:t>Ecom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đủ</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ảnh</a:t>
                      </a:r>
                      <a:r>
                        <a:rPr lang="en-US" sz="2000" dirty="0">
                          <a:solidFill>
                            <a:srgbClr val="000000"/>
                          </a:solidFill>
                          <a:latin typeface="Arial"/>
                          <a:ea typeface="Arial"/>
                          <a:cs typeface="Arial"/>
                          <a:sym typeface="Arial"/>
                        </a:rPr>
                        <a:t>/</a:t>
                      </a:r>
                      <a:r>
                        <a:rPr lang="en-US" sz="2000" dirty="0" err="1">
                          <a:solidFill>
                            <a:srgbClr val="000000"/>
                          </a:solidFill>
                          <a:latin typeface="Arial"/>
                          <a:ea typeface="Arial"/>
                          <a:cs typeface="Arial"/>
                          <a:sym typeface="Arial"/>
                        </a:rPr>
                        <a:t>Mã</a:t>
                      </a:r>
                      <a:r>
                        <a:rPr lang="en-US" sz="2000" dirty="0">
                          <a:solidFill>
                            <a:srgbClr val="000000"/>
                          </a:solidFill>
                          <a:latin typeface="Arial"/>
                          <a:ea typeface="Arial"/>
                          <a:cs typeface="Arial"/>
                          <a:sym typeface="Arial"/>
                        </a:rPr>
                        <a:t> ticket IB XMTT </a:t>
                      </a:r>
                      <a:r>
                        <a:rPr lang="en-US" sz="2000" dirty="0" err="1">
                          <a:solidFill>
                            <a:srgbClr val="000000"/>
                          </a:solidFill>
                          <a:latin typeface="Arial"/>
                          <a:ea typeface="Arial"/>
                          <a:cs typeface="Arial"/>
                          <a:sym typeface="Arial"/>
                        </a:rPr>
                        <a:t>thành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 </a:t>
                      </a:r>
                      <a:r>
                        <a:rPr lang="en-US" sz="2000" dirty="0" err="1">
                          <a:solidFill>
                            <a:srgbClr val="000000"/>
                          </a:solidFill>
                          <a:latin typeface="Arial"/>
                          <a:ea typeface="Arial"/>
                          <a:cs typeface="Arial"/>
                          <a:sym typeface="Arial"/>
                        </a:rPr>
                        <a:t>Lý</a:t>
                      </a:r>
                      <a:r>
                        <a:rPr lang="en-US" sz="2000" dirty="0">
                          <a:solidFill>
                            <a:srgbClr val="000000"/>
                          </a:solidFill>
                          <a:latin typeface="Arial"/>
                          <a:ea typeface="Arial"/>
                          <a:cs typeface="Arial"/>
                          <a:sym typeface="Arial"/>
                        </a:rPr>
                        <a:t> do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endParaRPr lang="en-US" sz="2000" dirty="0">
                        <a:solidFill>
                          <a:srgbClr val="000000"/>
                        </a:solidFill>
                        <a:latin typeface="Arial"/>
                        <a:ea typeface="Arial"/>
                        <a:cs typeface="Arial"/>
                        <a:sym typeface="Arial"/>
                      </a:endParaRPr>
                    </a:p>
                  </a:txBody>
                  <a:tcPr marL="95250" marR="95250" marT="95250" marB="9525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91018" y="9790919"/>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4" name="Freeform 4"/>
          <p:cNvSpPr/>
          <p:nvPr/>
        </p:nvSpPr>
        <p:spPr>
          <a:xfrm>
            <a:off x="-167983" y="-1927068"/>
            <a:ext cx="18455983" cy="3397329"/>
          </a:xfrm>
          <a:custGeom>
            <a:avLst/>
            <a:gdLst/>
            <a:ahLst/>
            <a:cxnLst/>
            <a:rect l="l" t="t" r="r" b="b"/>
            <a:pathLst>
              <a:path w="18455983" h="3397329">
                <a:moveTo>
                  <a:pt x="0" y="0"/>
                </a:moveTo>
                <a:lnTo>
                  <a:pt x="18455983" y="0"/>
                </a:lnTo>
                <a:lnTo>
                  <a:pt x="18455983" y="3397329"/>
                </a:lnTo>
                <a:lnTo>
                  <a:pt x="0" y="339732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701383" y="34804"/>
            <a:ext cx="19690775" cy="1261148"/>
          </a:xfrm>
          <a:prstGeom prst="rect">
            <a:avLst/>
          </a:prstGeom>
        </p:spPr>
        <p:txBody>
          <a:bodyPr lIns="0" tIns="0" rIns="0" bIns="0" rtlCol="0" anchor="t">
            <a:spAutoFit/>
          </a:bodyPr>
          <a:lstStyle/>
          <a:p>
            <a:pPr algn="ctr">
              <a:lnSpc>
                <a:spcPts val="5098"/>
              </a:lnSpc>
            </a:pPr>
            <a:r>
              <a:rPr lang="en-US" sz="3399" b="1">
                <a:solidFill>
                  <a:srgbClr val="000000"/>
                </a:solidFill>
                <a:latin typeface="Arial Bold"/>
                <a:ea typeface="Arial Bold"/>
                <a:cs typeface="Arial Bold"/>
                <a:sym typeface="Arial Bold"/>
              </a:rPr>
              <a:t>ĐÃ CÓ HĐ VAY - ĐÃ CẬP NHẬT TRÊN FEOL 2.0 NHƯNG KHÔNG THÀNH CÔNG – </a:t>
            </a:r>
          </a:p>
          <a:p>
            <a:pPr algn="ctr">
              <a:lnSpc>
                <a:spcPts val="5098"/>
              </a:lnSpc>
            </a:pPr>
            <a:r>
              <a:rPr lang="en-US" sz="3399" b="1">
                <a:solidFill>
                  <a:srgbClr val="000000"/>
                </a:solidFill>
                <a:latin typeface="Arial Bold"/>
                <a:ea typeface="Arial Bold"/>
                <a:cs typeface="Arial Bold"/>
                <a:sym typeface="Arial Bold"/>
              </a:rPr>
              <a:t>KHÔNG THUỘC CÁC LỖI TRÊN</a:t>
            </a:r>
          </a:p>
        </p:txBody>
      </p:sp>
      <p:graphicFrame>
        <p:nvGraphicFramePr>
          <p:cNvPr id="6" name="Table 6"/>
          <p:cNvGraphicFramePr>
            <a:graphicFrameLocks noGrp="1"/>
          </p:cNvGraphicFramePr>
          <p:nvPr>
            <p:extLst>
              <p:ext uri="{D42A27DB-BD31-4B8C-83A1-F6EECF244321}">
                <p14:modId xmlns:p14="http://schemas.microsoft.com/office/powerpoint/2010/main" val="1897358179"/>
              </p:ext>
            </p:extLst>
          </p:nvPr>
        </p:nvGraphicFramePr>
        <p:xfrm>
          <a:off x="65075" y="2052378"/>
          <a:ext cx="18046700" cy="6565900"/>
        </p:xfrm>
        <a:graphic>
          <a:graphicData uri="http://schemas.openxmlformats.org/drawingml/2006/table">
            <a:tbl>
              <a:tblPr/>
              <a:tblGrid>
                <a:gridCol w="10181470">
                  <a:extLst>
                    <a:ext uri="{9D8B030D-6E8A-4147-A177-3AD203B41FA5}">
                      <a16:colId xmlns:a16="http://schemas.microsoft.com/office/drawing/2014/main" val="20000"/>
                    </a:ext>
                  </a:extLst>
                </a:gridCol>
                <a:gridCol w="2284716">
                  <a:extLst>
                    <a:ext uri="{9D8B030D-6E8A-4147-A177-3AD203B41FA5}">
                      <a16:colId xmlns:a16="http://schemas.microsoft.com/office/drawing/2014/main" val="20001"/>
                    </a:ext>
                  </a:extLst>
                </a:gridCol>
                <a:gridCol w="5580514">
                  <a:extLst>
                    <a:ext uri="{9D8B030D-6E8A-4147-A177-3AD203B41FA5}">
                      <a16:colId xmlns:a16="http://schemas.microsoft.com/office/drawing/2014/main" val="20002"/>
                    </a:ext>
                  </a:extLst>
                </a:gridCol>
              </a:tblGrid>
              <a:tr h="935004">
                <a:tc>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TAT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5630896">
                <a:tc>
                  <a:txBody>
                    <a:bodyPr/>
                    <a:lstStyle/>
                    <a:p>
                      <a:pPr marL="457079" lvl="2" indent="-152360" algn="l">
                        <a:lnSpc>
                          <a:spcPts val="2999"/>
                        </a:lnSpc>
                        <a:buFont typeface="Arial"/>
                        <a:buChar char="⚬"/>
                        <a:defRPr/>
                      </a:pPr>
                      <a:r>
                        <a:rPr lang="en-US" sz="1999" dirty="0" err="1">
                          <a:solidFill>
                            <a:srgbClr val="000000"/>
                          </a:solidFill>
                          <a:latin typeface="Arial"/>
                          <a:ea typeface="Arial"/>
                          <a:cs typeface="Arial"/>
                          <a:sym typeface="Arial"/>
                        </a:rPr>
                        <a:t>Xác</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nhận</a:t>
                      </a:r>
                      <a:r>
                        <a:rPr lang="en-US" sz="1999" dirty="0">
                          <a:solidFill>
                            <a:srgbClr val="000000"/>
                          </a:solidFill>
                          <a:latin typeface="Arial"/>
                          <a:ea typeface="Arial"/>
                          <a:cs typeface="Arial"/>
                          <a:sym typeface="Arial"/>
                        </a:rPr>
                        <a:t> SĐT </a:t>
                      </a:r>
                      <a:r>
                        <a:rPr lang="en-US" sz="1999" dirty="0" err="1">
                          <a:solidFill>
                            <a:srgbClr val="000000"/>
                          </a:solidFill>
                          <a:latin typeface="Arial"/>
                          <a:ea typeface="Arial"/>
                          <a:cs typeface="Arial"/>
                          <a:sym typeface="Arial"/>
                        </a:rPr>
                        <a:t>cần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cập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nhật</a:t>
                      </a:r>
                      <a:r>
                        <a:rPr lang="en-US" sz="1999" dirty="0">
                          <a:solidFill>
                            <a:srgbClr val="000000"/>
                          </a:solidFill>
                          <a:latin typeface="Arial"/>
                          <a:ea typeface="Arial"/>
                          <a:cs typeface="Arial"/>
                          <a:sym typeface="Arial"/>
                        </a:rPr>
                        <a:t> </a:t>
                      </a:r>
                      <a:endParaRPr lang="en-US" sz="1100" dirty="0"/>
                    </a:p>
                    <a:p>
                      <a:pPr marL="457079" lvl="2" indent="-152360" algn="l">
                        <a:lnSpc>
                          <a:spcPts val="2999"/>
                        </a:lnSpc>
                        <a:buFont typeface="Arial"/>
                        <a:buChar char="⚬"/>
                      </a:pPr>
                      <a:r>
                        <a:rPr lang="en-US" sz="1999" dirty="0" err="1">
                          <a:solidFill>
                            <a:srgbClr val="000000"/>
                          </a:solidFill>
                          <a:latin typeface="Arial"/>
                          <a:ea typeface="Arial"/>
                          <a:cs typeface="Arial"/>
                          <a:sym typeface="Arial"/>
                        </a:rPr>
                        <a:t>Xác</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nhận</a:t>
                      </a:r>
                      <a:r>
                        <a:rPr lang="en-US" sz="1999" dirty="0">
                          <a:solidFill>
                            <a:srgbClr val="000000"/>
                          </a:solidFill>
                          <a:latin typeface="Arial"/>
                          <a:ea typeface="Arial"/>
                          <a:cs typeface="Arial"/>
                          <a:sym typeface="Arial"/>
                        </a:rPr>
                        <a:t> SĐT </a:t>
                      </a:r>
                      <a:r>
                        <a:rPr lang="en-US" sz="1999" dirty="0" err="1">
                          <a:solidFill>
                            <a:srgbClr val="000000"/>
                          </a:solidFill>
                          <a:latin typeface="Arial"/>
                          <a:ea typeface="Arial"/>
                          <a:cs typeface="Arial"/>
                          <a:sym typeface="Arial"/>
                        </a:rPr>
                        <a:t>trên</a:t>
                      </a:r>
                      <a:r>
                        <a:rPr lang="en-US" sz="1999" dirty="0">
                          <a:solidFill>
                            <a:srgbClr val="000000"/>
                          </a:solidFill>
                          <a:latin typeface="Arial"/>
                          <a:ea typeface="Arial"/>
                          <a:cs typeface="Arial"/>
                          <a:sym typeface="Arial"/>
                        </a:rPr>
                        <a:t> FEOL 2.0 (</a:t>
                      </a:r>
                      <a:r>
                        <a:rPr lang="en-US" sz="1999" dirty="0" err="1">
                          <a:solidFill>
                            <a:srgbClr val="000000"/>
                          </a:solidFill>
                          <a:latin typeface="Arial"/>
                          <a:ea typeface="Arial"/>
                          <a:cs typeface="Arial"/>
                          <a:sym typeface="Arial"/>
                        </a:rPr>
                        <a:t>nếu</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có</a:t>
                      </a:r>
                      <a:r>
                        <a:rPr lang="en-US" sz="1999" dirty="0">
                          <a:solidFill>
                            <a:srgbClr val="000000"/>
                          </a:solidFill>
                          <a:latin typeface="Arial"/>
                          <a:ea typeface="Arial"/>
                          <a:cs typeface="Arial"/>
                          <a:sym typeface="Arial"/>
                        </a:rPr>
                        <a:t>)</a:t>
                      </a:r>
                    </a:p>
                    <a:p>
                      <a:pPr marL="457079" lvl="2" indent="-152360" algn="l">
                        <a:lnSpc>
                          <a:spcPts val="2999"/>
                        </a:lnSpc>
                        <a:buFont typeface="Arial"/>
                        <a:buChar char="⚬"/>
                      </a:pPr>
                      <a:r>
                        <a:rPr lang="en-US" sz="1999" dirty="0" err="1">
                          <a:solidFill>
                            <a:srgbClr val="000000"/>
                          </a:solidFill>
                          <a:latin typeface="Arial"/>
                          <a:ea typeface="Arial"/>
                          <a:cs typeface="Arial"/>
                          <a:sym typeface="Arial"/>
                        </a:rPr>
                        <a:t>Gửi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qua </a:t>
                      </a:r>
                      <a:r>
                        <a:rPr lang="en-US" sz="1999" dirty="0" err="1">
                          <a:solidFill>
                            <a:srgbClr val="000000"/>
                          </a:solidFill>
                          <a:latin typeface="Arial"/>
                          <a:ea typeface="Arial"/>
                          <a:cs typeface="Arial"/>
                          <a:sym typeface="Arial"/>
                        </a:rPr>
                        <a:t>Zalo</a:t>
                      </a:r>
                      <a:r>
                        <a:rPr lang="en-US" sz="1999" dirty="0">
                          <a:solidFill>
                            <a:srgbClr val="000000"/>
                          </a:solidFill>
                          <a:latin typeface="Arial"/>
                          <a:ea typeface="Arial"/>
                          <a:cs typeface="Arial"/>
                          <a:sym typeface="Arial"/>
                        </a:rPr>
                        <a:t> FE Credit (</a:t>
                      </a:r>
                      <a:r>
                        <a:rPr lang="en-US" sz="1999" dirty="0" err="1">
                          <a:solidFill>
                            <a:srgbClr val="000000"/>
                          </a:solidFill>
                          <a:latin typeface="Arial"/>
                          <a:ea typeface="Arial"/>
                          <a:cs typeface="Arial"/>
                          <a:sym typeface="Arial"/>
                        </a:rPr>
                        <a:t>có</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dấu</a:t>
                      </a:r>
                      <a:r>
                        <a:rPr lang="en-US" sz="1999" dirty="0">
                          <a:solidFill>
                            <a:srgbClr val="000000"/>
                          </a:solidFill>
                          <a:latin typeface="Arial"/>
                          <a:ea typeface="Arial"/>
                          <a:cs typeface="Arial"/>
                          <a:sym typeface="Arial"/>
                        </a:rPr>
                        <a:t> tick). </a:t>
                      </a:r>
                      <a:r>
                        <a:rPr lang="en-US" sz="1999" dirty="0" err="1">
                          <a:solidFill>
                            <a:srgbClr val="000000"/>
                          </a:solidFill>
                          <a:latin typeface="Arial"/>
                          <a:ea typeface="Arial"/>
                          <a:cs typeface="Arial"/>
                          <a:sym typeface="Arial"/>
                        </a:rPr>
                        <a:t>Nếu</a:t>
                      </a:r>
                      <a:r>
                        <a:rPr lang="en-US" sz="1999" dirty="0">
                          <a:solidFill>
                            <a:srgbClr val="000000"/>
                          </a:solidFill>
                          <a:latin typeface="Arial"/>
                          <a:ea typeface="Arial"/>
                          <a:cs typeface="Arial"/>
                          <a:sym typeface="Arial"/>
                        </a:rPr>
                        <a:t> KH </a:t>
                      </a:r>
                      <a:r>
                        <a:rPr lang="en-US" sz="1999" dirty="0" err="1">
                          <a:solidFill>
                            <a:srgbClr val="000000"/>
                          </a:solidFill>
                          <a:latin typeface="Arial"/>
                          <a:ea typeface="Arial"/>
                          <a:cs typeface="Arial"/>
                          <a:sym typeface="Arial"/>
                        </a:rPr>
                        <a:t>không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sử</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dụng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Zalo</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hướng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dẫn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gửi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qua email </a:t>
                      </a:r>
                      <a:r>
                        <a:rPr lang="en-US" sz="1999" b="1" dirty="0">
                          <a:solidFill>
                            <a:srgbClr val="000000"/>
                          </a:solidFill>
                          <a:latin typeface="Arial Bold"/>
                          <a:ea typeface="Arial Bold"/>
                          <a:cs typeface="Arial Bold"/>
                          <a:sym typeface="Arial Bold"/>
                        </a:rPr>
                        <a:t>dichvukhachhang@fecredit.com.vn</a:t>
                      </a:r>
                    </a:p>
                    <a:p>
                      <a:pPr marL="816911" lvl="3" indent="-204228" algn="l">
                        <a:lnSpc>
                          <a:spcPts val="2999"/>
                        </a:lnSpc>
                        <a:buFont typeface="Arial"/>
                        <a:buChar char="￭"/>
                      </a:pP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thuê</a:t>
                      </a:r>
                      <a:r>
                        <a:rPr lang="en-US" sz="1999" dirty="0">
                          <a:solidFill>
                            <a:srgbClr val="000000"/>
                          </a:solidFill>
                          <a:latin typeface="Arial"/>
                          <a:ea typeface="Arial"/>
                          <a:cs typeface="Arial"/>
                          <a:sym typeface="Arial"/>
                        </a:rPr>
                        <a:t> bao </a:t>
                      </a:r>
                      <a:r>
                        <a:rPr lang="en-US" sz="1999" dirty="0" err="1">
                          <a:solidFill>
                            <a:srgbClr val="000000"/>
                          </a:solidFill>
                          <a:latin typeface="Arial"/>
                          <a:ea typeface="Arial"/>
                          <a:cs typeface="Arial"/>
                          <a:sym typeface="Arial"/>
                        </a:rPr>
                        <a:t>chính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chủ</a:t>
                      </a:r>
                      <a:r>
                        <a:rPr lang="en-US" sz="1999" dirty="0">
                          <a:solidFill>
                            <a:srgbClr val="000000"/>
                          </a:solidFill>
                          <a:latin typeface="Arial"/>
                          <a:ea typeface="Arial"/>
                          <a:cs typeface="Arial"/>
                          <a:sym typeface="Arial"/>
                        </a:rPr>
                        <a:t> (TTTB)</a:t>
                      </a:r>
                    </a:p>
                    <a:p>
                      <a:pPr marL="816911" lvl="3" indent="-204228" algn="l">
                        <a:lnSpc>
                          <a:spcPts val="2999"/>
                        </a:lnSpc>
                        <a:buFont typeface="Arial"/>
                        <a:buChar char="￭"/>
                      </a:pP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KH </a:t>
                      </a:r>
                      <a:r>
                        <a:rPr lang="en-US" sz="1999" dirty="0" err="1">
                          <a:solidFill>
                            <a:srgbClr val="000000"/>
                          </a:solidFill>
                          <a:latin typeface="Arial"/>
                          <a:ea typeface="Arial"/>
                          <a:cs typeface="Arial"/>
                          <a:sym typeface="Arial"/>
                        </a:rPr>
                        <a:t>cầm</a:t>
                      </a:r>
                      <a:r>
                        <a:rPr lang="en-US" sz="1999" dirty="0">
                          <a:solidFill>
                            <a:srgbClr val="000000"/>
                          </a:solidFill>
                          <a:latin typeface="Arial"/>
                          <a:ea typeface="Arial"/>
                          <a:cs typeface="Arial"/>
                          <a:sym typeface="Arial"/>
                        </a:rPr>
                        <a:t> CCCD </a:t>
                      </a:r>
                      <a:r>
                        <a:rPr lang="en-US" sz="1999" dirty="0" err="1">
                          <a:solidFill>
                            <a:srgbClr val="000000"/>
                          </a:solidFill>
                          <a:latin typeface="Arial"/>
                          <a:ea typeface="Arial"/>
                          <a:cs typeface="Arial"/>
                          <a:sym typeface="Arial"/>
                        </a:rPr>
                        <a:t>mặt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trước</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trên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tay</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chụp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cùng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khuôn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mặt</a:t>
                      </a:r>
                      <a:r>
                        <a:rPr lang="en-US" sz="1999" dirty="0">
                          <a:solidFill>
                            <a:srgbClr val="000000"/>
                          </a:solidFill>
                          <a:latin typeface="Arial"/>
                          <a:ea typeface="Arial"/>
                          <a:cs typeface="Arial"/>
                          <a:sym typeface="Arial"/>
                        </a:rPr>
                        <a:t>.</a:t>
                      </a:r>
                    </a:p>
                    <a:p>
                      <a:pPr marL="816911" lvl="3" indent="-204228" algn="l">
                        <a:lnSpc>
                          <a:spcPts val="2999"/>
                        </a:lnSpc>
                        <a:buFont typeface="Arial"/>
                        <a:buChar char="￭"/>
                      </a:pP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2 </a:t>
                      </a:r>
                      <a:r>
                        <a:rPr lang="en-US" sz="1999" dirty="0" err="1">
                          <a:solidFill>
                            <a:srgbClr val="000000"/>
                          </a:solidFill>
                          <a:latin typeface="Arial"/>
                          <a:ea typeface="Arial"/>
                          <a:cs typeface="Arial"/>
                          <a:sym typeface="Arial"/>
                        </a:rPr>
                        <a:t>mặt</a:t>
                      </a:r>
                      <a:r>
                        <a:rPr lang="en-US" sz="1999" dirty="0">
                          <a:solidFill>
                            <a:srgbClr val="000000"/>
                          </a:solidFill>
                          <a:latin typeface="Arial"/>
                          <a:ea typeface="Arial"/>
                          <a:cs typeface="Arial"/>
                          <a:sym typeface="Arial"/>
                        </a:rPr>
                        <a:t> CCCD </a:t>
                      </a:r>
                      <a:r>
                        <a:rPr lang="en-US" sz="1999" dirty="0" err="1">
                          <a:solidFill>
                            <a:srgbClr val="000000"/>
                          </a:solidFill>
                          <a:latin typeface="Arial"/>
                          <a:ea typeface="Arial"/>
                          <a:cs typeface="Arial"/>
                          <a:sym typeface="Arial"/>
                        </a:rPr>
                        <a:t>mới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nhất</a:t>
                      </a:r>
                      <a:r>
                        <a:rPr lang="en-US" sz="1999" dirty="0">
                          <a:solidFill>
                            <a:srgbClr val="000000"/>
                          </a:solidFill>
                          <a:latin typeface="Arial"/>
                          <a:ea typeface="Arial"/>
                          <a:cs typeface="Arial"/>
                          <a:sym typeface="Arial"/>
                        </a:rPr>
                        <a:t>. </a:t>
                      </a:r>
                    </a:p>
                    <a:p>
                      <a:pPr marL="816911" lvl="3" indent="-204228" algn="l">
                        <a:lnSpc>
                          <a:spcPts val="2999"/>
                        </a:lnSpc>
                        <a:buFont typeface="Arial"/>
                        <a:buChar char="￭"/>
                      </a:pPr>
                      <a:r>
                        <a:rPr lang="en-US" sz="1999" dirty="0" err="1">
                          <a:solidFill>
                            <a:srgbClr val="000000"/>
                          </a:solidFill>
                          <a:latin typeface="Arial"/>
                          <a:ea typeface="Arial"/>
                          <a:cs typeface="Arial"/>
                          <a:sym typeface="Arial"/>
                        </a:rPr>
                        <a:t>Thông</a:t>
                      </a:r>
                      <a:r>
                        <a:rPr lang="en-US" sz="1999" dirty="0">
                          <a:solidFill>
                            <a:srgbClr val="000000"/>
                          </a:solidFill>
                          <a:latin typeface="Arial"/>
                          <a:ea typeface="Arial"/>
                          <a:cs typeface="Arial"/>
                          <a:sym typeface="Arial"/>
                        </a:rPr>
                        <a:t> tin </a:t>
                      </a:r>
                      <a:r>
                        <a:rPr lang="en-US" sz="1999" dirty="0" err="1">
                          <a:solidFill>
                            <a:srgbClr val="000000"/>
                          </a:solidFill>
                          <a:latin typeface="Arial"/>
                          <a:ea typeface="Arial"/>
                          <a:cs typeface="Arial"/>
                          <a:sym typeface="Arial"/>
                        </a:rPr>
                        <a:t>và</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lỗi</a:t>
                      </a:r>
                      <a:r>
                        <a:rPr lang="en-US" sz="1999" dirty="0">
                          <a:solidFill>
                            <a:srgbClr val="000000"/>
                          </a:solidFill>
                          <a:latin typeface="Arial"/>
                          <a:ea typeface="Arial"/>
                          <a:cs typeface="Arial"/>
                          <a:sym typeface="Arial"/>
                        </a:rPr>
                        <a:t> </a:t>
                      </a:r>
                      <a:r>
                        <a:rPr lang="en-US" sz="1999" b="1" i="1" u="sng" kern="1200" dirty="0">
                          <a:solidFill>
                            <a:srgbClr val="4DA745"/>
                          </a:solidFill>
                          <a:latin typeface="Arial Italics"/>
                          <a:ea typeface="Arial Bold Italics"/>
                          <a:cs typeface="Arial Italics"/>
                          <a:sym typeface="Arial Bold Italics"/>
                          <a:hlinkClick r:id="rId5" action="ppaction://hlinkfile">
                            <a:extLst>
                              <a:ext uri="{A12FA001-AC4F-418D-AE19-62706E023703}">
                                <ahyp:hlinkClr xmlns:ahyp="http://schemas.microsoft.com/office/drawing/2018/hyperlinkcolor" val="tx"/>
                              </a:ext>
                            </a:extLst>
                          </a:hlinkClick>
                        </a:rPr>
                        <a:t>(</a:t>
                      </a:r>
                      <a:r>
                        <a:rPr lang="en-US" sz="1999" b="1" i="1" u="sng" kern="1200" dirty="0" err="1">
                          <a:solidFill>
                            <a:srgbClr val="4DA745"/>
                          </a:solidFill>
                          <a:latin typeface="Arial Italics"/>
                          <a:ea typeface="Arial Bold Italics"/>
                          <a:cs typeface="Arial Italics"/>
                          <a:sym typeface="Arial Bold Italics"/>
                          <a:hlinkClick r:id="rId5" action="ppaction://hlinkfile">
                            <a:extLst>
                              <a:ext uri="{A12FA001-AC4F-418D-AE19-62706E023703}">
                                <ahyp:hlinkClr xmlns:ahyp="http://schemas.microsoft.com/office/drawing/2018/hyperlinkcolor" val="tx"/>
                              </a:ext>
                            </a:extLst>
                          </a:hlinkClick>
                        </a:rPr>
                        <a:t>xem</a:t>
                      </a:r>
                      <a:r>
                        <a:rPr lang="en-US" sz="1999" b="1" i="1" u="sng" kern="1200" dirty="0">
                          <a:solidFill>
                            <a:srgbClr val="4DA745"/>
                          </a:solidFill>
                          <a:latin typeface="Arial Italics"/>
                          <a:ea typeface="Arial Bold Italics"/>
                          <a:cs typeface="Arial Italics"/>
                          <a:sym typeface="Arial Bold Italics"/>
                          <a:hlinkClick r:id="rId5" action="ppaction://hlinkfile">
                            <a:extLst>
                              <a:ext uri="{A12FA001-AC4F-418D-AE19-62706E023703}">
                                <ahyp:hlinkClr xmlns:ahyp="http://schemas.microsoft.com/office/drawing/2018/hyperlinkcolor" val="tx"/>
                              </a:ext>
                            </a:extLst>
                          </a:hlinkClick>
                        </a:rPr>
                        <a:t> chi </a:t>
                      </a:r>
                      <a:r>
                        <a:rPr lang="en-US" sz="1999" b="1" i="1" u="sng" kern="1200" dirty="0" err="1">
                          <a:solidFill>
                            <a:srgbClr val="4DA745"/>
                          </a:solidFill>
                          <a:latin typeface="Arial Italics"/>
                          <a:ea typeface="Arial Bold Italics"/>
                          <a:cs typeface="Arial Italics"/>
                          <a:sym typeface="Arial Bold Italics"/>
                          <a:hlinkClick r:id="rId5" action="ppaction://hlinkfile">
                            <a:extLst>
                              <a:ext uri="{A12FA001-AC4F-418D-AE19-62706E023703}">
                                <ahyp:hlinkClr xmlns:ahyp="http://schemas.microsoft.com/office/drawing/2018/hyperlinkcolor" val="tx"/>
                              </a:ext>
                            </a:extLst>
                          </a:hlinkClick>
                        </a:rPr>
                        <a:t>tiết</a:t>
                      </a:r>
                      <a:r>
                        <a:rPr lang="en-US" sz="1999" b="1" i="1" u="sng" kern="1200" dirty="0">
                          <a:solidFill>
                            <a:srgbClr val="4DA745"/>
                          </a:solidFill>
                          <a:latin typeface="Arial Italics"/>
                          <a:ea typeface="Arial Bold Italics"/>
                          <a:cs typeface="Arial Italics"/>
                          <a:sym typeface="Arial Bold Italics"/>
                          <a:hlinkClick r:id="rId5" action="ppaction://hlinkfile">
                            <a:extLst>
                              <a:ext uri="{A12FA001-AC4F-418D-AE19-62706E023703}">
                                <ahyp:hlinkClr xmlns:ahyp="http://schemas.microsoft.com/office/drawing/2018/hyperlinkcolor" val="tx"/>
                              </a:ext>
                            </a:extLst>
                          </a:hlinkClick>
                        </a:rPr>
                        <a:t>)</a:t>
                      </a:r>
                      <a:endParaRPr lang="en-US" sz="1999" b="1" i="1" u="sng" kern="1200" dirty="0">
                        <a:solidFill>
                          <a:srgbClr val="4DA745"/>
                        </a:solidFill>
                        <a:latin typeface="Arial Italics"/>
                        <a:ea typeface="Arial Bold Italics"/>
                        <a:cs typeface="Arial Italics"/>
                        <a:sym typeface="Arial Bold Italics"/>
                      </a:endParaRPr>
                    </a:p>
                    <a:p>
                      <a:pPr marL="816911" lvl="3" indent="-204228" algn="l" defTabSz="914400" rtl="0" eaLnBrk="1" latinLnBrk="0" hangingPunct="1">
                        <a:lnSpc>
                          <a:spcPts val="2999"/>
                        </a:lnSpc>
                        <a:buFont typeface="Arial"/>
                        <a:buChar char="￭"/>
                      </a:pPr>
                      <a:r>
                        <a:rPr lang="en-US" sz="1999" b="1" dirty="0" err="1">
                          <a:solidFill>
                            <a:srgbClr val="000000"/>
                          </a:solidFill>
                          <a:latin typeface="Arial Bold"/>
                          <a:ea typeface="Arial Bold"/>
                          <a:cs typeface="Arial Bold"/>
                          <a:sym typeface="Arial Bold"/>
                        </a:rPr>
                        <a:t>Lưu</a:t>
                      </a:r>
                      <a:r>
                        <a:rPr lang="en-US" sz="1999" b="1" dirty="0">
                          <a:solidFill>
                            <a:srgbClr val="000000"/>
                          </a:solidFill>
                          <a:latin typeface="Arial Bold"/>
                          <a:ea typeface="Arial Bold"/>
                          <a:cs typeface="Arial Bold"/>
                          <a:sym typeface="Arial Bold"/>
                        </a:rPr>
                        <a:t> ý: </a:t>
                      </a:r>
                      <a:r>
                        <a:rPr lang="en-US" sz="1999" dirty="0">
                          <a:solidFill>
                            <a:srgbClr val="000000"/>
                          </a:solidFill>
                          <a:latin typeface="Arial"/>
                          <a:ea typeface="Arial"/>
                          <a:cs typeface="Arial"/>
                          <a:sym typeface="Arial"/>
                        </a:rPr>
                        <a:t>TTTB </a:t>
                      </a:r>
                      <a:r>
                        <a:rPr lang="en-US" sz="1999" dirty="0" err="1">
                          <a:solidFill>
                            <a:srgbClr val="000000"/>
                          </a:solidFill>
                          <a:latin typeface="Arial"/>
                          <a:ea typeface="Arial"/>
                          <a:cs typeface="Arial"/>
                          <a:sym typeface="Arial"/>
                        </a:rPr>
                        <a:t>chính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chủ</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hợp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lệ</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và</a:t>
                      </a:r>
                      <a:r>
                        <a:rPr lang="en-US" sz="1999" dirty="0">
                          <a:solidFill>
                            <a:srgbClr val="000000"/>
                          </a:solidFill>
                          <a:latin typeface="Arial"/>
                          <a:ea typeface="Arial"/>
                          <a:cs typeface="Arial"/>
                          <a:sym typeface="Arial"/>
                        </a:rPr>
                        <a:t> CCCD </a:t>
                      </a:r>
                      <a:r>
                        <a:rPr lang="en-US" sz="1999" dirty="0" err="1">
                          <a:solidFill>
                            <a:srgbClr val="000000"/>
                          </a:solidFill>
                          <a:latin typeface="Arial"/>
                          <a:ea typeface="Arial"/>
                          <a:cs typeface="Arial"/>
                          <a:sym typeface="Arial"/>
                        </a:rPr>
                        <a:t>không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trùng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khớp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trên</a:t>
                      </a:r>
                      <a:r>
                        <a:rPr lang="en-US" sz="1999" dirty="0">
                          <a:solidFill>
                            <a:srgbClr val="000000"/>
                          </a:solidFill>
                          <a:latin typeface="Arial"/>
                          <a:ea typeface="Arial"/>
                          <a:cs typeface="Arial"/>
                          <a:sym typeface="Arial"/>
                        </a:rPr>
                        <a:t> TTTB </a:t>
                      </a:r>
                      <a:r>
                        <a:rPr lang="en-US" sz="1999" b="1" i="1" u="sng" kern="1200" dirty="0">
                          <a:solidFill>
                            <a:srgbClr val="4DA745"/>
                          </a:solidFill>
                          <a:latin typeface="Arial Italics"/>
                          <a:ea typeface="Arial Italics"/>
                          <a:cs typeface="Arial Italics"/>
                          <a:sym typeface="Arial Italics"/>
                          <a:hlinkClick r:id="rId6" action="ppaction://hlinkfile">
                            <a:extLst>
                              <a:ext uri="{A12FA001-AC4F-418D-AE19-62706E023703}">
                                <ahyp:hlinkClr xmlns:ahyp="http://schemas.microsoft.com/office/drawing/2018/hyperlinkcolor" val="tx"/>
                              </a:ext>
                            </a:extLst>
                          </a:hlinkClick>
                        </a:rPr>
                        <a:t>(</a:t>
                      </a:r>
                      <a:r>
                        <a:rPr lang="en-US" sz="1999" b="1" i="1" u="sng" kern="1200" dirty="0" err="1">
                          <a:solidFill>
                            <a:srgbClr val="4DA745"/>
                          </a:solidFill>
                          <a:latin typeface="Arial Italics"/>
                          <a:ea typeface="Arial Bold Italics"/>
                          <a:cs typeface="Arial Italics"/>
                          <a:sym typeface="Arial Bold Italics"/>
                          <a:hlinkClick r:id="rId6" action="ppaction://hlinkfile">
                            <a:extLst>
                              <a:ext uri="{A12FA001-AC4F-418D-AE19-62706E023703}">
                                <ahyp:hlinkClr xmlns:ahyp="http://schemas.microsoft.com/office/drawing/2018/hyperlinkcolor" val="tx"/>
                              </a:ext>
                            </a:extLst>
                          </a:hlinkClick>
                        </a:rPr>
                        <a:t>xem</a:t>
                      </a:r>
                      <a:r>
                        <a:rPr lang="en-US" sz="1999" b="1" i="1" u="sng" kern="1200" dirty="0">
                          <a:solidFill>
                            <a:srgbClr val="4DA745"/>
                          </a:solidFill>
                          <a:latin typeface="Arial Italics"/>
                          <a:ea typeface="Arial Bold Italics"/>
                          <a:cs typeface="Arial Italics"/>
                          <a:sym typeface="Arial Bold Italics"/>
                          <a:hlinkClick r:id="rId6" action="ppaction://hlinkfile">
                            <a:extLst>
                              <a:ext uri="{A12FA001-AC4F-418D-AE19-62706E023703}">
                                <ahyp:hlinkClr xmlns:ahyp="http://schemas.microsoft.com/office/drawing/2018/hyperlinkcolor" val="tx"/>
                              </a:ext>
                            </a:extLst>
                          </a:hlinkClick>
                        </a:rPr>
                        <a:t> chi </a:t>
                      </a:r>
                      <a:r>
                        <a:rPr lang="en-US" sz="1999" b="1" i="1" u="sng" kern="1200" dirty="0" err="1">
                          <a:solidFill>
                            <a:srgbClr val="4DA745"/>
                          </a:solidFill>
                          <a:latin typeface="Arial Italics"/>
                          <a:ea typeface="Arial Bold Italics"/>
                          <a:cs typeface="Arial Italics"/>
                          <a:sym typeface="Arial Bold Italics"/>
                          <a:hlinkClick r:id="rId6" action="ppaction://hlinkfile">
                            <a:extLst>
                              <a:ext uri="{A12FA001-AC4F-418D-AE19-62706E023703}">
                                <ahyp:hlinkClr xmlns:ahyp="http://schemas.microsoft.com/office/drawing/2018/hyperlinkcolor" val="tx"/>
                              </a:ext>
                            </a:extLst>
                          </a:hlinkClick>
                        </a:rPr>
                        <a:t>tiết</a:t>
                      </a:r>
                      <a:r>
                        <a:rPr lang="en-US" sz="1999" b="1" i="1" u="sng" kern="1200" dirty="0">
                          <a:solidFill>
                            <a:srgbClr val="4DA745"/>
                          </a:solidFill>
                          <a:latin typeface="Arial Italics"/>
                          <a:ea typeface="Arial Bold Italics"/>
                          <a:cs typeface="Arial Italics"/>
                          <a:sym typeface="Arial Bold Italics"/>
                          <a:hlinkClick r:id="rId6" action="ppaction://hlinkfile">
                            <a:extLst>
                              <a:ext uri="{A12FA001-AC4F-418D-AE19-62706E023703}">
                                <ahyp:hlinkClr xmlns:ahyp="http://schemas.microsoft.com/office/drawing/2018/hyperlinkcolor" val="tx"/>
                              </a:ext>
                            </a:extLst>
                          </a:hlinkClick>
                        </a:rPr>
                        <a:t>).</a:t>
                      </a:r>
                      <a:endParaRPr lang="en-US" sz="1999" b="1" i="1" u="sng" kern="1200" dirty="0">
                        <a:solidFill>
                          <a:srgbClr val="4DA745"/>
                        </a:solidFill>
                        <a:latin typeface="Arial Italics"/>
                        <a:ea typeface="Arial Bold Italics"/>
                        <a:cs typeface="Arial Italics"/>
                        <a:sym typeface="Arial Bold Italics"/>
                      </a:endParaRPr>
                    </a:p>
                    <a:p>
                      <a:pPr marL="457079" lvl="2" indent="-152360" algn="l">
                        <a:lnSpc>
                          <a:spcPts val="2999"/>
                        </a:lnSpc>
                        <a:buFont typeface="Arial"/>
                        <a:buChar char="⚬"/>
                      </a:pPr>
                      <a:r>
                        <a:rPr lang="en-US" sz="1999" dirty="0" err="1">
                          <a:solidFill>
                            <a:srgbClr val="000000"/>
                          </a:solidFill>
                          <a:latin typeface="Arial"/>
                          <a:ea typeface="Arial"/>
                          <a:cs typeface="Arial"/>
                          <a:sym typeface="Arial"/>
                        </a:rPr>
                        <a:t>Thông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báo</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sau</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cập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thành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công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thì</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tên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đăng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nhập</a:t>
                      </a:r>
                      <a:r>
                        <a:rPr lang="en-US" sz="1999" dirty="0">
                          <a:solidFill>
                            <a:srgbClr val="000000"/>
                          </a:solidFill>
                          <a:latin typeface="Arial"/>
                          <a:ea typeface="Arial"/>
                          <a:cs typeface="Arial"/>
                          <a:sym typeface="Arial"/>
                        </a:rPr>
                        <a:t> FEOL 2.0 </a:t>
                      </a:r>
                      <a:r>
                        <a:rPr lang="en-US" sz="1999" dirty="0" err="1">
                          <a:solidFill>
                            <a:srgbClr val="000000"/>
                          </a:solidFill>
                          <a:latin typeface="Arial"/>
                          <a:ea typeface="Arial"/>
                          <a:cs typeface="Arial"/>
                          <a:sym typeface="Arial"/>
                        </a:rPr>
                        <a:t>là</a:t>
                      </a:r>
                      <a:r>
                        <a:rPr lang="en-US" sz="1999" dirty="0">
                          <a:solidFill>
                            <a:srgbClr val="000000"/>
                          </a:solidFill>
                          <a:latin typeface="Arial"/>
                          <a:ea typeface="Arial"/>
                          <a:cs typeface="Arial"/>
                          <a:sym typeface="Arial"/>
                        </a:rPr>
                        <a:t> SĐT </a:t>
                      </a:r>
                      <a:r>
                        <a:rPr lang="en-US" sz="1999" dirty="0" err="1">
                          <a:solidFill>
                            <a:srgbClr val="000000"/>
                          </a:solidFill>
                          <a:latin typeface="Arial"/>
                          <a:ea typeface="Arial"/>
                          <a:cs typeface="Arial"/>
                          <a:sym typeface="Arial"/>
                        </a:rPr>
                        <a:t>mới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định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dạng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là</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số</a:t>
                      </a:r>
                      <a:r>
                        <a:rPr lang="en-US" sz="1999" dirty="0">
                          <a:solidFill>
                            <a:srgbClr val="000000"/>
                          </a:solidFill>
                          <a:latin typeface="Arial"/>
                          <a:ea typeface="Arial"/>
                          <a:cs typeface="Arial"/>
                          <a:sym typeface="Arial"/>
                        </a:rPr>
                        <a:t> “0” </a:t>
                      </a:r>
                      <a:r>
                        <a:rPr lang="en-US" sz="1999" dirty="0" err="1">
                          <a:solidFill>
                            <a:srgbClr val="000000"/>
                          </a:solidFill>
                          <a:latin typeface="Arial"/>
                          <a:ea typeface="Arial"/>
                          <a:cs typeface="Arial"/>
                          <a:sym typeface="Arial"/>
                        </a:rPr>
                        <a:t>đầu</a:t>
                      </a:r>
                      <a:r>
                        <a:rPr lang="en-US" sz="1999" dirty="0">
                          <a:solidFill>
                            <a:srgbClr val="000000"/>
                          </a:solidFill>
                          <a:latin typeface="Arial"/>
                          <a:ea typeface="Arial"/>
                          <a:cs typeface="Arial"/>
                          <a:sym typeface="Arial"/>
                        </a:rPr>
                        <a: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2999"/>
                        </a:lnSpc>
                        <a:defRPr/>
                      </a:pPr>
                      <a:r>
                        <a:rPr lang="en-US" sz="2000">
                          <a:solidFill>
                            <a:srgbClr val="000000"/>
                          </a:solidFill>
                          <a:latin typeface="Arial"/>
                          <a:ea typeface="Arial"/>
                          <a:cs typeface="Arial"/>
                          <a:sym typeface="Arial"/>
                        </a:rPr>
                        <a:t>4 ngày làm việc</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2000" b="1" dirty="0">
                          <a:solidFill>
                            <a:srgbClr val="000000"/>
                          </a:solidFill>
                          <a:latin typeface="Arial Bold"/>
                          <a:ea typeface="Arial Bold"/>
                          <a:cs typeface="Arial Bold"/>
                          <a:sym typeface="Arial Bold"/>
                        </a:rPr>
                        <a:t>Code: RL57-FE Online 2.0</a:t>
                      </a:r>
                      <a:endParaRPr lang="en-US" sz="1100" dirty="0"/>
                    </a:p>
                    <a:p>
                      <a:pPr algn="l">
                        <a:lnSpc>
                          <a:spcPts val="2999"/>
                        </a:lnSpc>
                      </a:pPr>
                      <a:r>
                        <a:rPr lang="en-US" sz="2000" b="1" dirty="0">
                          <a:solidFill>
                            <a:srgbClr val="000000"/>
                          </a:solidFill>
                          <a:latin typeface="Arial Bold"/>
                          <a:ea typeface="Arial Bold"/>
                          <a:cs typeface="Arial Bold"/>
                          <a:sym typeface="Arial Bold"/>
                        </a:rPr>
                        <a:t>Sub code: </a:t>
                      </a:r>
                      <a:r>
                        <a:rPr lang="en-US" sz="2000" dirty="0">
                          <a:solidFill>
                            <a:srgbClr val="000000"/>
                          </a:solidFill>
                          <a:latin typeface="Arial"/>
                          <a:ea typeface="Arial"/>
                          <a:cs typeface="Arial"/>
                          <a:sym typeface="Arial"/>
                        </a:rPr>
                        <a:t>RL57.07- </a:t>
                      </a:r>
                      <a:r>
                        <a:rPr lang="en-US" sz="2000" dirty="0" err="1">
                          <a:solidFill>
                            <a:srgbClr val="000000"/>
                          </a:solidFill>
                          <a:latin typeface="Arial"/>
                          <a:ea typeface="Arial"/>
                          <a:cs typeface="Arial"/>
                          <a:sym typeface="Arial"/>
                        </a:rPr>
                        <a:t>Lỗi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tin</a:t>
                      </a:r>
                    </a:p>
                    <a:p>
                      <a:pPr algn="l">
                        <a:lnSpc>
                          <a:spcPts val="2999"/>
                        </a:lnSpc>
                      </a:pPr>
                      <a:r>
                        <a:rPr lang="en-US" sz="2000" b="1" dirty="0">
                          <a:solidFill>
                            <a:srgbClr val="000000"/>
                          </a:solidFill>
                          <a:latin typeface="Arial Bold"/>
                          <a:ea typeface="Arial Bold"/>
                          <a:cs typeface="Arial Bold"/>
                          <a:sym typeface="Arial Bold"/>
                        </a:rPr>
                        <a:t>Remark: </a:t>
                      </a:r>
                      <a:r>
                        <a:rPr lang="en-US" sz="2000" dirty="0">
                          <a:solidFill>
                            <a:srgbClr val="000000"/>
                          </a:solidFill>
                          <a:latin typeface="Arial"/>
                          <a:ea typeface="Arial"/>
                          <a:cs typeface="Arial"/>
                          <a:sym typeface="Arial"/>
                        </a:rPr>
                        <a:t>SĐT </a:t>
                      </a:r>
                      <a:r>
                        <a:rPr lang="en-US" sz="2000" dirty="0" err="1">
                          <a:solidFill>
                            <a:srgbClr val="000000"/>
                          </a:solidFill>
                          <a:latin typeface="Arial"/>
                          <a:ea typeface="Arial"/>
                          <a:cs typeface="Arial"/>
                          <a:sym typeface="Arial"/>
                        </a:rPr>
                        <a:t>đăng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ký</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ứng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 </a:t>
                      </a:r>
                      <a:r>
                        <a:rPr lang="en-US" sz="2000" dirty="0" err="1">
                          <a:solidFill>
                            <a:srgbClr val="000000"/>
                          </a:solidFill>
                          <a:latin typeface="Arial"/>
                          <a:ea typeface="Arial"/>
                          <a:cs typeface="Arial"/>
                          <a:sym typeface="Arial"/>
                        </a:rPr>
                        <a:t>Mã</a:t>
                      </a:r>
                      <a:r>
                        <a:rPr lang="en-US" sz="2000" dirty="0">
                          <a:solidFill>
                            <a:srgbClr val="000000"/>
                          </a:solidFill>
                          <a:latin typeface="Arial"/>
                          <a:ea typeface="Arial"/>
                          <a:cs typeface="Arial"/>
                          <a:sym typeface="Arial"/>
                        </a:rPr>
                        <a:t> ticket </a:t>
                      </a:r>
                      <a:r>
                        <a:rPr lang="en-US" sz="2000" dirty="0" err="1">
                          <a:solidFill>
                            <a:srgbClr val="000000"/>
                          </a:solidFill>
                          <a:latin typeface="Arial"/>
                          <a:ea typeface="Arial"/>
                          <a:cs typeface="Arial"/>
                          <a:sym typeface="Arial"/>
                        </a:rPr>
                        <a:t>Ecom</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đủ</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ảnh</a:t>
                      </a:r>
                      <a:r>
                        <a:rPr lang="en-US" sz="2000" dirty="0">
                          <a:solidFill>
                            <a:srgbClr val="000000"/>
                          </a:solidFill>
                          <a:latin typeface="Arial"/>
                          <a:ea typeface="Arial"/>
                          <a:cs typeface="Arial"/>
                          <a:sym typeface="Arial"/>
                        </a:rPr>
                        <a:t>/</a:t>
                      </a:r>
                      <a:r>
                        <a:rPr lang="en-US" sz="2000" dirty="0" err="1">
                          <a:solidFill>
                            <a:srgbClr val="000000"/>
                          </a:solidFill>
                          <a:latin typeface="Arial"/>
                          <a:ea typeface="Arial"/>
                          <a:cs typeface="Arial"/>
                          <a:sym typeface="Arial"/>
                        </a:rPr>
                        <a:t>Mã</a:t>
                      </a:r>
                      <a:r>
                        <a:rPr lang="en-US" sz="2000" dirty="0">
                          <a:solidFill>
                            <a:srgbClr val="000000"/>
                          </a:solidFill>
                          <a:latin typeface="Arial"/>
                          <a:ea typeface="Arial"/>
                          <a:cs typeface="Arial"/>
                          <a:sym typeface="Arial"/>
                        </a:rPr>
                        <a:t> ticket IB XMTT </a:t>
                      </a:r>
                      <a:r>
                        <a:rPr lang="en-US" sz="2000" dirty="0" err="1">
                          <a:solidFill>
                            <a:srgbClr val="000000"/>
                          </a:solidFill>
                          <a:latin typeface="Arial"/>
                          <a:ea typeface="Arial"/>
                          <a:cs typeface="Arial"/>
                          <a:sym typeface="Arial"/>
                        </a:rPr>
                        <a:t>thành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 </a:t>
                      </a:r>
                      <a:r>
                        <a:rPr lang="en-US" sz="2000" dirty="0" err="1">
                          <a:solidFill>
                            <a:srgbClr val="000000"/>
                          </a:solidFill>
                          <a:latin typeface="Arial"/>
                          <a:ea typeface="Arial"/>
                          <a:cs typeface="Arial"/>
                          <a:sym typeface="Arial"/>
                        </a:rPr>
                        <a:t>Lý</a:t>
                      </a:r>
                      <a:r>
                        <a:rPr lang="en-US" sz="2000" dirty="0">
                          <a:solidFill>
                            <a:srgbClr val="000000"/>
                          </a:solidFill>
                          <a:latin typeface="Arial"/>
                          <a:ea typeface="Arial"/>
                          <a:cs typeface="Arial"/>
                          <a:sym typeface="Arial"/>
                        </a:rPr>
                        <a:t> do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endParaRPr lang="en-US" sz="2000" dirty="0">
                        <a:solidFill>
                          <a:srgbClr val="000000"/>
                        </a:solidFill>
                        <a:latin typeface="Arial"/>
                        <a:ea typeface="Arial"/>
                        <a:cs typeface="Arial"/>
                        <a:sym typeface="Arial"/>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91018" y="9790919"/>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4" name="Freeform 4"/>
          <p:cNvSpPr/>
          <p:nvPr/>
        </p:nvSpPr>
        <p:spPr>
          <a:xfrm>
            <a:off x="-207764" y="-1387199"/>
            <a:ext cx="18517698" cy="2585635"/>
          </a:xfrm>
          <a:custGeom>
            <a:avLst/>
            <a:gdLst/>
            <a:ahLst/>
            <a:cxnLst/>
            <a:rect l="l" t="t" r="r" b="b"/>
            <a:pathLst>
              <a:path w="18517698" h="2585635">
                <a:moveTo>
                  <a:pt x="0" y="0"/>
                </a:moveTo>
                <a:lnTo>
                  <a:pt x="18517697" y="0"/>
                </a:lnTo>
                <a:lnTo>
                  <a:pt x="18517697" y="2585635"/>
                </a:lnTo>
                <a:lnTo>
                  <a:pt x="0" y="258563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701388" y="142808"/>
            <a:ext cx="19690775" cy="885892"/>
          </a:xfrm>
          <a:prstGeom prst="rect">
            <a:avLst/>
          </a:prstGeom>
        </p:spPr>
        <p:txBody>
          <a:bodyPr lIns="0" tIns="0" rIns="0" bIns="0" rtlCol="0" anchor="t">
            <a:spAutoFit/>
          </a:bodyPr>
          <a:lstStyle/>
          <a:p>
            <a:pPr algn="ctr">
              <a:lnSpc>
                <a:spcPts val="6027"/>
              </a:lnSpc>
            </a:pPr>
            <a:r>
              <a:rPr lang="en-US" sz="3399" b="1">
                <a:solidFill>
                  <a:srgbClr val="000000"/>
                </a:solidFill>
                <a:latin typeface="Arial Bold"/>
                <a:ea typeface="Arial Bold"/>
                <a:cs typeface="Arial Bold"/>
                <a:sym typeface="Arial Bold"/>
              </a:rPr>
              <a:t>ĐÃ CÓ HĐ VAY - ĐÃ CẬP NHẬT TRÊN FEOL 2.0 NHƯNG KHÔNG ĐỒNG BỘ</a:t>
            </a:r>
          </a:p>
        </p:txBody>
      </p:sp>
      <p:graphicFrame>
        <p:nvGraphicFramePr>
          <p:cNvPr id="6" name="Table 6"/>
          <p:cNvGraphicFramePr>
            <a:graphicFrameLocks noGrp="1"/>
          </p:cNvGraphicFramePr>
          <p:nvPr/>
        </p:nvGraphicFramePr>
        <p:xfrm>
          <a:off x="146050" y="1433418"/>
          <a:ext cx="17995900" cy="6525542"/>
        </p:xfrm>
        <a:graphic>
          <a:graphicData uri="http://schemas.openxmlformats.org/drawingml/2006/table">
            <a:tbl>
              <a:tblPr/>
              <a:tblGrid>
                <a:gridCol w="2929124">
                  <a:extLst>
                    <a:ext uri="{9D8B030D-6E8A-4147-A177-3AD203B41FA5}">
                      <a16:colId xmlns:a16="http://schemas.microsoft.com/office/drawing/2014/main" val="20000"/>
                    </a:ext>
                  </a:extLst>
                </a:gridCol>
                <a:gridCol w="7015574">
                  <a:extLst>
                    <a:ext uri="{9D8B030D-6E8A-4147-A177-3AD203B41FA5}">
                      <a16:colId xmlns:a16="http://schemas.microsoft.com/office/drawing/2014/main" val="20001"/>
                    </a:ext>
                  </a:extLst>
                </a:gridCol>
                <a:gridCol w="1708550">
                  <a:extLst>
                    <a:ext uri="{9D8B030D-6E8A-4147-A177-3AD203B41FA5}">
                      <a16:colId xmlns:a16="http://schemas.microsoft.com/office/drawing/2014/main" val="20002"/>
                    </a:ext>
                  </a:extLst>
                </a:gridCol>
                <a:gridCol w="6342652">
                  <a:extLst>
                    <a:ext uri="{9D8B030D-6E8A-4147-A177-3AD203B41FA5}">
                      <a16:colId xmlns:a16="http://schemas.microsoft.com/office/drawing/2014/main" val="20003"/>
                    </a:ext>
                  </a:extLst>
                </a:gridCol>
              </a:tblGrid>
              <a:tr h="927103">
                <a:tc>
                  <a:txBody>
                    <a:bodyPr/>
                    <a:lstStyle/>
                    <a:p>
                      <a:pPr algn="ctr">
                        <a:lnSpc>
                          <a:spcPts val="3958"/>
                        </a:lnSpc>
                        <a:defRPr/>
                      </a:pPr>
                      <a:r>
                        <a:rPr lang="en-US" sz="2199" b="1" spc="10">
                          <a:solidFill>
                            <a:srgbClr val="FFFFFF"/>
                          </a:solidFill>
                          <a:latin typeface="Arial Bold"/>
                          <a:ea typeface="Arial Bold"/>
                          <a:cs typeface="Arial Bold"/>
                          <a:sym typeface="Arial Bold"/>
                        </a:rPr>
                        <a:t>TRƯỜNG HỢP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TAT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2844167">
                <a:tc>
                  <a:txBody>
                    <a:bodyPr/>
                    <a:lstStyle/>
                    <a:p>
                      <a:pPr algn="l">
                        <a:lnSpc>
                          <a:spcPts val="5000"/>
                        </a:lnSpc>
                        <a:defRPr/>
                      </a:pPr>
                      <a:r>
                        <a:rPr lang="en-US" sz="2000" b="1">
                          <a:solidFill>
                            <a:srgbClr val="000000"/>
                          </a:solidFill>
                          <a:latin typeface="Arial Bold"/>
                          <a:ea typeface="Arial Bold"/>
                          <a:cs typeface="Arial Bold"/>
                          <a:sym typeface="Arial Bold"/>
                        </a:rPr>
                        <a:t>TỪ APP VỀ PEGA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marL="457201" lvl="2" indent="-152400" algn="l">
                        <a:lnSpc>
                          <a:spcPts val="5000"/>
                        </a:lnSpc>
                        <a:buFont typeface="Arial"/>
                        <a:buChar char="⚬"/>
                        <a:defRPr/>
                      </a:pPr>
                      <a:r>
                        <a:rPr lang="en-US" sz="2000">
                          <a:solidFill>
                            <a:srgbClr val="000000"/>
                          </a:solidFill>
                          <a:latin typeface="Arial"/>
                          <a:ea typeface="Arial"/>
                          <a:cs typeface="Arial"/>
                          <a:sym typeface="Arial"/>
                        </a:rPr>
                        <a:t>Xác nhận SĐT cần cập nhật </a:t>
                      </a:r>
                      <a:endParaRPr lang="en-US" sz="1100"/>
                    </a:p>
                    <a:p>
                      <a:pPr marL="457201" lvl="2" indent="-152400" algn="l">
                        <a:lnSpc>
                          <a:spcPts val="5000"/>
                        </a:lnSpc>
                        <a:buFont typeface="Arial"/>
                        <a:buChar char="⚬"/>
                      </a:pPr>
                      <a:r>
                        <a:rPr lang="en-US" sz="2000">
                          <a:solidFill>
                            <a:srgbClr val="000000"/>
                          </a:solidFill>
                          <a:latin typeface="Arial"/>
                          <a:ea typeface="Arial"/>
                          <a:cs typeface="Arial"/>
                          <a:sym typeface="Arial"/>
                        </a:rPr>
                        <a:t>Thông báo sau khi cập nhật thành công thì tên đăng nhập FEOL 2.0 là số điện thoại mới với định dạng là số “0” đầu.</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algn="ctr">
                        <a:lnSpc>
                          <a:spcPts val="5000"/>
                        </a:lnSpc>
                        <a:defRPr/>
                      </a:pPr>
                      <a:r>
                        <a:rPr lang="en-US" sz="2000">
                          <a:solidFill>
                            <a:srgbClr val="000000"/>
                          </a:solidFill>
                          <a:latin typeface="Arial"/>
                          <a:ea typeface="Arial"/>
                          <a:cs typeface="Arial"/>
                          <a:sym typeface="Arial"/>
                        </a:rPr>
                        <a:t>4 ngày làm việc</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a:solidFill>
                            <a:srgbClr val="000000"/>
                          </a:solidFill>
                          <a:latin typeface="Arial Bold"/>
                          <a:ea typeface="Arial Bold"/>
                          <a:cs typeface="Arial Bold"/>
                          <a:sym typeface="Arial Bold"/>
                        </a:rPr>
                        <a:t>Chọn: Cập nhật Số điện thoại</a:t>
                      </a:r>
                      <a:endParaRPr lang="en-US" sz="1100"/>
                    </a:p>
                    <a:p>
                      <a:pPr algn="l">
                        <a:lnSpc>
                          <a:spcPts val="3600"/>
                        </a:lnSpc>
                      </a:pPr>
                      <a:r>
                        <a:rPr lang="en-US" sz="2000" b="1">
                          <a:solidFill>
                            <a:srgbClr val="000000"/>
                          </a:solidFill>
                          <a:latin typeface="Arial Bold"/>
                          <a:ea typeface="Arial Bold"/>
                          <a:cs typeface="Arial Bold"/>
                          <a:sym typeface="Arial Bold"/>
                        </a:rPr>
                        <a:t>Remark: </a:t>
                      </a:r>
                      <a:r>
                        <a:rPr lang="en-US" sz="2000">
                          <a:solidFill>
                            <a:srgbClr val="000000"/>
                          </a:solidFill>
                          <a:latin typeface="Arial"/>
                          <a:ea typeface="Arial"/>
                          <a:cs typeface="Arial"/>
                          <a:sym typeface="Arial"/>
                        </a:rPr>
                        <a:t>SĐT mới - KH đã có tài khoản FEOL 2.0 - SĐT hiện tại của KH trên FEOL 2.0 - Lý do cập nhật</a:t>
                      </a:r>
                    </a:p>
                    <a:p>
                      <a:pPr algn="l">
                        <a:lnSpc>
                          <a:spcPts val="5000"/>
                        </a:lnSpc>
                      </a:pPr>
                      <a:endParaRPr lang="en-US" sz="2000">
                        <a:solidFill>
                          <a:srgbClr val="000000"/>
                        </a:solidFill>
                        <a:latin typeface="Arial"/>
                        <a:ea typeface="Arial"/>
                        <a:cs typeface="Arial"/>
                        <a:sym typeface="Arial"/>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2754272">
                <a:tc>
                  <a:txBody>
                    <a:bodyPr/>
                    <a:lstStyle/>
                    <a:p>
                      <a:pPr algn="l">
                        <a:lnSpc>
                          <a:spcPts val="5000"/>
                        </a:lnSpc>
                        <a:defRPr/>
                      </a:pPr>
                      <a:r>
                        <a:rPr lang="en-US" sz="2000" b="1">
                          <a:solidFill>
                            <a:srgbClr val="000000"/>
                          </a:solidFill>
                          <a:latin typeface="Arial Bold"/>
                          <a:ea typeface="Arial Bold"/>
                          <a:cs typeface="Arial Bold"/>
                          <a:sym typeface="Arial Bold"/>
                        </a:rPr>
                        <a:t>TỪ PEGA VỀ APP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marL="457201" lvl="2" indent="-152400" algn="l">
                        <a:lnSpc>
                          <a:spcPts val="5000"/>
                        </a:lnSpc>
                        <a:buFont typeface="Arial"/>
                        <a:buChar char="⚬"/>
                        <a:defRPr/>
                      </a:pPr>
                      <a:r>
                        <a:rPr lang="en-US" sz="2000">
                          <a:solidFill>
                            <a:srgbClr val="000000"/>
                          </a:solidFill>
                          <a:latin typeface="Arial"/>
                          <a:ea typeface="Arial"/>
                          <a:cs typeface="Arial"/>
                          <a:sym typeface="Arial"/>
                        </a:rPr>
                        <a:t>Xác nhận SĐT cần cập nhật </a:t>
                      </a:r>
                      <a:endParaRPr lang="en-US" sz="1100"/>
                    </a:p>
                    <a:p>
                      <a:pPr marL="457201" lvl="2" indent="-152400" algn="l">
                        <a:lnSpc>
                          <a:spcPts val="5000"/>
                        </a:lnSpc>
                        <a:buFont typeface="Arial"/>
                        <a:buChar char="⚬"/>
                      </a:pPr>
                      <a:r>
                        <a:rPr lang="en-US" sz="2000">
                          <a:solidFill>
                            <a:srgbClr val="000000"/>
                          </a:solidFill>
                          <a:latin typeface="Arial"/>
                          <a:ea typeface="Arial"/>
                          <a:cs typeface="Arial"/>
                          <a:sym typeface="Arial"/>
                        </a:rPr>
                        <a:t>Thông báo sau khi cập nhật thành công thì tên đăng nhập FEOL 2.0 là số điện thoại mới với định dạng là số “0” đầu.</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ctr">
                        <a:lnSpc>
                          <a:spcPts val="5000"/>
                        </a:lnSpc>
                        <a:defRPr/>
                      </a:pPr>
                      <a:r>
                        <a:rPr lang="en-US" sz="2000">
                          <a:solidFill>
                            <a:srgbClr val="000000"/>
                          </a:solidFill>
                          <a:latin typeface="Arial"/>
                          <a:ea typeface="Arial"/>
                          <a:cs typeface="Arial"/>
                          <a:sym typeface="Arial"/>
                        </a:rPr>
                        <a:t>4 ngày làm việc</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600"/>
                        </a:lnSpc>
                        <a:defRPr/>
                      </a:pPr>
                      <a:r>
                        <a:rPr lang="en-US" sz="2000" b="1">
                          <a:solidFill>
                            <a:srgbClr val="000000"/>
                          </a:solidFill>
                          <a:latin typeface="Arial Bold"/>
                          <a:ea typeface="Arial Bold"/>
                          <a:cs typeface="Arial Bold"/>
                          <a:sym typeface="Arial Bold"/>
                        </a:rPr>
                        <a:t>Code: RL57-FE Online 2.0</a:t>
                      </a:r>
                      <a:endParaRPr lang="en-US" sz="1100"/>
                    </a:p>
                    <a:p>
                      <a:pPr algn="l">
                        <a:lnSpc>
                          <a:spcPts val="3600"/>
                        </a:lnSpc>
                      </a:pPr>
                      <a:r>
                        <a:rPr lang="en-US" sz="2000" b="1">
                          <a:solidFill>
                            <a:srgbClr val="000000"/>
                          </a:solidFill>
                          <a:latin typeface="Arial Bold"/>
                          <a:ea typeface="Arial Bold"/>
                          <a:cs typeface="Arial Bold"/>
                          <a:sym typeface="Arial Bold"/>
                        </a:rPr>
                        <a:t>Sub code: RL57.04-Lỗi đồng bộ thông tin</a:t>
                      </a:r>
                    </a:p>
                    <a:p>
                      <a:pPr algn="l">
                        <a:lnSpc>
                          <a:spcPts val="3600"/>
                        </a:lnSpc>
                      </a:pPr>
                      <a:r>
                        <a:rPr lang="en-US" sz="2000" b="1">
                          <a:solidFill>
                            <a:srgbClr val="000000"/>
                          </a:solidFill>
                          <a:latin typeface="Arial Bold"/>
                          <a:ea typeface="Arial Bold"/>
                          <a:cs typeface="Arial Bold"/>
                          <a:sym typeface="Arial Bold"/>
                        </a:rPr>
                        <a:t>Properties:</a:t>
                      </a:r>
                      <a:r>
                        <a:rPr lang="en-US" sz="2000">
                          <a:solidFill>
                            <a:srgbClr val="000000"/>
                          </a:solidFill>
                          <a:latin typeface="Arial"/>
                          <a:ea typeface="Arial"/>
                          <a:cs typeface="Arial"/>
                          <a:sym typeface="Arial"/>
                        </a:rPr>
                        <a:t> nhập theo yêu cầu </a:t>
                      </a:r>
                    </a:p>
                    <a:p>
                      <a:pPr algn="l">
                        <a:lnSpc>
                          <a:spcPts val="360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Đồng bộ FEOL 2.0 - XMTT thành công - SĐT cần cập nhật </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91018" y="9790919"/>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graphicFrame>
        <p:nvGraphicFramePr>
          <p:cNvPr id="4" name="Table 4"/>
          <p:cNvGraphicFramePr>
            <a:graphicFrameLocks noGrp="1"/>
          </p:cNvGraphicFramePr>
          <p:nvPr/>
        </p:nvGraphicFramePr>
        <p:xfrm>
          <a:off x="640942" y="1104900"/>
          <a:ext cx="16992600" cy="8626726"/>
        </p:xfrm>
        <a:graphic>
          <a:graphicData uri="http://schemas.openxmlformats.org/drawingml/2006/table">
            <a:tbl>
              <a:tblPr/>
              <a:tblGrid>
                <a:gridCol w="3765872">
                  <a:extLst>
                    <a:ext uri="{9D8B030D-6E8A-4147-A177-3AD203B41FA5}">
                      <a16:colId xmlns:a16="http://schemas.microsoft.com/office/drawing/2014/main" val="20000"/>
                    </a:ext>
                  </a:extLst>
                </a:gridCol>
                <a:gridCol w="13226728">
                  <a:extLst>
                    <a:ext uri="{9D8B030D-6E8A-4147-A177-3AD203B41FA5}">
                      <a16:colId xmlns:a16="http://schemas.microsoft.com/office/drawing/2014/main" val="20001"/>
                    </a:ext>
                  </a:extLst>
                </a:gridCol>
              </a:tblGrid>
              <a:tr h="870993">
                <a:tc>
                  <a:txBody>
                    <a:bodyPr/>
                    <a:lstStyle/>
                    <a:p>
                      <a:pPr algn="ctr">
                        <a:lnSpc>
                          <a:spcPts val="3958"/>
                        </a:lnSpc>
                        <a:defRPr/>
                      </a:pPr>
                      <a:r>
                        <a:rPr lang="en-US" sz="2199" b="1" spc="10">
                          <a:solidFill>
                            <a:srgbClr val="FFFFFF"/>
                          </a:solidFill>
                          <a:latin typeface="Arial Bold"/>
                          <a:ea typeface="Arial Bold"/>
                          <a:cs typeface="Arial Bold"/>
                          <a:sym typeface="Arial Bold"/>
                        </a:rPr>
                        <a:t>TRƯỜNG HỢP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3044021">
                <a:tc>
                  <a:txBody>
                    <a:bodyPr/>
                    <a:lstStyle/>
                    <a:p>
                      <a:pPr algn="l">
                        <a:lnSpc>
                          <a:spcPts val="5000"/>
                        </a:lnSpc>
                        <a:defRPr/>
                      </a:pPr>
                      <a:r>
                        <a:rPr lang="en-US" sz="2000" b="1">
                          <a:solidFill>
                            <a:srgbClr val="000000"/>
                          </a:solidFill>
                          <a:latin typeface="Arial Bold"/>
                          <a:ea typeface="Arial Bold"/>
                          <a:cs typeface="Arial Bold"/>
                          <a:sym typeface="Arial Bold"/>
                        </a:rPr>
                        <a:t>1. Thông tin Khách hàng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5000"/>
                        </a:lnSpc>
                        <a:buFont typeface="Arial"/>
                        <a:buChar char="⚬"/>
                        <a:defRPr/>
                      </a:pPr>
                      <a:r>
                        <a:rPr lang="en-US" sz="2000">
                          <a:solidFill>
                            <a:srgbClr val="000000"/>
                          </a:solidFill>
                          <a:latin typeface="Arial"/>
                          <a:ea typeface="Arial"/>
                          <a:cs typeface="Arial"/>
                          <a:sym typeface="Arial"/>
                        </a:rPr>
                        <a:t>Tên khách hàng</a:t>
                      </a:r>
                      <a:endParaRPr lang="en-US" sz="1100"/>
                    </a:p>
                    <a:p>
                      <a:pPr marL="457201" lvl="2" indent="-152400" algn="l">
                        <a:lnSpc>
                          <a:spcPts val="5000"/>
                        </a:lnSpc>
                        <a:buFont typeface="Arial"/>
                        <a:buChar char="⚬"/>
                      </a:pPr>
                      <a:r>
                        <a:rPr lang="en-US" sz="2000">
                          <a:solidFill>
                            <a:srgbClr val="000000"/>
                          </a:solidFill>
                          <a:latin typeface="Arial"/>
                          <a:ea typeface="Arial"/>
                          <a:cs typeface="Arial"/>
                          <a:sym typeface="Arial"/>
                        </a:rPr>
                        <a:t>CCCD đăng ký ứng dụng</a:t>
                      </a:r>
                    </a:p>
                    <a:p>
                      <a:pPr marL="457201" lvl="2" indent="-152400" algn="l">
                        <a:lnSpc>
                          <a:spcPts val="5000"/>
                        </a:lnSpc>
                        <a:buFont typeface="Arial"/>
                        <a:buChar char="⚬"/>
                      </a:pPr>
                      <a:r>
                        <a:rPr lang="en-US" sz="2000">
                          <a:solidFill>
                            <a:srgbClr val="000000"/>
                          </a:solidFill>
                          <a:latin typeface="Arial"/>
                          <a:ea typeface="Arial"/>
                          <a:cs typeface="Arial"/>
                          <a:sym typeface="Arial"/>
                        </a:rPr>
                        <a:t>Số điện thoại đăng ký ứng dụng</a:t>
                      </a:r>
                    </a:p>
                    <a:p>
                      <a:pPr marL="457201" lvl="2" indent="-152400" algn="l">
                        <a:lnSpc>
                          <a:spcPts val="5000"/>
                        </a:lnSpc>
                        <a:buFont typeface="Arial"/>
                        <a:buChar char="⚬"/>
                      </a:pPr>
                      <a:r>
                        <a:rPr lang="en-US" sz="2000">
                          <a:solidFill>
                            <a:srgbClr val="000000"/>
                          </a:solidFill>
                          <a:latin typeface="Arial"/>
                          <a:ea typeface="Arial"/>
                          <a:cs typeface="Arial"/>
                          <a:sym typeface="Arial"/>
                        </a:rPr>
                        <a:t>SHĐ (nếu có)</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2626173">
                <a:tc>
                  <a:txBody>
                    <a:bodyPr/>
                    <a:lstStyle/>
                    <a:p>
                      <a:pPr algn="l">
                        <a:lnSpc>
                          <a:spcPts val="5000"/>
                        </a:lnSpc>
                        <a:defRPr/>
                      </a:pPr>
                      <a:r>
                        <a:rPr lang="en-US" sz="2000" b="1">
                          <a:solidFill>
                            <a:srgbClr val="000000"/>
                          </a:solidFill>
                          <a:latin typeface="Arial Bold"/>
                          <a:ea typeface="Arial Bold"/>
                          <a:cs typeface="Arial Bold"/>
                          <a:sym typeface="Arial Bold"/>
                        </a:rPr>
                        <a:t>2. Thông tin thiết bị</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5000"/>
                        </a:lnSpc>
                        <a:buFont typeface="Arial"/>
                        <a:buChar char="⚬"/>
                        <a:defRPr/>
                      </a:pPr>
                      <a:r>
                        <a:rPr lang="en-US" sz="2000">
                          <a:solidFill>
                            <a:srgbClr val="000000"/>
                          </a:solidFill>
                          <a:latin typeface="Arial"/>
                          <a:ea typeface="Arial"/>
                          <a:cs typeface="Arial"/>
                          <a:sym typeface="Arial"/>
                        </a:rPr>
                        <a:t>Tên thiết bị (Ví dụ: Iphone, Samsung…)</a:t>
                      </a:r>
                      <a:endParaRPr lang="en-US" sz="1100"/>
                    </a:p>
                    <a:p>
                      <a:pPr marL="457201" lvl="2" indent="-152400" algn="l">
                        <a:lnSpc>
                          <a:spcPts val="5000"/>
                        </a:lnSpc>
                        <a:buFont typeface="Arial"/>
                        <a:buChar char="⚬"/>
                      </a:pPr>
                      <a:r>
                        <a:rPr lang="en-US" sz="2000">
                          <a:solidFill>
                            <a:srgbClr val="000000"/>
                          </a:solidFill>
                          <a:latin typeface="Arial"/>
                          <a:ea typeface="Arial"/>
                          <a:cs typeface="Arial"/>
                          <a:sym typeface="Arial"/>
                        </a:rPr>
                        <a:t>Hệ điều hành (Ví dụ: Android, iOS, Windows...)</a:t>
                      </a:r>
                    </a:p>
                    <a:p>
                      <a:pPr marL="457201" lvl="2" indent="-152400" algn="l">
                        <a:lnSpc>
                          <a:spcPts val="5000"/>
                        </a:lnSpc>
                        <a:buFont typeface="Arial"/>
                        <a:buChar char="⚬"/>
                      </a:pPr>
                      <a:r>
                        <a:rPr lang="en-US" sz="2000">
                          <a:solidFill>
                            <a:srgbClr val="000000"/>
                          </a:solidFill>
                          <a:latin typeface="Arial"/>
                          <a:ea typeface="Arial"/>
                          <a:cs typeface="Arial"/>
                          <a:sym typeface="Arial"/>
                        </a:rPr>
                        <a:t>Phiên bản ĐT:( Ví dụ: IOS16.5, ...)</a:t>
                      </a:r>
                    </a:p>
                    <a:p>
                      <a:pPr marL="457201" lvl="2" indent="-152400" algn="l">
                        <a:lnSpc>
                          <a:spcPts val="5000"/>
                        </a:lnSpc>
                        <a:buFont typeface="Arial"/>
                        <a:buChar char="⚬"/>
                      </a:pPr>
                      <a:r>
                        <a:rPr lang="en-US" sz="2000">
                          <a:solidFill>
                            <a:srgbClr val="000000"/>
                          </a:solidFill>
                          <a:latin typeface="Arial"/>
                          <a:ea typeface="Arial"/>
                          <a:cs typeface="Arial"/>
                          <a:sym typeface="Arial"/>
                        </a:rPr>
                        <a:t>Thời gian xảy ra lỗi</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1891613">
                <a:tc>
                  <a:txBody>
                    <a:bodyPr/>
                    <a:lstStyle/>
                    <a:p>
                      <a:pPr algn="l">
                        <a:lnSpc>
                          <a:spcPts val="5000"/>
                        </a:lnSpc>
                        <a:defRPr/>
                      </a:pPr>
                      <a:r>
                        <a:rPr lang="en-US" sz="2000" b="1">
                          <a:solidFill>
                            <a:srgbClr val="000000"/>
                          </a:solidFill>
                          <a:latin typeface="Arial Bold"/>
                          <a:ea typeface="Arial Bold"/>
                          <a:cs typeface="Arial Bold"/>
                          <a:sym typeface="Arial Bold"/>
                        </a:rPr>
                        <a:t>3. Hình ảnh lỗi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4997"/>
                        </a:lnSpc>
                        <a:defRPr/>
                      </a:pPr>
                      <a:r>
                        <a:rPr lang="en-US" sz="1999">
                          <a:solidFill>
                            <a:srgbClr val="000000"/>
                          </a:solidFill>
                          <a:latin typeface="Arial"/>
                          <a:ea typeface="Arial"/>
                          <a:cs typeface="Arial"/>
                          <a:sym typeface="Arial"/>
                        </a:rPr>
                        <a:t>Hình ảnh thông tin người dùng hiển thị tại mục Tài khoản/ hình ảnh lỗi không đăng nhập được ứng dụng.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bl>
          </a:graphicData>
        </a:graphic>
      </p:graphicFrame>
      <p:sp>
        <p:nvSpPr>
          <p:cNvPr id="5" name="TextBox 5"/>
          <p:cNvSpPr txBox="1"/>
          <p:nvPr/>
        </p:nvSpPr>
        <p:spPr>
          <a:xfrm>
            <a:off x="3303813" y="95021"/>
            <a:ext cx="11680374" cy="724002"/>
          </a:xfrm>
          <a:prstGeom prst="rect">
            <a:avLst/>
          </a:prstGeom>
        </p:spPr>
        <p:txBody>
          <a:bodyPr lIns="0" tIns="0" rIns="0" bIns="0" rtlCol="0" anchor="t">
            <a:spAutoFit/>
          </a:bodyPr>
          <a:lstStyle/>
          <a:p>
            <a:pPr algn="ctr">
              <a:lnSpc>
                <a:spcPts val="6027"/>
              </a:lnSpc>
            </a:pPr>
            <a:r>
              <a:rPr lang="en-US" sz="3399" b="1">
                <a:solidFill>
                  <a:srgbClr val="FF751F"/>
                </a:solidFill>
                <a:latin typeface="Arial Bold"/>
                <a:ea typeface="Arial Bold"/>
                <a:cs typeface="Arial Bold"/>
                <a:sym typeface="Arial Bold"/>
              </a:rPr>
              <a:t>THÔNG TIN VÀ HÌNH ẢNH LỖI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935357533"/>
              </p:ext>
            </p:extLst>
          </p:nvPr>
        </p:nvGraphicFramePr>
        <p:xfrm>
          <a:off x="95245" y="1228896"/>
          <a:ext cx="18097499" cy="7686675"/>
        </p:xfrm>
        <a:graphic>
          <a:graphicData uri="http://schemas.openxmlformats.org/drawingml/2006/table">
            <a:tbl>
              <a:tblPr/>
              <a:tblGrid>
                <a:gridCol w="3382623">
                  <a:extLst>
                    <a:ext uri="{9D8B030D-6E8A-4147-A177-3AD203B41FA5}">
                      <a16:colId xmlns:a16="http://schemas.microsoft.com/office/drawing/2014/main" val="20000"/>
                    </a:ext>
                  </a:extLst>
                </a:gridCol>
                <a:gridCol w="8333132">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4476744">
                  <a:extLst>
                    <a:ext uri="{9D8B030D-6E8A-4147-A177-3AD203B41FA5}">
                      <a16:colId xmlns:a16="http://schemas.microsoft.com/office/drawing/2014/main" val="20003"/>
                    </a:ext>
                  </a:extLst>
                </a:gridCol>
              </a:tblGrid>
              <a:tr h="880665">
                <a:tc gridSpan="2">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TAT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6806010">
                <a:tc>
                  <a:txBody>
                    <a:bodyPr/>
                    <a:lstStyle/>
                    <a:p>
                      <a:pPr algn="just">
                        <a:lnSpc>
                          <a:spcPts val="2999"/>
                        </a:lnSpc>
                        <a:defRPr/>
                      </a:pPr>
                      <a:r>
                        <a:rPr lang="en-US" sz="1999" b="1" spc="9" dirty="0" err="1">
                          <a:solidFill>
                            <a:srgbClr val="000000"/>
                          </a:solidFill>
                          <a:latin typeface="Arial Bold"/>
                          <a:ea typeface="Arial Bold"/>
                          <a:cs typeface="Arial Bold"/>
                          <a:sym typeface="Arial Bold"/>
                        </a:rPr>
                        <a:t>Bước</a:t>
                      </a:r>
                      <a:r>
                        <a:rPr lang="en-US" sz="1999" b="1" spc="9" dirty="0">
                          <a:solidFill>
                            <a:srgbClr val="000000"/>
                          </a:solidFill>
                          <a:latin typeface="Arial Bold"/>
                          <a:ea typeface="Arial Bold"/>
                          <a:cs typeface="Arial Bold"/>
                          <a:sym typeface="Arial Bold"/>
                        </a:rPr>
                        <a:t> 1 </a:t>
                      </a:r>
                      <a:endParaRPr lang="en-US" sz="1100" dirty="0"/>
                    </a:p>
                    <a:p>
                      <a:pPr algn="just">
                        <a:lnSpc>
                          <a:spcPts val="2999"/>
                        </a:lnSpc>
                      </a:pPr>
                      <a:r>
                        <a:rPr lang="en-US" sz="1999" spc="9" dirty="0" err="1">
                          <a:solidFill>
                            <a:srgbClr val="000000"/>
                          </a:solidFill>
                          <a:latin typeface="Arial"/>
                          <a:ea typeface="Arial"/>
                          <a:cs typeface="Arial"/>
                          <a:sym typeface="Arial"/>
                        </a:rPr>
                        <a:t>Hướng</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dẫn</a:t>
                      </a:r>
                      <a:r>
                        <a:rPr lang="en-US" sz="1999" spc="9" dirty="0">
                          <a:solidFill>
                            <a:srgbClr val="000000"/>
                          </a:solidFill>
                          <a:latin typeface="Arial"/>
                          <a:ea typeface="Arial"/>
                          <a:cs typeface="Arial"/>
                          <a:sym typeface="Arial"/>
                        </a:rPr>
                        <a:t> KH </a:t>
                      </a:r>
                      <a:r>
                        <a:rPr lang="en-US" sz="1999" spc="9" dirty="0" err="1">
                          <a:solidFill>
                            <a:srgbClr val="000000"/>
                          </a:solidFill>
                          <a:latin typeface="Arial"/>
                          <a:ea typeface="Arial"/>
                          <a:cs typeface="Arial"/>
                          <a:sym typeface="Arial"/>
                        </a:rPr>
                        <a:t>thao</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tác</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trên</a:t>
                      </a:r>
                      <a:r>
                        <a:rPr lang="en-US" sz="1999" spc="9" dirty="0">
                          <a:solidFill>
                            <a:srgbClr val="000000"/>
                          </a:solidFill>
                          <a:latin typeface="Arial"/>
                          <a:ea typeface="Arial"/>
                          <a:cs typeface="Arial"/>
                          <a:sym typeface="Arial"/>
                        </a:rPr>
                        <a:t> </a:t>
                      </a:r>
                      <a:r>
                        <a:rPr lang="en-US" sz="1999" b="1" i="1" u="sng" kern="1200" spc="9" dirty="0">
                          <a:solidFill>
                            <a:srgbClr val="4DA745"/>
                          </a:solidFill>
                          <a:latin typeface="Arial Bold Italics"/>
                          <a:ea typeface="Arial Bold Italics"/>
                          <a:cs typeface="Arial Bold Italics"/>
                          <a:sym typeface="Arial Bold Italics"/>
                          <a:hlinkClick r:id="rId2" action="ppaction://hlinkfile">
                            <a:extLst>
                              <a:ext uri="{A12FA001-AC4F-418D-AE19-62706E023703}">
                                <ahyp:hlinkClr xmlns:ahyp="http://schemas.microsoft.com/office/drawing/2018/hyperlinkcolor" val="tx"/>
                              </a:ext>
                            </a:extLst>
                          </a:hlinkClick>
                        </a:rPr>
                        <a:t>FE ONLINE 2.0</a:t>
                      </a:r>
                      <a:r>
                        <a:rPr lang="en-US" sz="1999" b="1" i="1" u="sng" kern="1200" spc="9" dirty="0">
                          <a:solidFill>
                            <a:srgbClr val="4DA745"/>
                          </a:solidFill>
                          <a:latin typeface="Arial Bold Italics"/>
                          <a:ea typeface="Arial"/>
                          <a:cs typeface="Arial Bold Italics"/>
                          <a:sym typeface="Arial"/>
                          <a:hlinkClick r:id="rId2" action="ppaction://hlinkfile">
                            <a:extLst>
                              <a:ext uri="{A12FA001-AC4F-418D-AE19-62706E023703}">
                                <ahyp:hlinkClr xmlns:ahyp="http://schemas.microsoft.com/office/drawing/2018/hyperlinkcolor" val="tx"/>
                              </a:ext>
                            </a:extLst>
                          </a:hlinkClick>
                        </a:rPr>
                        <a:t>. </a:t>
                      </a:r>
                      <a:endParaRPr lang="en-US" sz="1999" b="1" i="1" u="sng" kern="1200" spc="9" dirty="0">
                        <a:solidFill>
                          <a:srgbClr val="4DA745"/>
                        </a:solidFill>
                        <a:latin typeface="Arial Bold Italics"/>
                        <a:ea typeface="Arial"/>
                        <a:cs typeface="Arial Bold Italics"/>
                        <a:sym typeface="Arial"/>
                      </a:endParaRPr>
                    </a:p>
                    <a:p>
                      <a:pPr algn="just">
                        <a:lnSpc>
                          <a:spcPts val="2999"/>
                        </a:lnSpc>
                      </a:pPr>
                      <a:r>
                        <a:rPr lang="en-US" sz="1999" spc="9" dirty="0" err="1">
                          <a:solidFill>
                            <a:srgbClr val="000000"/>
                          </a:solidFill>
                          <a:latin typeface="Arial"/>
                          <a:ea typeface="Arial"/>
                          <a:cs typeface="Arial"/>
                          <a:sym typeface="Arial"/>
                        </a:rPr>
                        <a:t>Nếu</a:t>
                      </a:r>
                      <a:r>
                        <a:rPr lang="en-US" sz="1999" spc="9" dirty="0">
                          <a:solidFill>
                            <a:srgbClr val="000000"/>
                          </a:solidFill>
                          <a:latin typeface="Arial"/>
                          <a:ea typeface="Arial"/>
                          <a:cs typeface="Arial"/>
                          <a:sym typeface="Arial"/>
                        </a:rPr>
                        <a:t> KH </a:t>
                      </a:r>
                      <a:r>
                        <a:rPr lang="en-US" sz="1999" spc="9" dirty="0" err="1">
                          <a:solidFill>
                            <a:srgbClr val="000000"/>
                          </a:solidFill>
                          <a:latin typeface="Arial"/>
                          <a:ea typeface="Arial"/>
                          <a:cs typeface="Arial"/>
                          <a:sym typeface="Arial"/>
                        </a:rPr>
                        <a:t>không</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đăng</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nhập</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được</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thao</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tác</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lỗi</a:t>
                      </a:r>
                      <a:r>
                        <a:rPr lang="en-US" sz="1999" spc="9" dirty="0">
                          <a:solidFill>
                            <a:srgbClr val="000000"/>
                          </a:solidFill>
                          <a:latin typeface="Arial"/>
                          <a:ea typeface="Arial"/>
                          <a:cs typeface="Arial"/>
                          <a:sym typeface="Arial"/>
                        </a:rPr>
                        <a:t> </a:t>
                      </a:r>
                    </a:p>
                    <a:p>
                      <a:pPr algn="just">
                        <a:lnSpc>
                          <a:spcPts val="2999"/>
                        </a:lnSpc>
                      </a:pPr>
                      <a:r>
                        <a:rPr lang="en-US" sz="1999" b="1" spc="9" dirty="0">
                          <a:solidFill>
                            <a:srgbClr val="000000"/>
                          </a:solidFill>
                          <a:latin typeface="Arial Bold"/>
                          <a:ea typeface="Arial Bold"/>
                          <a:cs typeface="Arial Bold"/>
                          <a:sym typeface="Arial Bold"/>
                        </a:rPr>
                        <a:t>=&gt; </a:t>
                      </a:r>
                      <a:r>
                        <a:rPr lang="en-US" sz="1999" b="1" spc="9" dirty="0" err="1">
                          <a:solidFill>
                            <a:srgbClr val="000000"/>
                          </a:solidFill>
                          <a:latin typeface="Arial Bold"/>
                          <a:ea typeface="Arial Bold"/>
                          <a:cs typeface="Arial Bold"/>
                          <a:sym typeface="Arial Bold"/>
                        </a:rPr>
                        <a:t>Chuyển</a:t>
                      </a:r>
                      <a:r>
                        <a:rPr lang="en-US" sz="1999" b="1" spc="9" dirty="0">
                          <a:solidFill>
                            <a:srgbClr val="000000"/>
                          </a:solidFill>
                          <a:latin typeface="Arial Bold"/>
                          <a:ea typeface="Arial Bold"/>
                          <a:cs typeface="Arial Bold"/>
                          <a:sym typeface="Arial Bold"/>
                        </a:rPr>
                        <a:t> </a:t>
                      </a:r>
                      <a:r>
                        <a:rPr lang="en-US" sz="1999" b="1" spc="9" dirty="0" err="1">
                          <a:solidFill>
                            <a:srgbClr val="000000"/>
                          </a:solidFill>
                          <a:latin typeface="Arial Bold"/>
                          <a:ea typeface="Arial Bold"/>
                          <a:cs typeface="Arial Bold"/>
                          <a:sym typeface="Arial Bold"/>
                        </a:rPr>
                        <a:t>bước</a:t>
                      </a:r>
                      <a:r>
                        <a:rPr lang="en-US" sz="1999" b="1" spc="9" dirty="0">
                          <a:solidFill>
                            <a:srgbClr val="000000"/>
                          </a:solidFill>
                          <a:latin typeface="Arial Bold"/>
                          <a:ea typeface="Arial Bold"/>
                          <a:cs typeface="Arial Bold"/>
                          <a:sym typeface="Arial Bold"/>
                        </a:rPr>
                        <a:t> 2</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999"/>
                        </a:lnSpc>
                        <a:defRPr/>
                      </a:pPr>
                      <a:r>
                        <a:rPr lang="en-US" sz="1999" b="1" dirty="0" err="1">
                          <a:solidFill>
                            <a:srgbClr val="000000"/>
                          </a:solidFill>
                          <a:latin typeface="Arial Bold"/>
                          <a:ea typeface="Arial Bold"/>
                          <a:cs typeface="Arial Bold"/>
                          <a:sym typeface="Arial Bold"/>
                        </a:rPr>
                        <a:t>Bước</a:t>
                      </a:r>
                      <a:r>
                        <a:rPr lang="en-US" sz="1999" b="1" dirty="0">
                          <a:solidFill>
                            <a:srgbClr val="000000"/>
                          </a:solidFill>
                          <a:latin typeface="Arial Bold"/>
                          <a:ea typeface="Arial Bold"/>
                          <a:cs typeface="Arial Bold"/>
                          <a:sym typeface="Arial Bold"/>
                        </a:rPr>
                        <a:t> 2</a:t>
                      </a:r>
                      <a:endParaRPr lang="en-US" sz="1100" dirty="0"/>
                    </a:p>
                    <a:p>
                      <a:pPr marL="457079" lvl="2" indent="-152360" algn="l">
                        <a:lnSpc>
                          <a:spcPts val="2999"/>
                        </a:lnSpc>
                        <a:buFont typeface="Arial"/>
                        <a:buChar char="⚬"/>
                      </a:pPr>
                      <a:r>
                        <a:rPr lang="en-US" sz="1999" dirty="0" err="1">
                          <a:solidFill>
                            <a:srgbClr val="000000"/>
                          </a:solidFill>
                          <a:latin typeface="Arial"/>
                          <a:ea typeface="Arial"/>
                          <a:cs typeface="Arial"/>
                          <a:sym typeface="Arial"/>
                        </a:rPr>
                        <a:t>Xác</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nhận</a:t>
                      </a:r>
                      <a:r>
                        <a:rPr lang="en-US" sz="1999" dirty="0">
                          <a:solidFill>
                            <a:srgbClr val="000000"/>
                          </a:solidFill>
                          <a:latin typeface="Arial"/>
                          <a:ea typeface="Arial"/>
                          <a:cs typeface="Arial"/>
                          <a:sym typeface="Arial"/>
                        </a:rPr>
                        <a:t> SĐT </a:t>
                      </a:r>
                      <a:r>
                        <a:rPr lang="en-US" sz="1999" dirty="0" err="1">
                          <a:solidFill>
                            <a:srgbClr val="000000"/>
                          </a:solidFill>
                          <a:latin typeface="Arial"/>
                          <a:ea typeface="Arial"/>
                          <a:cs typeface="Arial"/>
                          <a:sym typeface="Arial"/>
                        </a:rPr>
                        <a:t>cần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cập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nhật</a:t>
                      </a:r>
                      <a:r>
                        <a:rPr lang="en-US" sz="1999" dirty="0">
                          <a:solidFill>
                            <a:srgbClr val="000000"/>
                          </a:solidFill>
                          <a:latin typeface="Arial"/>
                          <a:ea typeface="Arial"/>
                          <a:cs typeface="Arial"/>
                          <a:sym typeface="Arial"/>
                        </a:rPr>
                        <a:t> </a:t>
                      </a:r>
                    </a:p>
                    <a:p>
                      <a:pPr marL="457079" lvl="2" indent="-152360" algn="l">
                        <a:lnSpc>
                          <a:spcPts val="2999"/>
                        </a:lnSpc>
                        <a:buFont typeface="Arial"/>
                        <a:buChar char="⚬"/>
                      </a:pPr>
                      <a:r>
                        <a:rPr lang="en-US" sz="1999" dirty="0" err="1">
                          <a:solidFill>
                            <a:srgbClr val="000000"/>
                          </a:solidFill>
                          <a:latin typeface="Arial"/>
                          <a:ea typeface="Arial"/>
                          <a:cs typeface="Arial"/>
                          <a:sym typeface="Arial"/>
                        </a:rPr>
                        <a:t>Xác</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nhận</a:t>
                      </a:r>
                      <a:r>
                        <a:rPr lang="en-US" sz="1999" dirty="0">
                          <a:solidFill>
                            <a:srgbClr val="000000"/>
                          </a:solidFill>
                          <a:latin typeface="Arial"/>
                          <a:ea typeface="Arial"/>
                          <a:cs typeface="Arial"/>
                          <a:sym typeface="Arial"/>
                        </a:rPr>
                        <a:t> SĐT </a:t>
                      </a:r>
                      <a:r>
                        <a:rPr lang="en-US" sz="1999" dirty="0" err="1">
                          <a:solidFill>
                            <a:srgbClr val="000000"/>
                          </a:solidFill>
                          <a:latin typeface="Arial"/>
                          <a:ea typeface="Arial"/>
                          <a:cs typeface="Arial"/>
                          <a:sym typeface="Arial"/>
                        </a:rPr>
                        <a:t>trên</a:t>
                      </a:r>
                      <a:r>
                        <a:rPr lang="en-US" sz="1999" dirty="0">
                          <a:solidFill>
                            <a:srgbClr val="000000"/>
                          </a:solidFill>
                          <a:latin typeface="Arial"/>
                          <a:ea typeface="Arial"/>
                          <a:cs typeface="Arial"/>
                          <a:sym typeface="Arial"/>
                        </a:rPr>
                        <a:t> FEOL 2.0 (</a:t>
                      </a:r>
                      <a:r>
                        <a:rPr lang="en-US" sz="1999" dirty="0" err="1">
                          <a:solidFill>
                            <a:srgbClr val="000000"/>
                          </a:solidFill>
                          <a:latin typeface="Arial"/>
                          <a:ea typeface="Arial"/>
                          <a:cs typeface="Arial"/>
                          <a:sym typeface="Arial"/>
                        </a:rPr>
                        <a:t>nếu</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có</a:t>
                      </a:r>
                      <a:r>
                        <a:rPr lang="en-US" sz="1999" dirty="0">
                          <a:solidFill>
                            <a:srgbClr val="000000"/>
                          </a:solidFill>
                          <a:latin typeface="Arial"/>
                          <a:ea typeface="Arial"/>
                          <a:cs typeface="Arial"/>
                          <a:sym typeface="Arial"/>
                        </a:rPr>
                        <a:t>)</a:t>
                      </a:r>
                    </a:p>
                    <a:p>
                      <a:pPr marL="457079" lvl="2" indent="-152360" algn="l">
                        <a:lnSpc>
                          <a:spcPts val="2999"/>
                        </a:lnSpc>
                        <a:buFont typeface="Arial"/>
                        <a:buChar char="⚬"/>
                      </a:pPr>
                      <a:r>
                        <a:rPr lang="en-US" sz="1999" dirty="0" err="1">
                          <a:solidFill>
                            <a:srgbClr val="000000"/>
                          </a:solidFill>
                          <a:latin typeface="Arial"/>
                          <a:ea typeface="Arial"/>
                          <a:cs typeface="Arial"/>
                          <a:sym typeface="Arial"/>
                        </a:rPr>
                        <a:t>Gửi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qua </a:t>
                      </a:r>
                      <a:r>
                        <a:rPr lang="en-US" sz="1999" dirty="0" err="1">
                          <a:solidFill>
                            <a:srgbClr val="000000"/>
                          </a:solidFill>
                          <a:latin typeface="Arial"/>
                          <a:ea typeface="Arial"/>
                          <a:cs typeface="Arial"/>
                          <a:sym typeface="Arial"/>
                        </a:rPr>
                        <a:t>Zalo</a:t>
                      </a:r>
                      <a:r>
                        <a:rPr lang="en-US" sz="1999" dirty="0">
                          <a:solidFill>
                            <a:srgbClr val="000000"/>
                          </a:solidFill>
                          <a:latin typeface="Arial"/>
                          <a:ea typeface="Arial"/>
                          <a:cs typeface="Arial"/>
                          <a:sym typeface="Arial"/>
                        </a:rPr>
                        <a:t> FE Credit (</a:t>
                      </a:r>
                      <a:r>
                        <a:rPr lang="en-US" sz="1999" dirty="0" err="1">
                          <a:solidFill>
                            <a:srgbClr val="000000"/>
                          </a:solidFill>
                          <a:latin typeface="Arial"/>
                          <a:ea typeface="Arial"/>
                          <a:cs typeface="Arial"/>
                          <a:sym typeface="Arial"/>
                        </a:rPr>
                        <a:t>có</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dấu</a:t>
                      </a:r>
                      <a:r>
                        <a:rPr lang="en-US" sz="1999" dirty="0">
                          <a:solidFill>
                            <a:srgbClr val="000000"/>
                          </a:solidFill>
                          <a:latin typeface="Arial"/>
                          <a:ea typeface="Arial"/>
                          <a:cs typeface="Arial"/>
                          <a:sym typeface="Arial"/>
                        </a:rPr>
                        <a:t> tick). </a:t>
                      </a:r>
                      <a:r>
                        <a:rPr lang="en-US" sz="1999" dirty="0" err="1">
                          <a:solidFill>
                            <a:srgbClr val="000000"/>
                          </a:solidFill>
                          <a:latin typeface="Arial"/>
                          <a:ea typeface="Arial"/>
                          <a:cs typeface="Arial"/>
                          <a:sym typeface="Arial"/>
                        </a:rPr>
                        <a:t>Nếu</a:t>
                      </a:r>
                      <a:r>
                        <a:rPr lang="en-US" sz="1999" dirty="0">
                          <a:solidFill>
                            <a:srgbClr val="000000"/>
                          </a:solidFill>
                          <a:latin typeface="Arial"/>
                          <a:ea typeface="Arial"/>
                          <a:cs typeface="Arial"/>
                          <a:sym typeface="Arial"/>
                        </a:rPr>
                        <a:t> KH </a:t>
                      </a:r>
                      <a:r>
                        <a:rPr lang="en-US" sz="1999" dirty="0" err="1">
                          <a:solidFill>
                            <a:srgbClr val="000000"/>
                          </a:solidFill>
                          <a:latin typeface="Arial"/>
                          <a:ea typeface="Arial"/>
                          <a:cs typeface="Arial"/>
                          <a:sym typeface="Arial"/>
                        </a:rPr>
                        <a:t>không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sử</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dụng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Zalo</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hướng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dẫn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gửi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qua email </a:t>
                      </a:r>
                      <a:r>
                        <a:rPr lang="en-US" sz="1999" b="1" dirty="0">
                          <a:solidFill>
                            <a:srgbClr val="000000"/>
                          </a:solidFill>
                          <a:latin typeface="Arial Bold"/>
                          <a:ea typeface="Arial Bold"/>
                          <a:cs typeface="Arial Bold"/>
                          <a:sym typeface="Arial Bold"/>
                        </a:rPr>
                        <a:t>dichvukhachhang@fecredit.com.vn</a:t>
                      </a:r>
                    </a:p>
                    <a:p>
                      <a:pPr marL="816911" lvl="3" indent="-204228" algn="just">
                        <a:lnSpc>
                          <a:spcPts val="2999"/>
                        </a:lnSpc>
                        <a:buFont typeface="Arial"/>
                        <a:buChar char="￭"/>
                      </a:pP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thuê</a:t>
                      </a:r>
                      <a:r>
                        <a:rPr lang="en-US" sz="1999" dirty="0">
                          <a:solidFill>
                            <a:srgbClr val="000000"/>
                          </a:solidFill>
                          <a:latin typeface="Arial"/>
                          <a:ea typeface="Arial"/>
                          <a:cs typeface="Arial"/>
                          <a:sym typeface="Arial"/>
                        </a:rPr>
                        <a:t> bao </a:t>
                      </a:r>
                      <a:r>
                        <a:rPr lang="en-US" sz="1999" dirty="0" err="1">
                          <a:solidFill>
                            <a:srgbClr val="000000"/>
                          </a:solidFill>
                          <a:latin typeface="Arial"/>
                          <a:ea typeface="Arial"/>
                          <a:cs typeface="Arial"/>
                          <a:sym typeface="Arial"/>
                        </a:rPr>
                        <a:t>chính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chủ</a:t>
                      </a:r>
                      <a:r>
                        <a:rPr lang="en-US" sz="1999" dirty="0">
                          <a:solidFill>
                            <a:srgbClr val="000000"/>
                          </a:solidFill>
                          <a:latin typeface="Arial"/>
                          <a:ea typeface="Arial"/>
                          <a:cs typeface="Arial"/>
                          <a:sym typeface="Arial"/>
                        </a:rPr>
                        <a:t> (TTTB)</a:t>
                      </a:r>
                    </a:p>
                    <a:p>
                      <a:pPr marL="816911" lvl="3" indent="-204228" algn="just">
                        <a:lnSpc>
                          <a:spcPts val="2999"/>
                        </a:lnSpc>
                        <a:buFont typeface="Arial"/>
                        <a:buChar char="￭"/>
                      </a:pP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KH </a:t>
                      </a:r>
                      <a:r>
                        <a:rPr lang="en-US" sz="1999" dirty="0" err="1">
                          <a:solidFill>
                            <a:srgbClr val="000000"/>
                          </a:solidFill>
                          <a:latin typeface="Arial"/>
                          <a:ea typeface="Arial"/>
                          <a:cs typeface="Arial"/>
                          <a:sym typeface="Arial"/>
                        </a:rPr>
                        <a:t>cầm</a:t>
                      </a:r>
                      <a:r>
                        <a:rPr lang="en-US" sz="1999" dirty="0">
                          <a:solidFill>
                            <a:srgbClr val="000000"/>
                          </a:solidFill>
                          <a:latin typeface="Arial"/>
                          <a:ea typeface="Arial"/>
                          <a:cs typeface="Arial"/>
                          <a:sym typeface="Arial"/>
                        </a:rPr>
                        <a:t> CCCD </a:t>
                      </a:r>
                      <a:r>
                        <a:rPr lang="en-US" sz="1999" dirty="0" err="1">
                          <a:solidFill>
                            <a:srgbClr val="000000"/>
                          </a:solidFill>
                          <a:latin typeface="Arial"/>
                          <a:ea typeface="Arial"/>
                          <a:cs typeface="Arial"/>
                          <a:sym typeface="Arial"/>
                        </a:rPr>
                        <a:t>mặt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trước</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trên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tay</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chụp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cùng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khuôn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mặt</a:t>
                      </a:r>
                      <a:r>
                        <a:rPr lang="en-US" sz="1999" dirty="0">
                          <a:solidFill>
                            <a:srgbClr val="000000"/>
                          </a:solidFill>
                          <a:latin typeface="Arial"/>
                          <a:ea typeface="Arial"/>
                          <a:cs typeface="Arial"/>
                          <a:sym typeface="Arial"/>
                        </a:rPr>
                        <a:t>.</a:t>
                      </a:r>
                    </a:p>
                    <a:p>
                      <a:pPr marL="816911" lvl="3" indent="-204228" algn="just">
                        <a:lnSpc>
                          <a:spcPts val="2999"/>
                        </a:lnSpc>
                        <a:buFont typeface="Arial"/>
                        <a:buChar char="￭"/>
                      </a:pP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thông</a:t>
                      </a:r>
                      <a:r>
                        <a:rPr lang="en-US" sz="1999" dirty="0">
                          <a:solidFill>
                            <a:srgbClr val="000000"/>
                          </a:solidFill>
                          <a:latin typeface="Arial"/>
                          <a:ea typeface="Arial"/>
                          <a:cs typeface="Arial"/>
                          <a:sym typeface="Arial"/>
                        </a:rPr>
                        <a:t> tin </a:t>
                      </a:r>
                      <a:r>
                        <a:rPr lang="en-US" sz="1999" dirty="0" err="1">
                          <a:solidFill>
                            <a:srgbClr val="000000"/>
                          </a:solidFill>
                          <a:latin typeface="Arial"/>
                          <a:ea typeface="Arial"/>
                          <a:cs typeface="Arial"/>
                          <a:sym typeface="Arial"/>
                        </a:rPr>
                        <a:t>người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dùng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hiển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thị</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tại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mục</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Tài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khoản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lỗi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không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đăng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được</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ứng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dụng</a:t>
                      </a:r>
                      <a:r>
                        <a:rPr lang="en-US" sz="1999" dirty="0">
                          <a:solidFill>
                            <a:srgbClr val="000000"/>
                          </a:solidFill>
                          <a:latin typeface="Arial"/>
                          <a:ea typeface="Arial"/>
                          <a:cs typeface="Arial"/>
                          <a:sym typeface="Arial"/>
                        </a:rPr>
                        <a:t>.</a:t>
                      </a:r>
                    </a:p>
                    <a:p>
                      <a:pPr marL="816911" lvl="3" indent="-204228" algn="just">
                        <a:lnSpc>
                          <a:spcPts val="2999"/>
                        </a:lnSpc>
                        <a:buFont typeface="Arial"/>
                        <a:buChar char="￭"/>
                      </a:pP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2 </a:t>
                      </a:r>
                      <a:r>
                        <a:rPr lang="en-US" sz="1999" dirty="0" err="1">
                          <a:solidFill>
                            <a:srgbClr val="000000"/>
                          </a:solidFill>
                          <a:latin typeface="Arial"/>
                          <a:ea typeface="Arial"/>
                          <a:cs typeface="Arial"/>
                          <a:sym typeface="Arial"/>
                        </a:rPr>
                        <a:t>mặt</a:t>
                      </a:r>
                      <a:r>
                        <a:rPr lang="en-US" sz="1999" dirty="0">
                          <a:solidFill>
                            <a:srgbClr val="000000"/>
                          </a:solidFill>
                          <a:latin typeface="Arial"/>
                          <a:ea typeface="Arial"/>
                          <a:cs typeface="Arial"/>
                          <a:sym typeface="Arial"/>
                        </a:rPr>
                        <a:t> CCCD </a:t>
                      </a:r>
                      <a:r>
                        <a:rPr lang="en-US" sz="1999" dirty="0" err="1">
                          <a:solidFill>
                            <a:srgbClr val="000000"/>
                          </a:solidFill>
                          <a:latin typeface="Arial"/>
                          <a:ea typeface="Arial"/>
                          <a:cs typeface="Arial"/>
                          <a:sym typeface="Arial"/>
                        </a:rPr>
                        <a:t>mới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nhất</a:t>
                      </a:r>
                      <a:r>
                        <a:rPr lang="en-US" sz="1999" dirty="0">
                          <a:solidFill>
                            <a:srgbClr val="000000"/>
                          </a:solidFill>
                          <a:latin typeface="Arial"/>
                          <a:ea typeface="Arial"/>
                          <a:cs typeface="Arial"/>
                          <a:sym typeface="Arial"/>
                        </a:rPr>
                        <a:t>. </a:t>
                      </a:r>
                    </a:p>
                    <a:p>
                      <a:pPr marL="816911" lvl="3" indent="-204228" algn="l">
                        <a:lnSpc>
                          <a:spcPts val="2999"/>
                        </a:lnSpc>
                        <a:buFont typeface="Arial"/>
                        <a:buChar char="￭"/>
                      </a:pPr>
                      <a:r>
                        <a:rPr lang="en-US" sz="1999" b="1" dirty="0" err="1">
                          <a:solidFill>
                            <a:srgbClr val="000000"/>
                          </a:solidFill>
                          <a:latin typeface="Arial Bold"/>
                          <a:ea typeface="Arial Bold"/>
                          <a:cs typeface="Arial Bold"/>
                          <a:sym typeface="Arial Bold"/>
                        </a:rPr>
                        <a:t>Lưu</a:t>
                      </a:r>
                      <a:r>
                        <a:rPr lang="en-US" sz="1999" b="1" dirty="0">
                          <a:solidFill>
                            <a:srgbClr val="000000"/>
                          </a:solidFill>
                          <a:latin typeface="Arial Bold"/>
                          <a:ea typeface="Arial Bold"/>
                          <a:cs typeface="Arial Bold"/>
                          <a:sym typeface="Arial Bold"/>
                        </a:rPr>
                        <a:t> ý: </a:t>
                      </a:r>
                      <a:r>
                        <a:rPr lang="en-US" sz="1999" dirty="0">
                          <a:solidFill>
                            <a:srgbClr val="000000"/>
                          </a:solidFill>
                          <a:latin typeface="Arial"/>
                          <a:ea typeface="Arial"/>
                          <a:cs typeface="Arial"/>
                          <a:sym typeface="Arial"/>
                        </a:rPr>
                        <a:t>TTTB </a:t>
                      </a:r>
                      <a:r>
                        <a:rPr lang="en-US" sz="1999" dirty="0" err="1">
                          <a:solidFill>
                            <a:srgbClr val="000000"/>
                          </a:solidFill>
                          <a:latin typeface="Arial"/>
                          <a:ea typeface="Arial"/>
                          <a:cs typeface="Arial"/>
                          <a:sym typeface="Arial"/>
                        </a:rPr>
                        <a:t>chính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chủ</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hợp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lệ</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và</a:t>
                      </a:r>
                      <a:r>
                        <a:rPr lang="en-US" sz="1999" dirty="0">
                          <a:solidFill>
                            <a:srgbClr val="000000"/>
                          </a:solidFill>
                          <a:latin typeface="Arial"/>
                          <a:ea typeface="Arial"/>
                          <a:cs typeface="Arial"/>
                          <a:sym typeface="Arial"/>
                        </a:rPr>
                        <a:t> CCCD </a:t>
                      </a:r>
                      <a:r>
                        <a:rPr lang="en-US" sz="1999" dirty="0" err="1">
                          <a:solidFill>
                            <a:srgbClr val="000000"/>
                          </a:solidFill>
                          <a:latin typeface="Arial"/>
                          <a:ea typeface="Arial"/>
                          <a:cs typeface="Arial"/>
                          <a:sym typeface="Arial"/>
                        </a:rPr>
                        <a:t>không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trùng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khớp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trên</a:t>
                      </a:r>
                      <a:r>
                        <a:rPr lang="en-US" sz="1999" dirty="0">
                          <a:solidFill>
                            <a:srgbClr val="000000"/>
                          </a:solidFill>
                          <a:latin typeface="Arial"/>
                          <a:ea typeface="Arial"/>
                          <a:cs typeface="Arial"/>
                          <a:sym typeface="Arial"/>
                        </a:rPr>
                        <a:t> TTTB </a:t>
                      </a:r>
                      <a:r>
                        <a:rPr lang="en-US" sz="1999" b="1" i="1" u="sng" kern="1200" spc="9" dirty="0">
                          <a:solidFill>
                            <a:srgbClr val="4DA745"/>
                          </a:solidFill>
                          <a:latin typeface="Arial Bold Italics"/>
                          <a:ea typeface="Arial Italics"/>
                          <a:cs typeface="Arial Bold Italics"/>
                          <a:sym typeface="Arial Italics"/>
                          <a:hlinkClick r:id="rId3" action="ppaction://hlinkfile">
                            <a:extLst>
                              <a:ext uri="{A12FA001-AC4F-418D-AE19-62706E023703}">
                                <ahyp:hlinkClr xmlns:ahyp="http://schemas.microsoft.com/office/drawing/2018/hyperlinkcolor" val="tx"/>
                              </a:ext>
                            </a:extLst>
                          </a:hlinkClick>
                        </a:rPr>
                        <a:t>(</a:t>
                      </a:r>
                      <a:r>
                        <a:rPr lang="en-US" sz="1999" b="1" i="1" u="sng" kern="1200" spc="9" dirty="0" err="1">
                          <a:solidFill>
                            <a:srgbClr val="4DA745"/>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xem</a:t>
                      </a:r>
                      <a:r>
                        <a:rPr lang="en-US" sz="1999" b="1" i="1" u="sng" kern="1200" spc="9" dirty="0">
                          <a:solidFill>
                            <a:srgbClr val="4DA745"/>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 chi </a:t>
                      </a:r>
                      <a:r>
                        <a:rPr lang="en-US" sz="1999" b="1" i="1" u="sng" kern="1200" spc="9" dirty="0" err="1">
                          <a:solidFill>
                            <a:srgbClr val="4DA745"/>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tiết</a:t>
                      </a:r>
                      <a:r>
                        <a:rPr lang="en-US" sz="1999" b="1" i="1" u="sng" kern="1200" spc="9" dirty="0">
                          <a:solidFill>
                            <a:srgbClr val="4DA745"/>
                          </a:solidFill>
                          <a:latin typeface="Arial Bold Italics"/>
                          <a:ea typeface="Arial Bold Italics"/>
                          <a:cs typeface="Arial Bold Italics"/>
                          <a:sym typeface="Arial Bold Italics"/>
                          <a:hlinkClick r:id="rId3" action="ppaction://hlinkfile">
                            <a:extLst>
                              <a:ext uri="{A12FA001-AC4F-418D-AE19-62706E023703}">
                                <ahyp:hlinkClr xmlns:ahyp="http://schemas.microsoft.com/office/drawing/2018/hyperlinkcolor" val="tx"/>
                              </a:ext>
                            </a:extLst>
                          </a:hlinkClick>
                        </a:rPr>
                        <a:t>).</a:t>
                      </a:r>
                      <a:endParaRPr lang="en-US" sz="1999" b="1" i="1" u="sng" kern="1200" spc="9" dirty="0">
                        <a:solidFill>
                          <a:srgbClr val="4DA745"/>
                        </a:solidFill>
                        <a:latin typeface="Arial Bold Italics"/>
                        <a:ea typeface="Arial Bold Italics"/>
                        <a:cs typeface="Arial Bold Italics"/>
                        <a:sym typeface="Arial Bold Italics"/>
                      </a:endParaRPr>
                    </a:p>
                    <a:p>
                      <a:pPr marL="457079" lvl="2" indent="-152360" algn="just">
                        <a:lnSpc>
                          <a:spcPts val="2999"/>
                        </a:lnSpc>
                        <a:buFont typeface="Arial"/>
                        <a:buChar char="⚬"/>
                      </a:pPr>
                      <a:r>
                        <a:rPr lang="en-US" sz="1999" dirty="0" err="1">
                          <a:solidFill>
                            <a:srgbClr val="000000"/>
                          </a:solidFill>
                          <a:latin typeface="Arial"/>
                          <a:ea typeface="Arial"/>
                          <a:cs typeface="Arial"/>
                          <a:sym typeface="Arial"/>
                        </a:rPr>
                        <a:t>Thông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báo</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sau</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cập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thành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công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thì</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tên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đăng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nhập</a:t>
                      </a:r>
                      <a:r>
                        <a:rPr lang="en-US" sz="1999" dirty="0">
                          <a:solidFill>
                            <a:srgbClr val="000000"/>
                          </a:solidFill>
                          <a:latin typeface="Arial"/>
                          <a:ea typeface="Arial"/>
                          <a:cs typeface="Arial"/>
                          <a:sym typeface="Arial"/>
                        </a:rPr>
                        <a:t> FEOL 2.0 </a:t>
                      </a:r>
                      <a:r>
                        <a:rPr lang="en-US" sz="1999" dirty="0" err="1">
                          <a:solidFill>
                            <a:srgbClr val="000000"/>
                          </a:solidFill>
                          <a:latin typeface="Arial"/>
                          <a:ea typeface="Arial"/>
                          <a:cs typeface="Arial"/>
                          <a:sym typeface="Arial"/>
                        </a:rPr>
                        <a:t>là</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số</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điện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thoại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mới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định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dạng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là</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số</a:t>
                      </a:r>
                      <a:r>
                        <a:rPr lang="en-US" sz="1999" dirty="0">
                          <a:solidFill>
                            <a:srgbClr val="000000"/>
                          </a:solidFill>
                          <a:latin typeface="Arial"/>
                          <a:ea typeface="Arial"/>
                          <a:cs typeface="Arial"/>
                          <a:sym typeface="Arial"/>
                        </a:rPr>
                        <a:t> “0” </a:t>
                      </a:r>
                      <a:r>
                        <a:rPr lang="en-US" sz="1999" dirty="0" err="1">
                          <a:solidFill>
                            <a:srgbClr val="000000"/>
                          </a:solidFill>
                          <a:latin typeface="Arial"/>
                          <a:ea typeface="Arial"/>
                          <a:cs typeface="Arial"/>
                          <a:sym typeface="Arial"/>
                        </a:rPr>
                        <a:t>đầu</a:t>
                      </a:r>
                      <a:r>
                        <a:rPr lang="en-US" sz="1999" dirty="0">
                          <a:solidFill>
                            <a:srgbClr val="000000"/>
                          </a:solidFill>
                          <a:latin typeface="Arial"/>
                          <a:ea typeface="Arial"/>
                          <a:cs typeface="Arial"/>
                          <a:sym typeface="Arial"/>
                        </a:rPr>
                        <a: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2999"/>
                        </a:lnSpc>
                        <a:defRPr/>
                      </a:pPr>
                      <a:r>
                        <a:rPr lang="en-US" sz="1999" spc="9">
                          <a:solidFill>
                            <a:srgbClr val="000000"/>
                          </a:solidFill>
                          <a:latin typeface="Arial"/>
                          <a:ea typeface="Arial"/>
                          <a:cs typeface="Arial"/>
                          <a:sym typeface="Arial"/>
                        </a:rPr>
                        <a:t>5 ngày </a:t>
                      </a:r>
                      <a:endParaRPr lang="en-US" sz="1100"/>
                    </a:p>
                    <a:p>
                      <a:pPr algn="ctr">
                        <a:lnSpc>
                          <a:spcPts val="2999"/>
                        </a:lnSpc>
                      </a:pPr>
                      <a:r>
                        <a:rPr lang="en-US" sz="1999" spc="9">
                          <a:solidFill>
                            <a:srgbClr val="000000"/>
                          </a:solidFill>
                          <a:latin typeface="Arial"/>
                          <a:ea typeface="Arial"/>
                          <a:cs typeface="Arial"/>
                          <a:sym typeface="Arial"/>
                        </a:rPr>
                        <a:t>làm việc</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just">
                        <a:lnSpc>
                          <a:spcPts val="2999"/>
                        </a:lnSpc>
                        <a:defRPr/>
                      </a:pPr>
                      <a:r>
                        <a:rPr lang="en-US" sz="1999" b="1" spc="9" dirty="0">
                          <a:solidFill>
                            <a:srgbClr val="004AAD"/>
                          </a:solidFill>
                          <a:latin typeface="Arial Bold"/>
                          <a:ea typeface="Arial Bold"/>
                          <a:cs typeface="Arial Bold"/>
                          <a:sym typeface="Arial Bold"/>
                        </a:rPr>
                        <a:t>* TH </a:t>
                      </a:r>
                      <a:r>
                        <a:rPr lang="en-US" sz="1999" b="1" spc="9" dirty="0" err="1">
                          <a:solidFill>
                            <a:srgbClr val="004AAD"/>
                          </a:solidFill>
                          <a:latin typeface="Arial Bold"/>
                          <a:ea typeface="Arial Bold"/>
                          <a:cs typeface="Arial Bold"/>
                          <a:sym typeface="Arial Bold"/>
                        </a:rPr>
                        <a:t>hướng</a:t>
                      </a:r>
                      <a:r>
                        <a:rPr lang="en-US" sz="1999" b="1" spc="9" dirty="0">
                          <a:solidFill>
                            <a:srgbClr val="004AAD"/>
                          </a:solidFill>
                          <a:latin typeface="Arial Bold"/>
                          <a:ea typeface="Arial Bold"/>
                          <a:cs typeface="Arial Bold"/>
                          <a:sym typeface="Arial Bold"/>
                        </a:rPr>
                        <a:t> </a:t>
                      </a:r>
                      <a:r>
                        <a:rPr lang="en-US" sz="1999" b="1" spc="9" dirty="0" err="1">
                          <a:solidFill>
                            <a:srgbClr val="004AAD"/>
                          </a:solidFill>
                          <a:latin typeface="Arial Bold"/>
                          <a:ea typeface="Arial Bold"/>
                          <a:cs typeface="Arial Bold"/>
                          <a:sym typeface="Arial Bold"/>
                        </a:rPr>
                        <a:t>dẫn</a:t>
                      </a:r>
                      <a:r>
                        <a:rPr lang="en-US" sz="1999" b="1" spc="9" dirty="0">
                          <a:solidFill>
                            <a:srgbClr val="004AAD"/>
                          </a:solidFill>
                          <a:latin typeface="Arial Bold"/>
                          <a:ea typeface="Arial Bold"/>
                          <a:cs typeface="Arial Bold"/>
                          <a:sym typeface="Arial Bold"/>
                        </a:rPr>
                        <a:t> KH </a:t>
                      </a:r>
                      <a:r>
                        <a:rPr lang="en-US" sz="1999" b="1" spc="9" dirty="0" err="1">
                          <a:solidFill>
                            <a:srgbClr val="004AAD"/>
                          </a:solidFill>
                          <a:latin typeface="Arial Bold"/>
                          <a:ea typeface="Arial Bold"/>
                          <a:cs typeface="Arial Bold"/>
                          <a:sym typeface="Arial Bold"/>
                        </a:rPr>
                        <a:t>tự</a:t>
                      </a:r>
                      <a:r>
                        <a:rPr lang="en-US" sz="1999" b="1" spc="9" dirty="0">
                          <a:solidFill>
                            <a:srgbClr val="004AAD"/>
                          </a:solidFill>
                          <a:latin typeface="Arial Bold"/>
                          <a:ea typeface="Arial Bold"/>
                          <a:cs typeface="Arial Bold"/>
                          <a:sym typeface="Arial Bold"/>
                        </a:rPr>
                        <a:t> </a:t>
                      </a:r>
                      <a:r>
                        <a:rPr lang="en-US" sz="1999" b="1" spc="9" dirty="0" err="1">
                          <a:solidFill>
                            <a:srgbClr val="004AAD"/>
                          </a:solidFill>
                          <a:latin typeface="Arial Bold"/>
                          <a:ea typeface="Arial Bold"/>
                          <a:cs typeface="Arial Bold"/>
                          <a:sym typeface="Arial Bold"/>
                        </a:rPr>
                        <a:t>thực</a:t>
                      </a:r>
                      <a:r>
                        <a:rPr lang="en-US" sz="1999" b="1" spc="9" dirty="0">
                          <a:solidFill>
                            <a:srgbClr val="004AAD"/>
                          </a:solidFill>
                          <a:latin typeface="Arial Bold"/>
                          <a:ea typeface="Arial Bold"/>
                          <a:cs typeface="Arial Bold"/>
                          <a:sym typeface="Arial Bold"/>
                        </a:rPr>
                        <a:t> </a:t>
                      </a:r>
                      <a:r>
                        <a:rPr lang="en-US" sz="1999" b="1" spc="9" dirty="0" err="1">
                          <a:solidFill>
                            <a:srgbClr val="004AAD"/>
                          </a:solidFill>
                          <a:latin typeface="Arial Bold"/>
                          <a:ea typeface="Arial Bold"/>
                          <a:cs typeface="Arial Bold"/>
                          <a:sym typeface="Arial Bold"/>
                        </a:rPr>
                        <a:t>hiện</a:t>
                      </a:r>
                      <a:r>
                        <a:rPr lang="en-US" sz="1999" b="1" spc="9" dirty="0">
                          <a:solidFill>
                            <a:srgbClr val="004AAD"/>
                          </a:solidFill>
                          <a:latin typeface="Arial Bold"/>
                          <a:ea typeface="Arial Bold"/>
                          <a:cs typeface="Arial Bold"/>
                          <a:sym typeface="Arial Bold"/>
                        </a:rPr>
                        <a:t>:</a:t>
                      </a:r>
                      <a:endParaRPr lang="en-US" sz="1100" dirty="0"/>
                    </a:p>
                    <a:p>
                      <a:pPr algn="just">
                        <a:lnSpc>
                          <a:spcPts val="2999"/>
                        </a:lnSpc>
                      </a:pPr>
                      <a:r>
                        <a:rPr lang="en-US" sz="1999" b="1" spc="9" dirty="0">
                          <a:solidFill>
                            <a:srgbClr val="000000"/>
                          </a:solidFill>
                          <a:latin typeface="Arial Bold"/>
                          <a:ea typeface="Arial Bold"/>
                          <a:cs typeface="Arial Bold"/>
                          <a:sym typeface="Arial Bold"/>
                        </a:rPr>
                        <a:t>Code: </a:t>
                      </a:r>
                      <a:r>
                        <a:rPr lang="en-US" sz="1999" spc="9" dirty="0">
                          <a:solidFill>
                            <a:srgbClr val="000000"/>
                          </a:solidFill>
                          <a:latin typeface="Arial"/>
                          <a:ea typeface="Arial"/>
                          <a:cs typeface="Arial"/>
                          <a:sym typeface="Arial"/>
                        </a:rPr>
                        <a:t>IL33-Cập </a:t>
                      </a:r>
                      <a:r>
                        <a:rPr lang="en-US" sz="1999" spc="9" dirty="0" err="1">
                          <a:solidFill>
                            <a:srgbClr val="000000"/>
                          </a:solidFill>
                          <a:latin typeface="Arial"/>
                          <a:ea typeface="Arial"/>
                          <a:cs typeface="Arial"/>
                          <a:sym typeface="Arial"/>
                        </a:rPr>
                        <a:t>nhật</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thông</a:t>
                      </a:r>
                      <a:r>
                        <a:rPr lang="en-US" sz="1999" spc="9" dirty="0">
                          <a:solidFill>
                            <a:srgbClr val="000000"/>
                          </a:solidFill>
                          <a:latin typeface="Arial"/>
                          <a:ea typeface="Arial"/>
                          <a:cs typeface="Arial"/>
                          <a:sym typeface="Arial"/>
                        </a:rPr>
                        <a:t> tin KH</a:t>
                      </a:r>
                    </a:p>
                    <a:p>
                      <a:pPr algn="just">
                        <a:lnSpc>
                          <a:spcPts val="2999"/>
                        </a:lnSpc>
                      </a:pPr>
                      <a:r>
                        <a:rPr lang="en-US" sz="1999" b="1" spc="9" dirty="0">
                          <a:solidFill>
                            <a:srgbClr val="000000"/>
                          </a:solidFill>
                          <a:latin typeface="Arial Bold"/>
                          <a:ea typeface="Arial Bold"/>
                          <a:cs typeface="Arial Bold"/>
                          <a:sym typeface="Arial Bold"/>
                        </a:rPr>
                        <a:t>Sub: </a:t>
                      </a:r>
                      <a:r>
                        <a:rPr lang="en-US" sz="1999" spc="9" dirty="0">
                          <a:solidFill>
                            <a:srgbClr val="000000"/>
                          </a:solidFill>
                          <a:latin typeface="Arial"/>
                          <a:ea typeface="Arial"/>
                          <a:cs typeface="Arial"/>
                          <a:sym typeface="Arial"/>
                        </a:rPr>
                        <a:t>IL33.01-Cập </a:t>
                      </a:r>
                      <a:r>
                        <a:rPr lang="en-US" sz="1999" spc="9" dirty="0" err="1">
                          <a:solidFill>
                            <a:srgbClr val="000000"/>
                          </a:solidFill>
                          <a:latin typeface="Arial"/>
                          <a:ea typeface="Arial"/>
                          <a:cs typeface="Arial"/>
                          <a:sym typeface="Arial"/>
                        </a:rPr>
                        <a:t>nhật</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số</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điện</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thoại</a:t>
                      </a:r>
                      <a:endParaRPr lang="en-US" sz="1999" spc="9" dirty="0">
                        <a:solidFill>
                          <a:srgbClr val="000000"/>
                        </a:solidFill>
                        <a:latin typeface="Arial"/>
                        <a:ea typeface="Arial"/>
                        <a:cs typeface="Arial"/>
                        <a:sym typeface="Arial"/>
                      </a:endParaRPr>
                    </a:p>
                    <a:p>
                      <a:pPr algn="l">
                        <a:lnSpc>
                          <a:spcPts val="2999"/>
                        </a:lnSpc>
                      </a:pPr>
                      <a:endParaRPr lang="en-US" sz="1999" spc="9" dirty="0">
                        <a:solidFill>
                          <a:srgbClr val="000000"/>
                        </a:solidFill>
                        <a:latin typeface="Arial"/>
                        <a:ea typeface="Arial"/>
                        <a:cs typeface="Arial"/>
                        <a:sym typeface="Arial"/>
                      </a:endParaRPr>
                    </a:p>
                    <a:p>
                      <a:pPr algn="l">
                        <a:lnSpc>
                          <a:spcPts val="2999"/>
                        </a:lnSpc>
                      </a:pPr>
                      <a:r>
                        <a:rPr lang="en-US" sz="1999" b="1" spc="9" dirty="0">
                          <a:solidFill>
                            <a:srgbClr val="004AAD"/>
                          </a:solidFill>
                          <a:latin typeface="Arial Bold"/>
                          <a:ea typeface="Arial Bold"/>
                          <a:cs typeface="Arial Bold"/>
                          <a:sym typeface="Arial Bold"/>
                        </a:rPr>
                        <a:t>* TH </a:t>
                      </a:r>
                      <a:r>
                        <a:rPr lang="en-US" sz="1999" b="1" spc="9" dirty="0" err="1">
                          <a:solidFill>
                            <a:srgbClr val="004AAD"/>
                          </a:solidFill>
                          <a:latin typeface="Arial Bold"/>
                          <a:ea typeface="Arial Bold"/>
                          <a:cs typeface="Arial Bold"/>
                          <a:sym typeface="Arial Bold"/>
                        </a:rPr>
                        <a:t>ghi</a:t>
                      </a:r>
                      <a:r>
                        <a:rPr lang="en-US" sz="1999" b="1" spc="9" dirty="0">
                          <a:solidFill>
                            <a:srgbClr val="004AAD"/>
                          </a:solidFill>
                          <a:latin typeface="Arial Bold"/>
                          <a:ea typeface="Arial Bold"/>
                          <a:cs typeface="Arial Bold"/>
                          <a:sym typeface="Arial Bold"/>
                        </a:rPr>
                        <a:t> </a:t>
                      </a:r>
                      <a:r>
                        <a:rPr lang="en-US" sz="1999" b="1" spc="9" dirty="0" err="1">
                          <a:solidFill>
                            <a:srgbClr val="004AAD"/>
                          </a:solidFill>
                          <a:latin typeface="Arial Bold"/>
                          <a:ea typeface="Arial Bold"/>
                          <a:cs typeface="Arial Bold"/>
                          <a:sym typeface="Arial Bold"/>
                        </a:rPr>
                        <a:t>nhận</a:t>
                      </a:r>
                      <a:r>
                        <a:rPr lang="en-US" sz="1999" b="1" spc="9" dirty="0">
                          <a:solidFill>
                            <a:srgbClr val="004AAD"/>
                          </a:solidFill>
                          <a:latin typeface="Arial Bold"/>
                          <a:ea typeface="Arial Bold"/>
                          <a:cs typeface="Arial Bold"/>
                          <a:sym typeface="Arial Bold"/>
                        </a:rPr>
                        <a:t> </a:t>
                      </a:r>
                      <a:r>
                        <a:rPr lang="en-US" sz="1999" b="1" spc="9" dirty="0" err="1">
                          <a:solidFill>
                            <a:srgbClr val="004AAD"/>
                          </a:solidFill>
                          <a:latin typeface="Arial Bold"/>
                          <a:ea typeface="Arial Bold"/>
                          <a:cs typeface="Arial Bold"/>
                          <a:sym typeface="Arial Bold"/>
                        </a:rPr>
                        <a:t>hỗ</a:t>
                      </a:r>
                      <a:r>
                        <a:rPr lang="en-US" sz="1999" b="1" spc="9" dirty="0">
                          <a:solidFill>
                            <a:srgbClr val="004AAD"/>
                          </a:solidFill>
                          <a:latin typeface="Arial Bold"/>
                          <a:ea typeface="Arial Bold"/>
                          <a:cs typeface="Arial Bold"/>
                          <a:sym typeface="Arial Bold"/>
                        </a:rPr>
                        <a:t> </a:t>
                      </a:r>
                      <a:r>
                        <a:rPr lang="en-US" sz="1999" b="1" spc="9" dirty="0" err="1">
                          <a:solidFill>
                            <a:srgbClr val="004AAD"/>
                          </a:solidFill>
                          <a:latin typeface="Arial Bold"/>
                          <a:ea typeface="Arial Bold"/>
                          <a:cs typeface="Arial Bold"/>
                          <a:sym typeface="Arial Bold"/>
                        </a:rPr>
                        <a:t>trợ</a:t>
                      </a:r>
                      <a:r>
                        <a:rPr lang="en-US" sz="1999" b="1" spc="9" dirty="0">
                          <a:solidFill>
                            <a:srgbClr val="004AAD"/>
                          </a:solidFill>
                          <a:latin typeface="Arial Bold"/>
                          <a:ea typeface="Arial Bold"/>
                          <a:cs typeface="Arial Bold"/>
                          <a:sym typeface="Arial Bold"/>
                        </a:rPr>
                        <a:t>:</a:t>
                      </a:r>
                    </a:p>
                    <a:p>
                      <a:pPr algn="l">
                        <a:lnSpc>
                          <a:spcPts val="2999"/>
                        </a:lnSpc>
                      </a:pPr>
                      <a:r>
                        <a:rPr lang="en-US" sz="1999" b="1" spc="9" dirty="0">
                          <a:solidFill>
                            <a:srgbClr val="000000"/>
                          </a:solidFill>
                          <a:latin typeface="Arial Bold"/>
                          <a:ea typeface="Arial Bold"/>
                          <a:cs typeface="Arial Bold"/>
                          <a:sym typeface="Arial Bold"/>
                        </a:rPr>
                        <a:t>Code: </a:t>
                      </a:r>
                      <a:r>
                        <a:rPr lang="en-US" sz="1999" spc="9" dirty="0">
                          <a:solidFill>
                            <a:srgbClr val="000000"/>
                          </a:solidFill>
                          <a:latin typeface="Arial"/>
                          <a:ea typeface="Arial"/>
                          <a:cs typeface="Arial"/>
                          <a:sym typeface="Arial"/>
                        </a:rPr>
                        <a:t>RL57-FE Online 2.0</a:t>
                      </a:r>
                    </a:p>
                    <a:p>
                      <a:pPr algn="l">
                        <a:lnSpc>
                          <a:spcPts val="2999"/>
                        </a:lnSpc>
                      </a:pPr>
                      <a:r>
                        <a:rPr lang="en-US" sz="1999" b="1" spc="9" dirty="0">
                          <a:solidFill>
                            <a:srgbClr val="000000"/>
                          </a:solidFill>
                          <a:latin typeface="Arial Bold"/>
                          <a:ea typeface="Arial Bold"/>
                          <a:cs typeface="Arial Bold"/>
                          <a:sym typeface="Arial Bold"/>
                        </a:rPr>
                        <a:t>Sub: </a:t>
                      </a:r>
                      <a:r>
                        <a:rPr lang="en-US" sz="1999" spc="9" dirty="0">
                          <a:solidFill>
                            <a:srgbClr val="000000"/>
                          </a:solidFill>
                          <a:latin typeface="Arial"/>
                          <a:ea typeface="Arial"/>
                          <a:cs typeface="Arial"/>
                          <a:sym typeface="Arial"/>
                        </a:rPr>
                        <a:t>RL57.07-Lỗi </a:t>
                      </a:r>
                      <a:r>
                        <a:rPr lang="en-US" sz="1999" spc="9" dirty="0" err="1">
                          <a:solidFill>
                            <a:srgbClr val="000000"/>
                          </a:solidFill>
                          <a:latin typeface="Arial"/>
                          <a:ea typeface="Arial"/>
                          <a:cs typeface="Arial"/>
                          <a:sym typeface="Arial"/>
                        </a:rPr>
                        <a:t>cập</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nhật</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thông</a:t>
                      </a:r>
                      <a:r>
                        <a:rPr lang="en-US" sz="1999" spc="9" dirty="0">
                          <a:solidFill>
                            <a:srgbClr val="000000"/>
                          </a:solidFill>
                          <a:latin typeface="Arial"/>
                          <a:ea typeface="Arial"/>
                          <a:cs typeface="Arial"/>
                          <a:sym typeface="Arial"/>
                        </a:rPr>
                        <a:t> tin</a:t>
                      </a:r>
                    </a:p>
                    <a:p>
                      <a:pPr algn="l">
                        <a:lnSpc>
                          <a:spcPts val="2999"/>
                        </a:lnSpc>
                      </a:pPr>
                      <a:r>
                        <a:rPr lang="en-US" sz="1999" b="1" spc="9" dirty="0">
                          <a:solidFill>
                            <a:srgbClr val="000000"/>
                          </a:solidFill>
                          <a:latin typeface="Arial Bold"/>
                          <a:ea typeface="Arial Bold"/>
                          <a:cs typeface="Arial Bold"/>
                          <a:sym typeface="Arial Bold"/>
                        </a:rPr>
                        <a:t>Properties: </a:t>
                      </a:r>
                      <a:r>
                        <a:rPr lang="en-US" sz="1999" spc="9" dirty="0" err="1">
                          <a:solidFill>
                            <a:srgbClr val="000000"/>
                          </a:solidFill>
                          <a:latin typeface="Arial"/>
                          <a:ea typeface="Arial"/>
                          <a:cs typeface="Arial"/>
                          <a:sym typeface="Arial"/>
                        </a:rPr>
                        <a:t>nhập</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theo</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yêu</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cầu</a:t>
                      </a:r>
                      <a:endParaRPr lang="en-US" sz="1999" spc="9" dirty="0">
                        <a:solidFill>
                          <a:srgbClr val="000000"/>
                        </a:solidFill>
                        <a:latin typeface="Arial"/>
                        <a:ea typeface="Arial"/>
                        <a:cs typeface="Arial"/>
                        <a:sym typeface="Arial"/>
                      </a:endParaRPr>
                    </a:p>
                    <a:p>
                      <a:pPr algn="l">
                        <a:lnSpc>
                          <a:spcPts val="2999"/>
                        </a:lnSpc>
                      </a:pPr>
                      <a:r>
                        <a:rPr lang="en-US" sz="1999" b="1" spc="9" dirty="0">
                          <a:solidFill>
                            <a:srgbClr val="000000"/>
                          </a:solidFill>
                          <a:latin typeface="Arial Bold"/>
                          <a:ea typeface="Arial Bold"/>
                          <a:cs typeface="Arial Bold"/>
                          <a:sym typeface="Arial Bold"/>
                        </a:rPr>
                        <a:t>Remark:</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Cập</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nhật</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trên</a:t>
                      </a:r>
                      <a:r>
                        <a:rPr lang="en-US" sz="1999" spc="9" dirty="0">
                          <a:solidFill>
                            <a:srgbClr val="000000"/>
                          </a:solidFill>
                          <a:latin typeface="Arial"/>
                          <a:ea typeface="Arial"/>
                          <a:cs typeface="Arial"/>
                          <a:sym typeface="Arial"/>
                        </a:rPr>
                        <a:t> FEOL 2.0 - SĐT </a:t>
                      </a:r>
                      <a:r>
                        <a:rPr lang="en-US" sz="1999" spc="9" dirty="0" err="1">
                          <a:solidFill>
                            <a:srgbClr val="000000"/>
                          </a:solidFill>
                          <a:latin typeface="Arial"/>
                          <a:ea typeface="Arial"/>
                          <a:cs typeface="Arial"/>
                          <a:sym typeface="Arial"/>
                        </a:rPr>
                        <a:t>cần</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cập</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nhật</a:t>
                      </a:r>
                      <a:r>
                        <a:rPr lang="en-US" sz="1999" spc="9" dirty="0">
                          <a:solidFill>
                            <a:srgbClr val="000000"/>
                          </a:solidFill>
                          <a:latin typeface="Arial"/>
                          <a:ea typeface="Arial"/>
                          <a:cs typeface="Arial"/>
                          <a:sym typeface="Arial"/>
                        </a:rPr>
                        <a:t> - SĐT </a:t>
                      </a:r>
                      <a:r>
                        <a:rPr lang="en-US" sz="1999" spc="9" dirty="0" err="1">
                          <a:solidFill>
                            <a:srgbClr val="000000"/>
                          </a:solidFill>
                          <a:latin typeface="Arial"/>
                          <a:ea typeface="Arial"/>
                          <a:cs typeface="Arial"/>
                          <a:sym typeface="Arial"/>
                        </a:rPr>
                        <a:t>hiện</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tại</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của</a:t>
                      </a:r>
                      <a:r>
                        <a:rPr lang="en-US" sz="1999" spc="9" dirty="0">
                          <a:solidFill>
                            <a:srgbClr val="000000"/>
                          </a:solidFill>
                          <a:latin typeface="Arial"/>
                          <a:ea typeface="Arial"/>
                          <a:cs typeface="Arial"/>
                          <a:sym typeface="Arial"/>
                        </a:rPr>
                        <a:t> KH </a:t>
                      </a:r>
                      <a:r>
                        <a:rPr lang="en-US" sz="1999" spc="9" dirty="0" err="1">
                          <a:solidFill>
                            <a:srgbClr val="000000"/>
                          </a:solidFill>
                          <a:latin typeface="Arial"/>
                          <a:ea typeface="Arial"/>
                          <a:cs typeface="Arial"/>
                          <a:sym typeface="Arial"/>
                        </a:rPr>
                        <a:t>trên</a:t>
                      </a:r>
                      <a:r>
                        <a:rPr lang="en-US" sz="1999" spc="9" dirty="0">
                          <a:solidFill>
                            <a:srgbClr val="000000"/>
                          </a:solidFill>
                          <a:latin typeface="Arial"/>
                          <a:ea typeface="Arial"/>
                          <a:cs typeface="Arial"/>
                          <a:sym typeface="Arial"/>
                        </a:rPr>
                        <a:t> FEOL 2.0 (</a:t>
                      </a:r>
                      <a:r>
                        <a:rPr lang="en-US" sz="1999" spc="9" dirty="0" err="1">
                          <a:solidFill>
                            <a:srgbClr val="000000"/>
                          </a:solidFill>
                          <a:latin typeface="Arial"/>
                          <a:ea typeface="Arial"/>
                          <a:cs typeface="Arial"/>
                          <a:sym typeface="Arial"/>
                        </a:rPr>
                        <a:t>nếu</a:t>
                      </a:r>
                      <a:r>
                        <a:rPr lang="en-US" sz="1999" spc="9" dirty="0">
                          <a:solidFill>
                            <a:srgbClr val="000000"/>
                          </a:solidFill>
                          <a:latin typeface="Arial"/>
                          <a:ea typeface="Arial"/>
                          <a:cs typeface="Arial"/>
                          <a:sym typeface="Arial"/>
                        </a:rPr>
                        <a:t> </a:t>
                      </a:r>
                      <a:r>
                        <a:rPr lang="en-US" sz="1999" spc="9" dirty="0" err="1">
                          <a:solidFill>
                            <a:srgbClr val="000000"/>
                          </a:solidFill>
                          <a:latin typeface="Arial"/>
                          <a:ea typeface="Arial"/>
                          <a:cs typeface="Arial"/>
                          <a:sym typeface="Arial"/>
                        </a:rPr>
                        <a:t>có</a:t>
                      </a:r>
                      <a:r>
                        <a:rPr lang="en-US" sz="1999" spc="9" dirty="0">
                          <a:solidFill>
                            <a:srgbClr val="000000"/>
                          </a:solidFill>
                          <a:latin typeface="Arial"/>
                          <a:ea typeface="Arial"/>
                          <a:cs typeface="Arial"/>
                          <a:sym typeface="Arial"/>
                        </a:rPr>
                        <a:t>)</a:t>
                      </a:r>
                    </a:p>
                    <a:p>
                      <a:pPr algn="just">
                        <a:lnSpc>
                          <a:spcPts val="2999"/>
                        </a:lnSpc>
                      </a:pPr>
                      <a:endParaRPr lang="en-US" sz="1999" spc="9" dirty="0">
                        <a:solidFill>
                          <a:srgbClr val="000000"/>
                        </a:solidFill>
                        <a:latin typeface="Arial"/>
                        <a:ea typeface="Arial"/>
                        <a:cs typeface="Arial"/>
                        <a:sym typeface="Arial"/>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4"/>
              <a:stretch>
                <a:fillRect l="-23" r="-22" b="5"/>
              </a:stretch>
            </a:blipFill>
          </p:spPr>
        </p:sp>
      </p:grpSp>
      <p:sp>
        <p:nvSpPr>
          <p:cNvPr id="5" name="Freeform 5"/>
          <p:cNvSpPr/>
          <p:nvPr/>
        </p:nvSpPr>
        <p:spPr>
          <a:xfrm>
            <a:off x="-2"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TextBox 6"/>
          <p:cNvSpPr txBox="1"/>
          <p:nvPr/>
        </p:nvSpPr>
        <p:spPr>
          <a:xfrm>
            <a:off x="4019169" y="145428"/>
            <a:ext cx="10249652" cy="579596"/>
          </a:xfrm>
          <a:prstGeom prst="rect">
            <a:avLst/>
          </a:prstGeom>
        </p:spPr>
        <p:txBody>
          <a:bodyPr lIns="0" tIns="0" rIns="0" bIns="0" rtlCol="0" anchor="t">
            <a:spAutoFit/>
          </a:bodyPr>
          <a:lstStyle/>
          <a:p>
            <a:pPr algn="ctr">
              <a:lnSpc>
                <a:spcPts val="4419"/>
              </a:lnSpc>
            </a:pPr>
            <a:r>
              <a:rPr lang="en-US" sz="3399" b="1">
                <a:solidFill>
                  <a:srgbClr val="000000"/>
                </a:solidFill>
                <a:latin typeface="Arial Bold"/>
                <a:ea typeface="Arial Bold"/>
                <a:cs typeface="Arial Bold"/>
                <a:sym typeface="Arial Bold"/>
              </a:rPr>
              <a:t>CHƯA CÓ HỢP ĐỒNG VAY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5913120"/>
            <a:chOff x="0" y="0"/>
            <a:chExt cx="24384000" cy="7884160"/>
          </a:xfrm>
        </p:grpSpPr>
        <p:sp>
          <p:nvSpPr>
            <p:cNvPr id="3" name="Freeform 3"/>
            <p:cNvSpPr/>
            <p:nvPr/>
          </p:nvSpPr>
          <p:spPr>
            <a:xfrm>
              <a:off x="0" y="0"/>
              <a:ext cx="24384000" cy="7884160"/>
            </a:xfrm>
            <a:custGeom>
              <a:avLst/>
              <a:gdLst/>
              <a:ahLst/>
              <a:cxnLst/>
              <a:rect l="l" t="t" r="r" b="b"/>
              <a:pathLst>
                <a:path w="24384000" h="7884160">
                  <a:moveTo>
                    <a:pt x="0" y="0"/>
                  </a:moveTo>
                  <a:lnTo>
                    <a:pt x="24384000" y="0"/>
                  </a:lnTo>
                  <a:lnTo>
                    <a:pt x="24384000" y="7884160"/>
                  </a:lnTo>
                  <a:lnTo>
                    <a:pt x="0" y="7884160"/>
                  </a:lnTo>
                  <a:lnTo>
                    <a:pt x="0" y="0"/>
                  </a:lnTo>
                  <a:close/>
                </a:path>
              </a:pathLst>
            </a:custGeom>
            <a:blipFill>
              <a:blip r:embed="rId2"/>
              <a:stretch>
                <a:fillRect t="-49" b="-49"/>
              </a:stretch>
            </a:blipFill>
          </p:spPr>
        </p:sp>
      </p:grpSp>
      <p:sp>
        <p:nvSpPr>
          <p:cNvPr id="4" name="Freeform 4"/>
          <p:cNvSpPr/>
          <p:nvPr/>
        </p:nvSpPr>
        <p:spPr>
          <a:xfrm>
            <a:off x="-299466" y="6694294"/>
            <a:ext cx="18587466" cy="1885045"/>
          </a:xfrm>
          <a:custGeom>
            <a:avLst/>
            <a:gdLst/>
            <a:ahLst/>
            <a:cxnLst/>
            <a:rect l="l" t="t" r="r" b="b"/>
            <a:pathLst>
              <a:path w="18886932" h="1885045">
                <a:moveTo>
                  <a:pt x="0" y="0"/>
                </a:moveTo>
                <a:lnTo>
                  <a:pt x="18886932" y="0"/>
                </a:lnTo>
                <a:lnTo>
                  <a:pt x="18886932" y="1885045"/>
                </a:lnTo>
                <a:lnTo>
                  <a:pt x="0" y="18850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920240" y="7018430"/>
            <a:ext cx="14630400" cy="948273"/>
          </a:xfrm>
          <a:prstGeom prst="rect">
            <a:avLst/>
          </a:prstGeom>
        </p:spPr>
        <p:txBody>
          <a:bodyPr lIns="0" tIns="0" rIns="0" bIns="0" rtlCol="0" anchor="t">
            <a:spAutoFit/>
          </a:bodyPr>
          <a:lstStyle/>
          <a:p>
            <a:pPr algn="ctr">
              <a:lnSpc>
                <a:spcPts val="8118"/>
              </a:lnSpc>
            </a:pPr>
            <a:r>
              <a:rPr lang="en-US" sz="5798" b="1" dirty="0">
                <a:solidFill>
                  <a:srgbClr val="FFFFFF"/>
                </a:solidFill>
                <a:latin typeface="Arial Bold"/>
                <a:ea typeface="Arial Bold"/>
                <a:cs typeface="Arial Bold"/>
                <a:sym typeface="Arial Bold"/>
              </a:rPr>
              <a:t>CẬP NHẬT THÔNG TIN - HĐ THẺ</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30249" y="9680162"/>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4" name="Freeform 4"/>
          <p:cNvSpPr/>
          <p:nvPr/>
        </p:nvSpPr>
        <p:spPr>
          <a:xfrm>
            <a:off x="-12697" y="213141"/>
            <a:ext cx="18288000" cy="1885045"/>
          </a:xfrm>
          <a:custGeom>
            <a:avLst/>
            <a:gdLst/>
            <a:ahLst/>
            <a:cxnLst/>
            <a:rect l="l" t="t" r="r" b="b"/>
            <a:pathLst>
              <a:path w="18288000" h="1885045">
                <a:moveTo>
                  <a:pt x="0" y="0"/>
                </a:moveTo>
                <a:lnTo>
                  <a:pt x="18288000" y="0"/>
                </a:lnTo>
                <a:lnTo>
                  <a:pt x="18288000" y="1885045"/>
                </a:lnTo>
                <a:lnTo>
                  <a:pt x="0" y="18850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2136619" y="537286"/>
            <a:ext cx="14166447" cy="1131380"/>
          </a:xfrm>
          <a:prstGeom prst="rect">
            <a:avLst/>
          </a:prstGeom>
        </p:spPr>
        <p:txBody>
          <a:bodyPr lIns="0" tIns="0" rIns="0" bIns="0" rtlCol="0" anchor="t">
            <a:spAutoFit/>
          </a:bodyPr>
          <a:lstStyle/>
          <a:p>
            <a:pPr algn="ctr">
              <a:lnSpc>
                <a:spcPts val="8118"/>
              </a:lnSpc>
            </a:pPr>
            <a:r>
              <a:rPr lang="en-US" sz="5798" b="1">
                <a:solidFill>
                  <a:srgbClr val="FFFFFF"/>
                </a:solidFill>
                <a:latin typeface="Arial Bold"/>
                <a:ea typeface="Arial Bold"/>
                <a:cs typeface="Arial Bold"/>
                <a:sym typeface="Arial Bold"/>
              </a:rPr>
              <a:t>CẬP NHẬT SỐ ĐIỆN THOẠI</a:t>
            </a:r>
          </a:p>
        </p:txBody>
      </p:sp>
      <p:sp>
        <p:nvSpPr>
          <p:cNvPr id="6" name="TextBox 6"/>
          <p:cNvSpPr txBox="1"/>
          <p:nvPr/>
        </p:nvSpPr>
        <p:spPr>
          <a:xfrm>
            <a:off x="5378891" y="3104083"/>
            <a:ext cx="11030855" cy="3636007"/>
          </a:xfrm>
          <a:prstGeom prst="rect">
            <a:avLst/>
          </a:prstGeom>
        </p:spPr>
        <p:txBody>
          <a:bodyPr lIns="0" tIns="0" rIns="0" bIns="0" rtlCol="0" anchor="t">
            <a:spAutoFit/>
          </a:bodyPr>
          <a:lstStyle/>
          <a:p>
            <a:pPr algn="l">
              <a:lnSpc>
                <a:spcPts val="6798"/>
              </a:lnSpc>
            </a:pPr>
            <a:r>
              <a:rPr lang="en-US" sz="3399" b="1">
                <a:solidFill>
                  <a:srgbClr val="00974E"/>
                </a:solidFill>
                <a:latin typeface="Arial Bold"/>
                <a:ea typeface="Arial Bold"/>
                <a:cs typeface="Arial Bold"/>
                <a:sym typeface="Arial Bold"/>
              </a:rPr>
              <a:t>THẺ VẬT LÝ</a:t>
            </a:r>
          </a:p>
          <a:p>
            <a:pPr algn="l">
              <a:lnSpc>
                <a:spcPts val="6798"/>
              </a:lnSpc>
            </a:pPr>
            <a:r>
              <a:rPr lang="en-US" sz="3399" b="1">
                <a:solidFill>
                  <a:srgbClr val="00974E"/>
                </a:solidFill>
                <a:latin typeface="Arial Bold"/>
                <a:ea typeface="Arial Bold"/>
                <a:cs typeface="Arial Bold"/>
                <a:sym typeface="Arial Bold"/>
              </a:rPr>
              <a:t>THẺ PHI VẬT LÝ</a:t>
            </a:r>
          </a:p>
          <a:p>
            <a:pPr algn="l">
              <a:lnSpc>
                <a:spcPts val="6798"/>
              </a:lnSpc>
            </a:pPr>
            <a:r>
              <a:rPr lang="en-US" sz="3399" b="1">
                <a:solidFill>
                  <a:srgbClr val="00974E"/>
                </a:solidFill>
                <a:latin typeface="Arial Bold"/>
                <a:ea typeface="Arial Bold"/>
                <a:cs typeface="Arial Bold"/>
                <a:sym typeface="Arial Bold"/>
              </a:rPr>
              <a:t>THẺ CÓ STATUS 8/9</a:t>
            </a:r>
          </a:p>
          <a:p>
            <a:pPr algn="l">
              <a:lnSpc>
                <a:spcPts val="6798"/>
              </a:lnSpc>
            </a:pPr>
            <a:r>
              <a:rPr lang="en-US" sz="3399" b="1">
                <a:solidFill>
                  <a:srgbClr val="00974E"/>
                </a:solidFill>
                <a:latin typeface="Arial Bold"/>
                <a:ea typeface="Arial Bold"/>
                <a:cs typeface="Arial Bold"/>
                <a:sym typeface="Arial Bold"/>
              </a:rPr>
              <a:t>CẬP NHẬT LẠI ĐỊNH DẠNG SĐT</a:t>
            </a:r>
          </a:p>
        </p:txBody>
      </p:sp>
      <p:sp>
        <p:nvSpPr>
          <p:cNvPr id="7" name="Freeform 7"/>
          <p:cNvSpPr/>
          <p:nvPr/>
        </p:nvSpPr>
        <p:spPr>
          <a:xfrm>
            <a:off x="474316" y="30861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3128" y="0"/>
            <a:ext cx="18321128" cy="1440656"/>
          </a:xfrm>
          <a:custGeom>
            <a:avLst/>
            <a:gdLst/>
            <a:ahLst/>
            <a:cxnLst/>
            <a:rect l="l" t="t" r="r" b="b"/>
            <a:pathLst>
              <a:path w="18321128" h="1440656">
                <a:moveTo>
                  <a:pt x="0" y="0"/>
                </a:moveTo>
                <a:lnTo>
                  <a:pt x="18321128" y="0"/>
                </a:lnTo>
                <a:lnTo>
                  <a:pt x="18321128" y="1440656"/>
                </a:lnTo>
                <a:lnTo>
                  <a:pt x="0" y="1440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2044213" y="27673"/>
            <a:ext cx="14166447" cy="794671"/>
          </a:xfrm>
          <a:prstGeom prst="rect">
            <a:avLst/>
          </a:prstGeom>
        </p:spPr>
        <p:txBody>
          <a:bodyPr lIns="0" tIns="0" rIns="0" bIns="0" rtlCol="0" anchor="t">
            <a:spAutoFit/>
          </a:bodyPr>
          <a:lstStyle/>
          <a:p>
            <a:pPr algn="ctr">
              <a:lnSpc>
                <a:spcPts val="6720"/>
              </a:lnSpc>
            </a:pPr>
            <a:r>
              <a:rPr lang="en-US" sz="3400" b="1">
                <a:solidFill>
                  <a:srgbClr val="000000"/>
                </a:solidFill>
                <a:latin typeface="Arial Bold"/>
                <a:ea typeface="Arial Bold"/>
                <a:cs typeface="Arial Bold"/>
                <a:sym typeface="Arial Bold"/>
              </a:rPr>
              <a:t>CÁC BƯỚC KIỂM TRA ĐIỀU KIỆN- THẺ VẬT LÝ</a:t>
            </a:r>
          </a:p>
        </p:txBody>
      </p:sp>
      <p:graphicFrame>
        <p:nvGraphicFramePr>
          <p:cNvPr id="4" name="Table 4"/>
          <p:cNvGraphicFramePr>
            <a:graphicFrameLocks noGrp="1"/>
          </p:cNvGraphicFramePr>
          <p:nvPr/>
        </p:nvGraphicFramePr>
        <p:xfrm>
          <a:off x="326577" y="1280443"/>
          <a:ext cx="17564100" cy="8115050"/>
        </p:xfrm>
        <a:graphic>
          <a:graphicData uri="http://schemas.openxmlformats.org/drawingml/2006/table">
            <a:tbl>
              <a:tblPr/>
              <a:tblGrid>
                <a:gridCol w="4477993">
                  <a:extLst>
                    <a:ext uri="{9D8B030D-6E8A-4147-A177-3AD203B41FA5}">
                      <a16:colId xmlns:a16="http://schemas.microsoft.com/office/drawing/2014/main" val="20000"/>
                    </a:ext>
                  </a:extLst>
                </a:gridCol>
                <a:gridCol w="3309524">
                  <a:extLst>
                    <a:ext uri="{9D8B030D-6E8A-4147-A177-3AD203B41FA5}">
                      <a16:colId xmlns:a16="http://schemas.microsoft.com/office/drawing/2014/main" val="20001"/>
                    </a:ext>
                  </a:extLst>
                </a:gridCol>
                <a:gridCol w="9776583">
                  <a:extLst>
                    <a:ext uri="{9D8B030D-6E8A-4147-A177-3AD203B41FA5}">
                      <a16:colId xmlns:a16="http://schemas.microsoft.com/office/drawing/2014/main" val="20002"/>
                    </a:ext>
                  </a:extLst>
                </a:gridCol>
              </a:tblGrid>
              <a:tr h="2258504">
                <a:tc rowSpan="2">
                  <a:txBody>
                    <a:bodyPr/>
                    <a:lstStyle/>
                    <a:p>
                      <a:pPr algn="l">
                        <a:lnSpc>
                          <a:spcPts val="2800"/>
                        </a:lnSpc>
                        <a:defRPr/>
                      </a:pPr>
                      <a:r>
                        <a:rPr lang="en-US" sz="2000" b="1">
                          <a:solidFill>
                            <a:srgbClr val="000000"/>
                          </a:solidFill>
                          <a:latin typeface="Arial Bold"/>
                          <a:ea typeface="Arial Bold"/>
                          <a:cs typeface="Arial Bold"/>
                          <a:sym typeface="Arial Bold"/>
                        </a:rPr>
                        <a:t>Bước 1</a:t>
                      </a:r>
                      <a:endParaRPr lang="en-US" sz="1100"/>
                    </a:p>
                    <a:p>
                      <a:pPr algn="l">
                        <a:lnSpc>
                          <a:spcPts val="2800"/>
                        </a:lnSpc>
                      </a:pPr>
                      <a:r>
                        <a:rPr lang="en-US" sz="2000" b="1">
                          <a:solidFill>
                            <a:srgbClr val="000000"/>
                          </a:solidFill>
                          <a:latin typeface="Arial Bold"/>
                          <a:ea typeface="Arial Bold"/>
                          <a:cs typeface="Arial Bold"/>
                          <a:sym typeface="Arial Bold"/>
                        </a:rPr>
                        <a:t>Kiểm tra tình trạng kích hoạt thẻ</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gridSpan="2">
                  <a:txBody>
                    <a:bodyPr/>
                    <a:lstStyle/>
                    <a:p>
                      <a:pPr marL="457313" lvl="2" indent="-152438" algn="l">
                        <a:lnSpc>
                          <a:spcPts val="2800"/>
                        </a:lnSpc>
                        <a:buFont typeface="Arial"/>
                        <a:buChar char="⚬"/>
                        <a:defRPr/>
                      </a:pPr>
                      <a:r>
                        <a:rPr lang="en-US" sz="2000" b="1">
                          <a:solidFill>
                            <a:srgbClr val="000000"/>
                          </a:solidFill>
                          <a:latin typeface="Arial Bold"/>
                          <a:ea typeface="Arial Bold"/>
                          <a:cs typeface="Arial Bold"/>
                          <a:sym typeface="Arial Bold"/>
                        </a:rPr>
                        <a:t>Thẻ chưa kích hoạt: </a:t>
                      </a:r>
                      <a:r>
                        <a:rPr lang="en-US" sz="2000">
                          <a:solidFill>
                            <a:srgbClr val="000000"/>
                          </a:solidFill>
                          <a:latin typeface="Arial"/>
                          <a:ea typeface="Arial"/>
                          <a:cs typeface="Arial"/>
                          <a:sym typeface="Arial"/>
                        </a:rPr>
                        <a:t>KH đăng nhập ứng dụng FEOL 2.0 để </a:t>
                      </a:r>
                      <a:r>
                        <a:rPr lang="en-US" sz="2000" b="1" i="1" u="sng">
                          <a:solidFill>
                            <a:srgbClr val="4DA745"/>
                          </a:solidFill>
                          <a:latin typeface="Arial Bold Italics"/>
                          <a:ea typeface="Arial Bold Italics"/>
                          <a:cs typeface="Arial Bold Italics"/>
                          <a:sym typeface="Arial Bold Italics"/>
                        </a:rPr>
                        <a:t>kích hoạt thẻ</a:t>
                      </a:r>
                      <a:r>
                        <a:rPr lang="en-US" sz="2000" b="1" i="1">
                          <a:solidFill>
                            <a:srgbClr val="000000"/>
                          </a:solidFill>
                          <a:latin typeface="Arial Bold Italics"/>
                          <a:ea typeface="Arial Bold Italics"/>
                          <a:cs typeface="Arial Bold Italics"/>
                          <a:sym typeface="Arial Bold Italics"/>
                        </a:rPr>
                        <a:t> </a:t>
                      </a:r>
                      <a:r>
                        <a:rPr lang="en-US" sz="2000">
                          <a:solidFill>
                            <a:srgbClr val="000000"/>
                          </a:solidFill>
                          <a:latin typeface="Arial"/>
                          <a:ea typeface="Arial"/>
                          <a:cs typeface="Arial"/>
                          <a:sym typeface="Arial"/>
                        </a:rPr>
                        <a:t>và sau đó tiến hành cập nhật </a:t>
                      </a:r>
                      <a:r>
                        <a:rPr lang="en-US" sz="2000" b="1" i="1" u="sng">
                          <a:solidFill>
                            <a:srgbClr val="4DA745"/>
                          </a:solidFill>
                          <a:latin typeface="Arial Bold Italics"/>
                          <a:ea typeface="Arial Bold Italics"/>
                          <a:cs typeface="Arial Bold Italics"/>
                          <a:sym typeface="Arial Bold Italics"/>
                        </a:rPr>
                        <a:t>(tham khảo)</a:t>
                      </a:r>
                      <a:r>
                        <a:rPr lang="en-US" sz="2000" b="1" i="1">
                          <a:solidFill>
                            <a:srgbClr val="000000"/>
                          </a:solidFill>
                          <a:latin typeface="Arial Bold Italics"/>
                          <a:ea typeface="Arial Bold Italics"/>
                          <a:cs typeface="Arial Bold Italics"/>
                          <a:sym typeface="Arial Bold Italics"/>
                        </a:rPr>
                        <a:t>.</a:t>
                      </a:r>
                      <a:endParaRPr lang="en-US" sz="1100"/>
                    </a:p>
                    <a:p>
                      <a:pPr marL="457313" lvl="2" indent="-152438" algn="l">
                        <a:lnSpc>
                          <a:spcPts val="2800"/>
                        </a:lnSpc>
                        <a:buFont typeface="Arial"/>
                        <a:buChar char="⚬"/>
                      </a:pPr>
                      <a:r>
                        <a:rPr lang="en-US" sz="2000" b="1">
                          <a:solidFill>
                            <a:srgbClr val="FF0000"/>
                          </a:solidFill>
                          <a:latin typeface="Arial Bold"/>
                          <a:ea typeface="Arial Bold"/>
                          <a:cs typeface="Arial Bold"/>
                          <a:sym typeface="Arial Bold"/>
                        </a:rPr>
                        <a:t>TH đặc biệt: </a:t>
                      </a:r>
                      <a:r>
                        <a:rPr lang="en-US" sz="2000">
                          <a:solidFill>
                            <a:srgbClr val="000000"/>
                          </a:solidFill>
                          <a:latin typeface="Arial"/>
                          <a:ea typeface="Arial"/>
                          <a:cs typeface="Arial"/>
                          <a:sym typeface="Arial"/>
                        </a:rPr>
                        <a:t>Thẻ chưa kích hoạt nhưng có thẻ cũ đã kích hoạt hoặc có phát sinh GD chi tiêu thành công (TMN/ IPP/ Online transaction trên Digital Card (plan 6XXXX ở ARTD (trang 02/03) hoặc ARSD)) =&gt; Qua bước 2</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hMerge="1">
                  <a:txBody>
                    <a:bodyPr/>
                    <a:lstStyle/>
                    <a:p>
                      <a:pPr marL="457313" lvl="2" indent="-152438" algn="l">
                        <a:lnSpc>
                          <a:spcPts val="2800"/>
                        </a:lnSpc>
                        <a:buFont typeface="Arial"/>
                        <a:buChar char="⚬"/>
                        <a:defRPr/>
                      </a:pPr>
                      <a:r>
                        <a:rPr lang="en-US" sz="2000" b="1">
                          <a:solidFill>
                            <a:srgbClr val="000000"/>
                          </a:solidFill>
                          <a:latin typeface="Arial Bold"/>
                          <a:ea typeface="Arial Bold"/>
                          <a:cs typeface="Arial Bold"/>
                          <a:sym typeface="Arial Bold"/>
                        </a:rPr>
                        <a:t>Thẻ chưa kích hoạt: </a:t>
                      </a:r>
                      <a:r>
                        <a:rPr lang="en-US" sz="2000">
                          <a:solidFill>
                            <a:srgbClr val="000000"/>
                          </a:solidFill>
                          <a:latin typeface="Arial"/>
                          <a:ea typeface="Arial"/>
                          <a:cs typeface="Arial"/>
                          <a:sym typeface="Arial"/>
                        </a:rPr>
                        <a:t>KH đăng nhập ứng dụng FEOL 2.0 để </a:t>
                      </a:r>
                      <a:r>
                        <a:rPr lang="en-US" sz="2000" b="1" i="1" u="sng">
                          <a:solidFill>
                            <a:srgbClr val="4DA745"/>
                          </a:solidFill>
                          <a:latin typeface="Arial Bold Italics"/>
                          <a:ea typeface="Arial Bold Italics"/>
                          <a:cs typeface="Arial Bold Italics"/>
                          <a:sym typeface="Arial Bold Italics"/>
                        </a:rPr>
                        <a:t>kích hoạt thẻ</a:t>
                      </a:r>
                      <a:r>
                        <a:rPr lang="en-US" sz="2000" b="1" i="1">
                          <a:solidFill>
                            <a:srgbClr val="000000"/>
                          </a:solidFill>
                          <a:latin typeface="Arial Bold Italics"/>
                          <a:ea typeface="Arial Bold Italics"/>
                          <a:cs typeface="Arial Bold Italics"/>
                          <a:sym typeface="Arial Bold Italics"/>
                        </a:rPr>
                        <a:t> </a:t>
                      </a:r>
                      <a:r>
                        <a:rPr lang="en-US" sz="2000">
                          <a:solidFill>
                            <a:srgbClr val="000000"/>
                          </a:solidFill>
                          <a:latin typeface="Arial"/>
                          <a:ea typeface="Arial"/>
                          <a:cs typeface="Arial"/>
                          <a:sym typeface="Arial"/>
                        </a:rPr>
                        <a:t>và sau đó tiến hành cập nhật </a:t>
                      </a:r>
                      <a:r>
                        <a:rPr lang="en-US" sz="2000" b="1" i="1" u="sng">
                          <a:solidFill>
                            <a:srgbClr val="4DA745"/>
                          </a:solidFill>
                          <a:latin typeface="Arial Bold Italics"/>
                          <a:ea typeface="Arial Bold Italics"/>
                          <a:cs typeface="Arial Bold Italics"/>
                          <a:sym typeface="Arial Bold Italics"/>
                        </a:rPr>
                        <a:t>(tham khảo)</a:t>
                      </a:r>
                      <a:r>
                        <a:rPr lang="en-US" sz="2000" b="1" i="1">
                          <a:solidFill>
                            <a:srgbClr val="000000"/>
                          </a:solidFill>
                          <a:latin typeface="Arial Bold Italics"/>
                          <a:ea typeface="Arial Bold Italics"/>
                          <a:cs typeface="Arial Bold Italics"/>
                          <a:sym typeface="Arial Bold Italics"/>
                        </a:rPr>
                        <a:t>.</a:t>
                      </a:r>
                      <a:endParaRPr lang="en-US" sz="1100"/>
                    </a:p>
                    <a:p>
                      <a:pPr marL="457313" lvl="2" indent="-152438" algn="l">
                        <a:lnSpc>
                          <a:spcPts val="2800"/>
                        </a:lnSpc>
                        <a:buFont typeface="Arial"/>
                        <a:buChar char="⚬"/>
                      </a:pPr>
                      <a:r>
                        <a:rPr lang="en-US" sz="2000" b="1">
                          <a:solidFill>
                            <a:srgbClr val="FF0000"/>
                          </a:solidFill>
                          <a:latin typeface="Arial Bold"/>
                          <a:ea typeface="Arial Bold"/>
                          <a:cs typeface="Arial Bold"/>
                          <a:sym typeface="Arial Bold"/>
                        </a:rPr>
                        <a:t>TH đặc biệt: </a:t>
                      </a:r>
                      <a:r>
                        <a:rPr lang="en-US" sz="2000">
                          <a:solidFill>
                            <a:srgbClr val="000000"/>
                          </a:solidFill>
                          <a:latin typeface="Arial"/>
                          <a:ea typeface="Arial"/>
                          <a:cs typeface="Arial"/>
                          <a:sym typeface="Arial"/>
                        </a:rPr>
                        <a:t>Thẻ chưa kích hoạt nhưng có thẻ cũ đã kích hoạt hoặc có phát sinh GD chi tiêu thành công (TMN/ IPP/ Online transaction trên Digital Card (plan 6XXXX ở ARTD (trang 02/03) hoặc ARSD)) =&gt; Qua bước 2</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0"/>
                  </a:ext>
                </a:extLst>
              </a:tr>
              <a:tr h="842154">
                <a:tc vMerge="1">
                  <a:txBody>
                    <a:bodyPr/>
                    <a:lstStyle/>
                    <a:p>
                      <a:pPr algn="l">
                        <a:lnSpc>
                          <a:spcPts val="2800"/>
                        </a:lnSpc>
                        <a:defRPr/>
                      </a:pPr>
                      <a:r>
                        <a:rPr lang="en-US" sz="2000" b="1">
                          <a:solidFill>
                            <a:srgbClr val="000000"/>
                          </a:solidFill>
                          <a:latin typeface="Arial Bold"/>
                          <a:ea typeface="Arial Bold"/>
                          <a:cs typeface="Arial Bold"/>
                          <a:sym typeface="Arial Bold"/>
                        </a:rPr>
                        <a:t>Bước 1</a:t>
                      </a:r>
                      <a:endParaRPr lang="en-US" sz="1100"/>
                    </a:p>
                    <a:p>
                      <a:pPr algn="l">
                        <a:lnSpc>
                          <a:spcPts val="2800"/>
                        </a:lnSpc>
                      </a:pPr>
                      <a:r>
                        <a:rPr lang="en-US" sz="2000" b="1">
                          <a:solidFill>
                            <a:srgbClr val="000000"/>
                          </a:solidFill>
                          <a:latin typeface="Arial Bold"/>
                          <a:ea typeface="Arial Bold"/>
                          <a:cs typeface="Arial Bold"/>
                          <a:sym typeface="Arial Bold"/>
                        </a:rPr>
                        <a:t>Kiểm tra tình trạng kích hoạt thẻ</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gridSpan="2">
                  <a:txBody>
                    <a:bodyPr/>
                    <a:lstStyle/>
                    <a:p>
                      <a:pPr marL="457313" lvl="2" indent="-152438" algn="l">
                        <a:lnSpc>
                          <a:spcPts val="2800"/>
                        </a:lnSpc>
                        <a:buFont typeface="Arial"/>
                        <a:buChar char="⚬"/>
                        <a:defRPr/>
                      </a:pPr>
                      <a:r>
                        <a:rPr lang="en-US" sz="2000" b="1">
                          <a:solidFill>
                            <a:srgbClr val="000000"/>
                          </a:solidFill>
                          <a:latin typeface="Arial Bold"/>
                          <a:ea typeface="Arial Bold"/>
                          <a:cs typeface="Arial Bold"/>
                          <a:sym typeface="Arial Bold"/>
                        </a:rPr>
                        <a:t>Thẻ đã kích hoạt: </a:t>
                      </a:r>
                      <a:r>
                        <a:rPr lang="en-US" sz="2000">
                          <a:solidFill>
                            <a:srgbClr val="000000"/>
                          </a:solidFill>
                          <a:latin typeface="Arial"/>
                          <a:ea typeface="Arial"/>
                          <a:cs typeface="Arial"/>
                          <a:sym typeface="Arial"/>
                        </a:rPr>
                        <a:t>Qua</a:t>
                      </a:r>
                      <a:r>
                        <a:rPr lang="en-US" sz="2000" b="1">
                          <a:solidFill>
                            <a:srgbClr val="000000"/>
                          </a:solidFill>
                          <a:latin typeface="Arial Bold"/>
                          <a:ea typeface="Arial Bold"/>
                          <a:cs typeface="Arial Bold"/>
                          <a:sym typeface="Arial Bold"/>
                        </a:rPr>
                        <a:t> </a:t>
                      </a:r>
                      <a:r>
                        <a:rPr lang="en-US" sz="2000">
                          <a:solidFill>
                            <a:srgbClr val="000000"/>
                          </a:solidFill>
                          <a:latin typeface="Arial"/>
                          <a:ea typeface="Arial"/>
                          <a:cs typeface="Arial"/>
                          <a:sym typeface="Arial"/>
                        </a:rPr>
                        <a:t>bước 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hMerge="1">
                  <a:txBody>
                    <a:bodyPr/>
                    <a:lstStyle/>
                    <a:p>
                      <a:pPr marL="457313" lvl="2" indent="-152438" algn="l">
                        <a:lnSpc>
                          <a:spcPts val="2800"/>
                        </a:lnSpc>
                        <a:buFont typeface="Arial"/>
                        <a:buChar char="⚬"/>
                        <a:defRPr/>
                      </a:pPr>
                      <a:r>
                        <a:rPr lang="en-US" sz="2000" b="1">
                          <a:solidFill>
                            <a:srgbClr val="000000"/>
                          </a:solidFill>
                          <a:latin typeface="Arial Bold"/>
                          <a:ea typeface="Arial Bold"/>
                          <a:cs typeface="Arial Bold"/>
                          <a:sym typeface="Arial Bold"/>
                        </a:rPr>
                        <a:t>Thẻ đã kích hoạt: </a:t>
                      </a:r>
                      <a:r>
                        <a:rPr lang="en-US" sz="2000">
                          <a:solidFill>
                            <a:srgbClr val="000000"/>
                          </a:solidFill>
                          <a:latin typeface="Arial"/>
                          <a:ea typeface="Arial"/>
                          <a:cs typeface="Arial"/>
                          <a:sym typeface="Arial"/>
                        </a:rPr>
                        <a:t>Qua</a:t>
                      </a:r>
                      <a:r>
                        <a:rPr lang="en-US" sz="2000" b="1">
                          <a:solidFill>
                            <a:srgbClr val="000000"/>
                          </a:solidFill>
                          <a:latin typeface="Arial Bold"/>
                          <a:ea typeface="Arial Bold"/>
                          <a:cs typeface="Arial Bold"/>
                          <a:sym typeface="Arial Bold"/>
                        </a:rPr>
                        <a:t> </a:t>
                      </a:r>
                      <a:r>
                        <a:rPr lang="en-US" sz="2000">
                          <a:solidFill>
                            <a:srgbClr val="000000"/>
                          </a:solidFill>
                          <a:latin typeface="Arial"/>
                          <a:ea typeface="Arial"/>
                          <a:cs typeface="Arial"/>
                          <a:sym typeface="Arial"/>
                        </a:rPr>
                        <a:t>bước 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1196241">
                <a:tc>
                  <a:txBody>
                    <a:bodyPr/>
                    <a:lstStyle/>
                    <a:p>
                      <a:pPr algn="l">
                        <a:lnSpc>
                          <a:spcPts val="2800"/>
                        </a:lnSpc>
                        <a:defRPr/>
                      </a:pPr>
                      <a:r>
                        <a:rPr lang="en-US" sz="2000" b="1">
                          <a:solidFill>
                            <a:srgbClr val="000000"/>
                          </a:solidFill>
                          <a:latin typeface="Arial Bold"/>
                          <a:ea typeface="Arial Bold"/>
                          <a:cs typeface="Arial Bold"/>
                          <a:sym typeface="Arial Bold"/>
                        </a:rPr>
                        <a:t>Bước 2</a:t>
                      </a:r>
                      <a:endParaRPr lang="en-US" sz="1100"/>
                    </a:p>
                    <a:p>
                      <a:pPr algn="l">
                        <a:lnSpc>
                          <a:spcPts val="2800"/>
                        </a:lnSpc>
                      </a:pPr>
                      <a:r>
                        <a:rPr lang="en-US" sz="2000" b="1">
                          <a:solidFill>
                            <a:srgbClr val="000000"/>
                          </a:solidFill>
                          <a:latin typeface="Arial Bold"/>
                          <a:ea typeface="Arial Bold"/>
                          <a:cs typeface="Arial Bold"/>
                          <a:sym typeface="Arial Bold"/>
                        </a:rPr>
                        <a:t>Kiểm tra block code trên ARQE</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gridSpan="2">
                  <a:txBody>
                    <a:bodyPr/>
                    <a:lstStyle/>
                    <a:p>
                      <a:pPr marL="457313" lvl="2" indent="-152438" algn="l">
                        <a:lnSpc>
                          <a:spcPts val="2800"/>
                        </a:lnSpc>
                        <a:buFont typeface="Arial"/>
                        <a:buChar char="⚬"/>
                        <a:defRPr/>
                      </a:pPr>
                      <a:r>
                        <a:rPr lang="en-US" sz="2000" b="1">
                          <a:solidFill>
                            <a:srgbClr val="000000"/>
                          </a:solidFill>
                          <a:latin typeface="Arial Bold"/>
                          <a:ea typeface="Arial Bold"/>
                          <a:cs typeface="Arial Bold"/>
                          <a:sym typeface="Arial Bold"/>
                        </a:rPr>
                        <a:t>Code C</a:t>
                      </a:r>
                      <a:r>
                        <a:rPr lang="en-US" sz="2000">
                          <a:solidFill>
                            <a:srgbClr val="000000"/>
                          </a:solidFill>
                          <a:latin typeface="Arial"/>
                          <a:ea typeface="Arial"/>
                          <a:cs typeface="Arial"/>
                          <a:sym typeface="Arial"/>
                        </a:rPr>
                        <a:t>: từ chối hỗ trợ </a:t>
                      </a:r>
                      <a:endParaRPr lang="en-US" sz="1100"/>
                    </a:p>
                    <a:p>
                      <a:pPr marL="457313" lvl="2" indent="-152438" algn="l">
                        <a:lnSpc>
                          <a:spcPts val="2800"/>
                        </a:lnSpc>
                        <a:buFont typeface="Arial"/>
                        <a:buChar char="⚬"/>
                      </a:pPr>
                      <a:r>
                        <a:rPr lang="en-US" sz="2000" b="1">
                          <a:solidFill>
                            <a:srgbClr val="000000"/>
                          </a:solidFill>
                          <a:latin typeface="Arial Bold"/>
                          <a:ea typeface="Arial Bold"/>
                          <a:cs typeface="Arial Bold"/>
                          <a:sym typeface="Arial Bold"/>
                        </a:rPr>
                        <a:t>Không có block code/ Các block code còn lại:</a:t>
                      </a:r>
                      <a:r>
                        <a:rPr lang="en-US" sz="2000">
                          <a:solidFill>
                            <a:srgbClr val="000000"/>
                          </a:solidFill>
                          <a:latin typeface="Arial"/>
                          <a:ea typeface="Arial"/>
                          <a:cs typeface="Arial"/>
                          <a:sym typeface="Arial"/>
                        </a:rPr>
                        <a:t> Qua bước 3</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hMerge="1">
                  <a:txBody>
                    <a:bodyPr/>
                    <a:lstStyle/>
                    <a:p>
                      <a:pPr marL="457313" lvl="2" indent="-152438" algn="l">
                        <a:lnSpc>
                          <a:spcPts val="2800"/>
                        </a:lnSpc>
                        <a:buFont typeface="Arial"/>
                        <a:buChar char="⚬"/>
                        <a:defRPr/>
                      </a:pPr>
                      <a:r>
                        <a:rPr lang="en-US" sz="2000" b="1">
                          <a:solidFill>
                            <a:srgbClr val="000000"/>
                          </a:solidFill>
                          <a:latin typeface="Arial Bold"/>
                          <a:ea typeface="Arial Bold"/>
                          <a:cs typeface="Arial Bold"/>
                          <a:sym typeface="Arial Bold"/>
                        </a:rPr>
                        <a:t>Code C</a:t>
                      </a:r>
                      <a:r>
                        <a:rPr lang="en-US" sz="2000">
                          <a:solidFill>
                            <a:srgbClr val="000000"/>
                          </a:solidFill>
                          <a:latin typeface="Arial"/>
                          <a:ea typeface="Arial"/>
                          <a:cs typeface="Arial"/>
                          <a:sym typeface="Arial"/>
                        </a:rPr>
                        <a:t>: từ chối hỗ trợ </a:t>
                      </a:r>
                      <a:endParaRPr lang="en-US" sz="1100"/>
                    </a:p>
                    <a:p>
                      <a:pPr marL="457313" lvl="2" indent="-152438" algn="l">
                        <a:lnSpc>
                          <a:spcPts val="2800"/>
                        </a:lnSpc>
                        <a:buFont typeface="Arial"/>
                        <a:buChar char="⚬"/>
                      </a:pPr>
                      <a:r>
                        <a:rPr lang="en-US" sz="2000" b="1">
                          <a:solidFill>
                            <a:srgbClr val="000000"/>
                          </a:solidFill>
                          <a:latin typeface="Arial Bold"/>
                          <a:ea typeface="Arial Bold"/>
                          <a:cs typeface="Arial Bold"/>
                          <a:sym typeface="Arial Bold"/>
                        </a:rPr>
                        <a:t>Không có block code/ Các block code còn lại:</a:t>
                      </a:r>
                      <a:r>
                        <a:rPr lang="en-US" sz="2000">
                          <a:solidFill>
                            <a:srgbClr val="000000"/>
                          </a:solidFill>
                          <a:latin typeface="Arial"/>
                          <a:ea typeface="Arial"/>
                          <a:cs typeface="Arial"/>
                          <a:sym typeface="Arial"/>
                        </a:rPr>
                        <a:t> Qua bước 3</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1196241">
                <a:tc rowSpan="3">
                  <a:txBody>
                    <a:bodyPr/>
                    <a:lstStyle/>
                    <a:p>
                      <a:pPr algn="l">
                        <a:lnSpc>
                          <a:spcPts val="2800"/>
                        </a:lnSpc>
                        <a:defRPr/>
                      </a:pPr>
                      <a:r>
                        <a:rPr lang="en-US" sz="2000" b="1">
                          <a:solidFill>
                            <a:srgbClr val="000000"/>
                          </a:solidFill>
                          <a:latin typeface="Arial Bold"/>
                          <a:ea typeface="Arial Bold"/>
                          <a:cs typeface="Arial Bold"/>
                          <a:sym typeface="Arial Bold"/>
                        </a:rPr>
                        <a:t>Bước 3</a:t>
                      </a:r>
                      <a:endParaRPr lang="en-US" sz="1100"/>
                    </a:p>
                    <a:p>
                      <a:pPr algn="l">
                        <a:lnSpc>
                          <a:spcPts val="2800"/>
                        </a:lnSpc>
                      </a:pPr>
                      <a:r>
                        <a:rPr lang="en-US" sz="2000" b="1">
                          <a:solidFill>
                            <a:srgbClr val="000000"/>
                          </a:solidFill>
                          <a:latin typeface="Arial Bold"/>
                          <a:ea typeface="Arial Bold"/>
                          <a:cs typeface="Arial Bold"/>
                          <a:sym typeface="Arial Bold"/>
                        </a:rPr>
                        <a:t>Kiểm tra block code trên ARQB</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313" lvl="2" indent="-152438" algn="l">
                        <a:lnSpc>
                          <a:spcPts val="2800"/>
                        </a:lnSpc>
                        <a:buFont typeface="Arial"/>
                        <a:buChar char="⚬"/>
                        <a:defRPr/>
                      </a:pPr>
                      <a:r>
                        <a:rPr lang="en-US" sz="2000" b="1">
                          <a:solidFill>
                            <a:srgbClr val="000000"/>
                          </a:solidFill>
                          <a:latin typeface="Arial Bold"/>
                          <a:ea typeface="Arial Bold"/>
                          <a:cs typeface="Arial Bold"/>
                          <a:sym typeface="Arial Bold"/>
                        </a:rPr>
                        <a:t>Thẻ khóa 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a:solidFill>
                            <a:srgbClr val="000000"/>
                          </a:solidFill>
                          <a:latin typeface="Arial"/>
                          <a:ea typeface="Arial"/>
                          <a:cs typeface="Arial"/>
                          <a:sym typeface="Arial"/>
                        </a:rPr>
                        <a:t>Hướng dẫn KH thanh toán Minpay để mở khóa thẻ, sau đó KH thao tác cập nhật trên FEOL 2.0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r h="1720944">
                <a:tc vMerge="1">
                  <a:txBody>
                    <a:bodyPr/>
                    <a:lstStyle/>
                    <a:p>
                      <a:pPr algn="l">
                        <a:lnSpc>
                          <a:spcPts val="2800"/>
                        </a:lnSpc>
                        <a:defRPr/>
                      </a:pPr>
                      <a:r>
                        <a:rPr lang="en-US" sz="2000" b="1">
                          <a:solidFill>
                            <a:srgbClr val="000000"/>
                          </a:solidFill>
                          <a:latin typeface="Arial Bold"/>
                          <a:ea typeface="Arial Bold"/>
                          <a:cs typeface="Arial Bold"/>
                          <a:sym typeface="Arial Bold"/>
                        </a:rPr>
                        <a:t>Bước 3</a:t>
                      </a:r>
                      <a:endParaRPr lang="en-US" sz="1100"/>
                    </a:p>
                    <a:p>
                      <a:pPr algn="l">
                        <a:lnSpc>
                          <a:spcPts val="2800"/>
                        </a:lnSpc>
                      </a:pPr>
                      <a:r>
                        <a:rPr lang="en-US" sz="2000" b="1">
                          <a:solidFill>
                            <a:srgbClr val="000000"/>
                          </a:solidFill>
                          <a:latin typeface="Arial Bold"/>
                          <a:ea typeface="Arial Bold"/>
                          <a:cs typeface="Arial Bold"/>
                          <a:sym typeface="Arial Bold"/>
                        </a:rPr>
                        <a:t>Kiểm tra block code trên ARQB</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313" lvl="2" indent="-152438" algn="l">
                        <a:lnSpc>
                          <a:spcPts val="2800"/>
                        </a:lnSpc>
                        <a:buFont typeface="Arial"/>
                        <a:buChar char="⚬"/>
                        <a:defRPr/>
                      </a:pPr>
                      <a:r>
                        <a:rPr lang="en-US" sz="2000" b="1">
                          <a:solidFill>
                            <a:srgbClr val="000000"/>
                          </a:solidFill>
                          <a:latin typeface="Arial Bold"/>
                          <a:ea typeface="Arial Bold"/>
                          <a:cs typeface="Arial Bold"/>
                          <a:sym typeface="Arial Bold"/>
                        </a:rPr>
                        <a:t>Không có khóa hoặc Khóa L, V, R-RSN 00/ 01/ 05</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313" lvl="2" indent="-152438" algn="l">
                        <a:lnSpc>
                          <a:spcPts val="2800"/>
                        </a:lnSpc>
                        <a:buFont typeface="Arial"/>
                        <a:buChar char="⚬"/>
                        <a:defRPr/>
                      </a:pPr>
                      <a:r>
                        <a:rPr lang="en-US" sz="2000" b="1">
                          <a:solidFill>
                            <a:srgbClr val="FF0000"/>
                          </a:solidFill>
                          <a:latin typeface="Arial Bold"/>
                          <a:ea typeface="Arial Bold"/>
                          <a:cs typeface="Arial Bold"/>
                          <a:sym typeface="Arial Bold"/>
                        </a:rPr>
                        <a:t>TH đặc biệt: </a:t>
                      </a:r>
                      <a:r>
                        <a:rPr lang="en-US" sz="2000">
                          <a:solidFill>
                            <a:srgbClr val="000000"/>
                          </a:solidFill>
                          <a:latin typeface="Arial"/>
                          <a:ea typeface="Arial"/>
                          <a:cs typeface="Arial"/>
                          <a:sym typeface="Arial"/>
                        </a:rPr>
                        <a:t>Hỗ trợ theo</a:t>
                      </a:r>
                      <a:r>
                        <a:rPr lang="en-US" sz="2000" b="1">
                          <a:solidFill>
                            <a:srgbClr val="000000"/>
                          </a:solidFill>
                          <a:latin typeface="Arial Bold"/>
                          <a:ea typeface="Arial Bold"/>
                          <a:cs typeface="Arial Bold"/>
                          <a:sym typeface="Arial Bold"/>
                        </a:rPr>
                        <a:t> </a:t>
                      </a:r>
                      <a:r>
                        <a:rPr lang="en-US" sz="2000" b="1" i="1" u="sng">
                          <a:solidFill>
                            <a:srgbClr val="4DA745"/>
                          </a:solidFill>
                          <a:latin typeface="Arial Bold Italics"/>
                          <a:ea typeface="Arial Bold Italics"/>
                          <a:cs typeface="Arial Bold Italics"/>
                          <a:sym typeface="Arial Bold Italics"/>
                        </a:rPr>
                        <a:t>Quy Trình 2</a:t>
                      </a:r>
                      <a:endParaRPr lang="en-US" sz="1100"/>
                    </a:p>
                    <a:p>
                      <a:pPr marL="457313" lvl="2" indent="-152438" algn="l">
                        <a:lnSpc>
                          <a:spcPts val="2800"/>
                        </a:lnSpc>
                      </a:pPr>
                      <a:endParaRPr lang="en-US" sz="1100"/>
                    </a:p>
                    <a:p>
                      <a:pPr marL="457313" lvl="2" indent="-152438" algn="l">
                        <a:lnSpc>
                          <a:spcPts val="2800"/>
                        </a:lnSpc>
                        <a:buFont typeface="Arial"/>
                        <a:buChar char="⚬"/>
                      </a:pPr>
                      <a:r>
                        <a:rPr lang="en-US" sz="2000">
                          <a:solidFill>
                            <a:srgbClr val="000000"/>
                          </a:solidFill>
                          <a:latin typeface="Arial"/>
                          <a:ea typeface="Arial"/>
                          <a:cs typeface="Arial"/>
                          <a:sym typeface="Arial"/>
                        </a:rPr>
                        <a:t>Còn lại</a:t>
                      </a:r>
                      <a:r>
                        <a:rPr lang="en-US" sz="2000" b="1">
                          <a:solidFill>
                            <a:srgbClr val="000000"/>
                          </a:solidFill>
                          <a:latin typeface="Arial Bold"/>
                          <a:ea typeface="Arial Bold"/>
                          <a:cs typeface="Arial Bold"/>
                          <a:sym typeface="Arial Bold"/>
                        </a:rPr>
                        <a:t>: </a:t>
                      </a:r>
                      <a:r>
                        <a:rPr lang="en-US" sz="2000">
                          <a:solidFill>
                            <a:srgbClr val="000000"/>
                          </a:solidFill>
                          <a:latin typeface="Arial"/>
                          <a:ea typeface="Arial"/>
                          <a:cs typeface="Arial"/>
                          <a:sym typeface="Arial"/>
                        </a:rPr>
                        <a:t>Hỗ trợ theo</a:t>
                      </a:r>
                      <a:r>
                        <a:rPr lang="en-US" sz="2000" b="1">
                          <a:solidFill>
                            <a:srgbClr val="000000"/>
                          </a:solidFill>
                          <a:latin typeface="Arial Bold"/>
                          <a:ea typeface="Arial Bold"/>
                          <a:cs typeface="Arial Bold"/>
                          <a:sym typeface="Arial Bold"/>
                        </a:rPr>
                        <a:t> </a:t>
                      </a:r>
                      <a:r>
                        <a:rPr lang="en-US" sz="2000" b="1" i="1" u="sng">
                          <a:solidFill>
                            <a:srgbClr val="4DA745"/>
                          </a:solidFill>
                          <a:latin typeface="Arial Bold Italics"/>
                          <a:ea typeface="Arial Bold Italics"/>
                          <a:cs typeface="Arial Bold Italics"/>
                          <a:sym typeface="Arial Bold Italics"/>
                        </a:rPr>
                        <a:t>Quy Trình 1</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4"/>
                  </a:ext>
                </a:extLst>
              </a:tr>
              <a:tr h="900966">
                <a:tc vMerge="1">
                  <a:txBody>
                    <a:bodyPr/>
                    <a:lstStyle/>
                    <a:p>
                      <a:pPr algn="l">
                        <a:lnSpc>
                          <a:spcPts val="2800"/>
                        </a:lnSpc>
                        <a:defRPr/>
                      </a:pPr>
                      <a:r>
                        <a:rPr lang="en-US" sz="2000" b="1">
                          <a:solidFill>
                            <a:srgbClr val="000000"/>
                          </a:solidFill>
                          <a:latin typeface="Arial Bold"/>
                          <a:ea typeface="Arial Bold"/>
                          <a:cs typeface="Arial Bold"/>
                          <a:sym typeface="Arial Bold"/>
                        </a:rPr>
                        <a:t>Bước 3</a:t>
                      </a:r>
                      <a:endParaRPr lang="en-US" sz="1100"/>
                    </a:p>
                    <a:p>
                      <a:pPr algn="l">
                        <a:lnSpc>
                          <a:spcPts val="2800"/>
                        </a:lnSpc>
                      </a:pPr>
                      <a:r>
                        <a:rPr lang="en-US" sz="2000" b="1">
                          <a:solidFill>
                            <a:srgbClr val="000000"/>
                          </a:solidFill>
                          <a:latin typeface="Arial Bold"/>
                          <a:ea typeface="Arial Bold"/>
                          <a:cs typeface="Arial Bold"/>
                          <a:sym typeface="Arial Bold"/>
                        </a:rPr>
                        <a:t>Kiểm tra block code trên ARQB</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313" lvl="2" indent="-152438" algn="l">
                        <a:lnSpc>
                          <a:spcPts val="2800"/>
                        </a:lnSpc>
                        <a:buFont typeface="Arial"/>
                        <a:buChar char="⚬"/>
                        <a:defRPr/>
                      </a:pPr>
                      <a:r>
                        <a:rPr lang="en-US" sz="2000" b="1">
                          <a:solidFill>
                            <a:srgbClr val="000000"/>
                          </a:solidFill>
                          <a:latin typeface="Arial Bold"/>
                          <a:ea typeface="Arial Bold"/>
                          <a:cs typeface="Arial Bold"/>
                          <a:sym typeface="Arial Bold"/>
                        </a:rPr>
                        <a:t>Các khóa còn lại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2800"/>
                        </a:lnSpc>
                        <a:defRPr/>
                      </a:pPr>
                      <a:r>
                        <a:rPr lang="en-US" sz="2000">
                          <a:solidFill>
                            <a:srgbClr val="000000"/>
                          </a:solidFill>
                          <a:latin typeface="Arial"/>
                          <a:ea typeface="Arial"/>
                          <a:cs typeface="Arial"/>
                          <a:sym typeface="Arial"/>
                        </a:rPr>
                        <a:t>Từ chối hỗ trợ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bl>
          </a:graphicData>
        </a:graphic>
      </p:graphicFrame>
      <p:grpSp>
        <p:nvGrpSpPr>
          <p:cNvPr id="5" name="Group 5"/>
          <p:cNvGrpSpPr/>
          <p:nvPr/>
        </p:nvGrpSpPr>
        <p:grpSpPr>
          <a:xfrm>
            <a:off x="15575432" y="9940023"/>
            <a:ext cx="2421874" cy="346977"/>
            <a:chOff x="0" y="0"/>
            <a:chExt cx="3229166" cy="462636"/>
          </a:xfrm>
        </p:grpSpPr>
        <p:sp>
          <p:nvSpPr>
            <p:cNvPr id="6" name="Freeform 6"/>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4"/>
              <a:stretch>
                <a:fillRect l="-23" r="-22" b="5"/>
              </a:stretch>
            </a:blipFill>
          </p:spPr>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352547856"/>
              </p:ext>
            </p:extLst>
          </p:nvPr>
        </p:nvGraphicFramePr>
        <p:xfrm>
          <a:off x="25970" y="1170713"/>
          <a:ext cx="18211800" cy="8814150"/>
        </p:xfrm>
        <a:graphic>
          <a:graphicData uri="http://schemas.openxmlformats.org/drawingml/2006/table">
            <a:tbl>
              <a:tblPr/>
              <a:tblGrid>
                <a:gridCol w="96463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gridCol w="5986032">
                  <a:extLst>
                    <a:ext uri="{9D8B030D-6E8A-4147-A177-3AD203B41FA5}">
                      <a16:colId xmlns:a16="http://schemas.microsoft.com/office/drawing/2014/main" val="20002"/>
                    </a:ext>
                  </a:extLst>
                </a:gridCol>
                <a:gridCol w="7908338">
                  <a:extLst>
                    <a:ext uri="{9D8B030D-6E8A-4147-A177-3AD203B41FA5}">
                      <a16:colId xmlns:a16="http://schemas.microsoft.com/office/drawing/2014/main" val="20003"/>
                    </a:ext>
                  </a:extLst>
                </a:gridCol>
              </a:tblGrid>
              <a:tr h="841915">
                <a:tc>
                  <a:txBody>
                    <a:bodyPr/>
                    <a:lstStyle/>
                    <a:p>
                      <a:pPr algn="ctr">
                        <a:lnSpc>
                          <a:spcPts val="3600"/>
                        </a:lnSpc>
                        <a:defRPr/>
                      </a:pPr>
                      <a:r>
                        <a:rPr lang="en-US" sz="2000" b="1" spc="9">
                          <a:solidFill>
                            <a:srgbClr val="FFFFFF"/>
                          </a:solidFill>
                          <a:latin typeface="Arial Bold"/>
                          <a:ea typeface="Arial Bold"/>
                          <a:cs typeface="Arial Bold"/>
                          <a:sym typeface="Arial Bold"/>
                        </a:rPr>
                        <a:t>STT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gridSpan="2">
                  <a:txBody>
                    <a:bodyPr/>
                    <a:lstStyle/>
                    <a:p>
                      <a:pPr algn="ctr">
                        <a:lnSpc>
                          <a:spcPts val="3600"/>
                        </a:lnSpc>
                        <a:defRPr/>
                      </a:pPr>
                      <a:r>
                        <a:rPr lang="en-US" sz="2000" b="1" spc="9">
                          <a:solidFill>
                            <a:srgbClr val="FFFFFF"/>
                          </a:solidFill>
                          <a:latin typeface="Arial Bold"/>
                          <a:ea typeface="Arial Bold"/>
                          <a:cs typeface="Arial Bold"/>
                          <a:sym typeface="Arial Bold"/>
                        </a:rPr>
                        <a:t>TRƯỜNG HỢP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600"/>
                        </a:lnSpc>
                        <a:defRPr/>
                      </a:pPr>
                      <a:r>
                        <a:rPr lang="en-US" sz="2000" b="1" spc="9">
                          <a:solidFill>
                            <a:srgbClr val="FFFFFF"/>
                          </a:solidFill>
                          <a:latin typeface="Arial Bold"/>
                          <a:ea typeface="Arial Bold"/>
                          <a:cs typeface="Arial Bold"/>
                          <a:sym typeface="Arial Bold"/>
                        </a:rPr>
                        <a:t>TRƯỜNG HỢP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10">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284200">
                <a:tc rowSpan="3">
                  <a:txBody>
                    <a:bodyPr/>
                    <a:lstStyle/>
                    <a:p>
                      <a:pPr algn="ctr">
                        <a:lnSpc>
                          <a:spcPts val="3000"/>
                        </a:lnSpc>
                        <a:defRPr/>
                      </a:pPr>
                      <a:r>
                        <a:rPr lang="en-US" sz="2000" b="1">
                          <a:solidFill>
                            <a:srgbClr val="000000"/>
                          </a:solidFill>
                          <a:latin typeface="Arial Bold"/>
                          <a:ea typeface="Arial Bold"/>
                          <a:cs typeface="Arial Bold"/>
                          <a:sym typeface="Arial Bold"/>
                        </a:rPr>
                        <a:t>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3">
                  <a:txBody>
                    <a:bodyPr/>
                    <a:lstStyle/>
                    <a:p>
                      <a:pPr algn="l">
                        <a:lnSpc>
                          <a:spcPts val="5000"/>
                        </a:lnSpc>
                        <a:defRPr/>
                      </a:pPr>
                      <a:r>
                        <a:rPr lang="en-US" sz="2000" b="1" dirty="0" err="1">
                          <a:solidFill>
                            <a:srgbClr val="000000"/>
                          </a:solidFill>
                          <a:latin typeface="Arial Bold"/>
                          <a:ea typeface="Arial Bold"/>
                          <a:cs typeface="Arial Bold"/>
                          <a:sym typeface="Arial Bold"/>
                        </a:rPr>
                        <a:t>Chưa</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Cập</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Nhật</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Trên</a:t>
                      </a:r>
                      <a:r>
                        <a:rPr lang="en-US" sz="2000" b="1" dirty="0">
                          <a:solidFill>
                            <a:srgbClr val="000000"/>
                          </a:solidFill>
                          <a:latin typeface="Arial Bold"/>
                          <a:ea typeface="Arial Bold"/>
                          <a:cs typeface="Arial Bold"/>
                          <a:sym typeface="Arial Bold"/>
                        </a:rPr>
                        <a:t> FEOL 2.0</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a:solidFill>
                            <a:srgbClr val="000000"/>
                          </a:solidFill>
                          <a:latin typeface="Arial Bold"/>
                          <a:ea typeface="Arial Bold"/>
                          <a:cs typeface="Arial Bold"/>
                          <a:sym typeface="Arial Bold"/>
                        </a:rPr>
                        <a:t>Chưa có tài khoản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a:solidFill>
                            <a:srgbClr val="000000"/>
                          </a:solidFill>
                          <a:latin typeface="Arial"/>
                          <a:ea typeface="Arial"/>
                          <a:cs typeface="Arial"/>
                          <a:sym typeface="Arial"/>
                        </a:rPr>
                        <a:t>Hướng dẫn KH tạo TK FEOL 2.0 bằng SĐT muốn thay đổi. (Lưu ý: SĐT cần đăng ký sim chính chủ)</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1224604">
                <a:tc vMerge="1">
                  <a:txBody>
                    <a:bodyPr/>
                    <a:lstStyle/>
                    <a:p>
                      <a:pPr algn="ctr">
                        <a:lnSpc>
                          <a:spcPts val="3000"/>
                        </a:lnSpc>
                        <a:defRPr/>
                      </a:pPr>
                      <a:r>
                        <a:rPr lang="en-US" sz="2000" b="1">
                          <a:solidFill>
                            <a:srgbClr val="000000"/>
                          </a:solidFill>
                          <a:latin typeface="Arial Bold"/>
                          <a:ea typeface="Arial Bold"/>
                          <a:cs typeface="Arial Bold"/>
                          <a:sym typeface="Arial Bold"/>
                        </a:rPr>
                        <a:t>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5000"/>
                        </a:lnSpc>
                        <a:defRPr/>
                      </a:pPr>
                      <a:r>
                        <a:rPr lang="en-US" sz="2000" b="1">
                          <a:solidFill>
                            <a:srgbClr val="000000"/>
                          </a:solidFill>
                          <a:latin typeface="Arial Bold"/>
                          <a:ea typeface="Arial Bold"/>
                          <a:cs typeface="Arial Bold"/>
                          <a:sym typeface="Arial Bold"/>
                        </a:rPr>
                        <a:t>Chưa Cập Nhật Trên FEOL 2.0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dirty="0" err="1">
                          <a:solidFill>
                            <a:srgbClr val="000000"/>
                          </a:solidFill>
                          <a:latin typeface="Arial Bold"/>
                          <a:ea typeface="Arial Bold"/>
                          <a:cs typeface="Arial Bold"/>
                          <a:sym typeface="Arial Bold"/>
                        </a:rPr>
                        <a:t>Đã</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có</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tài</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khoản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vẫn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còn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đăng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nhập</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được</a:t>
                      </a:r>
                      <a:r>
                        <a:rPr lang="en-US" sz="2000" b="1" dirty="0">
                          <a:solidFill>
                            <a:srgbClr val="000000"/>
                          </a:solidFill>
                          <a:latin typeface="Arial Bold"/>
                          <a:ea typeface="Arial Bold"/>
                          <a:cs typeface="Arial Bold"/>
                          <a:sym typeface="Arial Bold"/>
                        </a:rPr>
                        <a:t> App</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a:solidFill>
                            <a:srgbClr val="000000"/>
                          </a:solidFill>
                          <a:latin typeface="Arial"/>
                          <a:ea typeface="Arial"/>
                          <a:cs typeface="Arial"/>
                          <a:sym typeface="Arial"/>
                        </a:rPr>
                        <a:t>Hướng dẫn KH thao tác trên ứng dụng FEOL 2.0 </a:t>
                      </a:r>
                      <a:r>
                        <a:rPr lang="en-US" sz="2000" b="1" i="1" u="sng">
                          <a:solidFill>
                            <a:srgbClr val="4DA745"/>
                          </a:solidFill>
                          <a:latin typeface="Arial Bold Italics"/>
                          <a:ea typeface="Arial Bold Italics"/>
                          <a:cs typeface="Arial Bold Italics"/>
                          <a:sym typeface="Arial Bold Italics"/>
                        </a:rPr>
                        <a:t>(tham khảo)</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1273366">
                <a:tc vMerge="1">
                  <a:txBody>
                    <a:bodyPr/>
                    <a:lstStyle/>
                    <a:p>
                      <a:pPr algn="ctr">
                        <a:lnSpc>
                          <a:spcPts val="3000"/>
                        </a:lnSpc>
                        <a:defRPr/>
                      </a:pPr>
                      <a:r>
                        <a:rPr lang="en-US" sz="2000" b="1">
                          <a:solidFill>
                            <a:srgbClr val="000000"/>
                          </a:solidFill>
                          <a:latin typeface="Arial Bold"/>
                          <a:ea typeface="Arial Bold"/>
                          <a:cs typeface="Arial Bold"/>
                          <a:sym typeface="Arial Bold"/>
                        </a:rPr>
                        <a:t>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5000"/>
                        </a:lnSpc>
                        <a:defRPr/>
                      </a:pPr>
                      <a:r>
                        <a:rPr lang="en-US" sz="2000" b="1">
                          <a:solidFill>
                            <a:srgbClr val="000000"/>
                          </a:solidFill>
                          <a:latin typeface="Arial Bold"/>
                          <a:ea typeface="Arial Bold"/>
                          <a:cs typeface="Arial Bold"/>
                          <a:sym typeface="Arial Bold"/>
                        </a:rPr>
                        <a:t>Chưa Cập Nhật Trên FEOL 2.0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Đã có tài khoản nhưng quên thông tin đăng nhập và ko còn sử dụng SĐT cũ</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i="1" u="sng">
                          <a:solidFill>
                            <a:srgbClr val="4DA745"/>
                          </a:solidFill>
                          <a:latin typeface="Arial Bold Italics"/>
                          <a:ea typeface="Arial Bold Italics"/>
                          <a:cs typeface="Arial Bold Italics"/>
                          <a:sym typeface="Arial Bold Italics"/>
                        </a:rPr>
                        <a:t>Cập nhật thủ công 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r h="1301142">
                <a:tc rowSpan="2">
                  <a:txBody>
                    <a:bodyPr/>
                    <a:lstStyle/>
                    <a:p>
                      <a:pPr algn="ctr">
                        <a:lnSpc>
                          <a:spcPts val="3419"/>
                        </a:lnSpc>
                        <a:defRPr/>
                      </a:pPr>
                      <a:r>
                        <a:rPr lang="en-US" sz="2000" b="1">
                          <a:solidFill>
                            <a:srgbClr val="000000"/>
                          </a:solidFill>
                          <a:latin typeface="Arial Bold"/>
                          <a:ea typeface="Arial Bold"/>
                          <a:cs typeface="Arial Bold"/>
                          <a:sym typeface="Arial Bold"/>
                        </a:rPr>
                        <a:t>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algn="l">
                        <a:lnSpc>
                          <a:spcPts val="5000"/>
                        </a:lnSpc>
                        <a:defRPr/>
                      </a:pPr>
                      <a:r>
                        <a:rPr lang="en-US" sz="2000" b="1">
                          <a:solidFill>
                            <a:srgbClr val="000000"/>
                          </a:solidFill>
                          <a:latin typeface="Arial Bold"/>
                          <a:ea typeface="Arial Bold"/>
                          <a:cs typeface="Arial Bold"/>
                          <a:sym typeface="Arial Bold"/>
                        </a:rPr>
                        <a:t>Đã Cập Nhật Trên FEOL 2.0 Nhưng Gặp Lỗi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algn="l">
                        <a:lnSpc>
                          <a:spcPts val="3600"/>
                        </a:lnSpc>
                        <a:defRPr/>
                      </a:pPr>
                      <a:r>
                        <a:rPr lang="en-US" sz="2000" b="1">
                          <a:solidFill>
                            <a:srgbClr val="000000"/>
                          </a:solidFill>
                          <a:latin typeface="Arial Bold"/>
                          <a:ea typeface="Arial Bold"/>
                          <a:cs typeface="Arial Bold"/>
                          <a:sym typeface="Arial Bold"/>
                        </a:rPr>
                        <a:t>Kiểm tra file </a:t>
                      </a:r>
                      <a:r>
                        <a:rPr lang="en-US" sz="2000" b="1" i="1" u="sng">
                          <a:solidFill>
                            <a:srgbClr val="4DA745"/>
                          </a:solidFill>
                          <a:latin typeface="Arial Bold Italics"/>
                          <a:ea typeface="Arial Bold Italics"/>
                          <a:cs typeface="Arial Bold Italics"/>
                          <a:sym typeface="Arial Bold Italics"/>
                        </a:rPr>
                        <a:t>Lỗi tính năng cập nhật SĐT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313" lvl="2" indent="-152438" algn="l">
                        <a:lnSpc>
                          <a:spcPts val="3600"/>
                        </a:lnSpc>
                        <a:buFont typeface="Arial"/>
                        <a:buChar char="⚬"/>
                        <a:defRPr/>
                      </a:pPr>
                      <a:r>
                        <a:rPr lang="en-US" sz="2000">
                          <a:solidFill>
                            <a:srgbClr val="000000"/>
                          </a:solidFill>
                          <a:latin typeface="Arial"/>
                          <a:ea typeface="Arial"/>
                          <a:cs typeface="Arial"/>
                          <a:sym typeface="Arial"/>
                        </a:rPr>
                        <a:t> Thuộc file lỗi: Thực hiện theo hướng dẫn. Nếu KH gay gắt, hỗ trợ theo </a:t>
                      </a:r>
                      <a:r>
                        <a:rPr lang="en-US" sz="2000" b="1" i="1" u="sng">
                          <a:solidFill>
                            <a:srgbClr val="4DA745"/>
                          </a:solidFill>
                          <a:latin typeface="Arial Bold Italics"/>
                          <a:ea typeface="Arial Bold Italics"/>
                          <a:cs typeface="Arial Bold Italics"/>
                          <a:sym typeface="Arial Bold Italics"/>
                          <a:hlinkClick r:id="rId2" tooltip="http://taoticket_choitxuly.html"/>
                        </a:rPr>
                        <a:t>Lỗi ứng dụng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4"/>
                  </a:ext>
                </a:extLst>
              </a:tr>
              <a:tr h="1044247">
                <a:tc vMerge="1">
                  <a:txBody>
                    <a:bodyPr/>
                    <a:lstStyle/>
                    <a:p>
                      <a:pPr algn="ctr">
                        <a:lnSpc>
                          <a:spcPts val="3419"/>
                        </a:lnSpc>
                        <a:defRPr/>
                      </a:pPr>
                      <a:r>
                        <a:rPr lang="en-US" sz="2000" b="1">
                          <a:solidFill>
                            <a:srgbClr val="000000"/>
                          </a:solidFill>
                          <a:latin typeface="Arial Bold"/>
                          <a:ea typeface="Arial Bold"/>
                          <a:cs typeface="Arial Bold"/>
                          <a:sym typeface="Arial Bold"/>
                        </a:rPr>
                        <a:t>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5000"/>
                        </a:lnSpc>
                        <a:defRPr/>
                      </a:pPr>
                      <a:r>
                        <a:rPr lang="en-US" sz="2000" b="1">
                          <a:solidFill>
                            <a:srgbClr val="000000"/>
                          </a:solidFill>
                          <a:latin typeface="Arial Bold"/>
                          <a:ea typeface="Arial Bold"/>
                          <a:cs typeface="Arial Bold"/>
                          <a:sym typeface="Arial Bold"/>
                        </a:rPr>
                        <a:t>Đã Cập Nhật Trên FEOL 2.0 Nhưng Gặp Lỗi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600"/>
                        </a:lnSpc>
                        <a:defRPr/>
                      </a:pPr>
                      <a:r>
                        <a:rPr lang="en-US" sz="2000" b="1">
                          <a:solidFill>
                            <a:srgbClr val="000000"/>
                          </a:solidFill>
                          <a:latin typeface="Arial Bold"/>
                          <a:ea typeface="Arial Bold"/>
                          <a:cs typeface="Arial Bold"/>
                          <a:sym typeface="Arial Bold"/>
                        </a:rPr>
                        <a:t>Kiểm tra file </a:t>
                      </a:r>
                      <a:r>
                        <a:rPr lang="en-US" sz="2000" b="1" i="1" u="sng">
                          <a:solidFill>
                            <a:srgbClr val="4DA745"/>
                          </a:solidFill>
                          <a:latin typeface="Arial Bold Italics"/>
                          <a:ea typeface="Arial Bold Italics"/>
                          <a:cs typeface="Arial Bold Italics"/>
                          <a:sym typeface="Arial Bold Italics"/>
                        </a:rPr>
                        <a:t>Lỗi tính năng cập nhật SĐT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313" lvl="2" indent="-152438" algn="l">
                        <a:lnSpc>
                          <a:spcPts val="3600"/>
                        </a:lnSpc>
                        <a:buFont typeface="Arial"/>
                        <a:buChar char="⚬"/>
                        <a:defRPr/>
                      </a:pPr>
                      <a:r>
                        <a:rPr lang="en-US" sz="2000">
                          <a:solidFill>
                            <a:srgbClr val="000000"/>
                          </a:solidFill>
                          <a:latin typeface="Arial"/>
                          <a:ea typeface="Arial"/>
                          <a:cs typeface="Arial"/>
                          <a:sym typeface="Arial"/>
                        </a:rPr>
                        <a:t> Không thuộc file lỗi: Xử lý theo </a:t>
                      </a:r>
                      <a:r>
                        <a:rPr lang="en-US" sz="2000" b="1" i="1" u="sng">
                          <a:solidFill>
                            <a:srgbClr val="4DA745"/>
                          </a:solidFill>
                          <a:latin typeface="Arial Bold Italics"/>
                          <a:ea typeface="Arial Bold Italics"/>
                          <a:cs typeface="Arial Bold Italics"/>
                          <a:sym typeface="Arial Bold Italics"/>
                        </a:rPr>
                        <a:t>Cập nhật thủ công 3</a:t>
                      </a:r>
                      <a:r>
                        <a:rPr lang="en-US" sz="2000">
                          <a:solidFill>
                            <a:srgbClr val="000000"/>
                          </a:solidFill>
                          <a:latin typeface="Arial"/>
                          <a:ea typeface="Arial"/>
                          <a:cs typeface="Arial"/>
                          <a:sym typeface="Arial"/>
                        </a:rPr>
                        <a:t>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832348">
                <a:tc rowSpan="2">
                  <a:txBody>
                    <a:bodyPr/>
                    <a:lstStyle/>
                    <a:p>
                      <a:pPr algn="ctr">
                        <a:lnSpc>
                          <a:spcPts val="4749"/>
                        </a:lnSpc>
                        <a:defRPr/>
                      </a:pPr>
                      <a:r>
                        <a:rPr lang="en-US" sz="2000" b="1">
                          <a:solidFill>
                            <a:srgbClr val="000000"/>
                          </a:solidFill>
                          <a:latin typeface="Arial Bold"/>
                          <a:ea typeface="Arial Bold"/>
                          <a:cs typeface="Arial Bold"/>
                          <a:sym typeface="Arial Bold"/>
                        </a:rPr>
                        <a:t>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algn="l">
                        <a:lnSpc>
                          <a:spcPts val="5000"/>
                        </a:lnSpc>
                        <a:defRPr/>
                      </a:pPr>
                      <a:r>
                        <a:rPr lang="en-US" sz="2000" b="1">
                          <a:solidFill>
                            <a:srgbClr val="000000"/>
                          </a:solidFill>
                          <a:latin typeface="Arial Bold"/>
                          <a:ea typeface="Arial Bold"/>
                          <a:cs typeface="Arial Bold"/>
                          <a:sym typeface="Arial Bold"/>
                        </a:rPr>
                        <a:t>Đã Cập Nhật Nhưng </a:t>
                      </a:r>
                      <a:endParaRPr lang="en-US" sz="1100"/>
                    </a:p>
                    <a:p>
                      <a:pPr algn="l">
                        <a:lnSpc>
                          <a:spcPts val="5000"/>
                        </a:lnSpc>
                      </a:pPr>
                      <a:r>
                        <a:rPr lang="en-US" sz="2000" b="1">
                          <a:solidFill>
                            <a:srgbClr val="000000"/>
                          </a:solidFill>
                          <a:latin typeface="Arial Bold"/>
                          <a:ea typeface="Arial Bold"/>
                          <a:cs typeface="Arial Bold"/>
                          <a:sym typeface="Arial Bold"/>
                        </a:rPr>
                        <a:t>Không Đồng Bộ</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a:solidFill>
                            <a:srgbClr val="000000"/>
                          </a:solidFill>
                          <a:latin typeface="Arial Bold"/>
                          <a:ea typeface="Arial Bold"/>
                          <a:cs typeface="Arial Bold"/>
                          <a:sym typeface="Arial Bold"/>
                        </a:rPr>
                        <a:t>Từ App về CMS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i="1" u="sng">
                          <a:solidFill>
                            <a:srgbClr val="4DA745"/>
                          </a:solidFill>
                          <a:latin typeface="Arial Bold Italics"/>
                          <a:ea typeface="Arial Bold Italics"/>
                          <a:cs typeface="Arial Bold Italics"/>
                          <a:sym typeface="Arial Bold Italics"/>
                        </a:rPr>
                        <a:t>Cập nhật thủ công 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6"/>
                  </a:ext>
                </a:extLst>
              </a:tr>
              <a:tr h="832348">
                <a:tc vMerge="1">
                  <a:txBody>
                    <a:bodyPr/>
                    <a:lstStyle/>
                    <a:p>
                      <a:pPr algn="ctr">
                        <a:lnSpc>
                          <a:spcPts val="4749"/>
                        </a:lnSpc>
                        <a:defRPr/>
                      </a:pPr>
                      <a:r>
                        <a:rPr lang="en-US" sz="2000" b="1">
                          <a:solidFill>
                            <a:srgbClr val="000000"/>
                          </a:solidFill>
                          <a:latin typeface="Arial Bold"/>
                          <a:ea typeface="Arial Bold"/>
                          <a:cs typeface="Arial Bold"/>
                          <a:sym typeface="Arial Bold"/>
                        </a:rPr>
                        <a:t>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5000"/>
                        </a:lnSpc>
                        <a:defRPr/>
                      </a:pPr>
                      <a:r>
                        <a:rPr lang="en-US" sz="2000" b="1">
                          <a:solidFill>
                            <a:srgbClr val="000000"/>
                          </a:solidFill>
                          <a:latin typeface="Arial Bold"/>
                          <a:ea typeface="Arial Bold"/>
                          <a:cs typeface="Arial Bold"/>
                          <a:sym typeface="Arial Bold"/>
                        </a:rPr>
                        <a:t>Đã Cập Nhật Nhưng </a:t>
                      </a:r>
                      <a:endParaRPr lang="en-US" sz="1100"/>
                    </a:p>
                    <a:p>
                      <a:pPr algn="l">
                        <a:lnSpc>
                          <a:spcPts val="5000"/>
                        </a:lnSpc>
                      </a:pPr>
                      <a:r>
                        <a:rPr lang="en-US" sz="2000" b="1">
                          <a:solidFill>
                            <a:srgbClr val="000000"/>
                          </a:solidFill>
                          <a:latin typeface="Arial Bold"/>
                          <a:ea typeface="Arial Bold"/>
                          <a:cs typeface="Arial Bold"/>
                          <a:sym typeface="Arial Bold"/>
                        </a:rPr>
                        <a:t>Không Đồng Bộ</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a:solidFill>
                            <a:srgbClr val="000000"/>
                          </a:solidFill>
                          <a:latin typeface="Arial Bold"/>
                          <a:ea typeface="Arial Bold"/>
                          <a:cs typeface="Arial Bold"/>
                          <a:sym typeface="Arial Bold"/>
                        </a:rPr>
                        <a:t>Từ CMS về App/ Pega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i="1" u="sng" dirty="0" err="1">
                          <a:solidFill>
                            <a:srgbClr val="4DA745"/>
                          </a:solidFill>
                          <a:latin typeface="Arial Bold Italics"/>
                          <a:ea typeface="Arial Bold Italics"/>
                          <a:cs typeface="Arial Bold Italics"/>
                          <a:sym typeface="Arial Bold Italics"/>
                        </a:rPr>
                        <a:t>Cập</a:t>
                      </a:r>
                      <a:r>
                        <a:rPr lang="en-US" sz="2000" b="1" i="1" u="sng" dirty="0">
                          <a:solidFill>
                            <a:srgbClr val="4DA745"/>
                          </a:solidFill>
                          <a:latin typeface="Arial Bold Italics"/>
                          <a:ea typeface="Arial Bold Italics"/>
                          <a:cs typeface="Arial Bold Italics"/>
                          <a:sym typeface="Arial Bold Italics"/>
                        </a:rPr>
                        <a:t> </a:t>
                      </a:r>
                      <a:r>
                        <a:rPr lang="en-US" sz="2000" b="1" i="1" u="sng" dirty="0" err="1">
                          <a:solidFill>
                            <a:srgbClr val="4DA745"/>
                          </a:solidFill>
                          <a:latin typeface="Arial Bold Italics"/>
                          <a:ea typeface="Arial Bold Italics"/>
                          <a:cs typeface="Arial Bold Italics"/>
                          <a:sym typeface="Arial Bold Italics"/>
                        </a:rPr>
                        <a:t>nhật</a:t>
                      </a:r>
                      <a:r>
                        <a:rPr lang="en-US" sz="2000" b="1" i="1" u="sng" dirty="0">
                          <a:solidFill>
                            <a:srgbClr val="4DA745"/>
                          </a:solidFill>
                          <a:latin typeface="Arial Bold Italics"/>
                          <a:ea typeface="Arial Bold Italics"/>
                          <a:cs typeface="Arial Bold Italics"/>
                          <a:sym typeface="Arial Bold Italics"/>
                        </a:rPr>
                        <a:t> </a:t>
                      </a:r>
                      <a:r>
                        <a:rPr lang="en-US" sz="2000" b="1" i="1" u="sng" dirty="0" err="1">
                          <a:solidFill>
                            <a:srgbClr val="4DA745"/>
                          </a:solidFill>
                          <a:latin typeface="Arial Bold Italics"/>
                          <a:ea typeface="Arial Bold Italics"/>
                          <a:cs typeface="Arial Bold Italics"/>
                          <a:sym typeface="Arial Bold Italics"/>
                        </a:rPr>
                        <a:t>thủ</a:t>
                      </a:r>
                      <a:r>
                        <a:rPr lang="en-US" sz="2000" b="1" i="1" u="sng" dirty="0">
                          <a:solidFill>
                            <a:srgbClr val="4DA745"/>
                          </a:solidFill>
                          <a:latin typeface="Arial Bold Italics"/>
                          <a:ea typeface="Arial Bold Italics"/>
                          <a:cs typeface="Arial Bold Italics"/>
                          <a:sym typeface="Arial Bold Italics"/>
                        </a:rPr>
                        <a:t> </a:t>
                      </a:r>
                      <a:r>
                        <a:rPr lang="en-US" sz="2000" b="1" i="1" u="sng" dirty="0" err="1">
                          <a:solidFill>
                            <a:srgbClr val="4DA745"/>
                          </a:solidFill>
                          <a:latin typeface="Arial Bold Italics"/>
                          <a:ea typeface="Arial Bold Italics"/>
                          <a:cs typeface="Arial Bold Italics"/>
                          <a:sym typeface="Arial Bold Italics"/>
                        </a:rPr>
                        <a:t>công</a:t>
                      </a:r>
                      <a:r>
                        <a:rPr lang="en-US" sz="2000" b="1" i="1" u="sng" dirty="0">
                          <a:solidFill>
                            <a:srgbClr val="4DA745"/>
                          </a:solidFill>
                          <a:latin typeface="Arial Bold Italics"/>
                          <a:ea typeface="Arial Bold Italics"/>
                          <a:cs typeface="Arial Bold Italics"/>
                          <a:sym typeface="Arial Bold Italics"/>
                        </a:rPr>
                        <a:t> 4 </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7"/>
                  </a:ext>
                </a:extLst>
              </a:tr>
            </a:tbl>
          </a:graphicData>
        </a:graphic>
      </p:graphicFrame>
      <p:grpSp>
        <p:nvGrpSpPr>
          <p:cNvPr id="3" name="Group 3"/>
          <p:cNvGrpSpPr/>
          <p:nvPr/>
        </p:nvGrpSpPr>
        <p:grpSpPr>
          <a:xfrm>
            <a:off x="15697200" y="9922526"/>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3"/>
              <a:stretch>
                <a:fillRect l="-23" r="-22" b="5"/>
              </a:stretch>
            </a:blipFill>
          </p:spPr>
        </p:sp>
      </p:grpSp>
      <p:sp>
        <p:nvSpPr>
          <p:cNvPr id="5" name="Freeform 5"/>
          <p:cNvSpPr/>
          <p:nvPr/>
        </p:nvSpPr>
        <p:spPr>
          <a:xfrm>
            <a:off x="0"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3178664" y="145428"/>
            <a:ext cx="13661536" cy="579596"/>
          </a:xfrm>
          <a:prstGeom prst="rect">
            <a:avLst/>
          </a:prstGeom>
        </p:spPr>
        <p:txBody>
          <a:bodyPr lIns="0" tIns="0" rIns="0" bIns="0" rtlCol="0" anchor="t">
            <a:spAutoFit/>
          </a:bodyPr>
          <a:lstStyle/>
          <a:p>
            <a:pPr algn="ctr">
              <a:lnSpc>
                <a:spcPts val="4419"/>
              </a:lnSpc>
            </a:pPr>
            <a:r>
              <a:rPr lang="en-US" sz="3399" b="1">
                <a:solidFill>
                  <a:srgbClr val="000000"/>
                </a:solidFill>
                <a:latin typeface="Arial Bold"/>
                <a:ea typeface="Arial Bold"/>
                <a:cs typeface="Arial Bold"/>
                <a:sym typeface="Arial Bold"/>
              </a:rPr>
              <a:t>BẢNG NHẬN DIỆN HƯỚNG XỬ LÝ- THẺ VẬT LÝ – QUY TRÌNH 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32775" y="1880121"/>
          <a:ext cx="18008600" cy="3718400"/>
        </p:xfrm>
        <a:graphic>
          <a:graphicData uri="http://schemas.openxmlformats.org/drawingml/2006/table">
            <a:tbl>
              <a:tblPr/>
              <a:tblGrid>
                <a:gridCol w="5720549">
                  <a:extLst>
                    <a:ext uri="{9D8B030D-6E8A-4147-A177-3AD203B41FA5}">
                      <a16:colId xmlns:a16="http://schemas.microsoft.com/office/drawing/2014/main" val="20000"/>
                    </a:ext>
                  </a:extLst>
                </a:gridCol>
                <a:gridCol w="5720549">
                  <a:extLst>
                    <a:ext uri="{9D8B030D-6E8A-4147-A177-3AD203B41FA5}">
                      <a16:colId xmlns:a16="http://schemas.microsoft.com/office/drawing/2014/main" val="20001"/>
                    </a:ext>
                  </a:extLst>
                </a:gridCol>
                <a:gridCol w="6567502">
                  <a:extLst>
                    <a:ext uri="{9D8B030D-6E8A-4147-A177-3AD203B41FA5}">
                      <a16:colId xmlns:a16="http://schemas.microsoft.com/office/drawing/2014/main" val="20002"/>
                    </a:ext>
                  </a:extLst>
                </a:gridCol>
              </a:tblGrid>
              <a:tr h="869812">
                <a:tc>
                  <a:txBody>
                    <a:bodyPr/>
                    <a:lstStyle/>
                    <a:p>
                      <a:pPr algn="ctr">
                        <a:lnSpc>
                          <a:spcPts val="3958"/>
                        </a:lnSpc>
                        <a:defRPr/>
                      </a:pPr>
                      <a:r>
                        <a:rPr lang="en-US" sz="2199" b="1" spc="10">
                          <a:solidFill>
                            <a:srgbClr val="FFFFFF"/>
                          </a:solidFill>
                          <a:latin typeface="Arial Bold"/>
                          <a:ea typeface="Arial Bold"/>
                          <a:cs typeface="Arial Bold"/>
                          <a:sym typeface="Arial Bold"/>
                        </a:rPr>
                        <a:t>TRƯỜNG HỢP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616766">
                <a:tc>
                  <a:txBody>
                    <a:bodyPr/>
                    <a:lstStyle/>
                    <a:p>
                      <a:pPr algn="l">
                        <a:lnSpc>
                          <a:spcPts val="3000"/>
                        </a:lnSpc>
                        <a:defRPr/>
                      </a:pPr>
                      <a:r>
                        <a:rPr lang="en-US" sz="2000" b="1">
                          <a:solidFill>
                            <a:srgbClr val="000000"/>
                          </a:solidFill>
                          <a:latin typeface="Arial Bold"/>
                          <a:ea typeface="Arial Bold"/>
                          <a:cs typeface="Arial Bold"/>
                          <a:sym typeface="Arial Bold"/>
                        </a:rPr>
                        <a:t>KH chưa có TK FEOL 2.0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a:solidFill>
                            <a:srgbClr val="000000"/>
                          </a:solidFill>
                          <a:latin typeface="Arial"/>
                          <a:ea typeface="Arial"/>
                          <a:cs typeface="Arial"/>
                          <a:sym typeface="Arial"/>
                        </a:rPr>
                        <a:t>Hướng dẫn KH tạo TK FEOL 2.0 bằng SĐT muốn thay đổi.</a:t>
                      </a:r>
                      <a:endParaRPr lang="en-US" sz="1100"/>
                    </a:p>
                    <a:p>
                      <a:pPr algn="l">
                        <a:lnSpc>
                          <a:spcPts val="3000"/>
                        </a:lnSpc>
                      </a:pPr>
                      <a:r>
                        <a:rPr lang="en-US" sz="2000" b="1">
                          <a:solidFill>
                            <a:srgbClr val="000000"/>
                          </a:solidFill>
                          <a:latin typeface="Arial Bold"/>
                          <a:ea typeface="Arial Bold"/>
                          <a:cs typeface="Arial Bold"/>
                          <a:sym typeface="Arial Bold"/>
                        </a:rPr>
                        <a:t>Lưu ý:</a:t>
                      </a:r>
                      <a:r>
                        <a:rPr lang="en-US" sz="2000">
                          <a:solidFill>
                            <a:srgbClr val="000000"/>
                          </a:solidFill>
                          <a:latin typeface="Arial"/>
                          <a:ea typeface="Arial"/>
                          <a:cs typeface="Arial"/>
                          <a:sym typeface="Arial"/>
                        </a:rPr>
                        <a:t> SĐT cần đăng ký sim chính chủ</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algn="l">
                        <a:lnSpc>
                          <a:spcPts val="3000"/>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IC22-Cập nhật thông tin KH</a:t>
                      </a:r>
                      <a:endParaRPr lang="en-US" sz="1100"/>
                    </a:p>
                    <a:p>
                      <a:pPr algn="l">
                        <a:lnSpc>
                          <a:spcPts val="3000"/>
                        </a:lnSpc>
                      </a:pPr>
                      <a:r>
                        <a:rPr lang="en-US" sz="2000" b="1">
                          <a:solidFill>
                            <a:srgbClr val="000000"/>
                          </a:solidFill>
                          <a:latin typeface="Arial Bold"/>
                          <a:ea typeface="Arial Bold"/>
                          <a:cs typeface="Arial Bold"/>
                          <a:sym typeface="Arial Bold"/>
                        </a:rPr>
                        <a:t>Subcode: </a:t>
                      </a:r>
                      <a:r>
                        <a:rPr lang="en-US" sz="2000">
                          <a:solidFill>
                            <a:srgbClr val="000000"/>
                          </a:solidFill>
                          <a:latin typeface="Arial"/>
                          <a:ea typeface="Arial"/>
                          <a:cs typeface="Arial"/>
                          <a:sym typeface="Arial"/>
                        </a:rPr>
                        <a:t>IC22.01-Cập nhật số điện thoại</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1231822">
                <a:tc>
                  <a:txBody>
                    <a:bodyPr/>
                    <a:lstStyle/>
                    <a:p>
                      <a:pPr algn="l">
                        <a:lnSpc>
                          <a:spcPts val="3000"/>
                        </a:lnSpc>
                        <a:defRPr/>
                      </a:pPr>
                      <a:r>
                        <a:rPr lang="en-US" sz="2000" b="1">
                          <a:solidFill>
                            <a:srgbClr val="000000"/>
                          </a:solidFill>
                          <a:latin typeface="Arial Bold"/>
                          <a:ea typeface="Arial Bold"/>
                          <a:cs typeface="Arial Bold"/>
                          <a:sym typeface="Arial Bold"/>
                        </a:rPr>
                        <a:t>KH đã có TK FEOL 2.0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a:solidFill>
                            <a:srgbClr val="000000"/>
                          </a:solidFill>
                          <a:latin typeface="Arial"/>
                          <a:ea typeface="Arial"/>
                          <a:cs typeface="Arial"/>
                          <a:sym typeface="Arial"/>
                        </a:rPr>
                        <a:t>Hướng dẫn KH thao tác trên ứng dụng FEOL 2.0 (</a:t>
                      </a:r>
                      <a:r>
                        <a:rPr lang="en-US" sz="2000" b="1" i="1" u="sng">
                          <a:solidFill>
                            <a:srgbClr val="4DA745"/>
                          </a:solidFill>
                          <a:latin typeface="Arial Bold Italics"/>
                          <a:ea typeface="Arial Bold Italics"/>
                          <a:cs typeface="Arial Bold Italics"/>
                          <a:sym typeface="Arial Bold Italics"/>
                        </a:rPr>
                        <a:t>tham khảo</a:t>
                      </a:r>
                      <a:r>
                        <a:rPr lang="en-US" sz="2000">
                          <a:solidFill>
                            <a:srgbClr val="000000"/>
                          </a:solidFill>
                          <a:latin typeface="Arial"/>
                          <a:ea typeface="Arial"/>
                          <a:cs typeface="Arial"/>
                          <a:sym typeface="Arial"/>
                        </a:rPr>
                        <a: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3000"/>
                        </a:lnSpc>
                        <a:defRPr/>
                      </a:pPr>
                      <a:r>
                        <a:rPr lang="en-US" sz="2000" b="1">
                          <a:solidFill>
                            <a:srgbClr val="000000"/>
                          </a:solidFill>
                          <a:latin typeface="Arial Bold"/>
                          <a:ea typeface="Arial Bold"/>
                          <a:cs typeface="Arial Bold"/>
                          <a:sym typeface="Arial Bold"/>
                        </a:rPr>
                        <a:t>Code: </a:t>
                      </a:r>
                      <a:r>
                        <a:rPr lang="en-US" sz="2000">
                          <a:solidFill>
                            <a:srgbClr val="000000"/>
                          </a:solidFill>
                          <a:latin typeface="Arial"/>
                          <a:ea typeface="Arial"/>
                          <a:cs typeface="Arial"/>
                          <a:sym typeface="Arial"/>
                        </a:rPr>
                        <a:t>IC22-Cập nhật thông tin KH</a:t>
                      </a:r>
                      <a:endParaRPr lang="en-US" sz="1100"/>
                    </a:p>
                    <a:p>
                      <a:pPr algn="l">
                        <a:lnSpc>
                          <a:spcPts val="3000"/>
                        </a:lnSpc>
                      </a:pPr>
                      <a:r>
                        <a:rPr lang="en-US" sz="2000" b="1">
                          <a:solidFill>
                            <a:srgbClr val="000000"/>
                          </a:solidFill>
                          <a:latin typeface="Arial Bold"/>
                          <a:ea typeface="Arial Bold"/>
                          <a:cs typeface="Arial Bold"/>
                          <a:sym typeface="Arial Bold"/>
                        </a:rPr>
                        <a:t>Subcode: </a:t>
                      </a:r>
                      <a:r>
                        <a:rPr lang="en-US" sz="2000">
                          <a:solidFill>
                            <a:srgbClr val="000000"/>
                          </a:solidFill>
                          <a:latin typeface="Arial"/>
                          <a:ea typeface="Arial"/>
                          <a:cs typeface="Arial"/>
                          <a:sym typeface="Arial"/>
                        </a:rPr>
                        <a:t>IC22.01-Cập nhật số điện thoại</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6925"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701388" y="1243"/>
            <a:ext cx="19690775" cy="885892"/>
          </a:xfrm>
          <a:prstGeom prst="rect">
            <a:avLst/>
          </a:prstGeom>
        </p:spPr>
        <p:txBody>
          <a:bodyPr lIns="0" tIns="0" rIns="0" bIns="0" rtlCol="0" anchor="t">
            <a:spAutoFit/>
          </a:bodyPr>
          <a:lstStyle/>
          <a:p>
            <a:pPr algn="ctr">
              <a:lnSpc>
                <a:spcPts val="6027"/>
              </a:lnSpc>
            </a:pPr>
            <a:r>
              <a:rPr lang="en-US" sz="3399" b="1">
                <a:solidFill>
                  <a:srgbClr val="000000"/>
                </a:solidFill>
                <a:latin typeface="Arial Bold"/>
                <a:ea typeface="Arial Bold"/>
                <a:cs typeface="Arial Bold"/>
                <a:sym typeface="Arial Bold"/>
              </a:rPr>
              <a:t>CHƯA CẬP NHẬT TRÊN FEOL 2.0 – HƯỚNG DẪN KH THAO TÁC QUA FEOL 2.0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255366" y="1308333"/>
          <a:ext cx="17703800" cy="6692900"/>
        </p:xfrm>
        <a:graphic>
          <a:graphicData uri="http://schemas.openxmlformats.org/drawingml/2006/table">
            <a:tbl>
              <a:tblPr/>
              <a:tblGrid>
                <a:gridCol w="11452524">
                  <a:extLst>
                    <a:ext uri="{9D8B030D-6E8A-4147-A177-3AD203B41FA5}">
                      <a16:colId xmlns:a16="http://schemas.microsoft.com/office/drawing/2014/main" val="20000"/>
                    </a:ext>
                  </a:extLst>
                </a:gridCol>
                <a:gridCol w="2194369">
                  <a:extLst>
                    <a:ext uri="{9D8B030D-6E8A-4147-A177-3AD203B41FA5}">
                      <a16:colId xmlns:a16="http://schemas.microsoft.com/office/drawing/2014/main" val="20001"/>
                    </a:ext>
                  </a:extLst>
                </a:gridCol>
                <a:gridCol w="4056907">
                  <a:extLst>
                    <a:ext uri="{9D8B030D-6E8A-4147-A177-3AD203B41FA5}">
                      <a16:colId xmlns:a16="http://schemas.microsoft.com/office/drawing/2014/main" val="20002"/>
                    </a:ext>
                  </a:extLst>
                </a:gridCol>
              </a:tblGrid>
              <a:tr h="934456">
                <a:tc>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TAT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5758444">
                <a:tc>
                  <a:txBody>
                    <a:bodyPr/>
                    <a:lstStyle/>
                    <a:p>
                      <a:pPr marL="457202" lvl="2" indent="-152401" algn="l">
                        <a:lnSpc>
                          <a:spcPts val="3000"/>
                        </a:lnSpc>
                        <a:buFont typeface="Arial"/>
                        <a:buChar char="⚬"/>
                        <a:defRPr/>
                      </a:pPr>
                      <a:r>
                        <a:rPr lang="en-US" sz="2000" dirty="0" err="1">
                          <a:solidFill>
                            <a:srgbClr val="000000"/>
                          </a:solidFill>
                          <a:latin typeface="Arial"/>
                          <a:ea typeface="Arial"/>
                          <a:cs typeface="Arial"/>
                          <a:sym typeface="Arial"/>
                        </a:rPr>
                        <a:t>Xác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nhận</a:t>
                      </a:r>
                      <a:r>
                        <a:rPr lang="en-US" sz="2000" dirty="0">
                          <a:solidFill>
                            <a:srgbClr val="000000"/>
                          </a:solidFill>
                          <a:latin typeface="Arial"/>
                          <a:ea typeface="Arial"/>
                          <a:cs typeface="Arial"/>
                          <a:sym typeface="Arial"/>
                        </a:rPr>
                        <a:t> SĐT </a:t>
                      </a:r>
                      <a:r>
                        <a:rPr lang="en-US" sz="2000" dirty="0" err="1">
                          <a:solidFill>
                            <a:srgbClr val="000000"/>
                          </a:solidFill>
                          <a:latin typeface="Arial"/>
                          <a:ea typeface="Arial"/>
                          <a:cs typeface="Arial"/>
                          <a:sym typeface="Arial"/>
                        </a:rPr>
                        <a:t>cần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a:t>
                      </a:r>
                      <a:endParaRPr lang="en-US" sz="1100" dirty="0"/>
                    </a:p>
                    <a:p>
                      <a:pPr marL="457202" lvl="2" indent="-152401" algn="l">
                        <a:lnSpc>
                          <a:spcPts val="3000"/>
                        </a:lnSpc>
                        <a:buFont typeface="Arial"/>
                        <a:buChar char="⚬"/>
                      </a:pPr>
                      <a:r>
                        <a:rPr lang="en-US" sz="2000" dirty="0" err="1">
                          <a:solidFill>
                            <a:srgbClr val="000000"/>
                          </a:solidFill>
                          <a:latin typeface="Arial"/>
                          <a:ea typeface="Arial"/>
                          <a:cs typeface="Arial"/>
                          <a:sym typeface="Arial"/>
                        </a:rPr>
                        <a:t>Xác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nhận</a:t>
                      </a:r>
                      <a:r>
                        <a:rPr lang="en-US" sz="2000" dirty="0">
                          <a:solidFill>
                            <a:srgbClr val="000000"/>
                          </a:solidFill>
                          <a:latin typeface="Arial"/>
                          <a:ea typeface="Arial"/>
                          <a:cs typeface="Arial"/>
                          <a:sym typeface="Arial"/>
                        </a:rPr>
                        <a:t> SĐT </a:t>
                      </a:r>
                      <a:r>
                        <a:rPr lang="en-US" sz="2000" dirty="0" err="1">
                          <a:solidFill>
                            <a:srgbClr val="000000"/>
                          </a:solidFill>
                          <a:latin typeface="Arial"/>
                          <a:ea typeface="Arial"/>
                          <a:cs typeface="Arial"/>
                          <a:sym typeface="Arial"/>
                        </a:rPr>
                        <a:t>trên</a:t>
                      </a:r>
                      <a:r>
                        <a:rPr lang="en-US" sz="2000" dirty="0">
                          <a:solidFill>
                            <a:srgbClr val="000000"/>
                          </a:solidFill>
                          <a:latin typeface="Arial"/>
                          <a:ea typeface="Arial"/>
                          <a:cs typeface="Arial"/>
                          <a:sym typeface="Arial"/>
                        </a:rPr>
                        <a:t> FEOL 2.0 (</a:t>
                      </a:r>
                      <a:r>
                        <a:rPr lang="en-US" sz="2000" dirty="0" err="1">
                          <a:solidFill>
                            <a:srgbClr val="000000"/>
                          </a:solidFill>
                          <a:latin typeface="Arial"/>
                          <a:ea typeface="Arial"/>
                          <a:cs typeface="Arial"/>
                          <a:sym typeface="Arial"/>
                        </a:rPr>
                        <a:t>nếu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a:t>
                      </a:r>
                    </a:p>
                    <a:p>
                      <a:pPr marL="457202" lvl="2" indent="-152401" algn="l">
                        <a:lnSpc>
                          <a:spcPts val="3000"/>
                        </a:lnSpc>
                        <a:buFont typeface="Arial"/>
                        <a:buChar char="⚬"/>
                      </a:pPr>
                      <a:r>
                        <a:rPr lang="en-US" sz="2000" dirty="0" err="1">
                          <a:solidFill>
                            <a:srgbClr val="000000"/>
                          </a:solidFill>
                          <a:latin typeface="Arial"/>
                          <a:ea typeface="Arial"/>
                          <a:cs typeface="Arial"/>
                          <a:sym typeface="Arial"/>
                        </a:rPr>
                        <a:t>Gửi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ảnh</a:t>
                      </a:r>
                      <a:r>
                        <a:rPr lang="en-US" sz="2000" dirty="0">
                          <a:solidFill>
                            <a:srgbClr val="000000"/>
                          </a:solidFill>
                          <a:latin typeface="Arial"/>
                          <a:ea typeface="Arial"/>
                          <a:cs typeface="Arial"/>
                          <a:sym typeface="Arial"/>
                        </a:rPr>
                        <a:t> qua </a:t>
                      </a:r>
                      <a:r>
                        <a:rPr lang="en-US" sz="2000" dirty="0" err="1">
                          <a:solidFill>
                            <a:srgbClr val="000000"/>
                          </a:solidFill>
                          <a:latin typeface="Arial"/>
                          <a:ea typeface="Arial"/>
                          <a:cs typeface="Arial"/>
                          <a:sym typeface="Arial"/>
                        </a:rPr>
                        <a:t>Zalo</a:t>
                      </a:r>
                      <a:r>
                        <a:rPr lang="en-US" sz="2000" dirty="0">
                          <a:solidFill>
                            <a:srgbClr val="000000"/>
                          </a:solidFill>
                          <a:latin typeface="Arial"/>
                          <a:ea typeface="Arial"/>
                          <a:cs typeface="Arial"/>
                          <a:sym typeface="Arial"/>
                        </a:rPr>
                        <a:t> FE Credit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dấu</a:t>
                      </a:r>
                      <a:r>
                        <a:rPr lang="en-US" sz="2000" dirty="0">
                          <a:solidFill>
                            <a:srgbClr val="000000"/>
                          </a:solidFill>
                          <a:latin typeface="Arial"/>
                          <a:ea typeface="Arial"/>
                          <a:cs typeface="Arial"/>
                          <a:sym typeface="Arial"/>
                        </a:rPr>
                        <a:t> tick). </a:t>
                      </a:r>
                      <a:r>
                        <a:rPr lang="en-US" sz="2000" dirty="0" err="1">
                          <a:solidFill>
                            <a:srgbClr val="000000"/>
                          </a:solidFill>
                          <a:latin typeface="Arial"/>
                          <a:ea typeface="Arial"/>
                          <a:cs typeface="Arial"/>
                          <a:sym typeface="Arial"/>
                        </a:rPr>
                        <a:t>Nếu</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sử</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Zalo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hướng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dẫn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gửi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ảnh</a:t>
                      </a:r>
                      <a:r>
                        <a:rPr lang="en-US" sz="2000" dirty="0">
                          <a:solidFill>
                            <a:srgbClr val="000000"/>
                          </a:solidFill>
                          <a:latin typeface="Arial"/>
                          <a:ea typeface="Arial"/>
                          <a:cs typeface="Arial"/>
                          <a:sym typeface="Arial"/>
                        </a:rPr>
                        <a:t> qua email dichvukhachhang@fecredit.com.vn</a:t>
                      </a:r>
                    </a:p>
                    <a:p>
                      <a:pPr marL="817035" lvl="3" indent="-204259" algn="just">
                        <a:lnSpc>
                          <a:spcPts val="3000"/>
                        </a:lnSpc>
                        <a:buFont typeface="Arial"/>
                        <a:buChar char="￭"/>
                      </a:pPr>
                      <a:r>
                        <a:rPr lang="en-US" sz="2000" dirty="0" err="1">
                          <a:solidFill>
                            <a:srgbClr val="000000"/>
                          </a:solidFill>
                          <a:latin typeface="Arial"/>
                          <a:ea typeface="Arial"/>
                          <a:cs typeface="Arial"/>
                          <a:sym typeface="Arial"/>
                        </a:rPr>
                        <a:t>Hình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ảnh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thuê</a:t>
                      </a:r>
                      <a:r>
                        <a:rPr lang="en-US" sz="2000" dirty="0">
                          <a:solidFill>
                            <a:srgbClr val="000000"/>
                          </a:solidFill>
                          <a:latin typeface="Arial"/>
                          <a:ea typeface="Arial"/>
                          <a:cs typeface="Arial"/>
                          <a:sym typeface="Arial"/>
                        </a:rPr>
                        <a:t> bao </a:t>
                      </a:r>
                      <a:r>
                        <a:rPr lang="en-US" sz="2000" dirty="0" err="1">
                          <a:solidFill>
                            <a:srgbClr val="000000"/>
                          </a:solidFill>
                          <a:latin typeface="Arial"/>
                          <a:ea typeface="Arial"/>
                          <a:cs typeface="Arial"/>
                          <a:sym typeface="Arial"/>
                        </a:rPr>
                        <a:t>chính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chủ</a:t>
                      </a:r>
                      <a:r>
                        <a:rPr lang="en-US" sz="2000" dirty="0">
                          <a:solidFill>
                            <a:srgbClr val="000000"/>
                          </a:solidFill>
                          <a:latin typeface="Arial"/>
                          <a:ea typeface="Arial"/>
                          <a:cs typeface="Arial"/>
                          <a:sym typeface="Arial"/>
                        </a:rPr>
                        <a:t> (TTTB)</a:t>
                      </a:r>
                    </a:p>
                    <a:p>
                      <a:pPr marL="817035" lvl="3" indent="-204259" algn="just">
                        <a:lnSpc>
                          <a:spcPts val="3000"/>
                        </a:lnSpc>
                        <a:buFont typeface="Arial"/>
                        <a:buChar char="￭"/>
                      </a:pPr>
                      <a:r>
                        <a:rPr lang="en-US" sz="2000" dirty="0" err="1">
                          <a:solidFill>
                            <a:srgbClr val="000000"/>
                          </a:solidFill>
                          <a:latin typeface="Arial"/>
                          <a:ea typeface="Arial"/>
                          <a:cs typeface="Arial"/>
                          <a:sym typeface="Arial"/>
                        </a:rPr>
                        <a:t>Hình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ảnh</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cầm</a:t>
                      </a:r>
                      <a:r>
                        <a:rPr lang="en-US" sz="2000" dirty="0">
                          <a:solidFill>
                            <a:srgbClr val="000000"/>
                          </a:solidFill>
                          <a:latin typeface="Arial"/>
                          <a:ea typeface="Arial"/>
                          <a:cs typeface="Arial"/>
                          <a:sym typeface="Arial"/>
                        </a:rPr>
                        <a:t> CMND/ CCCD </a:t>
                      </a:r>
                      <a:r>
                        <a:rPr lang="en-US" sz="2000" dirty="0" err="1">
                          <a:solidFill>
                            <a:srgbClr val="000000"/>
                          </a:solidFill>
                          <a:latin typeface="Arial"/>
                          <a:ea typeface="Arial"/>
                          <a:cs typeface="Arial"/>
                          <a:sym typeface="Arial"/>
                        </a:rPr>
                        <a:t>mặt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trước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tay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chụp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cùng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với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khuôn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mặt</a:t>
                      </a:r>
                      <a:r>
                        <a:rPr lang="en-US" sz="2000" dirty="0">
                          <a:solidFill>
                            <a:srgbClr val="000000"/>
                          </a:solidFill>
                          <a:latin typeface="Arial"/>
                          <a:ea typeface="Arial"/>
                          <a:cs typeface="Arial"/>
                          <a:sym typeface="Arial"/>
                        </a:rPr>
                        <a:t>.</a:t>
                      </a:r>
                    </a:p>
                    <a:p>
                      <a:pPr marL="817035" lvl="3" indent="-204259" algn="just">
                        <a:lnSpc>
                          <a:spcPts val="3000"/>
                        </a:lnSpc>
                        <a:buFont typeface="Arial"/>
                        <a:buChar char="￭"/>
                      </a:pPr>
                      <a:r>
                        <a:rPr lang="en-US" sz="2000" dirty="0" err="1">
                          <a:solidFill>
                            <a:srgbClr val="000000"/>
                          </a:solidFill>
                          <a:latin typeface="Arial"/>
                          <a:ea typeface="Arial"/>
                          <a:cs typeface="Arial"/>
                          <a:sym typeface="Arial"/>
                        </a:rPr>
                        <a:t>Hình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ảnh</a:t>
                      </a:r>
                      <a:r>
                        <a:rPr lang="en-US" sz="2000" dirty="0">
                          <a:solidFill>
                            <a:srgbClr val="000000"/>
                          </a:solidFill>
                          <a:latin typeface="Arial"/>
                          <a:ea typeface="Arial"/>
                          <a:cs typeface="Arial"/>
                          <a:sym typeface="Arial"/>
                        </a:rPr>
                        <a:t> 2 </a:t>
                      </a:r>
                      <a:r>
                        <a:rPr lang="en-US" sz="2000" dirty="0" err="1">
                          <a:solidFill>
                            <a:srgbClr val="000000"/>
                          </a:solidFill>
                          <a:latin typeface="Arial"/>
                          <a:ea typeface="Arial"/>
                          <a:cs typeface="Arial"/>
                          <a:sym typeface="Arial"/>
                        </a:rPr>
                        <a:t>mặt</a:t>
                      </a:r>
                      <a:r>
                        <a:rPr lang="en-US" sz="2000" dirty="0">
                          <a:solidFill>
                            <a:srgbClr val="000000"/>
                          </a:solidFill>
                          <a:latin typeface="Arial"/>
                          <a:ea typeface="Arial"/>
                          <a:cs typeface="Arial"/>
                          <a:sym typeface="Arial"/>
                        </a:rPr>
                        <a:t> CCCD </a:t>
                      </a:r>
                      <a:r>
                        <a:rPr lang="en-US" sz="2000" dirty="0" err="1">
                          <a:solidFill>
                            <a:srgbClr val="000000"/>
                          </a:solidFill>
                          <a:latin typeface="Arial"/>
                          <a:ea typeface="Arial"/>
                          <a:cs typeface="Arial"/>
                          <a:sym typeface="Arial"/>
                        </a:rPr>
                        <a:t>mới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nhất</a:t>
                      </a:r>
                      <a:r>
                        <a:rPr lang="en-US" sz="2000" dirty="0">
                          <a:solidFill>
                            <a:srgbClr val="000000"/>
                          </a:solidFill>
                          <a:latin typeface="Arial"/>
                          <a:ea typeface="Arial"/>
                          <a:cs typeface="Arial"/>
                          <a:sym typeface="Arial"/>
                        </a:rPr>
                        <a:t>. </a:t>
                      </a:r>
                    </a:p>
                    <a:p>
                      <a:pPr marL="817035" lvl="3" indent="-204259" algn="just">
                        <a:lnSpc>
                          <a:spcPts val="3001"/>
                        </a:lnSpc>
                      </a:pPr>
                      <a:r>
                        <a:rPr lang="en-US" sz="2000" dirty="0" err="1">
                          <a:solidFill>
                            <a:srgbClr val="000000"/>
                          </a:solidFill>
                          <a:latin typeface="Arial"/>
                          <a:ea typeface="Arial"/>
                          <a:cs typeface="Arial"/>
                          <a:sym typeface="Arial"/>
                        </a:rPr>
                        <a:t>Lưu</a:t>
                      </a:r>
                      <a:r>
                        <a:rPr lang="en-US" sz="2000" dirty="0">
                          <a:solidFill>
                            <a:srgbClr val="000000"/>
                          </a:solidFill>
                          <a:latin typeface="Arial"/>
                          <a:ea typeface="Arial"/>
                          <a:cs typeface="Arial"/>
                          <a:sym typeface="Arial"/>
                        </a:rPr>
                        <a:t> ý: TTTB </a:t>
                      </a:r>
                      <a:r>
                        <a:rPr lang="en-US" sz="2000" dirty="0" err="1">
                          <a:solidFill>
                            <a:srgbClr val="000000"/>
                          </a:solidFill>
                          <a:latin typeface="Arial"/>
                          <a:ea typeface="Arial"/>
                          <a:cs typeface="Arial"/>
                          <a:sym typeface="Arial"/>
                        </a:rPr>
                        <a:t>chính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chủ</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hợp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lệ</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CCCD </a:t>
                      </a:r>
                      <a:r>
                        <a:rPr lang="en-US" sz="2000" dirty="0" err="1">
                          <a:solidFill>
                            <a:srgbClr val="000000"/>
                          </a:solidFill>
                          <a:latin typeface="Arial"/>
                          <a:ea typeface="Arial"/>
                          <a:cs typeface="Arial"/>
                          <a:sym typeface="Arial"/>
                        </a:rPr>
                        <a:t>không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trùng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khớp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với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trên</a:t>
                      </a:r>
                      <a:r>
                        <a:rPr lang="en-US" sz="2000" dirty="0">
                          <a:solidFill>
                            <a:srgbClr val="000000"/>
                          </a:solidFill>
                          <a:latin typeface="Arial"/>
                          <a:ea typeface="Arial"/>
                          <a:cs typeface="Arial"/>
                          <a:sym typeface="Arial"/>
                        </a:rPr>
                        <a:t> TTTB </a:t>
                      </a:r>
                      <a:r>
                        <a:rPr lang="en-US" sz="2000" b="1" u="sng" dirty="0">
                          <a:solidFill>
                            <a:srgbClr val="4DA745"/>
                          </a:solidFill>
                          <a:latin typeface="Arial Bold"/>
                          <a:ea typeface="Arial Bold"/>
                          <a:cs typeface="Arial Bold"/>
                          <a:sym typeface="Arial Bold"/>
                        </a:rPr>
                        <a:t>(</a:t>
                      </a:r>
                      <a:r>
                        <a:rPr lang="en-US" sz="2000" b="1" u="sng" dirty="0" err="1">
                          <a:solidFill>
                            <a:srgbClr val="4DA745"/>
                          </a:solidFill>
                          <a:latin typeface="Arial Bold"/>
                          <a:ea typeface="Arial Bold"/>
                          <a:cs typeface="Arial Bold"/>
                          <a:sym typeface="Arial Bold"/>
                        </a:rPr>
                        <a:t>xem</a:t>
                      </a:r>
                      <a:r>
                        <a:rPr lang="en-US" sz="2000" b="1" u="sng" dirty="0">
                          <a:solidFill>
                            <a:srgbClr val="4DA745"/>
                          </a:solidFill>
                          <a:latin typeface="Arial Bold"/>
                          <a:ea typeface="Arial Bold"/>
                          <a:cs typeface="Arial Bold"/>
                          <a:sym typeface="Arial Bold"/>
                        </a:rPr>
                        <a:t> chi </a:t>
                      </a:r>
                      <a:r>
                        <a:rPr lang="en-US" sz="2000" b="1" u="sng" dirty="0" err="1">
                          <a:solidFill>
                            <a:srgbClr val="4DA745"/>
                          </a:solidFill>
                          <a:latin typeface="Arial Bold"/>
                          <a:ea typeface="Arial Bold"/>
                          <a:cs typeface="Arial Bold"/>
                          <a:sym typeface="Arial Bold"/>
                        </a:rPr>
                        <a:t>tiết</a:t>
                      </a:r>
                      <a:r>
                        <a:rPr lang="en-US" sz="2000" b="1" u="sng" dirty="0">
                          <a:solidFill>
                            <a:srgbClr val="4DA745"/>
                          </a:solidFill>
                          <a:latin typeface="Arial Bold"/>
                          <a:ea typeface="Arial Bold"/>
                          <a:cs typeface="Arial Bold"/>
                          <a:sym typeface="Arial Bold"/>
                        </a:rPr>
                        <a:t>)</a:t>
                      </a:r>
                    </a:p>
                    <a:p>
                      <a:pPr marL="457202" lvl="2" indent="-152401" algn="just">
                        <a:lnSpc>
                          <a:spcPts val="3000"/>
                        </a:lnSpc>
                        <a:buFont typeface="Arial"/>
                        <a:buChar char="⚬"/>
                      </a:pPr>
                      <a:r>
                        <a:rPr lang="en-US" sz="2000" dirty="0" err="1">
                          <a:solidFill>
                            <a:srgbClr val="000000"/>
                          </a:solidFill>
                          <a:latin typeface="Arial"/>
                          <a:ea typeface="Arial"/>
                          <a:cs typeface="Arial"/>
                          <a:sym typeface="Arial"/>
                        </a:rPr>
                        <a:t>Thông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báo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áp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dụng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TH </a:t>
                      </a:r>
                      <a:r>
                        <a:rPr lang="en-US" sz="2000" dirty="0" err="1">
                          <a:solidFill>
                            <a:srgbClr val="000000"/>
                          </a:solidFill>
                          <a:latin typeface="Arial"/>
                          <a:ea typeface="Arial"/>
                          <a:cs typeface="Arial"/>
                          <a:sym typeface="Arial"/>
                        </a:rPr>
                        <a:t>chuyển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r>
                        <a:rPr lang="en-US" sz="2000" dirty="0">
                          <a:solidFill>
                            <a:srgbClr val="000000"/>
                          </a:solidFill>
                          <a:latin typeface="Arial"/>
                          <a:ea typeface="Arial"/>
                          <a:cs typeface="Arial"/>
                          <a:sym typeface="Arial"/>
                        </a:rPr>
                        <a:t>:</a:t>
                      </a:r>
                    </a:p>
                    <a:p>
                      <a:pPr marL="817035" lvl="3" indent="-204259" algn="just">
                        <a:lnSpc>
                          <a:spcPts val="3000"/>
                        </a:lnSpc>
                        <a:buFont typeface="Arial"/>
                        <a:buChar char="￭"/>
                      </a:pPr>
                      <a:r>
                        <a:rPr lang="en-US" sz="2000" dirty="0">
                          <a:solidFill>
                            <a:srgbClr val="000000"/>
                          </a:solidFill>
                          <a:latin typeface="Arial"/>
                          <a:ea typeface="Arial"/>
                          <a:cs typeface="Arial"/>
                          <a:sym typeface="Arial"/>
                        </a:rPr>
                        <a:t>SĐT </a:t>
                      </a:r>
                      <a:r>
                        <a:rPr lang="en-US" sz="2000" dirty="0" err="1">
                          <a:solidFill>
                            <a:srgbClr val="000000"/>
                          </a:solidFill>
                          <a:latin typeface="Arial"/>
                          <a:ea typeface="Arial"/>
                          <a:cs typeface="Arial"/>
                          <a:sym typeface="Arial"/>
                        </a:rPr>
                        <a:t>mới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sẽ</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được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tất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các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hợp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đồng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vay</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và</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tài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khoản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thẻ</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còn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hiệu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lực</a:t>
                      </a:r>
                      <a:r>
                        <a:rPr lang="en-US" sz="2000" dirty="0">
                          <a:solidFill>
                            <a:srgbClr val="000000"/>
                          </a:solidFill>
                          <a:latin typeface="Arial"/>
                          <a:ea typeface="Arial"/>
                          <a:cs typeface="Arial"/>
                          <a:sym typeface="Arial"/>
                        </a:rPr>
                        <a:t>.</a:t>
                      </a:r>
                    </a:p>
                    <a:p>
                      <a:pPr marL="817035" lvl="3" indent="-204259" algn="just">
                        <a:lnSpc>
                          <a:spcPts val="3000"/>
                        </a:lnSpc>
                        <a:buFont typeface="Arial"/>
                        <a:buChar char="￭"/>
                      </a:pPr>
                      <a:r>
                        <a:rPr lang="en-US" sz="2000" dirty="0">
                          <a:solidFill>
                            <a:srgbClr val="000000"/>
                          </a:solidFill>
                          <a:latin typeface="Arial"/>
                          <a:ea typeface="Arial"/>
                          <a:cs typeface="Arial"/>
                          <a:sym typeface="Arial"/>
                        </a:rPr>
                        <a:t>Sau </a:t>
                      </a:r>
                      <a:r>
                        <a:rPr lang="en-US" sz="2000" dirty="0" err="1">
                          <a:solidFill>
                            <a:srgbClr val="000000"/>
                          </a:solidFill>
                          <a:latin typeface="Arial"/>
                          <a:ea typeface="Arial"/>
                          <a:cs typeface="Arial"/>
                          <a:sym typeface="Arial"/>
                        </a:rPr>
                        <a:t>khi</a:t>
                      </a:r>
                      <a:r>
                        <a:rPr lang="en-US" sz="2000" dirty="0">
                          <a:solidFill>
                            <a:srgbClr val="000000"/>
                          </a:solidFill>
                          <a:latin typeface="Arial"/>
                          <a:ea typeface="Arial"/>
                          <a:cs typeface="Arial"/>
                          <a:sym typeface="Arial"/>
                        </a:rPr>
                        <a:t> SĐT </a:t>
                      </a:r>
                      <a:r>
                        <a:rPr lang="en-US" sz="2000" dirty="0" err="1">
                          <a:solidFill>
                            <a:srgbClr val="000000"/>
                          </a:solidFill>
                          <a:latin typeface="Arial"/>
                          <a:ea typeface="Arial"/>
                          <a:cs typeface="Arial"/>
                          <a:sym typeface="Arial"/>
                        </a:rPr>
                        <a:t>mới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được</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thành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công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tên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đăng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nhập</a:t>
                      </a:r>
                      <a:r>
                        <a:rPr lang="en-US" sz="2000" dirty="0">
                          <a:solidFill>
                            <a:srgbClr val="000000"/>
                          </a:solidFill>
                          <a:latin typeface="Arial"/>
                          <a:ea typeface="Arial"/>
                          <a:cs typeface="Arial"/>
                          <a:sym typeface="Arial"/>
                        </a:rPr>
                        <a:t> FEOL 2.0 </a:t>
                      </a:r>
                      <a:r>
                        <a:rPr lang="en-US" sz="2000" dirty="0" err="1">
                          <a:solidFill>
                            <a:srgbClr val="000000"/>
                          </a:solidFill>
                          <a:latin typeface="Arial"/>
                          <a:ea typeface="Arial"/>
                          <a:cs typeface="Arial"/>
                          <a:sym typeface="Arial"/>
                        </a:rPr>
                        <a:t>là</a:t>
                      </a:r>
                      <a:r>
                        <a:rPr lang="en-US" sz="2000" dirty="0">
                          <a:solidFill>
                            <a:srgbClr val="000000"/>
                          </a:solidFill>
                          <a:latin typeface="Arial"/>
                          <a:ea typeface="Arial"/>
                          <a:cs typeface="Arial"/>
                          <a:sym typeface="Arial"/>
                        </a:rPr>
                        <a:t> SĐT </a:t>
                      </a:r>
                      <a:r>
                        <a:rPr lang="en-US" sz="2000" dirty="0" err="1">
                          <a:solidFill>
                            <a:srgbClr val="000000"/>
                          </a:solidFill>
                          <a:latin typeface="Arial"/>
                          <a:ea typeface="Arial"/>
                          <a:cs typeface="Arial"/>
                          <a:sym typeface="Arial"/>
                        </a:rPr>
                        <a:t>mới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với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định</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dạng</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số</a:t>
                      </a:r>
                      <a:r>
                        <a:rPr lang="en-US" sz="2000" dirty="0">
                          <a:solidFill>
                            <a:srgbClr val="000000"/>
                          </a:solidFill>
                          <a:latin typeface="Arial"/>
                          <a:ea typeface="Arial"/>
                          <a:cs typeface="Arial"/>
                          <a:sym typeface="Arial"/>
                        </a:rPr>
                        <a:t> "0" </a:t>
                      </a:r>
                      <a:r>
                        <a:rPr lang="en-US" sz="2000" dirty="0" err="1">
                          <a:solidFill>
                            <a:srgbClr val="000000"/>
                          </a:solidFill>
                          <a:latin typeface="Arial"/>
                          <a:ea typeface="Arial"/>
                          <a:cs typeface="Arial"/>
                          <a:sym typeface="Arial"/>
                        </a:rPr>
                        <a:t>đầu</a:t>
                      </a:r>
                      <a:r>
                        <a:rPr lang="en-US" sz="2000" dirty="0">
                          <a:solidFill>
                            <a:srgbClr val="000000"/>
                          </a:solidFill>
                          <a:latin typeface="Arial"/>
                          <a:ea typeface="Arial"/>
                          <a:cs typeface="Arial"/>
                          <a:sym typeface="Arial"/>
                        </a:rPr>
                        <a:t>.</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2999"/>
                        </a:lnSpc>
                        <a:defRPr/>
                      </a:pPr>
                      <a:r>
                        <a:rPr lang="en-US" sz="2000">
                          <a:solidFill>
                            <a:srgbClr val="000000"/>
                          </a:solidFill>
                          <a:latin typeface="Arial"/>
                          <a:ea typeface="Arial"/>
                          <a:cs typeface="Arial"/>
                          <a:sym typeface="Arial"/>
                        </a:rPr>
                        <a:t>5 ngày làm việc</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600"/>
                        </a:lnSpc>
                        <a:defRPr/>
                      </a:pPr>
                      <a:r>
                        <a:rPr lang="en-US" sz="2000" b="1" dirty="0" err="1">
                          <a:solidFill>
                            <a:srgbClr val="000000"/>
                          </a:solidFill>
                          <a:latin typeface="Arial Bold"/>
                          <a:ea typeface="Arial Bold"/>
                          <a:cs typeface="Arial Bold"/>
                          <a:sym typeface="Arial Bold"/>
                        </a:rPr>
                        <a:t>Chọn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Cập</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nhật</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Số</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điện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thoại</a:t>
                      </a:r>
                      <a:r>
                        <a:rPr lang="en-US" sz="2000" dirty="0">
                          <a:solidFill>
                            <a:srgbClr val="000000"/>
                          </a:solidFill>
                          <a:latin typeface="Arial"/>
                          <a:ea typeface="Arial"/>
                          <a:cs typeface="Arial"/>
                          <a:sym typeface="Arial"/>
                        </a:rPr>
                        <a:t> </a:t>
                      </a:r>
                      <a:r>
                        <a:rPr lang="en-US" sz="2000" b="1" u="sng" dirty="0">
                          <a:solidFill>
                            <a:srgbClr val="4DA745"/>
                          </a:solidFill>
                          <a:latin typeface="Arial Bold"/>
                          <a:ea typeface="Arial Bold"/>
                          <a:cs typeface="Arial Bold"/>
                          <a:sym typeface="Arial Bold"/>
                        </a:rPr>
                        <a:t>(file </a:t>
                      </a:r>
                      <a:r>
                        <a:rPr lang="en-US" sz="2000" b="1" u="sng" dirty="0" err="1">
                          <a:solidFill>
                            <a:srgbClr val="4DA745"/>
                          </a:solidFill>
                          <a:latin typeface="Arial Bold"/>
                          <a:ea typeface="Arial Bold"/>
                          <a:cs typeface="Arial Bold"/>
                          <a:sym typeface="Arial Bold"/>
                        </a:rPr>
                        <a:t>hướng</a:t>
                      </a:r>
                      <a:r>
                        <a:rPr lang="en-US" sz="2000" b="1" u="sng" dirty="0">
                          <a:solidFill>
                            <a:srgbClr val="4DA745"/>
                          </a:solidFill>
                          <a:latin typeface="Arial Bold"/>
                          <a:ea typeface="Arial Bold"/>
                          <a:cs typeface="Arial Bold"/>
                          <a:sym typeface="Arial Bold"/>
                        </a:rPr>
                        <a:t> </a:t>
                      </a:r>
                      <a:r>
                        <a:rPr lang="en-US" sz="2000" b="1" u="sng" dirty="0" err="1">
                          <a:solidFill>
                            <a:srgbClr val="4DA745"/>
                          </a:solidFill>
                          <a:latin typeface="Arial Bold"/>
                          <a:ea typeface="Arial Bold"/>
                          <a:cs typeface="Arial Bold"/>
                          <a:sym typeface="Arial Bold"/>
                        </a:rPr>
                        <a:t>dẫn</a:t>
                      </a:r>
                      <a:r>
                        <a:rPr lang="en-US" sz="2000" b="1" u="sng" dirty="0">
                          <a:solidFill>
                            <a:srgbClr val="4DA745"/>
                          </a:solidFill>
                          <a:latin typeface="Arial Bold"/>
                          <a:ea typeface="Arial Bold"/>
                          <a:cs typeface="Arial Bold"/>
                          <a:sym typeface="Arial Bold"/>
                        </a:rPr>
                        <a:t>)</a:t>
                      </a:r>
                      <a:endParaRPr lang="en-US" sz="1100" dirty="0"/>
                    </a:p>
                    <a:p>
                      <a:pPr algn="l">
                        <a:lnSpc>
                          <a:spcPts val="3600"/>
                        </a:lnSpc>
                      </a:pPr>
                      <a:r>
                        <a:rPr lang="en-US" sz="2000" b="1" dirty="0">
                          <a:solidFill>
                            <a:srgbClr val="000000"/>
                          </a:solidFill>
                          <a:latin typeface="Arial Bold"/>
                          <a:ea typeface="Arial Bold"/>
                          <a:cs typeface="Arial Bold"/>
                          <a:sym typeface="Arial Bold"/>
                        </a:rPr>
                        <a:t>Remark: </a:t>
                      </a:r>
                      <a:r>
                        <a:rPr lang="en-US" sz="2000" dirty="0">
                          <a:solidFill>
                            <a:srgbClr val="000000"/>
                          </a:solidFill>
                          <a:latin typeface="Arial"/>
                          <a:ea typeface="Arial"/>
                          <a:cs typeface="Arial"/>
                          <a:sym typeface="Arial"/>
                        </a:rPr>
                        <a:t>Both - SĐT </a:t>
                      </a:r>
                      <a:r>
                        <a:rPr lang="en-US" sz="2000" dirty="0" err="1">
                          <a:solidFill>
                            <a:srgbClr val="000000"/>
                          </a:solidFill>
                          <a:latin typeface="Arial"/>
                          <a:ea typeface="Arial"/>
                          <a:cs typeface="Arial"/>
                          <a:sym typeface="Arial"/>
                        </a:rPr>
                        <a:t>mới</a:t>
                      </a:r>
                      <a:r>
                        <a:rPr lang="en-US" sz="2000" dirty="0">
                          <a:solidFill>
                            <a:srgbClr val="000000"/>
                          </a:solidFill>
                          <a:latin typeface="Arial"/>
                          <a:ea typeface="Arial"/>
                          <a:cs typeface="Arial"/>
                          <a:sym typeface="Arial"/>
                        </a:rPr>
                        <a:t>- ticket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Ecom</a:t>
                      </a:r>
                      <a:r>
                        <a:rPr lang="en-US" sz="2000" dirty="0">
                          <a:solidFill>
                            <a:srgbClr val="000000"/>
                          </a:solidFill>
                          <a:latin typeface="Arial"/>
                          <a:ea typeface="Arial"/>
                          <a:cs typeface="Arial"/>
                          <a:sym typeface="Arial"/>
                        </a:rPr>
                        <a:t>/ticket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IB - KH </a:t>
                      </a:r>
                      <a:r>
                        <a:rPr lang="en-US" sz="2000" dirty="0" err="1">
                          <a:solidFill>
                            <a:srgbClr val="000000"/>
                          </a:solidFill>
                          <a:latin typeface="Arial"/>
                          <a:ea typeface="Arial"/>
                          <a:cs typeface="Arial"/>
                          <a:sym typeface="Arial"/>
                        </a:rPr>
                        <a:t>đã</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chưa</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tài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khoản</a:t>
                      </a:r>
                      <a:r>
                        <a:rPr lang="en-US" sz="2000" dirty="0">
                          <a:solidFill>
                            <a:srgbClr val="000000"/>
                          </a:solidFill>
                          <a:latin typeface="Arial"/>
                          <a:ea typeface="Arial"/>
                          <a:cs typeface="Arial"/>
                          <a:sym typeface="Arial"/>
                        </a:rPr>
                        <a:t> FEOL 2.0 - SĐT </a:t>
                      </a:r>
                      <a:r>
                        <a:rPr lang="en-US" sz="2000" dirty="0" err="1">
                          <a:solidFill>
                            <a:srgbClr val="000000"/>
                          </a:solidFill>
                          <a:latin typeface="Arial"/>
                          <a:ea typeface="Arial"/>
                          <a:cs typeface="Arial"/>
                          <a:sym typeface="Arial"/>
                        </a:rPr>
                        <a:t>hiện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tại</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KH </a:t>
                      </a:r>
                      <a:r>
                        <a:rPr lang="en-US" sz="2000" dirty="0" err="1">
                          <a:solidFill>
                            <a:srgbClr val="000000"/>
                          </a:solidFill>
                          <a:latin typeface="Arial"/>
                          <a:ea typeface="Arial"/>
                          <a:cs typeface="Arial"/>
                          <a:sym typeface="Arial"/>
                        </a:rPr>
                        <a:t>trên</a:t>
                      </a:r>
                      <a:r>
                        <a:rPr lang="en-US" sz="2000" dirty="0">
                          <a:solidFill>
                            <a:srgbClr val="000000"/>
                          </a:solidFill>
                          <a:latin typeface="Arial"/>
                          <a:ea typeface="Arial"/>
                          <a:cs typeface="Arial"/>
                          <a:sym typeface="Arial"/>
                        </a:rPr>
                        <a:t> FEOL 2.0 (</a:t>
                      </a:r>
                      <a:r>
                        <a:rPr lang="en-US" sz="2000" dirty="0" err="1">
                          <a:solidFill>
                            <a:srgbClr val="000000"/>
                          </a:solidFill>
                          <a:latin typeface="Arial"/>
                          <a:ea typeface="Arial"/>
                          <a:cs typeface="Arial"/>
                          <a:sym typeface="Arial"/>
                        </a:rPr>
                        <a:t>nếu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có</a:t>
                      </a:r>
                      <a:r>
                        <a:rPr lang="en-US" sz="2000" dirty="0">
                          <a:solidFill>
                            <a:srgbClr val="000000"/>
                          </a:solidFill>
                          <a:latin typeface="Arial"/>
                          <a:ea typeface="Arial"/>
                          <a:cs typeface="Arial"/>
                          <a:sym typeface="Arial"/>
                        </a:rPr>
                        <a:t> TK) - </a:t>
                      </a:r>
                      <a:r>
                        <a:rPr lang="en-US" sz="2000" dirty="0" err="1">
                          <a:solidFill>
                            <a:srgbClr val="000000"/>
                          </a:solidFill>
                          <a:latin typeface="Arial"/>
                          <a:ea typeface="Arial"/>
                          <a:cs typeface="Arial"/>
                          <a:sym typeface="Arial"/>
                        </a:rPr>
                        <a:t>Lý</a:t>
                      </a:r>
                      <a:r>
                        <a:rPr lang="en-US" sz="2000" dirty="0">
                          <a:solidFill>
                            <a:srgbClr val="000000"/>
                          </a:solidFill>
                          <a:latin typeface="Arial"/>
                          <a:ea typeface="Arial"/>
                          <a:cs typeface="Arial"/>
                          <a:sym typeface="Arial"/>
                        </a:rPr>
                        <a:t> do </a:t>
                      </a:r>
                      <a:r>
                        <a:rPr lang="en-US" sz="2000" dirty="0" err="1">
                          <a:solidFill>
                            <a:srgbClr val="000000"/>
                          </a:solidFill>
                          <a:latin typeface="Arial"/>
                          <a:ea typeface="Arial"/>
                          <a:cs typeface="Arial"/>
                          <a:sym typeface="Arial"/>
                        </a:rPr>
                        <a:t>cần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hỗ</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trợ</a:t>
                      </a:r>
                      <a:endParaRPr lang="en-US" sz="2000" dirty="0">
                        <a:solidFill>
                          <a:srgbClr val="000000"/>
                        </a:solidFill>
                        <a:latin typeface="Arial"/>
                        <a:ea typeface="Arial"/>
                        <a:cs typeface="Arial"/>
                        <a:sym typeface="Arial"/>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0"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701388" y="13448"/>
            <a:ext cx="19690775" cy="724002"/>
          </a:xfrm>
          <a:prstGeom prst="rect">
            <a:avLst/>
          </a:prstGeom>
        </p:spPr>
        <p:txBody>
          <a:bodyPr lIns="0" tIns="0" rIns="0" bIns="0" rtlCol="0" anchor="t">
            <a:spAutoFit/>
          </a:bodyPr>
          <a:lstStyle/>
          <a:p>
            <a:pPr algn="ctr">
              <a:lnSpc>
                <a:spcPts val="6027"/>
              </a:lnSpc>
            </a:pPr>
            <a:r>
              <a:rPr lang="en-US" sz="3399" b="1">
                <a:solidFill>
                  <a:srgbClr val="000000"/>
                </a:solidFill>
                <a:latin typeface="Arial Bold"/>
                <a:ea typeface="Arial Bold"/>
                <a:cs typeface="Arial Bold"/>
                <a:sym typeface="Arial Bold"/>
              </a:rPr>
              <a:t>CẬP NHẬT THỦ CÔNG 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30249" y="9680162"/>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graphicFrame>
        <p:nvGraphicFramePr>
          <p:cNvPr id="4" name="Table 4"/>
          <p:cNvGraphicFramePr>
            <a:graphicFrameLocks noGrp="1"/>
          </p:cNvGraphicFramePr>
          <p:nvPr/>
        </p:nvGraphicFramePr>
        <p:xfrm>
          <a:off x="284360" y="1866900"/>
          <a:ext cx="17754599" cy="5965165"/>
        </p:xfrm>
        <a:graphic>
          <a:graphicData uri="http://schemas.openxmlformats.org/drawingml/2006/table">
            <a:tbl>
              <a:tblPr/>
              <a:tblGrid>
                <a:gridCol w="10017510">
                  <a:extLst>
                    <a:ext uri="{9D8B030D-6E8A-4147-A177-3AD203B41FA5}">
                      <a16:colId xmlns:a16="http://schemas.microsoft.com/office/drawing/2014/main" val="20000"/>
                    </a:ext>
                  </a:extLst>
                </a:gridCol>
                <a:gridCol w="2149536">
                  <a:extLst>
                    <a:ext uri="{9D8B030D-6E8A-4147-A177-3AD203B41FA5}">
                      <a16:colId xmlns:a16="http://schemas.microsoft.com/office/drawing/2014/main" val="20001"/>
                    </a:ext>
                  </a:extLst>
                </a:gridCol>
                <a:gridCol w="5587553">
                  <a:extLst>
                    <a:ext uri="{9D8B030D-6E8A-4147-A177-3AD203B41FA5}">
                      <a16:colId xmlns:a16="http://schemas.microsoft.com/office/drawing/2014/main" val="20002"/>
                    </a:ext>
                  </a:extLst>
                </a:gridCol>
              </a:tblGrid>
              <a:tr h="857715">
                <a:tc>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TAT</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CODE</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5107450">
                <a:tc>
                  <a:txBody>
                    <a:bodyPr/>
                    <a:lstStyle/>
                    <a:p>
                      <a:pPr marL="457079" lvl="2" indent="-152360" algn="l">
                        <a:lnSpc>
                          <a:spcPts val="2999"/>
                        </a:lnSpc>
                        <a:buFont typeface="Arial"/>
                        <a:buChar char="⚬"/>
                        <a:defRPr/>
                      </a:pPr>
                      <a:r>
                        <a:rPr lang="en-US" sz="1999" dirty="0" err="1">
                          <a:solidFill>
                            <a:srgbClr val="000000"/>
                          </a:solidFill>
                          <a:latin typeface="Arial"/>
                          <a:ea typeface="Arial"/>
                          <a:cs typeface="Arial"/>
                          <a:sym typeface="Arial"/>
                        </a:rPr>
                        <a:t>Xác</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nhận</a:t>
                      </a:r>
                      <a:r>
                        <a:rPr lang="en-US" sz="1999" dirty="0">
                          <a:solidFill>
                            <a:srgbClr val="000000"/>
                          </a:solidFill>
                          <a:latin typeface="Arial"/>
                          <a:ea typeface="Arial"/>
                          <a:cs typeface="Arial"/>
                          <a:sym typeface="Arial"/>
                        </a:rPr>
                        <a:t> SĐT </a:t>
                      </a:r>
                      <a:r>
                        <a:rPr lang="en-US" sz="1999" dirty="0" err="1">
                          <a:solidFill>
                            <a:srgbClr val="000000"/>
                          </a:solidFill>
                          <a:latin typeface="Arial"/>
                          <a:ea typeface="Arial"/>
                          <a:cs typeface="Arial"/>
                          <a:sym typeface="Arial"/>
                        </a:rPr>
                        <a:t>cần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cập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nhật</a:t>
                      </a:r>
                      <a:r>
                        <a:rPr lang="en-US" sz="1999" dirty="0">
                          <a:solidFill>
                            <a:srgbClr val="000000"/>
                          </a:solidFill>
                          <a:latin typeface="Arial"/>
                          <a:ea typeface="Arial"/>
                          <a:cs typeface="Arial"/>
                          <a:sym typeface="Arial"/>
                        </a:rPr>
                        <a:t> </a:t>
                      </a:r>
                      <a:endParaRPr lang="en-US" sz="1100" dirty="0"/>
                    </a:p>
                    <a:p>
                      <a:pPr marL="457079" lvl="2" indent="-152360" algn="l">
                        <a:lnSpc>
                          <a:spcPts val="2999"/>
                        </a:lnSpc>
                        <a:buFont typeface="Arial"/>
                        <a:buChar char="⚬"/>
                      </a:pPr>
                      <a:r>
                        <a:rPr lang="en-US" sz="1999" dirty="0" err="1">
                          <a:solidFill>
                            <a:srgbClr val="000000"/>
                          </a:solidFill>
                          <a:latin typeface="Arial"/>
                          <a:ea typeface="Arial"/>
                          <a:cs typeface="Arial"/>
                          <a:sym typeface="Arial"/>
                        </a:rPr>
                        <a:t>Gửi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qua </a:t>
                      </a:r>
                      <a:r>
                        <a:rPr lang="en-US" sz="1999" dirty="0" err="1">
                          <a:solidFill>
                            <a:srgbClr val="000000"/>
                          </a:solidFill>
                          <a:latin typeface="Arial"/>
                          <a:ea typeface="Arial"/>
                          <a:cs typeface="Arial"/>
                          <a:sym typeface="Arial"/>
                        </a:rPr>
                        <a:t>Zalo</a:t>
                      </a:r>
                      <a:r>
                        <a:rPr lang="en-US" sz="1999" dirty="0">
                          <a:solidFill>
                            <a:srgbClr val="000000"/>
                          </a:solidFill>
                          <a:latin typeface="Arial"/>
                          <a:ea typeface="Arial"/>
                          <a:cs typeface="Arial"/>
                          <a:sym typeface="Arial"/>
                        </a:rPr>
                        <a:t> FE Credit (</a:t>
                      </a:r>
                      <a:r>
                        <a:rPr lang="en-US" sz="1999" dirty="0" err="1">
                          <a:solidFill>
                            <a:srgbClr val="000000"/>
                          </a:solidFill>
                          <a:latin typeface="Arial"/>
                          <a:ea typeface="Arial"/>
                          <a:cs typeface="Arial"/>
                          <a:sym typeface="Arial"/>
                        </a:rPr>
                        <a:t>có</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dấu</a:t>
                      </a:r>
                      <a:r>
                        <a:rPr lang="en-US" sz="1999" dirty="0">
                          <a:solidFill>
                            <a:srgbClr val="000000"/>
                          </a:solidFill>
                          <a:latin typeface="Arial"/>
                          <a:ea typeface="Arial"/>
                          <a:cs typeface="Arial"/>
                          <a:sym typeface="Arial"/>
                        </a:rPr>
                        <a:t> tick). </a:t>
                      </a:r>
                      <a:r>
                        <a:rPr lang="en-US" sz="1999" dirty="0" err="1">
                          <a:solidFill>
                            <a:srgbClr val="000000"/>
                          </a:solidFill>
                          <a:latin typeface="Arial"/>
                          <a:ea typeface="Arial"/>
                          <a:cs typeface="Arial"/>
                          <a:sym typeface="Arial"/>
                        </a:rPr>
                        <a:t>Nếu</a:t>
                      </a:r>
                      <a:r>
                        <a:rPr lang="en-US" sz="1999" dirty="0">
                          <a:solidFill>
                            <a:srgbClr val="000000"/>
                          </a:solidFill>
                          <a:latin typeface="Arial"/>
                          <a:ea typeface="Arial"/>
                          <a:cs typeface="Arial"/>
                          <a:sym typeface="Arial"/>
                        </a:rPr>
                        <a:t> KH </a:t>
                      </a:r>
                      <a:r>
                        <a:rPr lang="en-US" sz="1999" dirty="0" err="1">
                          <a:solidFill>
                            <a:srgbClr val="000000"/>
                          </a:solidFill>
                          <a:latin typeface="Arial"/>
                          <a:ea typeface="Arial"/>
                          <a:cs typeface="Arial"/>
                          <a:sym typeface="Arial"/>
                        </a:rPr>
                        <a:t>không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sử</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dụng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Zalo</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hướng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dẫn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gửi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qua email </a:t>
                      </a:r>
                      <a:r>
                        <a:rPr lang="en-US" sz="1999" b="1" dirty="0">
                          <a:solidFill>
                            <a:srgbClr val="000000"/>
                          </a:solidFill>
                          <a:latin typeface="Arial Bold"/>
                          <a:ea typeface="Arial Bold"/>
                          <a:cs typeface="Arial Bold"/>
                          <a:sym typeface="Arial Bold"/>
                        </a:rPr>
                        <a:t>dichvukhachhang@fecredit.com.vn</a:t>
                      </a:r>
                    </a:p>
                    <a:p>
                      <a:pPr marL="816911" lvl="3" indent="-204228" algn="l">
                        <a:lnSpc>
                          <a:spcPts val="2999"/>
                        </a:lnSpc>
                        <a:buFont typeface="Arial"/>
                        <a:buChar char="￭"/>
                      </a:pP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thuê</a:t>
                      </a:r>
                      <a:r>
                        <a:rPr lang="en-US" sz="1999" dirty="0">
                          <a:solidFill>
                            <a:srgbClr val="000000"/>
                          </a:solidFill>
                          <a:latin typeface="Arial"/>
                          <a:ea typeface="Arial"/>
                          <a:cs typeface="Arial"/>
                          <a:sym typeface="Arial"/>
                        </a:rPr>
                        <a:t> bao </a:t>
                      </a:r>
                      <a:r>
                        <a:rPr lang="en-US" sz="1999" dirty="0" err="1">
                          <a:solidFill>
                            <a:srgbClr val="000000"/>
                          </a:solidFill>
                          <a:latin typeface="Arial"/>
                          <a:ea typeface="Arial"/>
                          <a:cs typeface="Arial"/>
                          <a:sym typeface="Arial"/>
                        </a:rPr>
                        <a:t>chính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chủ</a:t>
                      </a:r>
                      <a:r>
                        <a:rPr lang="en-US" sz="1999" dirty="0">
                          <a:solidFill>
                            <a:srgbClr val="000000"/>
                          </a:solidFill>
                          <a:latin typeface="Arial"/>
                          <a:ea typeface="Arial"/>
                          <a:cs typeface="Arial"/>
                          <a:sym typeface="Arial"/>
                        </a:rPr>
                        <a:t> (TTTB)</a:t>
                      </a:r>
                    </a:p>
                    <a:p>
                      <a:pPr marL="816911" lvl="3" indent="-204228" algn="l">
                        <a:lnSpc>
                          <a:spcPts val="2999"/>
                        </a:lnSpc>
                        <a:buFont typeface="Arial"/>
                        <a:buChar char="￭"/>
                      </a:pP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KH </a:t>
                      </a:r>
                      <a:r>
                        <a:rPr lang="en-US" sz="1999" dirty="0" err="1">
                          <a:solidFill>
                            <a:srgbClr val="000000"/>
                          </a:solidFill>
                          <a:latin typeface="Arial"/>
                          <a:ea typeface="Arial"/>
                          <a:cs typeface="Arial"/>
                          <a:sym typeface="Arial"/>
                        </a:rPr>
                        <a:t>cầm</a:t>
                      </a:r>
                      <a:r>
                        <a:rPr lang="en-US" sz="1999" dirty="0">
                          <a:solidFill>
                            <a:srgbClr val="000000"/>
                          </a:solidFill>
                          <a:latin typeface="Arial"/>
                          <a:ea typeface="Arial"/>
                          <a:cs typeface="Arial"/>
                          <a:sym typeface="Arial"/>
                        </a:rPr>
                        <a:t> CMND/ CCCD </a:t>
                      </a:r>
                      <a:r>
                        <a:rPr lang="en-US" sz="1999" dirty="0" err="1">
                          <a:solidFill>
                            <a:srgbClr val="000000"/>
                          </a:solidFill>
                          <a:latin typeface="Arial"/>
                          <a:ea typeface="Arial"/>
                          <a:cs typeface="Arial"/>
                          <a:sym typeface="Arial"/>
                        </a:rPr>
                        <a:t>mặt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trước</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trên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tay</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chụp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cùng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khuôn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mặt</a:t>
                      </a:r>
                      <a:r>
                        <a:rPr lang="en-US" sz="1999" dirty="0">
                          <a:solidFill>
                            <a:srgbClr val="000000"/>
                          </a:solidFill>
                          <a:latin typeface="Arial"/>
                          <a:ea typeface="Arial"/>
                          <a:cs typeface="Arial"/>
                          <a:sym typeface="Arial"/>
                        </a:rPr>
                        <a:t>.</a:t>
                      </a:r>
                    </a:p>
                    <a:p>
                      <a:pPr marL="816911" lvl="3" indent="-204228" algn="l">
                        <a:lnSpc>
                          <a:spcPts val="2999"/>
                        </a:lnSpc>
                        <a:buFont typeface="Arial"/>
                        <a:buChar char="￭"/>
                      </a:pPr>
                      <a:r>
                        <a:rPr lang="en-US" sz="1999" dirty="0" err="1">
                          <a:solidFill>
                            <a:srgbClr val="000000"/>
                          </a:solidFill>
                          <a:latin typeface="Arial"/>
                          <a:ea typeface="Arial"/>
                          <a:cs typeface="Arial"/>
                          <a:sym typeface="Arial"/>
                        </a:rPr>
                        <a:t>Hình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ảnh</a:t>
                      </a:r>
                      <a:r>
                        <a:rPr lang="en-US" sz="1999" dirty="0">
                          <a:solidFill>
                            <a:srgbClr val="000000"/>
                          </a:solidFill>
                          <a:latin typeface="Arial"/>
                          <a:ea typeface="Arial"/>
                          <a:cs typeface="Arial"/>
                          <a:sym typeface="Arial"/>
                        </a:rPr>
                        <a:t> 2 </a:t>
                      </a:r>
                      <a:r>
                        <a:rPr lang="en-US" sz="1999" dirty="0" err="1">
                          <a:solidFill>
                            <a:srgbClr val="000000"/>
                          </a:solidFill>
                          <a:latin typeface="Arial"/>
                          <a:ea typeface="Arial"/>
                          <a:cs typeface="Arial"/>
                          <a:sym typeface="Arial"/>
                        </a:rPr>
                        <a:t>mặt</a:t>
                      </a:r>
                      <a:r>
                        <a:rPr lang="en-US" sz="1999" dirty="0">
                          <a:solidFill>
                            <a:srgbClr val="000000"/>
                          </a:solidFill>
                          <a:latin typeface="Arial"/>
                          <a:ea typeface="Arial"/>
                          <a:cs typeface="Arial"/>
                          <a:sym typeface="Arial"/>
                        </a:rPr>
                        <a:t> CCCD </a:t>
                      </a:r>
                      <a:r>
                        <a:rPr lang="en-US" sz="1999" dirty="0" err="1">
                          <a:solidFill>
                            <a:srgbClr val="000000"/>
                          </a:solidFill>
                          <a:latin typeface="Arial"/>
                          <a:ea typeface="Arial"/>
                          <a:cs typeface="Arial"/>
                          <a:sym typeface="Arial"/>
                        </a:rPr>
                        <a:t>mới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nhất</a:t>
                      </a:r>
                      <a:r>
                        <a:rPr lang="en-US" sz="1999" dirty="0">
                          <a:solidFill>
                            <a:srgbClr val="000000"/>
                          </a:solidFill>
                          <a:latin typeface="Arial"/>
                          <a:ea typeface="Arial"/>
                          <a:cs typeface="Arial"/>
                          <a:sym typeface="Arial"/>
                        </a:rPr>
                        <a:t>. </a:t>
                      </a:r>
                    </a:p>
                    <a:p>
                      <a:pPr marL="816911" lvl="3" indent="-204228" algn="l">
                        <a:lnSpc>
                          <a:spcPts val="2999"/>
                        </a:lnSpc>
                        <a:buFont typeface="Arial"/>
                        <a:buChar char="￭"/>
                      </a:pPr>
                      <a:r>
                        <a:rPr lang="en-US" sz="1999" b="1" i="1" dirty="0" err="1">
                          <a:solidFill>
                            <a:srgbClr val="000000"/>
                          </a:solidFill>
                          <a:latin typeface="Arial Bold Italics"/>
                          <a:ea typeface="Arial Bold Italics"/>
                          <a:cs typeface="Arial Bold Italics"/>
                          <a:sym typeface="Arial Bold Italics"/>
                        </a:rPr>
                        <a:t>Lưu</a:t>
                      </a:r>
                      <a:r>
                        <a:rPr lang="en-US" sz="1999" b="1" i="1" dirty="0">
                          <a:solidFill>
                            <a:srgbClr val="000000"/>
                          </a:solidFill>
                          <a:latin typeface="Arial Bold Italics"/>
                          <a:ea typeface="Arial Bold Italics"/>
                          <a:cs typeface="Arial Bold Italics"/>
                          <a:sym typeface="Arial Bold Italics"/>
                        </a:rPr>
                        <a:t> ý: </a:t>
                      </a:r>
                      <a:r>
                        <a:rPr lang="en-US" sz="1999" dirty="0">
                          <a:solidFill>
                            <a:srgbClr val="000000"/>
                          </a:solidFill>
                          <a:latin typeface="Arial"/>
                          <a:ea typeface="Arial"/>
                          <a:cs typeface="Arial"/>
                          <a:sym typeface="Arial"/>
                        </a:rPr>
                        <a:t>TTTB </a:t>
                      </a:r>
                      <a:r>
                        <a:rPr lang="en-US" sz="1999" dirty="0" err="1">
                          <a:solidFill>
                            <a:srgbClr val="000000"/>
                          </a:solidFill>
                          <a:latin typeface="Arial"/>
                          <a:ea typeface="Arial"/>
                          <a:cs typeface="Arial"/>
                          <a:sym typeface="Arial"/>
                        </a:rPr>
                        <a:t>chính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chủ</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hợp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lệ</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và</a:t>
                      </a:r>
                      <a:r>
                        <a:rPr lang="en-US" sz="1999" dirty="0">
                          <a:solidFill>
                            <a:srgbClr val="000000"/>
                          </a:solidFill>
                          <a:latin typeface="Arial"/>
                          <a:ea typeface="Arial"/>
                          <a:cs typeface="Arial"/>
                          <a:sym typeface="Arial"/>
                        </a:rPr>
                        <a:t> CCCD </a:t>
                      </a:r>
                      <a:r>
                        <a:rPr lang="en-US" sz="1999" dirty="0" err="1">
                          <a:solidFill>
                            <a:srgbClr val="000000"/>
                          </a:solidFill>
                          <a:latin typeface="Arial"/>
                          <a:ea typeface="Arial"/>
                          <a:cs typeface="Arial"/>
                          <a:sym typeface="Arial"/>
                        </a:rPr>
                        <a:t>không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trùng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khớp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trên</a:t>
                      </a:r>
                      <a:r>
                        <a:rPr lang="en-US" sz="1999" dirty="0">
                          <a:solidFill>
                            <a:srgbClr val="000000"/>
                          </a:solidFill>
                          <a:latin typeface="Arial"/>
                          <a:ea typeface="Arial"/>
                          <a:cs typeface="Arial"/>
                          <a:sym typeface="Arial"/>
                        </a:rPr>
                        <a:t> TTTB </a:t>
                      </a:r>
                      <a:r>
                        <a:rPr lang="en-US" sz="1999" i="1" u="sng" dirty="0">
                          <a:solidFill>
                            <a:srgbClr val="4DA745"/>
                          </a:solidFill>
                          <a:latin typeface="Arial Italics"/>
                          <a:ea typeface="Arial Italics"/>
                          <a:cs typeface="Arial Italics"/>
                          <a:sym typeface="Arial Italics"/>
                        </a:rPr>
                        <a:t>(</a:t>
                      </a:r>
                      <a:r>
                        <a:rPr lang="en-US" sz="1999" b="1" i="1" u="sng" dirty="0" err="1">
                          <a:solidFill>
                            <a:srgbClr val="4DA745"/>
                          </a:solidFill>
                          <a:latin typeface="Arial Bold Italics"/>
                          <a:ea typeface="Arial Bold Italics"/>
                          <a:cs typeface="Arial Bold Italics"/>
                          <a:sym typeface="Arial Bold Italics"/>
                        </a:rPr>
                        <a:t>xem</a:t>
                      </a:r>
                      <a:r>
                        <a:rPr lang="en-US" sz="1999" b="1" i="1" u="sng" dirty="0">
                          <a:solidFill>
                            <a:srgbClr val="4DA745"/>
                          </a:solidFill>
                          <a:latin typeface="Arial Bold Italics"/>
                          <a:ea typeface="Arial Bold Italics"/>
                          <a:cs typeface="Arial Bold Italics"/>
                          <a:sym typeface="Arial Bold Italics"/>
                        </a:rPr>
                        <a:t> chi </a:t>
                      </a:r>
                      <a:r>
                        <a:rPr lang="en-US" sz="1999" b="1" i="1" u="sng" dirty="0" err="1">
                          <a:solidFill>
                            <a:srgbClr val="4DA745"/>
                          </a:solidFill>
                          <a:latin typeface="Arial Bold Italics"/>
                          <a:ea typeface="Arial Bold Italics"/>
                          <a:cs typeface="Arial Bold Italics"/>
                          <a:sym typeface="Arial Bold Italics"/>
                        </a:rPr>
                        <a:t>tiết</a:t>
                      </a:r>
                      <a:r>
                        <a:rPr lang="en-US" sz="1999" b="1" i="1" u="sng" dirty="0">
                          <a:solidFill>
                            <a:srgbClr val="4DA745"/>
                          </a:solidFill>
                          <a:latin typeface="Arial Bold Italics"/>
                          <a:ea typeface="Arial Bold Italics"/>
                          <a:cs typeface="Arial Bold Italics"/>
                          <a:sym typeface="Arial Bold Italics"/>
                        </a:rPr>
                        <a:t>)</a:t>
                      </a:r>
                    </a:p>
                    <a:p>
                      <a:pPr marL="816911" lvl="3" indent="-204228" algn="l">
                        <a:lnSpc>
                          <a:spcPts val="2999"/>
                        </a:lnSpc>
                      </a:pPr>
                      <a:endParaRPr lang="en-US" sz="1999" b="1" i="1" u="sng" dirty="0">
                        <a:solidFill>
                          <a:srgbClr val="4DA745"/>
                        </a:solidFill>
                        <a:latin typeface="Arial Bold Italics"/>
                        <a:ea typeface="Arial Bold Italics"/>
                        <a:cs typeface="Arial Bold Italics"/>
                        <a:sym typeface="Arial Bold Italics"/>
                      </a:endParaRPr>
                    </a:p>
                    <a:p>
                      <a:pPr marL="457079" lvl="2" indent="-152360" algn="l">
                        <a:lnSpc>
                          <a:spcPts val="2999"/>
                        </a:lnSpc>
                        <a:buFont typeface="Arial"/>
                        <a:buChar char="⚬"/>
                      </a:pPr>
                      <a:r>
                        <a:rPr lang="en-US" sz="1999" dirty="0" err="1">
                          <a:solidFill>
                            <a:srgbClr val="000000"/>
                          </a:solidFill>
                          <a:latin typeface="Arial"/>
                          <a:ea typeface="Arial"/>
                          <a:cs typeface="Arial"/>
                          <a:sym typeface="Arial"/>
                        </a:rPr>
                        <a:t>Thông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báo</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áp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dụng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cho</a:t>
                      </a:r>
                      <a:r>
                        <a:rPr lang="en-US" sz="1999" dirty="0">
                          <a:solidFill>
                            <a:srgbClr val="000000"/>
                          </a:solidFill>
                          <a:latin typeface="Arial"/>
                          <a:ea typeface="Arial"/>
                          <a:cs typeface="Arial"/>
                          <a:sym typeface="Arial"/>
                        </a:rPr>
                        <a:t> TH </a:t>
                      </a:r>
                      <a:r>
                        <a:rPr lang="en-US" sz="1999" dirty="0" err="1">
                          <a:solidFill>
                            <a:srgbClr val="000000"/>
                          </a:solidFill>
                          <a:latin typeface="Arial"/>
                          <a:ea typeface="Arial"/>
                          <a:cs typeface="Arial"/>
                          <a:sym typeface="Arial"/>
                        </a:rPr>
                        <a:t>chuyển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hỗ</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trợ</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sau</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khi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cập</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nhật</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thành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công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thì</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tên</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đăng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nhập</a:t>
                      </a:r>
                      <a:r>
                        <a:rPr lang="en-US" sz="1999" dirty="0">
                          <a:solidFill>
                            <a:srgbClr val="000000"/>
                          </a:solidFill>
                          <a:latin typeface="Arial"/>
                          <a:ea typeface="Arial"/>
                          <a:cs typeface="Arial"/>
                          <a:sym typeface="Arial"/>
                        </a:rPr>
                        <a:t> FEOL 2.0 </a:t>
                      </a:r>
                      <a:r>
                        <a:rPr lang="en-US" sz="1999" dirty="0" err="1">
                          <a:solidFill>
                            <a:srgbClr val="000000"/>
                          </a:solidFill>
                          <a:latin typeface="Arial"/>
                          <a:ea typeface="Arial"/>
                          <a:cs typeface="Arial"/>
                          <a:sym typeface="Arial"/>
                        </a:rPr>
                        <a:t>là</a:t>
                      </a:r>
                      <a:r>
                        <a:rPr lang="en-US" sz="1999" dirty="0">
                          <a:solidFill>
                            <a:srgbClr val="000000"/>
                          </a:solidFill>
                          <a:latin typeface="Arial"/>
                          <a:ea typeface="Arial"/>
                          <a:cs typeface="Arial"/>
                          <a:sym typeface="Arial"/>
                        </a:rPr>
                        <a:t> SĐT </a:t>
                      </a:r>
                      <a:r>
                        <a:rPr lang="en-US" sz="1999" dirty="0" err="1">
                          <a:solidFill>
                            <a:srgbClr val="000000"/>
                          </a:solidFill>
                          <a:latin typeface="Arial"/>
                          <a:ea typeface="Arial"/>
                          <a:cs typeface="Arial"/>
                          <a:sym typeface="Arial"/>
                        </a:rPr>
                        <a:t>mới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với</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định</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dạng</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là</a:t>
                      </a:r>
                      <a:r>
                        <a:rPr lang="en-US" sz="1999" dirty="0">
                          <a:solidFill>
                            <a:srgbClr val="000000"/>
                          </a:solidFill>
                          <a:latin typeface="Arial"/>
                          <a:ea typeface="Arial"/>
                          <a:cs typeface="Arial"/>
                          <a:sym typeface="Arial"/>
                        </a:rPr>
                        <a:t> </a:t>
                      </a:r>
                      <a:r>
                        <a:rPr lang="en-US" sz="1999" dirty="0" err="1">
                          <a:solidFill>
                            <a:srgbClr val="000000"/>
                          </a:solidFill>
                          <a:latin typeface="Arial"/>
                          <a:ea typeface="Arial"/>
                          <a:cs typeface="Arial"/>
                          <a:sym typeface="Arial"/>
                        </a:rPr>
                        <a:t>số</a:t>
                      </a:r>
                      <a:r>
                        <a:rPr lang="en-US" sz="1999" dirty="0">
                          <a:solidFill>
                            <a:srgbClr val="000000"/>
                          </a:solidFill>
                          <a:latin typeface="Arial"/>
                          <a:ea typeface="Arial"/>
                          <a:cs typeface="Arial"/>
                          <a:sym typeface="Arial"/>
                        </a:rPr>
                        <a:t> “0” </a:t>
                      </a:r>
                      <a:r>
                        <a:rPr lang="en-US" sz="1999" dirty="0" err="1">
                          <a:solidFill>
                            <a:srgbClr val="000000"/>
                          </a:solidFill>
                          <a:latin typeface="Arial"/>
                          <a:ea typeface="Arial"/>
                          <a:cs typeface="Arial"/>
                          <a:sym typeface="Arial"/>
                        </a:rPr>
                        <a:t>đầu</a:t>
                      </a:r>
                      <a:r>
                        <a:rPr lang="en-US" sz="1999" dirty="0">
                          <a:solidFill>
                            <a:srgbClr val="000000"/>
                          </a:solidFill>
                          <a:latin typeface="Arial"/>
                          <a:ea typeface="Arial"/>
                          <a:cs typeface="Arial"/>
                          <a:sym typeface="Arial"/>
                        </a:rPr>
                        <a:t>.</a:t>
                      </a:r>
                    </a:p>
                    <a:p>
                      <a:pPr marL="457079" lvl="2" indent="-152360" algn="l">
                        <a:lnSpc>
                          <a:spcPts val="2999"/>
                        </a:lnSpc>
                      </a:pPr>
                      <a:endParaRPr lang="en-US" sz="1999" dirty="0">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2400"/>
                        </a:lnSpc>
                        <a:defRPr/>
                      </a:pPr>
                      <a:r>
                        <a:rPr lang="en-US" sz="2000">
                          <a:solidFill>
                            <a:srgbClr val="000000"/>
                          </a:solidFill>
                          <a:latin typeface="Arial"/>
                          <a:ea typeface="Arial"/>
                          <a:cs typeface="Arial"/>
                          <a:sym typeface="Arial"/>
                        </a:rPr>
                        <a:t>5 ngày làm việc</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600"/>
                        </a:lnSpc>
                        <a:defRPr/>
                      </a:pPr>
                      <a:r>
                        <a:rPr lang="en-US" sz="2000" b="1" dirty="0">
                          <a:solidFill>
                            <a:srgbClr val="000000"/>
                          </a:solidFill>
                          <a:latin typeface="Arial Bold"/>
                          <a:ea typeface="Arial Bold"/>
                          <a:cs typeface="Arial Bold"/>
                          <a:sym typeface="Arial Bold"/>
                        </a:rPr>
                        <a:t>Code: RC57-FE Online 2.0</a:t>
                      </a:r>
                      <a:endParaRPr lang="en-US" sz="1100" dirty="0"/>
                    </a:p>
                    <a:p>
                      <a:pPr algn="l">
                        <a:lnSpc>
                          <a:spcPts val="3600"/>
                        </a:lnSpc>
                      </a:pPr>
                      <a:r>
                        <a:rPr lang="en-US" sz="2000" b="1" dirty="0">
                          <a:solidFill>
                            <a:srgbClr val="000000"/>
                          </a:solidFill>
                          <a:latin typeface="Arial Bold"/>
                          <a:ea typeface="Arial Bold"/>
                          <a:cs typeface="Arial Bold"/>
                          <a:sym typeface="Arial Bold"/>
                        </a:rPr>
                        <a:t>Sub: RC57.07-Lỗi </a:t>
                      </a:r>
                      <a:r>
                        <a:rPr lang="en-US" sz="2000" b="1" dirty="0" err="1">
                          <a:solidFill>
                            <a:srgbClr val="000000"/>
                          </a:solidFill>
                          <a:latin typeface="Arial Bold"/>
                          <a:ea typeface="Arial Bold"/>
                          <a:cs typeface="Arial Bold"/>
                          <a:sym typeface="Arial Bold"/>
                        </a:rPr>
                        <a:t>cập</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nhật</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thông</a:t>
                      </a:r>
                      <a:r>
                        <a:rPr lang="en-US" sz="2000" b="1" dirty="0">
                          <a:solidFill>
                            <a:srgbClr val="000000"/>
                          </a:solidFill>
                          <a:latin typeface="Arial Bold"/>
                          <a:ea typeface="Arial Bold"/>
                          <a:cs typeface="Arial Bold"/>
                          <a:sym typeface="Arial Bold"/>
                        </a:rPr>
                        <a:t> tin</a:t>
                      </a:r>
                    </a:p>
                    <a:p>
                      <a:pPr algn="l">
                        <a:lnSpc>
                          <a:spcPts val="3600"/>
                        </a:lnSpc>
                      </a:pPr>
                      <a:r>
                        <a:rPr lang="en-US" sz="2000" b="1" dirty="0">
                          <a:solidFill>
                            <a:srgbClr val="000000"/>
                          </a:solidFill>
                          <a:latin typeface="Arial Bold"/>
                          <a:ea typeface="Arial Bold"/>
                          <a:cs typeface="Arial Bold"/>
                          <a:sym typeface="Arial Bold"/>
                        </a:rPr>
                        <a:t>Properties:</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theo</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yêu</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cầu</a:t>
                      </a:r>
                      <a:r>
                        <a:rPr lang="en-US" sz="2000" dirty="0">
                          <a:solidFill>
                            <a:srgbClr val="000000"/>
                          </a:solidFill>
                          <a:latin typeface="Arial"/>
                          <a:ea typeface="Arial"/>
                          <a:cs typeface="Arial"/>
                          <a:sym typeface="Arial"/>
                        </a:rPr>
                        <a:t> </a:t>
                      </a:r>
                    </a:p>
                    <a:p>
                      <a:pPr algn="l">
                        <a:lnSpc>
                          <a:spcPts val="3600"/>
                        </a:lnSpc>
                      </a:pPr>
                      <a:r>
                        <a:rPr lang="en-US" sz="2000" b="1" dirty="0">
                          <a:solidFill>
                            <a:srgbClr val="000000"/>
                          </a:solidFill>
                          <a:latin typeface="Arial Bold"/>
                          <a:ea typeface="Arial Bold"/>
                          <a:cs typeface="Arial Bold"/>
                          <a:sym typeface="Arial Bold"/>
                        </a:rPr>
                        <a:t>Remark:</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trên</a:t>
                      </a:r>
                      <a:r>
                        <a:rPr lang="en-US" sz="2000" dirty="0">
                          <a:solidFill>
                            <a:srgbClr val="000000"/>
                          </a:solidFill>
                          <a:latin typeface="Arial"/>
                          <a:ea typeface="Arial"/>
                          <a:cs typeface="Arial"/>
                          <a:sym typeface="Arial"/>
                        </a:rPr>
                        <a:t> FEOL 2.0 - SĐT </a:t>
                      </a:r>
                      <a:r>
                        <a:rPr lang="en-US" sz="2000" dirty="0" err="1">
                          <a:solidFill>
                            <a:srgbClr val="000000"/>
                          </a:solidFill>
                          <a:latin typeface="Arial"/>
                          <a:ea typeface="Arial"/>
                          <a:cs typeface="Arial"/>
                          <a:sym typeface="Arial"/>
                        </a:rPr>
                        <a:t>cần</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cập</a:t>
                      </a:r>
                      <a:r>
                        <a:rPr lang="en-US" sz="2000" dirty="0">
                          <a:solidFill>
                            <a:srgbClr val="000000"/>
                          </a:solidFill>
                          <a:latin typeface="Arial"/>
                          <a:ea typeface="Arial"/>
                          <a:cs typeface="Arial"/>
                          <a:sym typeface="Arial"/>
                        </a:rPr>
                        <a:t> </a:t>
                      </a:r>
                      <a:r>
                        <a:rPr lang="en-US" sz="2000" dirty="0" err="1">
                          <a:solidFill>
                            <a:srgbClr val="000000"/>
                          </a:solidFill>
                          <a:latin typeface="Arial"/>
                          <a:ea typeface="Arial"/>
                          <a:cs typeface="Arial"/>
                          <a:sym typeface="Arial"/>
                        </a:rPr>
                        <a:t>nhật</a:t>
                      </a:r>
                      <a:r>
                        <a:rPr lang="en-US" sz="2000" dirty="0">
                          <a:solidFill>
                            <a:srgbClr val="000000"/>
                          </a:solidFill>
                          <a:latin typeface="Arial"/>
                          <a:ea typeface="Arial"/>
                          <a:cs typeface="Arial"/>
                          <a:sym typeface="Arial"/>
                        </a:rPr>
                        <a:t> - </a:t>
                      </a:r>
                      <a:r>
                        <a:rPr lang="en-US" sz="2000" dirty="0" err="1">
                          <a:solidFill>
                            <a:srgbClr val="000000"/>
                          </a:solidFill>
                          <a:latin typeface="Arial"/>
                          <a:ea typeface="Arial"/>
                          <a:cs typeface="Arial"/>
                          <a:sym typeface="Arial"/>
                        </a:rPr>
                        <a:t>Số</a:t>
                      </a:r>
                      <a:r>
                        <a:rPr lang="en-US" sz="2000" dirty="0">
                          <a:solidFill>
                            <a:srgbClr val="000000"/>
                          </a:solidFill>
                          <a:latin typeface="Arial"/>
                          <a:ea typeface="Arial"/>
                          <a:cs typeface="Arial"/>
                          <a:sym typeface="Arial"/>
                        </a:rPr>
                        <a:t> ticket </a:t>
                      </a:r>
                      <a:r>
                        <a:rPr lang="en-US" sz="2000" dirty="0" err="1">
                          <a:solidFill>
                            <a:srgbClr val="000000"/>
                          </a:solidFill>
                          <a:latin typeface="Arial"/>
                          <a:ea typeface="Arial"/>
                          <a:cs typeface="Arial"/>
                          <a:sym typeface="Arial"/>
                        </a:rPr>
                        <a:t>của</a:t>
                      </a:r>
                      <a:r>
                        <a:rPr lang="en-US" sz="2000" dirty="0">
                          <a:solidFill>
                            <a:srgbClr val="000000"/>
                          </a:solidFill>
                          <a:latin typeface="Arial"/>
                          <a:ea typeface="Arial"/>
                          <a:cs typeface="Arial"/>
                          <a:sym typeface="Arial"/>
                        </a:rPr>
                        <a:t> IB/ </a:t>
                      </a:r>
                      <a:r>
                        <a:rPr lang="en-US" sz="2000" dirty="0" err="1">
                          <a:solidFill>
                            <a:srgbClr val="000000"/>
                          </a:solidFill>
                          <a:latin typeface="Arial"/>
                          <a:ea typeface="Arial"/>
                          <a:cs typeface="Arial"/>
                          <a:sym typeface="Arial"/>
                        </a:rPr>
                        <a:t>Ecom</a:t>
                      </a:r>
                      <a:endParaRPr lang="en-US" sz="2000" dirty="0">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sp>
        <p:nvSpPr>
          <p:cNvPr id="5" name="Freeform 5"/>
          <p:cNvSpPr/>
          <p:nvPr/>
        </p:nvSpPr>
        <p:spPr>
          <a:xfrm>
            <a:off x="0"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701388" y="13448"/>
            <a:ext cx="19690775" cy="724002"/>
          </a:xfrm>
          <a:prstGeom prst="rect">
            <a:avLst/>
          </a:prstGeom>
        </p:spPr>
        <p:txBody>
          <a:bodyPr lIns="0" tIns="0" rIns="0" bIns="0" rtlCol="0" anchor="t">
            <a:spAutoFit/>
          </a:bodyPr>
          <a:lstStyle/>
          <a:p>
            <a:pPr algn="ctr">
              <a:lnSpc>
                <a:spcPts val="6027"/>
              </a:lnSpc>
            </a:pPr>
            <a:r>
              <a:rPr lang="en-US" sz="3399" b="1">
                <a:solidFill>
                  <a:srgbClr val="000000"/>
                </a:solidFill>
                <a:latin typeface="Arial Bold"/>
                <a:ea typeface="Arial Bold"/>
                <a:cs typeface="Arial Bold"/>
                <a:sym typeface="Arial Bold"/>
              </a:rPr>
              <a:t>CẬP NHẬT THỦ CÔNG 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233060" y="1376345"/>
          <a:ext cx="17868899" cy="8071820"/>
        </p:xfrm>
        <a:graphic>
          <a:graphicData uri="http://schemas.openxmlformats.org/drawingml/2006/table">
            <a:tbl>
              <a:tblPr/>
              <a:tblGrid>
                <a:gridCol w="10146524">
                  <a:extLst>
                    <a:ext uri="{9D8B030D-6E8A-4147-A177-3AD203B41FA5}">
                      <a16:colId xmlns:a16="http://schemas.microsoft.com/office/drawing/2014/main" val="20000"/>
                    </a:ext>
                  </a:extLst>
                </a:gridCol>
                <a:gridCol w="2180569">
                  <a:extLst>
                    <a:ext uri="{9D8B030D-6E8A-4147-A177-3AD203B41FA5}">
                      <a16:colId xmlns:a16="http://schemas.microsoft.com/office/drawing/2014/main" val="20001"/>
                    </a:ext>
                  </a:extLst>
                </a:gridCol>
                <a:gridCol w="5541806">
                  <a:extLst>
                    <a:ext uri="{9D8B030D-6E8A-4147-A177-3AD203B41FA5}">
                      <a16:colId xmlns:a16="http://schemas.microsoft.com/office/drawing/2014/main" val="20002"/>
                    </a:ext>
                  </a:extLst>
                </a:gridCol>
              </a:tblGrid>
              <a:tr h="936325">
                <a:tc>
                  <a:txBody>
                    <a:bodyPr/>
                    <a:lstStyle/>
                    <a:p>
                      <a:pPr algn="ctr">
                        <a:lnSpc>
                          <a:spcPts val="3958"/>
                        </a:lnSpc>
                        <a:defRPr/>
                      </a:pPr>
                      <a:r>
                        <a:rPr lang="en-US" sz="2199" b="1" spc="10">
                          <a:solidFill>
                            <a:srgbClr val="FFFFFF"/>
                          </a:solidFill>
                          <a:latin typeface="Arial Bold"/>
                          <a:ea typeface="Arial Bold"/>
                          <a:cs typeface="Arial Bold"/>
                          <a:sym typeface="Arial Bold"/>
                        </a:rPr>
                        <a:t>HƯỚNG XỬ LÝ</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TAT</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CODE</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6734475">
                <a:tc>
                  <a:txBody>
                    <a:bodyPr/>
                    <a:lstStyle/>
                    <a:p>
                      <a:pPr marL="457079" lvl="2" indent="-152360" algn="l">
                        <a:lnSpc>
                          <a:spcPts val="2999"/>
                        </a:lnSpc>
                        <a:buFont typeface="Arial"/>
                        <a:buChar char="⚬"/>
                        <a:defRPr/>
                      </a:pPr>
                      <a:r>
                        <a:rPr lang="en-US" sz="1999">
                          <a:solidFill>
                            <a:srgbClr val="000000"/>
                          </a:solidFill>
                          <a:latin typeface="Arial"/>
                          <a:ea typeface="Arial"/>
                          <a:cs typeface="Arial"/>
                          <a:sym typeface="Arial"/>
                        </a:rPr>
                        <a:t>Xác nhận SĐT cần cập nhật </a:t>
                      </a:r>
                      <a:endParaRPr lang="en-US" sz="1100"/>
                    </a:p>
                    <a:p>
                      <a:pPr marL="457079" lvl="2" indent="-152360" algn="l">
                        <a:lnSpc>
                          <a:spcPts val="2999"/>
                        </a:lnSpc>
                        <a:buFont typeface="Arial"/>
                        <a:buChar char="⚬"/>
                      </a:pPr>
                      <a:r>
                        <a:rPr lang="en-US" sz="1999">
                          <a:solidFill>
                            <a:srgbClr val="000000"/>
                          </a:solidFill>
                          <a:latin typeface="Arial"/>
                          <a:ea typeface="Arial"/>
                          <a:cs typeface="Arial"/>
                          <a:sym typeface="Arial"/>
                        </a:rPr>
                        <a:t>Xác nhận SĐT trên FEOL 2.0 (nếu có)</a:t>
                      </a:r>
                    </a:p>
                    <a:p>
                      <a:pPr marL="457079" lvl="2" indent="-152360" algn="l">
                        <a:lnSpc>
                          <a:spcPts val="2999"/>
                        </a:lnSpc>
                        <a:buFont typeface="Arial"/>
                        <a:buChar char="⚬"/>
                      </a:pPr>
                      <a:r>
                        <a:rPr lang="en-US" sz="1999">
                          <a:solidFill>
                            <a:srgbClr val="000000"/>
                          </a:solidFill>
                          <a:latin typeface="Arial"/>
                          <a:ea typeface="Arial"/>
                          <a:cs typeface="Arial"/>
                          <a:sym typeface="Arial"/>
                        </a:rPr>
                        <a:t>Gửi hình ảnh qua Zalo FE Credit (có dấu tick). Nếu KH không sử dụng Zalo, hướng dẫn gửi hình ảnh qua email </a:t>
                      </a:r>
                      <a:r>
                        <a:rPr lang="en-US" sz="1999" b="1">
                          <a:solidFill>
                            <a:srgbClr val="000000"/>
                          </a:solidFill>
                          <a:latin typeface="Arial Bold"/>
                          <a:ea typeface="Arial Bold"/>
                          <a:cs typeface="Arial Bold"/>
                          <a:sym typeface="Arial Bold"/>
                        </a:rPr>
                        <a:t>dichvukhachhang@fecredit.com.vn</a:t>
                      </a:r>
                    </a:p>
                    <a:p>
                      <a:pPr marL="816911" lvl="3" indent="-204228" algn="l">
                        <a:lnSpc>
                          <a:spcPts val="2999"/>
                        </a:lnSpc>
                        <a:buFont typeface="Arial"/>
                        <a:buChar char="￭"/>
                      </a:pPr>
                      <a:r>
                        <a:rPr lang="en-US" sz="1999">
                          <a:solidFill>
                            <a:srgbClr val="000000"/>
                          </a:solidFill>
                          <a:latin typeface="Arial"/>
                          <a:ea typeface="Arial"/>
                          <a:cs typeface="Arial"/>
                          <a:sym typeface="Arial"/>
                        </a:rPr>
                        <a:t>Hình ảnh thuê bao chính chủ (TTTB)</a:t>
                      </a:r>
                    </a:p>
                    <a:p>
                      <a:pPr marL="816911" lvl="3" indent="-204228" algn="l">
                        <a:lnSpc>
                          <a:spcPts val="2999"/>
                        </a:lnSpc>
                        <a:buFont typeface="Arial"/>
                        <a:buChar char="￭"/>
                      </a:pPr>
                      <a:r>
                        <a:rPr lang="en-US" sz="1999">
                          <a:solidFill>
                            <a:srgbClr val="000000"/>
                          </a:solidFill>
                          <a:latin typeface="Arial"/>
                          <a:ea typeface="Arial"/>
                          <a:cs typeface="Arial"/>
                          <a:sym typeface="Arial"/>
                        </a:rPr>
                        <a:t>Hình ảnh KH cầm CMND/ CCCD mặt trước trên tay chụp cùng với khuôn mặt.</a:t>
                      </a:r>
                    </a:p>
                    <a:p>
                      <a:pPr marL="816911" lvl="3" indent="-204228" algn="l">
                        <a:lnSpc>
                          <a:spcPts val="2999"/>
                        </a:lnSpc>
                        <a:buFont typeface="Arial"/>
                        <a:buChar char="￭"/>
                      </a:pPr>
                      <a:r>
                        <a:rPr lang="en-US" sz="1999">
                          <a:solidFill>
                            <a:srgbClr val="000000"/>
                          </a:solidFill>
                          <a:latin typeface="Arial"/>
                          <a:ea typeface="Arial"/>
                          <a:cs typeface="Arial"/>
                          <a:sym typeface="Arial"/>
                        </a:rPr>
                        <a:t>Hình ảnh thông tin người dùng hiển thị tại mục Tài khoản/ hình ảnh lỗi không đăng nhập được ứng dụng.</a:t>
                      </a:r>
                    </a:p>
                    <a:p>
                      <a:pPr marL="816911" lvl="3" indent="-204228" algn="l">
                        <a:lnSpc>
                          <a:spcPts val="2999"/>
                        </a:lnSpc>
                        <a:buFont typeface="Arial"/>
                        <a:buChar char="￭"/>
                      </a:pPr>
                      <a:r>
                        <a:rPr lang="en-US" sz="1999">
                          <a:solidFill>
                            <a:srgbClr val="000000"/>
                          </a:solidFill>
                          <a:latin typeface="Arial"/>
                          <a:ea typeface="Arial"/>
                          <a:cs typeface="Arial"/>
                          <a:sym typeface="Arial"/>
                        </a:rPr>
                        <a:t>Hình ảnh 2 mặt CCCD mới nhất. </a:t>
                      </a:r>
                    </a:p>
                    <a:p>
                      <a:pPr marL="816911" lvl="3" indent="-204228" algn="l">
                        <a:lnSpc>
                          <a:spcPts val="2999"/>
                        </a:lnSpc>
                        <a:buFont typeface="Arial"/>
                        <a:buChar char="￭"/>
                      </a:pPr>
                      <a:r>
                        <a:rPr lang="en-US" sz="1999">
                          <a:solidFill>
                            <a:srgbClr val="000000"/>
                          </a:solidFill>
                          <a:latin typeface="Arial"/>
                          <a:ea typeface="Arial"/>
                          <a:cs typeface="Arial"/>
                          <a:sym typeface="Arial"/>
                        </a:rPr>
                        <a:t>Thông tin và hình ảnh lỗi </a:t>
                      </a:r>
                      <a:r>
                        <a:rPr lang="en-US" sz="1999" b="1" i="1" u="sng">
                          <a:solidFill>
                            <a:srgbClr val="4DA745"/>
                          </a:solidFill>
                          <a:latin typeface="Arial Bold Italics"/>
                          <a:ea typeface="Arial Bold Italics"/>
                          <a:cs typeface="Arial Bold Italics"/>
                          <a:sym typeface="Arial Bold Italics"/>
                        </a:rPr>
                        <a:t>(xem chi tiết)</a:t>
                      </a:r>
                    </a:p>
                    <a:p>
                      <a:pPr marL="816911" lvl="3" indent="-204228" algn="l">
                        <a:lnSpc>
                          <a:spcPts val="2999"/>
                        </a:lnSpc>
                        <a:buFont typeface="Arial"/>
                        <a:buChar char="￭"/>
                      </a:pPr>
                      <a:r>
                        <a:rPr lang="en-US" sz="1999" b="1" i="1">
                          <a:solidFill>
                            <a:srgbClr val="000000"/>
                          </a:solidFill>
                          <a:latin typeface="Arial Bold Italics"/>
                          <a:ea typeface="Arial Bold Italics"/>
                          <a:cs typeface="Arial Bold Italics"/>
                          <a:sym typeface="Arial Bold Italics"/>
                        </a:rPr>
                        <a:t>Lưu ý: </a:t>
                      </a:r>
                      <a:r>
                        <a:rPr lang="en-US" sz="1999">
                          <a:solidFill>
                            <a:srgbClr val="000000"/>
                          </a:solidFill>
                          <a:latin typeface="Arial"/>
                          <a:ea typeface="Arial"/>
                          <a:cs typeface="Arial"/>
                          <a:sym typeface="Arial"/>
                        </a:rPr>
                        <a:t>TTTB chính chủ hợp lệ và CCCD không trùng khớp với trên TTTB </a:t>
                      </a:r>
                      <a:r>
                        <a:rPr lang="en-US" sz="1999" i="1" u="sng">
                          <a:solidFill>
                            <a:srgbClr val="4DA745"/>
                          </a:solidFill>
                          <a:latin typeface="Arial Italics"/>
                          <a:ea typeface="Arial Italics"/>
                          <a:cs typeface="Arial Italics"/>
                          <a:sym typeface="Arial Italics"/>
                        </a:rPr>
                        <a:t>(</a:t>
                      </a:r>
                      <a:r>
                        <a:rPr lang="en-US" sz="1999" b="1" i="1" u="sng">
                          <a:solidFill>
                            <a:srgbClr val="4DA745"/>
                          </a:solidFill>
                          <a:latin typeface="Arial Bold Italics"/>
                          <a:ea typeface="Arial Bold Italics"/>
                          <a:cs typeface="Arial Bold Italics"/>
                          <a:sym typeface="Arial Bold Italics"/>
                        </a:rPr>
                        <a:t>xem chi tiết).</a:t>
                      </a:r>
                    </a:p>
                    <a:p>
                      <a:pPr marL="457079" lvl="2" indent="-152360" algn="l">
                        <a:lnSpc>
                          <a:spcPts val="2999"/>
                        </a:lnSpc>
                        <a:buFont typeface="Arial"/>
                        <a:buChar char="⚬"/>
                      </a:pPr>
                      <a:r>
                        <a:rPr lang="en-US" sz="1999" b="1">
                          <a:solidFill>
                            <a:srgbClr val="000000"/>
                          </a:solidFill>
                          <a:latin typeface="Arial Bold"/>
                          <a:ea typeface="Arial Bold"/>
                          <a:cs typeface="Arial Bold"/>
                          <a:sym typeface="Arial Bold"/>
                        </a:rPr>
                        <a:t>Thông báo áp dụng cho TH chuyển hỗ trợ:</a:t>
                      </a:r>
                    </a:p>
                    <a:p>
                      <a:pPr marL="816911" lvl="3" indent="-204228" algn="l">
                        <a:lnSpc>
                          <a:spcPts val="2999"/>
                        </a:lnSpc>
                        <a:buFont typeface="Arial"/>
                        <a:buChar char="￭"/>
                      </a:pPr>
                      <a:r>
                        <a:rPr lang="en-US" sz="1999">
                          <a:solidFill>
                            <a:srgbClr val="000000"/>
                          </a:solidFill>
                          <a:latin typeface="Arial"/>
                          <a:ea typeface="Arial"/>
                          <a:cs typeface="Arial"/>
                          <a:sym typeface="Arial"/>
                        </a:rPr>
                        <a:t>SĐT mới sẽ được cập nhật cho tất cả các hợp đồng vay và tài khoản thẻ còn hiệu lực.</a:t>
                      </a:r>
                    </a:p>
                    <a:p>
                      <a:pPr marL="816911" lvl="3" indent="-204228" algn="l">
                        <a:lnSpc>
                          <a:spcPts val="2999"/>
                        </a:lnSpc>
                        <a:buFont typeface="Arial"/>
                        <a:buChar char="￭"/>
                      </a:pPr>
                      <a:r>
                        <a:rPr lang="en-US" sz="1999">
                          <a:solidFill>
                            <a:srgbClr val="000000"/>
                          </a:solidFill>
                          <a:latin typeface="Arial"/>
                          <a:ea typeface="Arial"/>
                          <a:cs typeface="Arial"/>
                          <a:sym typeface="Arial"/>
                        </a:rPr>
                        <a:t>Sau khi SĐT mới được cập nhật thành công, tên đăng nhập FEOL 2.0 là SĐT mới với định dạng số "0" đầu.</a:t>
                      </a:r>
                    </a:p>
                    <a:p>
                      <a:pPr marL="816911" lvl="3" indent="-204228" algn="l">
                        <a:lnSpc>
                          <a:spcPts val="2999"/>
                        </a:lnSpc>
                      </a:pPr>
                      <a:endParaRPr lang="en-US" sz="1999">
                        <a:solidFill>
                          <a:srgbClr val="000000"/>
                        </a:solidFill>
                        <a:latin typeface="Arial"/>
                        <a:ea typeface="Arial"/>
                        <a:cs typeface="Arial"/>
                        <a:sym typeface="Arial"/>
                      </a:endParaRP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2400"/>
                        </a:lnSpc>
                        <a:defRPr/>
                      </a:pPr>
                      <a:r>
                        <a:rPr lang="en-US" sz="2000">
                          <a:solidFill>
                            <a:srgbClr val="000000"/>
                          </a:solidFill>
                          <a:latin typeface="Arial"/>
                          <a:ea typeface="Arial"/>
                          <a:cs typeface="Arial"/>
                          <a:sym typeface="Arial"/>
                        </a:rPr>
                        <a:t>5 ngày làm việc</a:t>
                      </a:r>
                      <a:endParaRPr lang="en-US" sz="1100"/>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600"/>
                        </a:lnSpc>
                        <a:defRPr/>
                      </a:pPr>
                      <a:r>
                        <a:rPr lang="en-US" sz="2000" b="1">
                          <a:solidFill>
                            <a:srgbClr val="000000"/>
                          </a:solidFill>
                          <a:latin typeface="Arial Bold"/>
                          <a:ea typeface="Arial Bold"/>
                          <a:cs typeface="Arial Bold"/>
                          <a:sym typeface="Arial Bold"/>
                        </a:rPr>
                        <a:t>Code: RC57-FE Online 2.0</a:t>
                      </a:r>
                      <a:endParaRPr lang="en-US" sz="1100"/>
                    </a:p>
                    <a:p>
                      <a:pPr algn="l">
                        <a:lnSpc>
                          <a:spcPts val="3600"/>
                        </a:lnSpc>
                      </a:pPr>
                      <a:r>
                        <a:rPr lang="en-US" sz="2000" b="1">
                          <a:solidFill>
                            <a:srgbClr val="000000"/>
                          </a:solidFill>
                          <a:latin typeface="Arial Bold"/>
                          <a:ea typeface="Arial Bold"/>
                          <a:cs typeface="Arial Bold"/>
                          <a:sym typeface="Arial Bold"/>
                        </a:rPr>
                        <a:t>Sub code: RC57.07- Lỗi cập nhật thông tin</a:t>
                      </a:r>
                    </a:p>
                    <a:p>
                      <a:pPr algn="l">
                        <a:lnSpc>
                          <a:spcPts val="3600"/>
                        </a:lnSpc>
                      </a:pPr>
                      <a:r>
                        <a:rPr lang="en-US" sz="2000" b="1">
                          <a:solidFill>
                            <a:srgbClr val="000000"/>
                          </a:solidFill>
                          <a:latin typeface="Arial Bold"/>
                          <a:ea typeface="Arial Bold"/>
                          <a:cs typeface="Arial Bold"/>
                          <a:sym typeface="Arial Bold"/>
                        </a:rPr>
                        <a:t>Remark: </a:t>
                      </a:r>
                      <a:r>
                        <a:rPr lang="en-US" sz="2000">
                          <a:solidFill>
                            <a:srgbClr val="000000"/>
                          </a:solidFill>
                          <a:latin typeface="Arial"/>
                          <a:ea typeface="Arial"/>
                          <a:cs typeface="Arial"/>
                          <a:sym typeface="Arial"/>
                        </a:rPr>
                        <a:t>SĐT cần cập nhật - Tên KH - CMND - HĐ - SĐT đăng ký ứng dụng - Mã ticket IB/ECOM - Lý do cần hỗ trợ</a:t>
                      </a:r>
                    </a:p>
                  </a:txBody>
                  <a:tcPr marL="157480" marR="157480" marT="157480" marB="15748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0"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701388" y="13448"/>
            <a:ext cx="19690775" cy="724002"/>
          </a:xfrm>
          <a:prstGeom prst="rect">
            <a:avLst/>
          </a:prstGeom>
        </p:spPr>
        <p:txBody>
          <a:bodyPr lIns="0" tIns="0" rIns="0" bIns="0" rtlCol="0" anchor="t">
            <a:spAutoFit/>
          </a:bodyPr>
          <a:lstStyle/>
          <a:p>
            <a:pPr algn="ctr">
              <a:lnSpc>
                <a:spcPts val="6027"/>
              </a:lnSpc>
            </a:pPr>
            <a:r>
              <a:rPr lang="en-US" sz="3399" b="1">
                <a:solidFill>
                  <a:srgbClr val="000000"/>
                </a:solidFill>
                <a:latin typeface="Arial Bold"/>
                <a:ea typeface="Arial Bold"/>
                <a:cs typeface="Arial Bold"/>
                <a:sym typeface="Arial Bold"/>
              </a:rPr>
              <a:t>CẬP NHẬT THỦ CÔNG 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15368940"/>
              </p:ext>
            </p:extLst>
          </p:nvPr>
        </p:nvGraphicFramePr>
        <p:xfrm>
          <a:off x="375999" y="1257300"/>
          <a:ext cx="17513300" cy="8058702"/>
        </p:xfrm>
        <a:graphic>
          <a:graphicData uri="http://schemas.openxmlformats.org/drawingml/2006/table">
            <a:tbl>
              <a:tblPr/>
              <a:tblGrid>
                <a:gridCol w="919401">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gridCol w="2209800">
                  <a:extLst>
                    <a:ext uri="{9D8B030D-6E8A-4147-A177-3AD203B41FA5}">
                      <a16:colId xmlns:a16="http://schemas.microsoft.com/office/drawing/2014/main" val="20003"/>
                    </a:ext>
                  </a:extLst>
                </a:gridCol>
                <a:gridCol w="6154499">
                  <a:extLst>
                    <a:ext uri="{9D8B030D-6E8A-4147-A177-3AD203B41FA5}">
                      <a16:colId xmlns:a16="http://schemas.microsoft.com/office/drawing/2014/main" val="20004"/>
                    </a:ext>
                  </a:extLst>
                </a:gridCol>
              </a:tblGrid>
              <a:tr h="938439">
                <a:tc>
                  <a:txBody>
                    <a:bodyPr/>
                    <a:lstStyle/>
                    <a:p>
                      <a:pPr algn="ctr">
                        <a:lnSpc>
                          <a:spcPts val="3600"/>
                        </a:lnSpc>
                        <a:defRPr/>
                      </a:pPr>
                      <a:r>
                        <a:rPr lang="en-US" sz="2000" b="1" spc="10">
                          <a:solidFill>
                            <a:srgbClr val="FFFFFF"/>
                          </a:solidFill>
                          <a:latin typeface="Arial Bold"/>
                          <a:ea typeface="Arial Bold"/>
                          <a:cs typeface="Arial Bold"/>
                          <a:sym typeface="Arial Bold"/>
                        </a:rPr>
                        <a:t>STT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gridSpan="2">
                  <a:txBody>
                    <a:bodyPr/>
                    <a:lstStyle/>
                    <a:p>
                      <a:pPr algn="ctr">
                        <a:lnSpc>
                          <a:spcPts val="3600"/>
                        </a:lnSpc>
                        <a:defRPr/>
                      </a:pPr>
                      <a:r>
                        <a:rPr lang="en-US" sz="2000" b="1" spc="9">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600"/>
                        </a:lnSpc>
                        <a:defRPr/>
                      </a:pPr>
                      <a:r>
                        <a:rPr lang="en-US" sz="2000" b="1" spc="9">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10">
                          <a:solidFill>
                            <a:srgbClr val="FFFFFF"/>
                          </a:solidFill>
                          <a:latin typeface="Arial Bold"/>
                          <a:ea typeface="Arial Bold"/>
                          <a:cs typeface="Arial Bold"/>
                          <a:sym typeface="Arial Bold"/>
                        </a:rPr>
                        <a:t>TAT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600"/>
                        </a:lnSpc>
                        <a:defRPr/>
                      </a:pPr>
                      <a:r>
                        <a:rPr lang="en-US" sz="2000" b="1" spc="10">
                          <a:solidFill>
                            <a:srgbClr val="FFFFFF"/>
                          </a:solidFill>
                          <a:latin typeface="Arial Bold"/>
                          <a:ea typeface="Arial Bold"/>
                          <a:cs typeface="Arial Bold"/>
                          <a:sym typeface="Arial Bold"/>
                        </a:rPr>
                        <a:t>CODE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607801">
                <a:tc>
                  <a:txBody>
                    <a:bodyPr/>
                    <a:lstStyle/>
                    <a:p>
                      <a:pPr algn="ctr">
                        <a:lnSpc>
                          <a:spcPts val="3000"/>
                        </a:lnSpc>
                        <a:defRPr/>
                      </a:pPr>
                      <a:r>
                        <a:rPr lang="en-US" sz="2000" b="1">
                          <a:solidFill>
                            <a:srgbClr val="000000"/>
                          </a:solidFill>
                          <a:latin typeface="Arial Bold"/>
                          <a:ea typeface="Arial Bold"/>
                          <a:cs typeface="Arial Bold"/>
                          <a:sym typeface="Arial Bold"/>
                        </a:rPr>
                        <a:t>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Đồng bộ SĐT từ CMS lên Pega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a:solidFill>
                            <a:srgbClr val="000000"/>
                          </a:solidFill>
                          <a:latin typeface="Arial"/>
                          <a:ea typeface="Arial"/>
                          <a:cs typeface="Arial"/>
                          <a:sym typeface="Arial"/>
                        </a:rPr>
                        <a:t>CS kiểm tra và tự điều chỉnh thông tin trên PEGA để đồng bộ với thông tin trên CMS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3000"/>
                        </a:lnSpc>
                        <a:defRPr/>
                      </a:pPr>
                      <a:r>
                        <a:rPr lang="en-US" sz="2000">
                          <a:solidFill>
                            <a:srgbClr val="000000"/>
                          </a:solidFill>
                          <a:latin typeface="Arial"/>
                          <a:ea typeface="Arial"/>
                          <a:cs typeface="Arial"/>
                          <a:sym typeface="Arial"/>
                        </a:rPr>
                        <a:t>2 ngày làm việc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Chọn: Cập nhật Số điện thoại </a:t>
                      </a:r>
                      <a:r>
                        <a:rPr lang="en-US" sz="2000" b="1" i="1" u="sng">
                          <a:solidFill>
                            <a:srgbClr val="4DA745"/>
                          </a:solidFill>
                          <a:latin typeface="Arial Bold Italics"/>
                          <a:ea typeface="Arial Bold Italics"/>
                          <a:cs typeface="Arial Bold Italics"/>
                          <a:sym typeface="Arial Bold Italics"/>
                        </a:rPr>
                        <a:t>(file hướng dẫn)</a:t>
                      </a:r>
                      <a:endParaRPr lang="en-US" sz="1100"/>
                    </a:p>
                    <a:p>
                      <a:pPr algn="l">
                        <a:lnSpc>
                          <a:spcPts val="3000"/>
                        </a:lnSpc>
                      </a:pPr>
                      <a:r>
                        <a:rPr lang="en-US" sz="2000" b="1">
                          <a:solidFill>
                            <a:srgbClr val="000000"/>
                          </a:solidFill>
                          <a:latin typeface="Arial Bold"/>
                          <a:ea typeface="Arial Bold"/>
                          <a:cs typeface="Arial Bold"/>
                          <a:sym typeface="Arial Bold"/>
                        </a:rPr>
                        <a:t>Remark: </a:t>
                      </a:r>
                      <a:r>
                        <a:rPr lang="en-US" sz="2000">
                          <a:solidFill>
                            <a:srgbClr val="000000"/>
                          </a:solidFill>
                          <a:latin typeface="Arial"/>
                          <a:ea typeface="Arial"/>
                          <a:cs typeface="Arial"/>
                          <a:sym typeface="Arial"/>
                        </a:rPr>
                        <a:t>Đồng bộ theo CMS</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2756231">
                <a:tc>
                  <a:txBody>
                    <a:bodyPr/>
                    <a:lstStyle/>
                    <a:p>
                      <a:pPr algn="ctr">
                        <a:lnSpc>
                          <a:spcPts val="3000"/>
                        </a:lnSpc>
                        <a:defRPr/>
                      </a:pPr>
                      <a:r>
                        <a:rPr lang="en-US" sz="2000" b="1">
                          <a:solidFill>
                            <a:srgbClr val="000000"/>
                          </a:solidFill>
                          <a:latin typeface="Arial Bold"/>
                          <a:ea typeface="Arial Bold"/>
                          <a:cs typeface="Arial Bold"/>
                          <a:sym typeface="Arial Bold"/>
                        </a:rPr>
                        <a:t>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Đồng bộ SĐT từ CMS lên FEOL 2.0 (Pega đúng SĐT)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2" lvl="2" indent="-152401" algn="l">
                        <a:lnSpc>
                          <a:spcPts val="3000"/>
                        </a:lnSpc>
                        <a:buFont typeface="Arial"/>
                        <a:buChar char="⚬"/>
                        <a:defRPr/>
                      </a:pPr>
                      <a:r>
                        <a:rPr lang="en-US" sz="2000">
                          <a:solidFill>
                            <a:srgbClr val="000000"/>
                          </a:solidFill>
                          <a:latin typeface="Arial"/>
                          <a:ea typeface="Arial"/>
                          <a:cs typeface="Arial"/>
                          <a:sym typeface="Arial"/>
                        </a:rPr>
                        <a:t>Xác nhận SĐT cần cập nhật </a:t>
                      </a:r>
                      <a:endParaRPr lang="en-US" sz="1100"/>
                    </a:p>
                    <a:p>
                      <a:pPr marL="457202" lvl="2" indent="-152401" algn="l">
                        <a:lnSpc>
                          <a:spcPts val="3000"/>
                        </a:lnSpc>
                        <a:buFont typeface="Arial"/>
                        <a:buChar char="⚬"/>
                      </a:pPr>
                      <a:r>
                        <a:rPr lang="en-US" sz="2000">
                          <a:solidFill>
                            <a:srgbClr val="000000"/>
                          </a:solidFill>
                          <a:latin typeface="Arial"/>
                          <a:ea typeface="Arial"/>
                          <a:cs typeface="Arial"/>
                          <a:sym typeface="Arial"/>
                        </a:rPr>
                        <a:t>Thông báo sau khi cập nhật thành công  thì tên đăng nhập FEOL 2.0 là số điện thoại mới với định dạng là số “0” đầu.</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3000"/>
                        </a:lnSpc>
                        <a:defRPr/>
                      </a:pPr>
                      <a:r>
                        <a:rPr lang="en-US" sz="2000">
                          <a:solidFill>
                            <a:srgbClr val="000000"/>
                          </a:solidFill>
                          <a:latin typeface="Arial"/>
                          <a:ea typeface="Arial"/>
                          <a:cs typeface="Arial"/>
                          <a:sym typeface="Arial"/>
                        </a:rPr>
                        <a:t>5 ngày làm việc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Code: RC57-FE Online 2.0</a:t>
                      </a:r>
                      <a:endParaRPr lang="en-US" sz="1100"/>
                    </a:p>
                    <a:p>
                      <a:pPr algn="l">
                        <a:lnSpc>
                          <a:spcPts val="3000"/>
                        </a:lnSpc>
                      </a:pPr>
                      <a:r>
                        <a:rPr lang="en-US" sz="2000" b="1">
                          <a:solidFill>
                            <a:srgbClr val="000000"/>
                          </a:solidFill>
                          <a:latin typeface="Arial Bold"/>
                          <a:ea typeface="Arial Bold"/>
                          <a:cs typeface="Arial Bold"/>
                          <a:sym typeface="Arial Bold"/>
                        </a:rPr>
                        <a:t>Sub code: RC57.04-Lỗi đồng bộ thông tin</a:t>
                      </a:r>
                    </a:p>
                    <a:p>
                      <a:pPr algn="l">
                        <a:lnSpc>
                          <a:spcPts val="3000"/>
                        </a:lnSpc>
                      </a:pPr>
                      <a:r>
                        <a:rPr lang="en-US" sz="2000" b="1">
                          <a:solidFill>
                            <a:srgbClr val="000000"/>
                          </a:solidFill>
                          <a:latin typeface="Arial Bold"/>
                          <a:ea typeface="Arial Bold"/>
                          <a:cs typeface="Arial Bold"/>
                          <a:sym typeface="Arial Bold"/>
                        </a:rPr>
                        <a:t>Properties:</a:t>
                      </a:r>
                      <a:r>
                        <a:rPr lang="en-US" sz="2000">
                          <a:solidFill>
                            <a:srgbClr val="000000"/>
                          </a:solidFill>
                          <a:latin typeface="Arial"/>
                          <a:ea typeface="Arial"/>
                          <a:cs typeface="Arial"/>
                          <a:sym typeface="Arial"/>
                        </a:rPr>
                        <a:t> nhập theo yêu cầu </a:t>
                      </a:r>
                    </a:p>
                    <a:p>
                      <a:pPr algn="l">
                        <a:lnSpc>
                          <a:spcPts val="300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Đồng bộ FEOL 2.0 - XMTT thành công - SĐT cần cập nhật </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2756231">
                <a:tc>
                  <a:txBody>
                    <a:bodyPr/>
                    <a:lstStyle/>
                    <a:p>
                      <a:pPr algn="ctr">
                        <a:lnSpc>
                          <a:spcPts val="3000"/>
                        </a:lnSpc>
                        <a:defRPr/>
                      </a:pPr>
                      <a:r>
                        <a:rPr lang="en-US" sz="2000" b="1">
                          <a:solidFill>
                            <a:srgbClr val="000000"/>
                          </a:solidFill>
                          <a:latin typeface="Arial Bold"/>
                          <a:ea typeface="Arial Bold"/>
                          <a:cs typeface="Arial Bold"/>
                          <a:sym typeface="Arial Bold"/>
                        </a:rPr>
                        <a:t>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Đồng bộ SĐT từ CMS lên FEOL 2.0 và Pega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2" lvl="2" indent="-152401" algn="l">
                        <a:lnSpc>
                          <a:spcPts val="3000"/>
                        </a:lnSpc>
                        <a:buFont typeface="Arial"/>
                        <a:buChar char="⚬"/>
                        <a:defRPr/>
                      </a:pPr>
                      <a:r>
                        <a:rPr lang="en-US" sz="2000">
                          <a:solidFill>
                            <a:srgbClr val="000000"/>
                          </a:solidFill>
                          <a:latin typeface="Arial"/>
                          <a:ea typeface="Arial"/>
                          <a:cs typeface="Arial"/>
                          <a:sym typeface="Arial"/>
                        </a:rPr>
                        <a:t>Xác nhận SĐT cần cập nhật </a:t>
                      </a:r>
                      <a:endParaRPr lang="en-US" sz="1100"/>
                    </a:p>
                    <a:p>
                      <a:pPr marL="457202" lvl="2" indent="-152401" algn="l">
                        <a:lnSpc>
                          <a:spcPts val="3000"/>
                        </a:lnSpc>
                        <a:buFont typeface="Arial"/>
                        <a:buChar char="⚬"/>
                      </a:pPr>
                      <a:r>
                        <a:rPr lang="en-US" sz="2000">
                          <a:solidFill>
                            <a:srgbClr val="000000"/>
                          </a:solidFill>
                          <a:latin typeface="Arial"/>
                          <a:ea typeface="Arial"/>
                          <a:cs typeface="Arial"/>
                          <a:sym typeface="Arial"/>
                        </a:rPr>
                        <a:t>Thông báo sau khi cập nhật thành công  thì tên đăng nhập FEOL 2.0 là số điện thoại mới với định dạng là số “0” đầu.</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3000"/>
                        </a:lnSpc>
                        <a:defRPr/>
                      </a:pPr>
                      <a:r>
                        <a:rPr lang="en-US" sz="2000">
                          <a:solidFill>
                            <a:srgbClr val="000000"/>
                          </a:solidFill>
                          <a:latin typeface="Arial"/>
                          <a:ea typeface="Arial"/>
                          <a:cs typeface="Arial"/>
                          <a:sym typeface="Arial"/>
                        </a:rPr>
                        <a:t>5 ngày làm việc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dirty="0" err="1">
                          <a:solidFill>
                            <a:srgbClr val="000000"/>
                          </a:solidFill>
                          <a:latin typeface="Arial Bold"/>
                          <a:ea typeface="Arial Bold"/>
                          <a:cs typeface="Arial Bold"/>
                          <a:sym typeface="Arial Bold"/>
                        </a:rPr>
                        <a:t>Chọn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Cập</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nhật</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Số</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điện</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thoại</a:t>
                      </a:r>
                      <a:r>
                        <a:rPr lang="en-US" sz="2000" b="1" dirty="0">
                          <a:solidFill>
                            <a:srgbClr val="000000"/>
                          </a:solidFill>
                          <a:latin typeface="Arial Bold"/>
                          <a:ea typeface="Arial Bold"/>
                          <a:cs typeface="Arial Bold"/>
                          <a:sym typeface="Arial Bold"/>
                        </a:rPr>
                        <a:t> </a:t>
                      </a:r>
                      <a:r>
                        <a:rPr lang="en-US" sz="2000" b="1" i="1" u="sng" dirty="0">
                          <a:solidFill>
                            <a:srgbClr val="4DA745"/>
                          </a:solidFill>
                          <a:latin typeface="Arial Bold Italics"/>
                          <a:ea typeface="Arial Bold Italics"/>
                          <a:cs typeface="Arial Bold Italics"/>
                          <a:sym typeface="Arial Bold Italics"/>
                        </a:rPr>
                        <a:t>(file </a:t>
                      </a:r>
                      <a:r>
                        <a:rPr lang="en-US" sz="2000" b="1" i="1" u="sng" dirty="0" err="1">
                          <a:solidFill>
                            <a:srgbClr val="4DA745"/>
                          </a:solidFill>
                          <a:latin typeface="Arial Bold Italics"/>
                          <a:ea typeface="Arial Bold Italics"/>
                          <a:cs typeface="Arial Bold Italics"/>
                          <a:sym typeface="Arial Bold Italics"/>
                        </a:rPr>
                        <a:t>hướng</a:t>
                      </a:r>
                      <a:r>
                        <a:rPr lang="en-US" sz="2000" b="1" i="1" u="sng" dirty="0">
                          <a:solidFill>
                            <a:srgbClr val="4DA745"/>
                          </a:solidFill>
                          <a:latin typeface="Arial Bold Italics"/>
                          <a:ea typeface="Arial Bold Italics"/>
                          <a:cs typeface="Arial Bold Italics"/>
                          <a:sym typeface="Arial Bold Italics"/>
                        </a:rPr>
                        <a:t> </a:t>
                      </a:r>
                      <a:r>
                        <a:rPr lang="en-US" sz="2000" b="1" i="1" u="sng" dirty="0" err="1">
                          <a:solidFill>
                            <a:srgbClr val="4DA745"/>
                          </a:solidFill>
                          <a:latin typeface="Arial Bold Italics"/>
                          <a:ea typeface="Arial Bold Italics"/>
                          <a:cs typeface="Arial Bold Italics"/>
                          <a:sym typeface="Arial Bold Italics"/>
                        </a:rPr>
                        <a:t>dẫn</a:t>
                      </a:r>
                      <a:r>
                        <a:rPr lang="en-US" sz="2000" b="1" i="1" u="sng" dirty="0">
                          <a:solidFill>
                            <a:srgbClr val="4DA745"/>
                          </a:solidFill>
                          <a:latin typeface="Arial Bold Italics"/>
                          <a:ea typeface="Arial Bold Italics"/>
                          <a:cs typeface="Arial Bold Italics"/>
                          <a:sym typeface="Arial Bold Italics"/>
                        </a:rPr>
                        <a:t>)</a:t>
                      </a:r>
                      <a:endParaRPr lang="en-US" sz="1100" dirty="0"/>
                    </a:p>
                    <a:p>
                      <a:pPr algn="l">
                        <a:lnSpc>
                          <a:spcPts val="3000"/>
                        </a:lnSpc>
                      </a:pPr>
                      <a:r>
                        <a:rPr lang="en-US" sz="2000" b="1" dirty="0">
                          <a:solidFill>
                            <a:srgbClr val="000000"/>
                          </a:solidFill>
                          <a:latin typeface="Arial Bold"/>
                          <a:ea typeface="Arial Bold"/>
                          <a:cs typeface="Arial Bold"/>
                          <a:sym typeface="Arial Bold"/>
                        </a:rPr>
                        <a:t>Remark: </a:t>
                      </a:r>
                      <a:r>
                        <a:rPr lang="en-US" sz="2000" b="1" dirty="0" err="1">
                          <a:solidFill>
                            <a:srgbClr val="000000"/>
                          </a:solidFill>
                          <a:latin typeface="Arial Bold"/>
                          <a:ea typeface="Arial Bold"/>
                          <a:cs typeface="Arial Bold"/>
                          <a:sym typeface="Arial Bold"/>
                        </a:rPr>
                        <a:t>Đồng</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bô</a:t>
                      </a:r>
                      <a:r>
                        <a:rPr lang="en-US" sz="2000" b="1" dirty="0">
                          <a:solidFill>
                            <a:srgbClr val="000000"/>
                          </a:solidFill>
                          <a:latin typeface="Arial Bold"/>
                          <a:ea typeface="Arial Bold"/>
                          <a:cs typeface="Arial Bold"/>
                          <a:sym typeface="Arial Bold"/>
                        </a:rPr>
                        <a:t>̣ </a:t>
                      </a:r>
                      <a:r>
                        <a:rPr lang="en-US" sz="2000" b="1" dirty="0" err="1">
                          <a:solidFill>
                            <a:srgbClr val="000000"/>
                          </a:solidFill>
                          <a:latin typeface="Arial Bold"/>
                          <a:ea typeface="Arial Bold"/>
                          <a:cs typeface="Arial Bold"/>
                          <a:sym typeface="Arial Bold"/>
                        </a:rPr>
                        <a:t>theo</a:t>
                      </a:r>
                      <a:r>
                        <a:rPr lang="en-US" sz="2000" b="1" dirty="0">
                          <a:solidFill>
                            <a:srgbClr val="000000"/>
                          </a:solidFill>
                          <a:latin typeface="Arial Bold"/>
                          <a:ea typeface="Arial Bold"/>
                          <a:cs typeface="Arial Bold"/>
                          <a:sym typeface="Arial Bold"/>
                        </a:rPr>
                        <a:t> CMS</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0"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701388" y="13448"/>
            <a:ext cx="19690775" cy="724002"/>
          </a:xfrm>
          <a:prstGeom prst="rect">
            <a:avLst/>
          </a:prstGeom>
        </p:spPr>
        <p:txBody>
          <a:bodyPr lIns="0" tIns="0" rIns="0" bIns="0" rtlCol="0" anchor="t">
            <a:spAutoFit/>
          </a:bodyPr>
          <a:lstStyle/>
          <a:p>
            <a:pPr algn="ctr">
              <a:lnSpc>
                <a:spcPts val="6027"/>
              </a:lnSpc>
            </a:pPr>
            <a:r>
              <a:rPr lang="en-US" sz="3399" b="1">
                <a:solidFill>
                  <a:srgbClr val="000000"/>
                </a:solidFill>
                <a:latin typeface="Arial Bold"/>
                <a:ea typeface="Arial Bold"/>
                <a:cs typeface="Arial Bold"/>
                <a:sym typeface="Arial Bold"/>
              </a:rPr>
              <a:t>CẬP NHẬT THỦ CÔNG 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630249" y="9680162"/>
            <a:ext cx="2421874" cy="346977"/>
            <a:chOff x="0" y="0"/>
            <a:chExt cx="3229166" cy="462636"/>
          </a:xfrm>
        </p:grpSpPr>
        <p:sp>
          <p:nvSpPr>
            <p:cNvPr id="3" name="Freeform 3"/>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4" name="Freeform 4"/>
          <p:cNvSpPr/>
          <p:nvPr/>
        </p:nvSpPr>
        <p:spPr>
          <a:xfrm>
            <a:off x="0" y="-93897"/>
            <a:ext cx="18288000" cy="1122597"/>
          </a:xfrm>
          <a:custGeom>
            <a:avLst/>
            <a:gdLst/>
            <a:ahLst/>
            <a:cxnLst/>
            <a:rect l="l" t="t" r="r" b="b"/>
            <a:pathLst>
              <a:path w="18288000" h="1122597">
                <a:moveTo>
                  <a:pt x="0" y="0"/>
                </a:moveTo>
                <a:lnTo>
                  <a:pt x="18288000" y="0"/>
                </a:lnTo>
                <a:lnTo>
                  <a:pt x="18288000" y="1122597"/>
                </a:lnTo>
                <a:lnTo>
                  <a:pt x="0" y="11225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693102" y="8811"/>
            <a:ext cx="15148084" cy="1019889"/>
          </a:xfrm>
          <a:prstGeom prst="rect">
            <a:avLst/>
          </a:prstGeom>
        </p:spPr>
        <p:txBody>
          <a:bodyPr lIns="0" tIns="0" rIns="0" bIns="0" rtlCol="0" anchor="t">
            <a:spAutoFit/>
          </a:bodyPr>
          <a:lstStyle/>
          <a:p>
            <a:pPr algn="ctr">
              <a:lnSpc>
                <a:spcPts val="6720"/>
              </a:lnSpc>
            </a:pPr>
            <a:r>
              <a:rPr lang="en-US" sz="3400" b="1">
                <a:solidFill>
                  <a:srgbClr val="000000"/>
                </a:solidFill>
                <a:latin typeface="Arial Bold"/>
                <a:ea typeface="Arial Bold"/>
                <a:cs typeface="Arial Bold"/>
                <a:sym typeface="Arial Bold"/>
              </a:rPr>
              <a:t>CÁC BƯỚC KIỂM TRA ĐIỀU KIỆN - THẺ PHI VẬT LÝ</a:t>
            </a:r>
          </a:p>
        </p:txBody>
      </p:sp>
      <p:graphicFrame>
        <p:nvGraphicFramePr>
          <p:cNvPr id="6" name="Table 6"/>
          <p:cNvGraphicFramePr>
            <a:graphicFrameLocks noGrp="1"/>
          </p:cNvGraphicFramePr>
          <p:nvPr/>
        </p:nvGraphicFramePr>
        <p:xfrm>
          <a:off x="314590" y="1285875"/>
          <a:ext cx="17658820" cy="7715250"/>
        </p:xfrm>
        <a:graphic>
          <a:graphicData uri="http://schemas.openxmlformats.org/drawingml/2006/table">
            <a:tbl>
              <a:tblPr/>
              <a:tblGrid>
                <a:gridCol w="4207155">
                  <a:extLst>
                    <a:ext uri="{9D8B030D-6E8A-4147-A177-3AD203B41FA5}">
                      <a16:colId xmlns:a16="http://schemas.microsoft.com/office/drawing/2014/main" val="20000"/>
                    </a:ext>
                  </a:extLst>
                </a:gridCol>
                <a:gridCol w="5420912">
                  <a:extLst>
                    <a:ext uri="{9D8B030D-6E8A-4147-A177-3AD203B41FA5}">
                      <a16:colId xmlns:a16="http://schemas.microsoft.com/office/drawing/2014/main" val="20001"/>
                    </a:ext>
                  </a:extLst>
                </a:gridCol>
                <a:gridCol w="8030753">
                  <a:extLst>
                    <a:ext uri="{9D8B030D-6E8A-4147-A177-3AD203B41FA5}">
                      <a16:colId xmlns:a16="http://schemas.microsoft.com/office/drawing/2014/main" val="20002"/>
                    </a:ext>
                  </a:extLst>
                </a:gridCol>
              </a:tblGrid>
              <a:tr h="1225251">
                <a:tc>
                  <a:txBody>
                    <a:bodyPr/>
                    <a:lstStyle/>
                    <a:p>
                      <a:pPr algn="l">
                        <a:lnSpc>
                          <a:spcPts val="3000"/>
                        </a:lnSpc>
                        <a:defRPr/>
                      </a:pPr>
                      <a:r>
                        <a:rPr lang="en-US" sz="2000" b="1">
                          <a:solidFill>
                            <a:srgbClr val="000000"/>
                          </a:solidFill>
                          <a:latin typeface="Arial Bold"/>
                          <a:ea typeface="Arial Bold"/>
                          <a:cs typeface="Arial Bold"/>
                          <a:sym typeface="Arial Bold"/>
                        </a:rPr>
                        <a:t>Bước 1</a:t>
                      </a:r>
                      <a:endParaRPr lang="en-US" sz="1100"/>
                    </a:p>
                    <a:p>
                      <a:pPr algn="l">
                        <a:lnSpc>
                          <a:spcPts val="3000"/>
                        </a:lnSpc>
                      </a:pPr>
                      <a:r>
                        <a:rPr lang="en-US" sz="2000" b="1">
                          <a:solidFill>
                            <a:srgbClr val="000000"/>
                          </a:solidFill>
                          <a:latin typeface="Arial Bold"/>
                          <a:ea typeface="Arial Bold"/>
                          <a:cs typeface="Arial Bold"/>
                          <a:sym typeface="Arial Bold"/>
                        </a:rPr>
                        <a:t>Kiểm tra block code trên ARQE</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gridSpan="2">
                  <a:txBody>
                    <a:bodyPr/>
                    <a:lstStyle/>
                    <a:p>
                      <a:pPr marL="457201" lvl="2" indent="-152400" algn="l">
                        <a:lnSpc>
                          <a:spcPts val="3000"/>
                        </a:lnSpc>
                        <a:buFont typeface="Arial"/>
                        <a:buChar char="⚬"/>
                        <a:defRPr/>
                      </a:pPr>
                      <a:r>
                        <a:rPr lang="en-US" sz="2000" b="1">
                          <a:solidFill>
                            <a:srgbClr val="000000"/>
                          </a:solidFill>
                          <a:latin typeface="Arial Bold"/>
                          <a:ea typeface="Arial Bold"/>
                          <a:cs typeface="Arial Bold"/>
                          <a:sym typeface="Arial Bold"/>
                        </a:rPr>
                        <a:t>Code C</a:t>
                      </a:r>
                      <a:r>
                        <a:rPr lang="en-US" sz="2000">
                          <a:solidFill>
                            <a:srgbClr val="000000"/>
                          </a:solidFill>
                          <a:latin typeface="Arial"/>
                          <a:ea typeface="Arial"/>
                          <a:cs typeface="Arial"/>
                          <a:sym typeface="Arial"/>
                        </a:rPr>
                        <a:t>: từ chối hỗ trợ </a:t>
                      </a:r>
                      <a:endParaRPr lang="en-US" sz="1100"/>
                    </a:p>
                    <a:p>
                      <a:pPr marL="457201" lvl="2" indent="-152400" algn="l">
                        <a:lnSpc>
                          <a:spcPts val="3000"/>
                        </a:lnSpc>
                        <a:buFont typeface="Arial"/>
                        <a:buChar char="⚬"/>
                      </a:pPr>
                      <a:r>
                        <a:rPr lang="en-US" sz="2000" b="1">
                          <a:solidFill>
                            <a:srgbClr val="000000"/>
                          </a:solidFill>
                          <a:latin typeface="Arial Bold"/>
                          <a:ea typeface="Arial Bold"/>
                          <a:cs typeface="Arial Bold"/>
                          <a:sym typeface="Arial Bold"/>
                        </a:rPr>
                        <a:t>Không có block code /Các block code còn lại:</a:t>
                      </a:r>
                      <a:r>
                        <a:rPr lang="en-US" sz="2000">
                          <a:solidFill>
                            <a:srgbClr val="000000"/>
                          </a:solidFill>
                          <a:latin typeface="Arial"/>
                          <a:ea typeface="Arial"/>
                          <a:cs typeface="Arial"/>
                          <a:sym typeface="Arial"/>
                        </a:rPr>
                        <a:t> Qua bước 2</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hMerge="1">
                  <a:txBody>
                    <a:bodyPr/>
                    <a:lstStyle/>
                    <a:p>
                      <a:pPr marL="457201" lvl="2" indent="-152400" algn="l">
                        <a:lnSpc>
                          <a:spcPts val="3000"/>
                        </a:lnSpc>
                        <a:buFont typeface="Arial"/>
                        <a:buChar char="⚬"/>
                        <a:defRPr/>
                      </a:pPr>
                      <a:r>
                        <a:rPr lang="en-US" sz="2000" b="1">
                          <a:solidFill>
                            <a:srgbClr val="000000"/>
                          </a:solidFill>
                          <a:latin typeface="Arial Bold"/>
                          <a:ea typeface="Arial Bold"/>
                          <a:cs typeface="Arial Bold"/>
                          <a:sym typeface="Arial Bold"/>
                        </a:rPr>
                        <a:t>Code C</a:t>
                      </a:r>
                      <a:r>
                        <a:rPr lang="en-US" sz="2000">
                          <a:solidFill>
                            <a:srgbClr val="000000"/>
                          </a:solidFill>
                          <a:latin typeface="Arial"/>
                          <a:ea typeface="Arial"/>
                          <a:cs typeface="Arial"/>
                          <a:sym typeface="Arial"/>
                        </a:rPr>
                        <a:t>: từ chối hỗ trợ </a:t>
                      </a:r>
                      <a:endParaRPr lang="en-US" sz="1100"/>
                    </a:p>
                    <a:p>
                      <a:pPr marL="457201" lvl="2" indent="-152400" algn="l">
                        <a:lnSpc>
                          <a:spcPts val="3000"/>
                        </a:lnSpc>
                        <a:buFont typeface="Arial"/>
                        <a:buChar char="⚬"/>
                      </a:pPr>
                      <a:r>
                        <a:rPr lang="en-US" sz="2000" b="1">
                          <a:solidFill>
                            <a:srgbClr val="000000"/>
                          </a:solidFill>
                          <a:latin typeface="Arial Bold"/>
                          <a:ea typeface="Arial Bold"/>
                          <a:cs typeface="Arial Bold"/>
                          <a:sym typeface="Arial Bold"/>
                        </a:rPr>
                        <a:t>Không có block code /Các block code còn lại:</a:t>
                      </a:r>
                      <a:r>
                        <a:rPr lang="en-US" sz="2000">
                          <a:solidFill>
                            <a:srgbClr val="000000"/>
                          </a:solidFill>
                          <a:latin typeface="Arial"/>
                          <a:ea typeface="Arial"/>
                          <a:cs typeface="Arial"/>
                          <a:sym typeface="Arial"/>
                        </a:rPr>
                        <a:t> Qua bước 2</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0"/>
                  </a:ext>
                </a:extLst>
              </a:tr>
              <a:tr h="1206106">
                <a:tc rowSpan="5">
                  <a:txBody>
                    <a:bodyPr/>
                    <a:lstStyle/>
                    <a:p>
                      <a:pPr algn="l">
                        <a:lnSpc>
                          <a:spcPts val="3000"/>
                        </a:lnSpc>
                        <a:defRPr/>
                      </a:pPr>
                      <a:r>
                        <a:rPr lang="en-US" sz="2000" b="1">
                          <a:solidFill>
                            <a:srgbClr val="000000"/>
                          </a:solidFill>
                          <a:latin typeface="Arial Bold"/>
                          <a:ea typeface="Arial Bold"/>
                          <a:cs typeface="Arial Bold"/>
                          <a:sym typeface="Arial Bold"/>
                        </a:rPr>
                        <a:t>Bước 2</a:t>
                      </a:r>
                      <a:endParaRPr lang="en-US" sz="1100"/>
                    </a:p>
                    <a:p>
                      <a:pPr algn="l">
                        <a:lnSpc>
                          <a:spcPts val="3000"/>
                        </a:lnSpc>
                      </a:pPr>
                      <a:r>
                        <a:rPr lang="en-US" sz="2000" b="1">
                          <a:solidFill>
                            <a:srgbClr val="000000"/>
                          </a:solidFill>
                          <a:latin typeface="Arial Bold"/>
                          <a:ea typeface="Arial Bold"/>
                          <a:cs typeface="Arial Bold"/>
                          <a:sym typeface="Arial Bold"/>
                        </a:rPr>
                        <a:t>Kiểm tra block code trên ARQB</a:t>
                      </a:r>
                    </a:p>
                    <a:p>
                      <a:pPr algn="l">
                        <a:lnSpc>
                          <a:spcPts val="3000"/>
                        </a:lnSpc>
                      </a:pPr>
                      <a:endParaRPr lang="en-US" sz="2000" b="1">
                        <a:solidFill>
                          <a:srgbClr val="000000"/>
                        </a:solidFill>
                        <a:latin typeface="Arial Bold"/>
                        <a:ea typeface="Arial Bold"/>
                        <a:cs typeface="Arial Bold"/>
                        <a:sym typeface="Arial Bold"/>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gridSpan="2">
                  <a:txBody>
                    <a:bodyPr/>
                    <a:lstStyle/>
                    <a:p>
                      <a:pPr marL="446406" lvl="2" indent="-148802" algn="l">
                        <a:lnSpc>
                          <a:spcPts val="2850"/>
                        </a:lnSpc>
                        <a:buFont typeface="Arial"/>
                        <a:buChar char="⚬"/>
                        <a:defRPr/>
                      </a:pPr>
                      <a:r>
                        <a:rPr lang="en-US" sz="2000" b="1">
                          <a:solidFill>
                            <a:srgbClr val="000000"/>
                          </a:solidFill>
                          <a:latin typeface="Arial Bold"/>
                          <a:ea typeface="Arial Bold"/>
                          <a:cs typeface="Arial Bold"/>
                          <a:sym typeface="Arial Bold"/>
                        </a:rPr>
                        <a:t>Thẻ khóa D/E: </a:t>
                      </a:r>
                      <a:r>
                        <a:rPr lang="en-US" sz="2000">
                          <a:solidFill>
                            <a:srgbClr val="000000"/>
                          </a:solidFill>
                          <a:latin typeface="Arial"/>
                          <a:ea typeface="Arial"/>
                          <a:cs typeface="Arial"/>
                          <a:sym typeface="Arial"/>
                        </a:rPr>
                        <a:t>Hướng dẫn KH thanh toán Minpay để mở khóa thẻ, sau đó KH thao tác cập nhật trên FEOL 2.0 hoặc liên hệ lại tổng đài để được hỗ trợ theo từng trường hợp.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hMerge="1">
                  <a:txBody>
                    <a:bodyPr/>
                    <a:lstStyle/>
                    <a:p>
                      <a:pPr marL="446406" lvl="2" indent="-148802" algn="l">
                        <a:lnSpc>
                          <a:spcPts val="2850"/>
                        </a:lnSpc>
                        <a:buFont typeface="Arial"/>
                        <a:buChar char="⚬"/>
                        <a:defRPr/>
                      </a:pPr>
                      <a:r>
                        <a:rPr lang="en-US" sz="2000" b="1">
                          <a:solidFill>
                            <a:srgbClr val="000000"/>
                          </a:solidFill>
                          <a:latin typeface="Arial Bold"/>
                          <a:ea typeface="Arial Bold"/>
                          <a:cs typeface="Arial Bold"/>
                          <a:sym typeface="Arial Bold"/>
                        </a:rPr>
                        <a:t>Thẻ khóa D/E: </a:t>
                      </a:r>
                      <a:r>
                        <a:rPr lang="en-US" sz="2000">
                          <a:solidFill>
                            <a:srgbClr val="000000"/>
                          </a:solidFill>
                          <a:latin typeface="Arial"/>
                          <a:ea typeface="Arial"/>
                          <a:cs typeface="Arial"/>
                          <a:sym typeface="Arial"/>
                        </a:rPr>
                        <a:t>Hướng dẫn KH thanh toán Minpay để mở khóa thẻ, sau đó KH thao tác cập nhật trên FEOL 2.0 hoặc liên hệ lại tổng đài để được hỗ trợ theo từng trường hợp.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1608141">
                <a:tc vMerge="1">
                  <a:txBody>
                    <a:bodyPr/>
                    <a:lstStyle/>
                    <a:p>
                      <a:pPr algn="l">
                        <a:lnSpc>
                          <a:spcPts val="3000"/>
                        </a:lnSpc>
                        <a:defRPr/>
                      </a:pPr>
                      <a:r>
                        <a:rPr lang="en-US" sz="2000" b="1">
                          <a:solidFill>
                            <a:srgbClr val="000000"/>
                          </a:solidFill>
                          <a:latin typeface="Arial Bold"/>
                          <a:ea typeface="Arial Bold"/>
                          <a:cs typeface="Arial Bold"/>
                          <a:sym typeface="Arial Bold"/>
                        </a:rPr>
                        <a:t>Bước 2</a:t>
                      </a:r>
                      <a:endParaRPr lang="en-US" sz="1100"/>
                    </a:p>
                    <a:p>
                      <a:pPr algn="l">
                        <a:lnSpc>
                          <a:spcPts val="3000"/>
                        </a:lnSpc>
                      </a:pPr>
                      <a:r>
                        <a:rPr lang="en-US" sz="2000" b="1">
                          <a:solidFill>
                            <a:srgbClr val="000000"/>
                          </a:solidFill>
                          <a:latin typeface="Arial Bold"/>
                          <a:ea typeface="Arial Bold"/>
                          <a:cs typeface="Arial Bold"/>
                          <a:sym typeface="Arial Bold"/>
                        </a:rPr>
                        <a:t>Kiểm tra block code trên ARQB</a:t>
                      </a:r>
                    </a:p>
                    <a:p>
                      <a:pPr algn="l">
                        <a:lnSpc>
                          <a:spcPts val="3000"/>
                        </a:lnSpc>
                      </a:pPr>
                      <a:endParaRPr lang="en-US" sz="2000" b="1">
                        <a:solidFill>
                          <a:srgbClr val="000000"/>
                        </a:solidFill>
                        <a:latin typeface="Arial Bold"/>
                        <a:ea typeface="Arial Bold"/>
                        <a:cs typeface="Arial Bold"/>
                        <a:sym typeface="Arial Bold"/>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3000"/>
                        </a:lnSpc>
                        <a:buFont typeface="Arial"/>
                        <a:buChar char="⚬"/>
                        <a:defRPr/>
                      </a:pPr>
                      <a:r>
                        <a:rPr lang="en-US" sz="2000" b="1">
                          <a:solidFill>
                            <a:srgbClr val="000000"/>
                          </a:solidFill>
                          <a:latin typeface="Arial Bold"/>
                          <a:ea typeface="Arial Bold"/>
                          <a:cs typeface="Arial Bold"/>
                          <a:sym typeface="Arial Bold"/>
                        </a:rPr>
                        <a:t>Chỉ có khóa Y</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3000"/>
                        </a:lnSpc>
                        <a:buFont typeface="Arial"/>
                        <a:buChar char="⚬"/>
                        <a:defRPr/>
                      </a:pPr>
                      <a:r>
                        <a:rPr lang="en-US" sz="2000" b="1">
                          <a:solidFill>
                            <a:srgbClr val="000000"/>
                          </a:solidFill>
                          <a:latin typeface="Arial Bold"/>
                          <a:ea typeface="Arial Bold"/>
                          <a:cs typeface="Arial Bold"/>
                          <a:sym typeface="Arial Bold"/>
                        </a:rPr>
                        <a:t>Thẻ DC3, DC8: </a:t>
                      </a:r>
                      <a:r>
                        <a:rPr lang="en-US" sz="2000">
                          <a:solidFill>
                            <a:srgbClr val="000000"/>
                          </a:solidFill>
                          <a:latin typeface="Arial"/>
                          <a:ea typeface="Arial"/>
                          <a:cs typeface="Arial"/>
                          <a:sym typeface="Arial"/>
                        </a:rPr>
                        <a:t>Hỗ trợ theo</a:t>
                      </a:r>
                      <a:r>
                        <a:rPr lang="en-US" sz="2000" b="1">
                          <a:solidFill>
                            <a:srgbClr val="000000"/>
                          </a:solidFill>
                          <a:latin typeface="Arial Bold"/>
                          <a:ea typeface="Arial Bold"/>
                          <a:cs typeface="Arial Bold"/>
                          <a:sym typeface="Arial Bold"/>
                        </a:rPr>
                        <a:t> </a:t>
                      </a:r>
                      <a:r>
                        <a:rPr lang="en-US" sz="2000" b="1" i="1" u="sng">
                          <a:solidFill>
                            <a:srgbClr val="72BA43"/>
                          </a:solidFill>
                          <a:latin typeface="Arial Bold Italics"/>
                          <a:ea typeface="Arial Bold Italics"/>
                          <a:cs typeface="Arial Bold Italics"/>
                          <a:sym typeface="Arial Bold Italics"/>
                        </a:rPr>
                        <a:t>Quy Trình 1</a:t>
                      </a:r>
                      <a:endParaRPr lang="en-US" sz="1100"/>
                    </a:p>
                    <a:p>
                      <a:pPr marL="457201" lvl="2" indent="-152400" algn="l">
                        <a:lnSpc>
                          <a:spcPts val="3000"/>
                        </a:lnSpc>
                        <a:buFont typeface="Arial"/>
                        <a:buChar char="⚬"/>
                      </a:pPr>
                      <a:r>
                        <a:rPr lang="en-US" sz="2000" b="1">
                          <a:solidFill>
                            <a:srgbClr val="000000"/>
                          </a:solidFill>
                          <a:latin typeface="Arial Bold"/>
                          <a:ea typeface="Arial Bold"/>
                          <a:cs typeface="Arial Bold"/>
                          <a:sym typeface="Arial Bold"/>
                        </a:rPr>
                        <a:t>Thẻ MT1/ DP3 / DC2 /(DC5, DC6, DC7: có hạn mức 1 VNĐ): </a:t>
                      </a:r>
                      <a:r>
                        <a:rPr lang="en-US" sz="2000">
                          <a:solidFill>
                            <a:srgbClr val="000000"/>
                          </a:solidFill>
                          <a:latin typeface="Arial"/>
                          <a:ea typeface="Arial"/>
                          <a:cs typeface="Arial"/>
                          <a:sym typeface="Arial"/>
                        </a:rPr>
                        <a:t>Hỗ trợ theo</a:t>
                      </a:r>
                      <a:r>
                        <a:rPr lang="en-US" sz="2000" b="1">
                          <a:solidFill>
                            <a:srgbClr val="000000"/>
                          </a:solidFill>
                          <a:latin typeface="Arial Bold"/>
                          <a:ea typeface="Arial Bold"/>
                          <a:cs typeface="Arial Bold"/>
                          <a:sym typeface="Arial Bold"/>
                        </a:rPr>
                        <a:t> </a:t>
                      </a:r>
                      <a:r>
                        <a:rPr lang="en-US" sz="2000" b="1" i="1" u="sng">
                          <a:solidFill>
                            <a:srgbClr val="4DA745"/>
                          </a:solidFill>
                          <a:latin typeface="Arial Bold Italics"/>
                          <a:ea typeface="Arial Bold Italics"/>
                          <a:cs typeface="Arial Bold Italics"/>
                          <a:sym typeface="Arial Bold Italics"/>
                        </a:rPr>
                        <a:t>Quy Trình 2</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1225251">
                <a:tc vMerge="1">
                  <a:txBody>
                    <a:bodyPr/>
                    <a:lstStyle/>
                    <a:p>
                      <a:pPr algn="l">
                        <a:lnSpc>
                          <a:spcPts val="3000"/>
                        </a:lnSpc>
                        <a:defRPr/>
                      </a:pPr>
                      <a:r>
                        <a:rPr lang="en-US" sz="2000" b="1">
                          <a:solidFill>
                            <a:srgbClr val="000000"/>
                          </a:solidFill>
                          <a:latin typeface="Arial Bold"/>
                          <a:ea typeface="Arial Bold"/>
                          <a:cs typeface="Arial Bold"/>
                          <a:sym typeface="Arial Bold"/>
                        </a:rPr>
                        <a:t>Bước 2</a:t>
                      </a:r>
                      <a:endParaRPr lang="en-US" sz="1100"/>
                    </a:p>
                    <a:p>
                      <a:pPr algn="l">
                        <a:lnSpc>
                          <a:spcPts val="3000"/>
                        </a:lnSpc>
                      </a:pPr>
                      <a:r>
                        <a:rPr lang="en-US" sz="2000" b="1">
                          <a:solidFill>
                            <a:srgbClr val="000000"/>
                          </a:solidFill>
                          <a:latin typeface="Arial Bold"/>
                          <a:ea typeface="Arial Bold"/>
                          <a:cs typeface="Arial Bold"/>
                          <a:sym typeface="Arial Bold"/>
                        </a:rPr>
                        <a:t>Kiểm tra block code trên ARQB</a:t>
                      </a:r>
                    </a:p>
                    <a:p>
                      <a:pPr algn="l">
                        <a:lnSpc>
                          <a:spcPts val="3000"/>
                        </a:lnSpc>
                      </a:pPr>
                      <a:endParaRPr lang="en-US" sz="2000" b="1">
                        <a:solidFill>
                          <a:srgbClr val="000000"/>
                        </a:solidFill>
                        <a:latin typeface="Arial Bold"/>
                        <a:ea typeface="Arial Bold"/>
                        <a:cs typeface="Arial Bold"/>
                        <a:sym typeface="Arial Bold"/>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3000"/>
                        </a:lnSpc>
                        <a:buFont typeface="Arial"/>
                        <a:buChar char="⚬"/>
                        <a:defRPr/>
                      </a:pPr>
                      <a:r>
                        <a:rPr lang="en-US" sz="2000" b="1">
                          <a:solidFill>
                            <a:srgbClr val="000000"/>
                          </a:solidFill>
                          <a:latin typeface="Arial Bold"/>
                          <a:ea typeface="Arial Bold"/>
                          <a:cs typeface="Arial Bold"/>
                          <a:sym typeface="Arial Bold"/>
                        </a:rPr>
                        <a:t>Chỉ có khóa A trên block code 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3000"/>
                        </a:lnSpc>
                        <a:buFont typeface="Arial"/>
                        <a:buChar char="⚬"/>
                        <a:defRPr/>
                      </a:pPr>
                      <a:r>
                        <a:rPr lang="en-US" sz="2000" b="1">
                          <a:solidFill>
                            <a:srgbClr val="000000"/>
                          </a:solidFill>
                          <a:latin typeface="Arial Bold"/>
                          <a:ea typeface="Arial Bold"/>
                          <a:cs typeface="Arial Bold"/>
                          <a:sym typeface="Arial Bold"/>
                        </a:rPr>
                        <a:t>Thẻ RS</a:t>
                      </a:r>
                      <a:r>
                        <a:rPr lang="en-US" sz="2000">
                          <a:solidFill>
                            <a:srgbClr val="000000"/>
                          </a:solidFill>
                          <a:latin typeface="Arial"/>
                          <a:ea typeface="Arial"/>
                          <a:cs typeface="Arial"/>
                          <a:sym typeface="Arial"/>
                        </a:rPr>
                        <a:t>: Hỗ trợ theo </a:t>
                      </a:r>
                      <a:r>
                        <a:rPr lang="en-US" sz="2000" b="1" i="1" u="sng">
                          <a:solidFill>
                            <a:srgbClr val="4DA745"/>
                          </a:solidFill>
                          <a:latin typeface="Arial Bold Italics"/>
                          <a:ea typeface="Arial Bold Italics"/>
                          <a:cs typeface="Arial Bold Italics"/>
                          <a:sym typeface="Arial Bold Italics"/>
                        </a:rPr>
                        <a:t>Quy Trình 1</a:t>
                      </a:r>
                      <a:endParaRPr lang="en-US" sz="1100"/>
                    </a:p>
                    <a:p>
                      <a:pPr marL="457201" lvl="2" indent="-152400" algn="l">
                        <a:lnSpc>
                          <a:spcPts val="3000"/>
                        </a:lnSpc>
                        <a:buFont typeface="Arial"/>
                        <a:buChar char="⚬"/>
                      </a:pPr>
                      <a:r>
                        <a:rPr lang="en-US" sz="2000" b="1">
                          <a:solidFill>
                            <a:srgbClr val="000000"/>
                          </a:solidFill>
                          <a:latin typeface="Arial Bold"/>
                          <a:ea typeface="Arial Bold"/>
                          <a:cs typeface="Arial Bold"/>
                          <a:sym typeface="Arial Bold"/>
                        </a:rPr>
                        <a:t>Thẻ KM1, KM2</a:t>
                      </a:r>
                      <a:r>
                        <a:rPr lang="en-US" sz="2000">
                          <a:solidFill>
                            <a:srgbClr val="000000"/>
                          </a:solidFill>
                          <a:latin typeface="Arial"/>
                          <a:ea typeface="Arial"/>
                          <a:cs typeface="Arial"/>
                          <a:sym typeface="Arial"/>
                        </a:rPr>
                        <a:t>: Hỗ trợ theo </a:t>
                      </a:r>
                      <a:r>
                        <a:rPr lang="en-US" sz="2000" b="1" i="1" u="sng">
                          <a:solidFill>
                            <a:srgbClr val="4DA745"/>
                          </a:solidFill>
                          <a:latin typeface="Arial Bold Italics"/>
                          <a:ea typeface="Arial Bold Italics"/>
                          <a:cs typeface="Arial Bold Italics"/>
                          <a:sym typeface="Arial Bold Italics"/>
                        </a:rPr>
                        <a:t>Quy Trình 2</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r h="1608141">
                <a:tc vMerge="1">
                  <a:txBody>
                    <a:bodyPr/>
                    <a:lstStyle/>
                    <a:p>
                      <a:pPr algn="l">
                        <a:lnSpc>
                          <a:spcPts val="3000"/>
                        </a:lnSpc>
                        <a:defRPr/>
                      </a:pPr>
                      <a:r>
                        <a:rPr lang="en-US" sz="2000" b="1">
                          <a:solidFill>
                            <a:srgbClr val="000000"/>
                          </a:solidFill>
                          <a:latin typeface="Arial Bold"/>
                          <a:ea typeface="Arial Bold"/>
                          <a:cs typeface="Arial Bold"/>
                          <a:sym typeface="Arial Bold"/>
                        </a:rPr>
                        <a:t>Bước 2</a:t>
                      </a:r>
                      <a:endParaRPr lang="en-US" sz="1100"/>
                    </a:p>
                    <a:p>
                      <a:pPr algn="l">
                        <a:lnSpc>
                          <a:spcPts val="3000"/>
                        </a:lnSpc>
                      </a:pPr>
                      <a:r>
                        <a:rPr lang="en-US" sz="2000" b="1">
                          <a:solidFill>
                            <a:srgbClr val="000000"/>
                          </a:solidFill>
                          <a:latin typeface="Arial Bold"/>
                          <a:ea typeface="Arial Bold"/>
                          <a:cs typeface="Arial Bold"/>
                          <a:sym typeface="Arial Bold"/>
                        </a:rPr>
                        <a:t>Kiểm tra block code trên ARQB</a:t>
                      </a:r>
                    </a:p>
                    <a:p>
                      <a:pPr algn="l">
                        <a:lnSpc>
                          <a:spcPts val="3000"/>
                        </a:lnSpc>
                      </a:pPr>
                      <a:endParaRPr lang="en-US" sz="2000" b="1">
                        <a:solidFill>
                          <a:srgbClr val="000000"/>
                        </a:solidFill>
                        <a:latin typeface="Arial Bold"/>
                        <a:ea typeface="Arial Bold"/>
                        <a:cs typeface="Arial Bold"/>
                        <a:sym typeface="Arial Bold"/>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3000"/>
                        </a:lnSpc>
                        <a:buFont typeface="Arial"/>
                        <a:buChar char="⚬"/>
                        <a:defRPr/>
                      </a:pPr>
                      <a:r>
                        <a:rPr lang="en-US" sz="2000" b="1">
                          <a:solidFill>
                            <a:srgbClr val="000000"/>
                          </a:solidFill>
                          <a:latin typeface="Arial Bold"/>
                          <a:ea typeface="Arial Bold"/>
                          <a:cs typeface="Arial Bold"/>
                          <a:sym typeface="Arial Bold"/>
                        </a:rPr>
                        <a:t>Không có khóa hoặc Khóa L, V, R-RSN 00/ 01/ 05</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3000"/>
                        </a:lnSpc>
                        <a:buFont typeface="Arial"/>
                        <a:buChar char="⚬"/>
                        <a:defRPr/>
                      </a:pPr>
                      <a:r>
                        <a:rPr lang="en-US" sz="2000" b="1">
                          <a:solidFill>
                            <a:srgbClr val="000000"/>
                          </a:solidFill>
                          <a:latin typeface="Arial Bold"/>
                          <a:ea typeface="Arial Bold"/>
                          <a:cs typeface="Arial Bold"/>
                          <a:sym typeface="Arial Bold"/>
                        </a:rPr>
                        <a:t>Thẻ VL1:</a:t>
                      </a:r>
                      <a:r>
                        <a:rPr lang="en-US" sz="2000">
                          <a:solidFill>
                            <a:srgbClr val="000000"/>
                          </a:solidFill>
                          <a:latin typeface="Arial"/>
                          <a:ea typeface="Arial"/>
                          <a:cs typeface="Arial"/>
                          <a:sym typeface="Arial"/>
                        </a:rPr>
                        <a:t> Hỗ trợ theo </a:t>
                      </a:r>
                      <a:r>
                        <a:rPr lang="en-US" sz="2000" b="1" i="1" u="sng">
                          <a:solidFill>
                            <a:srgbClr val="4DA745"/>
                          </a:solidFill>
                          <a:latin typeface="Arial Bold Italics"/>
                          <a:ea typeface="Arial Bold Italics"/>
                          <a:cs typeface="Arial Bold Italics"/>
                          <a:sym typeface="Arial Bold Italics"/>
                        </a:rPr>
                        <a:t>Quy Trình 1</a:t>
                      </a:r>
                      <a:endParaRPr lang="en-US" sz="1100"/>
                    </a:p>
                    <a:p>
                      <a:pPr marL="457201" lvl="2" indent="-152400" algn="l">
                        <a:lnSpc>
                          <a:spcPts val="3000"/>
                        </a:lnSpc>
                        <a:buFont typeface="Arial"/>
                        <a:buChar char="⚬"/>
                      </a:pPr>
                      <a:r>
                        <a:rPr lang="en-US" sz="2000" b="1">
                          <a:solidFill>
                            <a:srgbClr val="000000"/>
                          </a:solidFill>
                          <a:latin typeface="Arial Bold"/>
                          <a:ea typeface="Arial Bold"/>
                          <a:cs typeface="Arial Bold"/>
                          <a:sym typeface="Arial Bold"/>
                        </a:rPr>
                        <a:t>Các loại thẻ khác</a:t>
                      </a:r>
                      <a:r>
                        <a:rPr lang="en-US" sz="2000">
                          <a:solidFill>
                            <a:srgbClr val="000000"/>
                          </a:solidFill>
                          <a:latin typeface="Arial"/>
                          <a:ea typeface="Arial"/>
                          <a:cs typeface="Arial"/>
                          <a:sym typeface="Arial"/>
                        </a:rPr>
                        <a:t> (bao gồm Thẻ DP3 chưa phát hành thẻ vật lý lần đầu)</a:t>
                      </a:r>
                      <a:r>
                        <a:rPr lang="en-US" sz="2000" b="1">
                          <a:solidFill>
                            <a:srgbClr val="000000"/>
                          </a:solidFill>
                          <a:latin typeface="Arial Bold"/>
                          <a:ea typeface="Arial Bold"/>
                          <a:cs typeface="Arial Bold"/>
                          <a:sym typeface="Arial Bold"/>
                        </a:rPr>
                        <a:t>: </a:t>
                      </a:r>
                      <a:r>
                        <a:rPr lang="en-US" sz="2000">
                          <a:solidFill>
                            <a:srgbClr val="000000"/>
                          </a:solidFill>
                          <a:latin typeface="Arial"/>
                          <a:ea typeface="Arial"/>
                          <a:cs typeface="Arial"/>
                          <a:sym typeface="Arial"/>
                        </a:rPr>
                        <a:t>Hỗ trợ theo</a:t>
                      </a:r>
                      <a:r>
                        <a:rPr lang="en-US" sz="2000" b="1">
                          <a:solidFill>
                            <a:srgbClr val="000000"/>
                          </a:solidFill>
                          <a:latin typeface="Arial Bold"/>
                          <a:ea typeface="Arial Bold"/>
                          <a:cs typeface="Arial Bold"/>
                          <a:sym typeface="Arial Bold"/>
                        </a:rPr>
                        <a:t> </a:t>
                      </a:r>
                      <a:r>
                        <a:rPr lang="en-US" sz="2000" b="1" i="1" u="sng">
                          <a:solidFill>
                            <a:srgbClr val="4DA745"/>
                          </a:solidFill>
                          <a:latin typeface="Arial Bold Italics"/>
                          <a:ea typeface="Arial Bold Italics"/>
                          <a:cs typeface="Arial Bold Italics"/>
                          <a:sym typeface="Arial Bold Italics"/>
                        </a:rPr>
                        <a:t>Quy Trình 2</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4"/>
                  </a:ext>
                </a:extLst>
              </a:tr>
              <a:tr h="842360">
                <a:tc vMerge="1">
                  <a:txBody>
                    <a:bodyPr/>
                    <a:lstStyle/>
                    <a:p>
                      <a:pPr algn="l">
                        <a:lnSpc>
                          <a:spcPts val="3000"/>
                        </a:lnSpc>
                        <a:defRPr/>
                      </a:pPr>
                      <a:r>
                        <a:rPr lang="en-US" sz="2000" b="1">
                          <a:solidFill>
                            <a:srgbClr val="000000"/>
                          </a:solidFill>
                          <a:latin typeface="Arial Bold"/>
                          <a:ea typeface="Arial Bold"/>
                          <a:cs typeface="Arial Bold"/>
                          <a:sym typeface="Arial Bold"/>
                        </a:rPr>
                        <a:t>Bước 2</a:t>
                      </a:r>
                      <a:endParaRPr lang="en-US" sz="1100"/>
                    </a:p>
                    <a:p>
                      <a:pPr algn="l">
                        <a:lnSpc>
                          <a:spcPts val="3000"/>
                        </a:lnSpc>
                      </a:pPr>
                      <a:r>
                        <a:rPr lang="en-US" sz="2000" b="1">
                          <a:solidFill>
                            <a:srgbClr val="000000"/>
                          </a:solidFill>
                          <a:latin typeface="Arial Bold"/>
                          <a:ea typeface="Arial Bold"/>
                          <a:cs typeface="Arial Bold"/>
                          <a:sym typeface="Arial Bold"/>
                        </a:rPr>
                        <a:t>Kiểm tra block code trên ARQB</a:t>
                      </a:r>
                    </a:p>
                    <a:p>
                      <a:pPr algn="l">
                        <a:lnSpc>
                          <a:spcPts val="3000"/>
                        </a:lnSpc>
                      </a:pPr>
                      <a:endParaRPr lang="en-US" sz="2000" b="1">
                        <a:solidFill>
                          <a:srgbClr val="000000"/>
                        </a:solidFill>
                        <a:latin typeface="Arial Bold"/>
                        <a:ea typeface="Arial Bold"/>
                        <a:cs typeface="Arial Bold"/>
                        <a:sym typeface="Arial Bold"/>
                      </a:endParaRP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1" lvl="2" indent="-152400" algn="l">
                        <a:lnSpc>
                          <a:spcPts val="3000"/>
                        </a:lnSpc>
                        <a:buFont typeface="Arial"/>
                        <a:buChar char="⚬"/>
                        <a:defRPr/>
                      </a:pPr>
                      <a:r>
                        <a:rPr lang="en-US" sz="2000" b="1">
                          <a:solidFill>
                            <a:srgbClr val="000000"/>
                          </a:solidFill>
                          <a:latin typeface="Arial Bold"/>
                          <a:ea typeface="Arial Bold"/>
                          <a:cs typeface="Arial Bold"/>
                          <a:sym typeface="Arial Bold"/>
                        </a:rPr>
                        <a:t>Các khóa còn lại</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a:solidFill>
                            <a:srgbClr val="000000"/>
                          </a:solidFill>
                          <a:latin typeface="Arial"/>
                          <a:ea typeface="Arial"/>
                          <a:cs typeface="Arial"/>
                          <a:sym typeface="Arial"/>
                        </a:rPr>
                        <a:t>Từ chối hỗ trợ</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3144946007"/>
              </p:ext>
            </p:extLst>
          </p:nvPr>
        </p:nvGraphicFramePr>
        <p:xfrm>
          <a:off x="190500" y="1638300"/>
          <a:ext cx="17906999" cy="5236624"/>
        </p:xfrm>
        <a:graphic>
          <a:graphicData uri="http://schemas.openxmlformats.org/drawingml/2006/table">
            <a:tbl>
              <a:tblPr/>
              <a:tblGrid>
                <a:gridCol w="1832262">
                  <a:extLst>
                    <a:ext uri="{9D8B030D-6E8A-4147-A177-3AD203B41FA5}">
                      <a16:colId xmlns:a16="http://schemas.microsoft.com/office/drawing/2014/main" val="20000"/>
                    </a:ext>
                  </a:extLst>
                </a:gridCol>
                <a:gridCol w="3824694">
                  <a:extLst>
                    <a:ext uri="{9D8B030D-6E8A-4147-A177-3AD203B41FA5}">
                      <a16:colId xmlns:a16="http://schemas.microsoft.com/office/drawing/2014/main" val="20001"/>
                    </a:ext>
                  </a:extLst>
                </a:gridCol>
                <a:gridCol w="4564711">
                  <a:extLst>
                    <a:ext uri="{9D8B030D-6E8A-4147-A177-3AD203B41FA5}">
                      <a16:colId xmlns:a16="http://schemas.microsoft.com/office/drawing/2014/main" val="20002"/>
                    </a:ext>
                  </a:extLst>
                </a:gridCol>
                <a:gridCol w="7685332">
                  <a:extLst>
                    <a:ext uri="{9D8B030D-6E8A-4147-A177-3AD203B41FA5}">
                      <a16:colId xmlns:a16="http://schemas.microsoft.com/office/drawing/2014/main" val="20003"/>
                    </a:ext>
                  </a:extLst>
                </a:gridCol>
              </a:tblGrid>
              <a:tr h="857115">
                <a:tc>
                  <a:txBody>
                    <a:bodyPr/>
                    <a:lstStyle/>
                    <a:p>
                      <a:pPr algn="ctr">
                        <a:lnSpc>
                          <a:spcPts val="3600"/>
                        </a:lnSpc>
                        <a:defRPr/>
                      </a:pPr>
                      <a:r>
                        <a:rPr lang="en-US" sz="2000" b="1" spc="10">
                          <a:solidFill>
                            <a:srgbClr val="FFFFFF"/>
                          </a:solidFill>
                          <a:latin typeface="Arial Bold"/>
                          <a:ea typeface="Arial Bold"/>
                          <a:cs typeface="Arial Bold"/>
                          <a:sym typeface="Arial Bold"/>
                        </a:rPr>
                        <a:t>STT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gridSpan="2">
                  <a:txBody>
                    <a:bodyPr/>
                    <a:lstStyle/>
                    <a:p>
                      <a:pPr algn="ctr">
                        <a:lnSpc>
                          <a:spcPts val="3778"/>
                        </a:lnSpc>
                        <a:defRPr/>
                      </a:pPr>
                      <a:r>
                        <a:rPr lang="en-US" sz="2099" b="1" spc="10">
                          <a:solidFill>
                            <a:srgbClr val="FFFFFF"/>
                          </a:solidFill>
                          <a:latin typeface="Arial Bold"/>
                          <a:ea typeface="Arial Bold"/>
                          <a:cs typeface="Arial Bold"/>
                          <a:sym typeface="Arial Bold"/>
                        </a:rPr>
                        <a:t>TRƯỜNG HỢP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778"/>
                        </a:lnSpc>
                        <a:defRPr/>
                      </a:pPr>
                      <a:r>
                        <a:rPr lang="en-US" sz="2099" b="1" spc="10">
                          <a:solidFill>
                            <a:srgbClr val="FFFFFF"/>
                          </a:solidFill>
                          <a:latin typeface="Arial Bold"/>
                          <a:ea typeface="Arial Bold"/>
                          <a:cs typeface="Arial Bold"/>
                          <a:sym typeface="Arial Bold"/>
                        </a:rPr>
                        <a:t>TRƯỜNG HỢP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78"/>
                        </a:lnSpc>
                        <a:defRPr/>
                      </a:pPr>
                      <a:r>
                        <a:rPr lang="en-US" sz="2099" b="1" spc="10">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612495">
                <a:tc>
                  <a:txBody>
                    <a:bodyPr/>
                    <a:lstStyle/>
                    <a:p>
                      <a:pPr algn="ctr">
                        <a:lnSpc>
                          <a:spcPts val="5000"/>
                        </a:lnSpc>
                        <a:defRPr/>
                      </a:pPr>
                      <a:r>
                        <a:rPr lang="en-US" sz="2000" b="1">
                          <a:solidFill>
                            <a:srgbClr val="000000"/>
                          </a:solidFill>
                          <a:latin typeface="Arial Bold"/>
                          <a:ea typeface="Arial Bold"/>
                          <a:cs typeface="Arial Bold"/>
                          <a:sym typeface="Arial Bold"/>
                        </a:rPr>
                        <a:t>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gridSpan="2">
                  <a:txBody>
                    <a:bodyPr/>
                    <a:lstStyle/>
                    <a:p>
                      <a:pPr algn="l">
                        <a:lnSpc>
                          <a:spcPts val="5000"/>
                        </a:lnSpc>
                        <a:defRPr/>
                      </a:pPr>
                      <a:r>
                        <a:rPr lang="en-US" sz="2000" b="1">
                          <a:solidFill>
                            <a:srgbClr val="000000"/>
                          </a:solidFill>
                          <a:latin typeface="Arial Bold"/>
                          <a:ea typeface="Arial Bold"/>
                          <a:cs typeface="Arial Bold"/>
                          <a:sym typeface="Arial Bold"/>
                        </a:rPr>
                        <a:t>Chưa Có Tài Khoản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hMerge="1">
                  <a:txBody>
                    <a:bodyPr/>
                    <a:lstStyle/>
                    <a:p>
                      <a:pPr algn="l">
                        <a:lnSpc>
                          <a:spcPts val="5000"/>
                        </a:lnSpc>
                        <a:defRPr/>
                      </a:pPr>
                      <a:r>
                        <a:rPr lang="en-US" sz="2000" b="1">
                          <a:solidFill>
                            <a:srgbClr val="000000"/>
                          </a:solidFill>
                          <a:latin typeface="Arial Bold"/>
                          <a:ea typeface="Arial Bold"/>
                          <a:cs typeface="Arial Bold"/>
                          <a:sym typeface="Arial Bold"/>
                        </a:rPr>
                        <a:t>Chưa Có Tài Khoản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marL="457202" lvl="2" indent="-152401" algn="l">
                        <a:lnSpc>
                          <a:spcPts val="3000"/>
                        </a:lnSpc>
                        <a:buFont typeface="Arial"/>
                        <a:buChar char="⚬"/>
                        <a:defRPr/>
                      </a:pPr>
                      <a:r>
                        <a:rPr lang="en-US" sz="2000">
                          <a:solidFill>
                            <a:srgbClr val="000000"/>
                          </a:solidFill>
                          <a:latin typeface="Arial"/>
                          <a:ea typeface="Arial"/>
                          <a:cs typeface="Arial"/>
                          <a:sym typeface="Arial"/>
                        </a:rPr>
                        <a:t>Hướng dẫn KH tạo TK FEOL 2.0 bằng SĐT muốn thay đổi. (Lưu ý: SĐT cần đăng ký sim chính chủ)</a:t>
                      </a:r>
                      <a:endParaRPr lang="en-US" sz="1100"/>
                    </a:p>
                    <a:p>
                      <a:pPr marL="457202" lvl="2" indent="-152401" algn="l">
                        <a:lnSpc>
                          <a:spcPts val="3000"/>
                        </a:lnSpc>
                        <a:buFont typeface="Arial"/>
                        <a:buChar char="⚬"/>
                      </a:pPr>
                      <a:r>
                        <a:rPr lang="en-US" sz="2000">
                          <a:solidFill>
                            <a:srgbClr val="000000"/>
                          </a:solidFill>
                          <a:latin typeface="Arial"/>
                          <a:ea typeface="Arial"/>
                          <a:cs typeface="Arial"/>
                          <a:sym typeface="Arial"/>
                        </a:rPr>
                        <a:t>Đồng thời hỗ trợ theo </a:t>
                      </a:r>
                      <a:r>
                        <a:rPr lang="en-US" sz="2000" b="1" i="1" u="sng">
                          <a:solidFill>
                            <a:srgbClr val="4DA745"/>
                          </a:solidFill>
                          <a:latin typeface="Arial Bold Italics"/>
                          <a:ea typeface="Arial Bold Italics"/>
                          <a:cs typeface="Arial Bold Italics"/>
                          <a:sym typeface="Arial Bold Italics"/>
                        </a:rPr>
                        <a:t>Cập nhật thủ công 1</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848272">
                <a:tc>
                  <a:txBody>
                    <a:bodyPr/>
                    <a:lstStyle/>
                    <a:p>
                      <a:pPr algn="ctr">
                        <a:lnSpc>
                          <a:spcPts val="3000"/>
                        </a:lnSpc>
                        <a:defRPr/>
                      </a:pPr>
                      <a:r>
                        <a:rPr lang="en-US" sz="2000" b="1">
                          <a:solidFill>
                            <a:srgbClr val="000000"/>
                          </a:solidFill>
                          <a:latin typeface="Arial Bold"/>
                          <a:ea typeface="Arial Bold"/>
                          <a:cs typeface="Arial Bold"/>
                          <a:sym typeface="Arial Bold"/>
                        </a:rPr>
                        <a:t>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gridSpan="2">
                  <a:txBody>
                    <a:bodyPr/>
                    <a:lstStyle/>
                    <a:p>
                      <a:pPr algn="l">
                        <a:lnSpc>
                          <a:spcPts val="3000"/>
                        </a:lnSpc>
                        <a:defRPr/>
                      </a:pPr>
                      <a:r>
                        <a:rPr lang="en-US" sz="2000" b="1">
                          <a:solidFill>
                            <a:srgbClr val="000000"/>
                          </a:solidFill>
                          <a:latin typeface="Arial Bold"/>
                          <a:ea typeface="Arial Bold"/>
                          <a:cs typeface="Arial Bold"/>
                          <a:sym typeface="Arial Bold"/>
                        </a:rPr>
                        <a:t>Đã Có Tài Khoản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hMerge="1">
                  <a:txBody>
                    <a:bodyPr/>
                    <a:lstStyle/>
                    <a:p>
                      <a:pPr algn="l">
                        <a:lnSpc>
                          <a:spcPts val="3000"/>
                        </a:lnSpc>
                        <a:defRPr/>
                      </a:pPr>
                      <a:r>
                        <a:rPr lang="en-US" sz="2000" b="1">
                          <a:solidFill>
                            <a:srgbClr val="000000"/>
                          </a:solidFill>
                          <a:latin typeface="Arial Bold"/>
                          <a:ea typeface="Arial Bold"/>
                          <a:cs typeface="Arial Bold"/>
                          <a:sym typeface="Arial Bold"/>
                        </a:rPr>
                        <a:t>Đã Có Tài Khoản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i="1" u="sng">
                          <a:solidFill>
                            <a:srgbClr val="4DA745"/>
                          </a:solidFill>
                          <a:latin typeface="Arial Bold Italics"/>
                          <a:ea typeface="Arial Bold Italics"/>
                          <a:cs typeface="Arial Bold Italics"/>
                          <a:sym typeface="Arial Bold Italics"/>
                        </a:rPr>
                        <a:t>Cập nhật thủ công 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839431">
                <a:tc rowSpan="2">
                  <a:txBody>
                    <a:bodyPr/>
                    <a:lstStyle/>
                    <a:p>
                      <a:pPr algn="ctr">
                        <a:lnSpc>
                          <a:spcPts val="5000"/>
                        </a:lnSpc>
                        <a:defRPr/>
                      </a:pPr>
                      <a:r>
                        <a:rPr lang="en-US" sz="2000" b="1">
                          <a:solidFill>
                            <a:srgbClr val="000000"/>
                          </a:solidFill>
                          <a:latin typeface="Arial Bold"/>
                          <a:ea typeface="Arial Bold"/>
                          <a:cs typeface="Arial Bold"/>
                          <a:sym typeface="Arial Bold"/>
                        </a:rPr>
                        <a:t>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algn="l">
                        <a:lnSpc>
                          <a:spcPts val="5000"/>
                        </a:lnSpc>
                        <a:defRPr/>
                      </a:pPr>
                      <a:r>
                        <a:rPr lang="en-US" sz="2000" b="1">
                          <a:solidFill>
                            <a:srgbClr val="000000"/>
                          </a:solidFill>
                          <a:latin typeface="Arial Bold"/>
                          <a:ea typeface="Arial Bold"/>
                          <a:cs typeface="Arial Bold"/>
                          <a:sym typeface="Arial Bold"/>
                        </a:rPr>
                        <a:t>Đồng Bộ SĐT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a:solidFill>
                            <a:srgbClr val="000000"/>
                          </a:solidFill>
                          <a:latin typeface="Arial Bold"/>
                          <a:ea typeface="Arial Bold"/>
                          <a:cs typeface="Arial Bold"/>
                          <a:sym typeface="Arial Bold"/>
                        </a:rPr>
                        <a:t>Từ App về CMS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i="1" u="sng">
                          <a:solidFill>
                            <a:srgbClr val="4DA745"/>
                          </a:solidFill>
                          <a:latin typeface="Arial Bold Italics"/>
                          <a:ea typeface="Arial Bold Italics"/>
                          <a:cs typeface="Arial Bold Italics"/>
                          <a:sym typeface="Arial Bold Italics"/>
                        </a:rPr>
                        <a:t>Cập nhật thủ công 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r h="839431">
                <a:tc vMerge="1">
                  <a:txBody>
                    <a:bodyPr/>
                    <a:lstStyle/>
                    <a:p>
                      <a:pPr algn="ctr">
                        <a:lnSpc>
                          <a:spcPts val="5000"/>
                        </a:lnSpc>
                        <a:defRPr/>
                      </a:pPr>
                      <a:r>
                        <a:rPr lang="en-US" sz="2000" b="1">
                          <a:solidFill>
                            <a:srgbClr val="000000"/>
                          </a:solidFill>
                          <a:latin typeface="Arial Bold"/>
                          <a:ea typeface="Arial Bold"/>
                          <a:cs typeface="Arial Bold"/>
                          <a:sym typeface="Arial Bold"/>
                        </a:rPr>
                        <a:t>3</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5000"/>
                        </a:lnSpc>
                        <a:defRPr/>
                      </a:pPr>
                      <a:r>
                        <a:rPr lang="en-US" sz="2000" b="1">
                          <a:solidFill>
                            <a:srgbClr val="000000"/>
                          </a:solidFill>
                          <a:latin typeface="Arial Bold"/>
                          <a:ea typeface="Arial Bold"/>
                          <a:cs typeface="Arial Bold"/>
                          <a:sym typeface="Arial Bold"/>
                        </a:rPr>
                        <a:t>Đồng Bộ SĐT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a:solidFill>
                            <a:srgbClr val="000000"/>
                          </a:solidFill>
                          <a:latin typeface="Arial Bold"/>
                          <a:ea typeface="Arial Bold"/>
                          <a:cs typeface="Arial Bold"/>
                          <a:sym typeface="Arial Bold"/>
                        </a:rPr>
                        <a:t>Từ CMS về App/ Pega</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i="1" u="sng" dirty="0" err="1">
                          <a:solidFill>
                            <a:srgbClr val="4DA745"/>
                          </a:solidFill>
                          <a:latin typeface="Arial Bold Italics"/>
                          <a:ea typeface="Arial Bold Italics"/>
                          <a:cs typeface="Arial Bold Italics"/>
                          <a:sym typeface="Arial Bold Italics"/>
                        </a:rPr>
                        <a:t>Cập</a:t>
                      </a:r>
                      <a:r>
                        <a:rPr lang="en-US" sz="2000" b="1" i="1" u="sng" dirty="0">
                          <a:solidFill>
                            <a:srgbClr val="4DA745"/>
                          </a:solidFill>
                          <a:latin typeface="Arial Bold Italics"/>
                          <a:ea typeface="Arial Bold Italics"/>
                          <a:cs typeface="Arial Bold Italics"/>
                          <a:sym typeface="Arial Bold Italics"/>
                        </a:rPr>
                        <a:t> </a:t>
                      </a:r>
                      <a:r>
                        <a:rPr lang="en-US" sz="2000" b="1" i="1" u="sng" dirty="0" err="1">
                          <a:solidFill>
                            <a:srgbClr val="4DA745"/>
                          </a:solidFill>
                          <a:latin typeface="Arial Bold Italics"/>
                          <a:ea typeface="Arial Bold Italics"/>
                          <a:cs typeface="Arial Bold Italics"/>
                          <a:sym typeface="Arial Bold Italics"/>
                        </a:rPr>
                        <a:t>nhật</a:t>
                      </a:r>
                      <a:r>
                        <a:rPr lang="en-US" sz="2000" b="1" i="1" u="sng" dirty="0">
                          <a:solidFill>
                            <a:srgbClr val="4DA745"/>
                          </a:solidFill>
                          <a:latin typeface="Arial Bold Italics"/>
                          <a:ea typeface="Arial Bold Italics"/>
                          <a:cs typeface="Arial Bold Italics"/>
                          <a:sym typeface="Arial Bold Italics"/>
                        </a:rPr>
                        <a:t> </a:t>
                      </a:r>
                      <a:r>
                        <a:rPr lang="en-US" sz="2000" b="1" i="1" u="sng" dirty="0" err="1">
                          <a:solidFill>
                            <a:srgbClr val="4DA745"/>
                          </a:solidFill>
                          <a:latin typeface="Arial Bold Italics"/>
                          <a:ea typeface="Arial Bold Italics"/>
                          <a:cs typeface="Arial Bold Italics"/>
                          <a:sym typeface="Arial Bold Italics"/>
                        </a:rPr>
                        <a:t>thủ</a:t>
                      </a:r>
                      <a:r>
                        <a:rPr lang="en-US" sz="2000" b="1" i="1" u="sng" dirty="0">
                          <a:solidFill>
                            <a:srgbClr val="4DA745"/>
                          </a:solidFill>
                          <a:latin typeface="Arial Bold Italics"/>
                          <a:ea typeface="Arial Bold Italics"/>
                          <a:cs typeface="Arial Bold Italics"/>
                          <a:sym typeface="Arial Bold Italics"/>
                        </a:rPr>
                        <a:t> </a:t>
                      </a:r>
                      <a:r>
                        <a:rPr lang="en-US" sz="2000" b="1" i="1" u="sng" dirty="0" err="1">
                          <a:solidFill>
                            <a:srgbClr val="4DA745"/>
                          </a:solidFill>
                          <a:latin typeface="Arial Bold Italics"/>
                          <a:ea typeface="Arial Bold Italics"/>
                          <a:cs typeface="Arial Bold Italics"/>
                          <a:sym typeface="Arial Bold Italics"/>
                        </a:rPr>
                        <a:t>công</a:t>
                      </a:r>
                      <a:r>
                        <a:rPr lang="en-US" sz="2000" b="1" i="1" u="sng" dirty="0">
                          <a:solidFill>
                            <a:srgbClr val="4DA745"/>
                          </a:solidFill>
                          <a:latin typeface="Arial Bold Italics"/>
                          <a:ea typeface="Arial Bold Italics"/>
                          <a:cs typeface="Arial Bold Italics"/>
                          <a:sym typeface="Arial Bold Italics"/>
                        </a:rPr>
                        <a:t> 4 </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4"/>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0"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3178664" y="145428"/>
            <a:ext cx="11930672" cy="623545"/>
          </a:xfrm>
          <a:prstGeom prst="rect">
            <a:avLst/>
          </a:prstGeom>
        </p:spPr>
        <p:txBody>
          <a:bodyPr lIns="0" tIns="0" rIns="0" bIns="0" rtlCol="0" anchor="t">
            <a:spAutoFit/>
          </a:bodyPr>
          <a:lstStyle/>
          <a:p>
            <a:pPr algn="ctr">
              <a:lnSpc>
                <a:spcPts val="4419"/>
              </a:lnSpc>
            </a:pPr>
            <a:r>
              <a:rPr lang="en-US" sz="3399" b="1">
                <a:solidFill>
                  <a:srgbClr val="000000"/>
                </a:solidFill>
                <a:latin typeface="Arial Bold"/>
                <a:ea typeface="Arial Bold"/>
                <a:cs typeface="Arial Bold"/>
                <a:sym typeface="Arial Bold"/>
              </a:rPr>
              <a:t>BẢNG NHẬN DIỆN HƯỚNG XỬ LÝ - QUY TRÌNH 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548961688"/>
              </p:ext>
            </p:extLst>
          </p:nvPr>
        </p:nvGraphicFramePr>
        <p:xfrm>
          <a:off x="285749" y="1714500"/>
          <a:ext cx="17716501" cy="4722607"/>
        </p:xfrm>
        <a:graphic>
          <a:graphicData uri="http://schemas.openxmlformats.org/drawingml/2006/table">
            <a:tbl>
              <a:tblPr/>
              <a:tblGrid>
                <a:gridCol w="1093667">
                  <a:extLst>
                    <a:ext uri="{9D8B030D-6E8A-4147-A177-3AD203B41FA5}">
                      <a16:colId xmlns:a16="http://schemas.microsoft.com/office/drawing/2014/main" val="20000"/>
                    </a:ext>
                  </a:extLst>
                </a:gridCol>
                <a:gridCol w="3786512">
                  <a:extLst>
                    <a:ext uri="{9D8B030D-6E8A-4147-A177-3AD203B41FA5}">
                      <a16:colId xmlns:a16="http://schemas.microsoft.com/office/drawing/2014/main" val="20001"/>
                    </a:ext>
                  </a:extLst>
                </a:gridCol>
                <a:gridCol w="5099370">
                  <a:extLst>
                    <a:ext uri="{9D8B030D-6E8A-4147-A177-3AD203B41FA5}">
                      <a16:colId xmlns:a16="http://schemas.microsoft.com/office/drawing/2014/main" val="20002"/>
                    </a:ext>
                  </a:extLst>
                </a:gridCol>
                <a:gridCol w="7736952">
                  <a:extLst>
                    <a:ext uri="{9D8B030D-6E8A-4147-A177-3AD203B41FA5}">
                      <a16:colId xmlns:a16="http://schemas.microsoft.com/office/drawing/2014/main" val="20003"/>
                    </a:ext>
                  </a:extLst>
                </a:gridCol>
              </a:tblGrid>
              <a:tr h="867997">
                <a:tc>
                  <a:txBody>
                    <a:bodyPr/>
                    <a:lstStyle/>
                    <a:p>
                      <a:pPr algn="ctr">
                        <a:lnSpc>
                          <a:spcPts val="3778"/>
                        </a:lnSpc>
                        <a:defRPr/>
                      </a:pPr>
                      <a:r>
                        <a:rPr lang="en-US" sz="2099" b="1" spc="10">
                          <a:solidFill>
                            <a:srgbClr val="FFFFFF"/>
                          </a:solidFill>
                          <a:latin typeface="Arial Bold"/>
                          <a:ea typeface="Arial Bold"/>
                          <a:cs typeface="Arial Bold"/>
                          <a:sym typeface="Arial Bold"/>
                        </a:rPr>
                        <a:t>STT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gridSpan="2">
                  <a:txBody>
                    <a:bodyPr/>
                    <a:lstStyle/>
                    <a:p>
                      <a:pPr algn="ctr">
                        <a:lnSpc>
                          <a:spcPts val="3778"/>
                        </a:lnSpc>
                        <a:defRPr/>
                      </a:pPr>
                      <a:r>
                        <a:rPr lang="en-US" sz="2099" b="1" spc="10">
                          <a:solidFill>
                            <a:srgbClr val="FFFFFF"/>
                          </a:solidFill>
                          <a:latin typeface="Arial Bold"/>
                          <a:ea typeface="Arial Bold"/>
                          <a:cs typeface="Arial Bold"/>
                          <a:sym typeface="Arial Bold"/>
                        </a:rPr>
                        <a:t>TRƯỜNG HỢP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hMerge="1">
                  <a:txBody>
                    <a:bodyPr/>
                    <a:lstStyle/>
                    <a:p>
                      <a:pPr algn="ctr">
                        <a:lnSpc>
                          <a:spcPts val="3778"/>
                        </a:lnSpc>
                        <a:defRPr/>
                      </a:pPr>
                      <a:r>
                        <a:rPr lang="en-US" sz="2099" b="1" spc="10">
                          <a:solidFill>
                            <a:srgbClr val="FFFFFF"/>
                          </a:solidFill>
                          <a:latin typeface="Arial Bold"/>
                          <a:ea typeface="Arial Bold"/>
                          <a:cs typeface="Arial Bold"/>
                          <a:sym typeface="Arial Bold"/>
                        </a:rPr>
                        <a:t>TRƯỜNG HỢP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778"/>
                        </a:lnSpc>
                        <a:defRPr/>
                      </a:pPr>
                      <a:r>
                        <a:rPr lang="en-US" sz="2099" b="1" spc="10">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1229116">
                <a:tc>
                  <a:txBody>
                    <a:bodyPr/>
                    <a:lstStyle/>
                    <a:p>
                      <a:pPr algn="ctr">
                        <a:lnSpc>
                          <a:spcPts val="3000"/>
                        </a:lnSpc>
                        <a:defRPr/>
                      </a:pPr>
                      <a:r>
                        <a:rPr lang="en-US" sz="2000" b="1">
                          <a:solidFill>
                            <a:srgbClr val="000000"/>
                          </a:solidFill>
                          <a:latin typeface="Arial Bold"/>
                          <a:ea typeface="Arial Bold"/>
                          <a:cs typeface="Arial Bold"/>
                          <a:sym typeface="Arial Bold"/>
                        </a:rPr>
                        <a:t>1</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gridSpan="2">
                  <a:txBody>
                    <a:bodyPr/>
                    <a:lstStyle/>
                    <a:p>
                      <a:pPr algn="l">
                        <a:lnSpc>
                          <a:spcPts val="5000"/>
                        </a:lnSpc>
                        <a:defRPr/>
                      </a:pPr>
                      <a:r>
                        <a:rPr lang="en-US" sz="2000" b="1">
                          <a:solidFill>
                            <a:srgbClr val="000000"/>
                          </a:solidFill>
                          <a:latin typeface="Arial Bold"/>
                          <a:ea typeface="Arial Bold"/>
                          <a:cs typeface="Arial Bold"/>
                          <a:sym typeface="Arial Bold"/>
                        </a:rPr>
                        <a:t>Chưa Có Tài Khoản FEOL 2.0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hMerge="1">
                  <a:txBody>
                    <a:bodyPr/>
                    <a:lstStyle/>
                    <a:p>
                      <a:pPr algn="l">
                        <a:lnSpc>
                          <a:spcPts val="5000"/>
                        </a:lnSpc>
                        <a:defRPr/>
                      </a:pPr>
                      <a:r>
                        <a:rPr lang="en-US" sz="2000" b="1">
                          <a:solidFill>
                            <a:srgbClr val="000000"/>
                          </a:solidFill>
                          <a:latin typeface="Arial Bold"/>
                          <a:ea typeface="Arial Bold"/>
                          <a:cs typeface="Arial Bold"/>
                          <a:sym typeface="Arial Bold"/>
                        </a:rPr>
                        <a:t>Chưa Có Tài Khoản FEOL 2.0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a:solidFill>
                            <a:srgbClr val="000000"/>
                          </a:solidFill>
                          <a:latin typeface="Arial"/>
                          <a:ea typeface="Arial"/>
                          <a:cs typeface="Arial"/>
                          <a:sym typeface="Arial"/>
                        </a:rPr>
                        <a:t>Hướng dẫn KH tạo TK FEOL 2.0 bằng SĐT muốn thay đổi. </a:t>
                      </a:r>
                      <a:endParaRPr lang="en-US" sz="1100"/>
                    </a:p>
                    <a:p>
                      <a:pPr algn="l">
                        <a:lnSpc>
                          <a:spcPts val="3000"/>
                        </a:lnSpc>
                      </a:pPr>
                      <a:r>
                        <a:rPr lang="en-US" sz="2000">
                          <a:solidFill>
                            <a:srgbClr val="000000"/>
                          </a:solidFill>
                          <a:latin typeface="Arial"/>
                          <a:ea typeface="Arial"/>
                          <a:cs typeface="Arial"/>
                          <a:sym typeface="Arial"/>
                        </a:rPr>
                        <a:t>(Lưu ý: SĐT cần đăng ký sim chính chủ)</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r h="1396378">
                <a:tc rowSpan="2">
                  <a:txBody>
                    <a:bodyPr/>
                    <a:lstStyle/>
                    <a:p>
                      <a:pPr algn="ctr">
                        <a:lnSpc>
                          <a:spcPts val="3000"/>
                        </a:lnSpc>
                        <a:defRPr/>
                      </a:pPr>
                      <a:r>
                        <a:rPr lang="en-US" sz="2000" b="1">
                          <a:solidFill>
                            <a:srgbClr val="000000"/>
                          </a:solidFill>
                          <a:latin typeface="Arial Bold"/>
                          <a:ea typeface="Arial Bold"/>
                          <a:cs typeface="Arial Bold"/>
                          <a:sym typeface="Arial Bold"/>
                        </a:rPr>
                        <a:t>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rowSpan="2">
                  <a:txBody>
                    <a:bodyPr/>
                    <a:lstStyle/>
                    <a:p>
                      <a:pPr algn="l">
                        <a:lnSpc>
                          <a:spcPts val="5000"/>
                        </a:lnSpc>
                        <a:defRPr/>
                      </a:pPr>
                      <a:r>
                        <a:rPr lang="en-US" sz="2000" b="1">
                          <a:solidFill>
                            <a:srgbClr val="000000"/>
                          </a:solidFill>
                          <a:latin typeface="Arial Bold"/>
                          <a:ea typeface="Arial Bold"/>
                          <a:cs typeface="Arial Bold"/>
                          <a:sym typeface="Arial Bold"/>
                        </a:rPr>
                        <a:t>Đã Có Tài Khoản FEOL 2.0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Đăng nhập được App</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a:solidFill>
                            <a:srgbClr val="000000"/>
                          </a:solidFill>
                          <a:latin typeface="Arial"/>
                          <a:ea typeface="Arial"/>
                          <a:cs typeface="Arial"/>
                          <a:sym typeface="Arial"/>
                        </a:rPr>
                        <a:t>Hướng dẫn KH thao tác trên ứng dụng FEOL 2.0 </a:t>
                      </a:r>
                      <a:r>
                        <a:rPr lang="en-US" sz="2000" b="1" i="1" u="sng">
                          <a:solidFill>
                            <a:srgbClr val="4DA745"/>
                          </a:solidFill>
                          <a:latin typeface="Arial Bold Italics"/>
                          <a:ea typeface="Arial Bold Italics"/>
                          <a:cs typeface="Arial Bold Italics"/>
                          <a:sym typeface="Arial Bold Italics"/>
                        </a:rPr>
                        <a:t>(tham khảo)</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2"/>
                  </a:ext>
                </a:extLst>
              </a:tr>
              <a:tr h="1229116">
                <a:tc vMerge="1">
                  <a:txBody>
                    <a:bodyPr/>
                    <a:lstStyle/>
                    <a:p>
                      <a:pPr algn="ctr">
                        <a:lnSpc>
                          <a:spcPts val="3000"/>
                        </a:lnSpc>
                        <a:defRPr/>
                      </a:pPr>
                      <a:r>
                        <a:rPr lang="en-US" sz="2000" b="1">
                          <a:solidFill>
                            <a:srgbClr val="000000"/>
                          </a:solidFill>
                          <a:latin typeface="Arial Bold"/>
                          <a:ea typeface="Arial Bold"/>
                          <a:cs typeface="Arial Bold"/>
                          <a:sym typeface="Arial Bold"/>
                        </a:rPr>
                        <a:t>2</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vMerge="1">
                  <a:txBody>
                    <a:bodyPr/>
                    <a:lstStyle/>
                    <a:p>
                      <a:pPr algn="l">
                        <a:lnSpc>
                          <a:spcPts val="5000"/>
                        </a:lnSpc>
                        <a:defRPr/>
                      </a:pPr>
                      <a:r>
                        <a:rPr lang="en-US" sz="2000" b="1">
                          <a:solidFill>
                            <a:srgbClr val="000000"/>
                          </a:solidFill>
                          <a:latin typeface="Arial Bold"/>
                          <a:ea typeface="Arial Bold"/>
                          <a:cs typeface="Arial Bold"/>
                          <a:sym typeface="Arial Bold"/>
                        </a:rPr>
                        <a:t>Đã Có Tài Khoản FEOL 2.0</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Quên thông tin đăng nhập và ko còn sử dụng SĐT cũ</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5000"/>
                        </a:lnSpc>
                        <a:defRPr/>
                      </a:pPr>
                      <a:r>
                        <a:rPr lang="en-US" sz="2000" b="1" i="1" u="sng" dirty="0" err="1">
                          <a:solidFill>
                            <a:srgbClr val="4DA745"/>
                          </a:solidFill>
                          <a:latin typeface="Arial Bold Italics"/>
                          <a:ea typeface="Arial Bold Italics"/>
                          <a:cs typeface="Arial Bold Italics"/>
                          <a:sym typeface="Arial Bold Italics"/>
                        </a:rPr>
                        <a:t>Cập</a:t>
                      </a:r>
                      <a:r>
                        <a:rPr lang="en-US" sz="2000" b="1" i="1" u="sng" dirty="0">
                          <a:solidFill>
                            <a:srgbClr val="4DA745"/>
                          </a:solidFill>
                          <a:latin typeface="Arial Bold Italics"/>
                          <a:ea typeface="Arial Bold Italics"/>
                          <a:cs typeface="Arial Bold Italics"/>
                          <a:sym typeface="Arial Bold Italics"/>
                        </a:rPr>
                        <a:t> </a:t>
                      </a:r>
                      <a:r>
                        <a:rPr lang="en-US" sz="2000" b="1" i="1" u="sng" dirty="0" err="1">
                          <a:solidFill>
                            <a:srgbClr val="4DA745"/>
                          </a:solidFill>
                          <a:latin typeface="Arial Bold Italics"/>
                          <a:ea typeface="Arial Bold Italics"/>
                          <a:cs typeface="Arial Bold Italics"/>
                          <a:sym typeface="Arial Bold Italics"/>
                        </a:rPr>
                        <a:t>nhật</a:t>
                      </a:r>
                      <a:r>
                        <a:rPr lang="en-US" sz="2000" b="1" i="1" u="sng" dirty="0">
                          <a:solidFill>
                            <a:srgbClr val="4DA745"/>
                          </a:solidFill>
                          <a:latin typeface="Arial Bold Italics"/>
                          <a:ea typeface="Arial Bold Italics"/>
                          <a:cs typeface="Arial Bold Italics"/>
                          <a:sym typeface="Arial Bold Italics"/>
                        </a:rPr>
                        <a:t> </a:t>
                      </a:r>
                      <a:r>
                        <a:rPr lang="en-US" sz="2000" b="1" i="1" u="sng" dirty="0" err="1">
                          <a:solidFill>
                            <a:srgbClr val="4DA745"/>
                          </a:solidFill>
                          <a:latin typeface="Arial Bold Italics"/>
                          <a:ea typeface="Arial Bold Italics"/>
                          <a:cs typeface="Arial Bold Italics"/>
                          <a:sym typeface="Arial Bold Italics"/>
                        </a:rPr>
                        <a:t>thủ</a:t>
                      </a:r>
                      <a:r>
                        <a:rPr lang="en-US" sz="2000" b="1" i="1" u="sng" dirty="0">
                          <a:solidFill>
                            <a:srgbClr val="4DA745"/>
                          </a:solidFill>
                          <a:latin typeface="Arial Bold Italics"/>
                          <a:ea typeface="Arial Bold Italics"/>
                          <a:cs typeface="Arial Bold Italics"/>
                          <a:sym typeface="Arial Bold Italics"/>
                        </a:rPr>
                        <a:t> </a:t>
                      </a:r>
                      <a:r>
                        <a:rPr lang="en-US" sz="2000" b="1" i="1" u="sng" dirty="0" err="1">
                          <a:solidFill>
                            <a:srgbClr val="4DA745"/>
                          </a:solidFill>
                          <a:latin typeface="Arial Bold Italics"/>
                          <a:ea typeface="Arial Bold Italics"/>
                          <a:cs typeface="Arial Bold Italics"/>
                          <a:sym typeface="Arial Bold Italics"/>
                        </a:rPr>
                        <a:t>công</a:t>
                      </a:r>
                      <a:r>
                        <a:rPr lang="en-US" sz="2000" b="1" i="1" u="sng" dirty="0">
                          <a:solidFill>
                            <a:srgbClr val="4DA745"/>
                          </a:solidFill>
                          <a:latin typeface="Arial Bold Italics"/>
                          <a:ea typeface="Arial Bold Italics"/>
                          <a:cs typeface="Arial Bold Italics"/>
                          <a:sym typeface="Arial Bold Italics"/>
                        </a:rPr>
                        <a:t> 2</a:t>
                      </a:r>
                      <a:endParaRPr lang="en-US" sz="1100" dirty="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3"/>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0"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3178664" y="145428"/>
            <a:ext cx="11930672" cy="623545"/>
          </a:xfrm>
          <a:prstGeom prst="rect">
            <a:avLst/>
          </a:prstGeom>
        </p:spPr>
        <p:txBody>
          <a:bodyPr lIns="0" tIns="0" rIns="0" bIns="0" rtlCol="0" anchor="t">
            <a:spAutoFit/>
          </a:bodyPr>
          <a:lstStyle/>
          <a:p>
            <a:pPr algn="ctr">
              <a:lnSpc>
                <a:spcPts val="4419"/>
              </a:lnSpc>
            </a:pPr>
            <a:r>
              <a:rPr lang="en-US" sz="3399" b="1">
                <a:solidFill>
                  <a:srgbClr val="000000"/>
                </a:solidFill>
                <a:latin typeface="Arial Bold"/>
                <a:ea typeface="Arial Bold"/>
                <a:cs typeface="Arial Bold"/>
                <a:sym typeface="Arial Bold"/>
              </a:rPr>
              <a:t>BẢNG NHẬN DIỆN HƯỚNG XỬ LÝ- THẺ CÓ STATUS 8/9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562766" y="4094218"/>
          <a:ext cx="17145000" cy="3263900"/>
        </p:xfrm>
        <a:graphic>
          <a:graphicData uri="http://schemas.openxmlformats.org/drawingml/2006/table">
            <a:tbl>
              <a:tblPr/>
              <a:tblGrid>
                <a:gridCol w="6206163">
                  <a:extLst>
                    <a:ext uri="{9D8B030D-6E8A-4147-A177-3AD203B41FA5}">
                      <a16:colId xmlns:a16="http://schemas.microsoft.com/office/drawing/2014/main" val="20000"/>
                    </a:ext>
                  </a:extLst>
                </a:gridCol>
                <a:gridCol w="2704386">
                  <a:extLst>
                    <a:ext uri="{9D8B030D-6E8A-4147-A177-3AD203B41FA5}">
                      <a16:colId xmlns:a16="http://schemas.microsoft.com/office/drawing/2014/main" val="20001"/>
                    </a:ext>
                  </a:extLst>
                </a:gridCol>
                <a:gridCol w="8234451">
                  <a:extLst>
                    <a:ext uri="{9D8B030D-6E8A-4147-A177-3AD203B41FA5}">
                      <a16:colId xmlns:a16="http://schemas.microsoft.com/office/drawing/2014/main" val="20002"/>
                    </a:ext>
                  </a:extLst>
                </a:gridCol>
              </a:tblGrid>
              <a:tr h="916452">
                <a:tc>
                  <a:txBody>
                    <a:bodyPr/>
                    <a:lstStyle/>
                    <a:p>
                      <a:pPr algn="ctr">
                        <a:lnSpc>
                          <a:spcPts val="3778"/>
                        </a:lnSpc>
                        <a:defRPr/>
                      </a:pPr>
                      <a:r>
                        <a:rPr lang="en-US" sz="2099" b="1" spc="10">
                          <a:solidFill>
                            <a:srgbClr val="FFFFFF"/>
                          </a:solidFill>
                          <a:latin typeface="Arial Bold"/>
                          <a:ea typeface="Arial Bold"/>
                          <a:cs typeface="Arial Bold"/>
                          <a:sym typeface="Arial Bold"/>
                        </a:rPr>
                        <a:t>HƯỚNG XỬ LÝ</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TAT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tc>
                  <a:txBody>
                    <a:bodyPr/>
                    <a:lstStyle/>
                    <a:p>
                      <a:pPr algn="ctr">
                        <a:lnSpc>
                          <a:spcPts val="3958"/>
                        </a:lnSpc>
                        <a:defRPr/>
                      </a:pPr>
                      <a:r>
                        <a:rPr lang="en-US" sz="2199" b="1" spc="10">
                          <a:solidFill>
                            <a:srgbClr val="FFFFFF"/>
                          </a:solidFill>
                          <a:latin typeface="Arial Bold"/>
                          <a:ea typeface="Arial Bold"/>
                          <a:cs typeface="Arial Bold"/>
                          <a:sym typeface="Arial Bold"/>
                        </a:rPr>
                        <a:t>CODE/ REMARK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gradFill rotWithShape="1">
                      <a:gsLst>
                        <a:gs pos="0">
                          <a:srgbClr val="8BC53F">
                            <a:alpha val="100000"/>
                          </a:srgbClr>
                        </a:gs>
                        <a:gs pos="100000">
                          <a:srgbClr val="0F8745">
                            <a:alpha val="100000"/>
                          </a:srgbClr>
                        </a:gs>
                      </a:gsLst>
                      <a:lin ang="0"/>
                    </a:gradFill>
                  </a:tcPr>
                </a:tc>
                <a:extLst>
                  <a:ext uri="{0D108BD9-81ED-4DB2-BD59-A6C34878D82A}">
                    <a16:rowId xmlns:a16="http://schemas.microsoft.com/office/drawing/2014/main" val="10000"/>
                  </a:ext>
                </a:extLst>
              </a:tr>
              <a:tr h="2347448">
                <a:tc>
                  <a:txBody>
                    <a:bodyPr/>
                    <a:lstStyle/>
                    <a:p>
                      <a:pPr marL="457201" lvl="2" indent="-152400" algn="l">
                        <a:lnSpc>
                          <a:spcPts val="5000"/>
                        </a:lnSpc>
                        <a:buFont typeface="Arial"/>
                        <a:buChar char="⚬"/>
                        <a:defRPr/>
                      </a:pPr>
                      <a:r>
                        <a:rPr lang="en-US" sz="2000">
                          <a:solidFill>
                            <a:srgbClr val="000000"/>
                          </a:solidFill>
                          <a:latin typeface="Arial"/>
                          <a:ea typeface="Arial"/>
                          <a:cs typeface="Arial"/>
                          <a:sym typeface="Arial"/>
                        </a:rPr>
                        <a:t>Xác nhận lại số điện thoại của KH</a:t>
                      </a:r>
                      <a:endParaRPr lang="en-US" sz="1100"/>
                    </a:p>
                    <a:p>
                      <a:pPr marL="457201" lvl="2" indent="-152400" algn="l">
                        <a:lnSpc>
                          <a:spcPts val="5000"/>
                        </a:lnSpc>
                        <a:buFont typeface="Arial"/>
                        <a:buChar char="⚬"/>
                      </a:pPr>
                      <a:r>
                        <a:rPr lang="en-US" sz="2000">
                          <a:solidFill>
                            <a:srgbClr val="000000"/>
                          </a:solidFill>
                          <a:latin typeface="Arial"/>
                          <a:ea typeface="Arial"/>
                          <a:cs typeface="Arial"/>
                          <a:sym typeface="Arial"/>
                        </a:rPr>
                        <a:t>Thông báo chuyển PBLQ để hỗ trợ cho KH</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ctr">
                        <a:lnSpc>
                          <a:spcPts val="3000"/>
                        </a:lnSpc>
                        <a:defRPr/>
                      </a:pPr>
                      <a:r>
                        <a:rPr lang="en-US" sz="2000">
                          <a:solidFill>
                            <a:srgbClr val="000000"/>
                          </a:solidFill>
                          <a:latin typeface="Arial"/>
                          <a:ea typeface="Arial"/>
                          <a:cs typeface="Arial"/>
                          <a:sym typeface="Arial"/>
                        </a:rPr>
                        <a:t>2 ngày làm việc</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tc>
                  <a:txBody>
                    <a:bodyPr/>
                    <a:lstStyle/>
                    <a:p>
                      <a:pPr algn="l">
                        <a:lnSpc>
                          <a:spcPts val="3000"/>
                        </a:lnSpc>
                        <a:defRPr/>
                      </a:pPr>
                      <a:r>
                        <a:rPr lang="en-US" sz="2000" b="1">
                          <a:solidFill>
                            <a:srgbClr val="000000"/>
                          </a:solidFill>
                          <a:latin typeface="Arial Bold"/>
                          <a:ea typeface="Arial Bold"/>
                          <a:cs typeface="Arial Bold"/>
                          <a:sym typeface="Arial Bold"/>
                        </a:rPr>
                        <a:t>Chọn: Cập nhật Số điện thoại </a:t>
                      </a:r>
                      <a:r>
                        <a:rPr lang="en-US" sz="2000">
                          <a:solidFill>
                            <a:srgbClr val="000000"/>
                          </a:solidFill>
                          <a:latin typeface="Arial"/>
                          <a:ea typeface="Arial"/>
                          <a:cs typeface="Arial"/>
                          <a:sym typeface="Arial"/>
                        </a:rPr>
                        <a:t>(nhập SĐT mới vào tất cả các trường “Mobile”, không nhập vào các trường SĐT khác: Work Phone, Registration Phone, Other…)</a:t>
                      </a:r>
                      <a:endParaRPr lang="en-US" sz="1100"/>
                    </a:p>
                    <a:p>
                      <a:pPr algn="l">
                        <a:lnSpc>
                          <a:spcPts val="3000"/>
                        </a:lnSpc>
                      </a:pPr>
                      <a:r>
                        <a:rPr lang="en-US" sz="2000" b="1">
                          <a:solidFill>
                            <a:srgbClr val="000000"/>
                          </a:solidFill>
                          <a:latin typeface="Arial Bold"/>
                          <a:ea typeface="Arial Bold"/>
                          <a:cs typeface="Arial Bold"/>
                          <a:sym typeface="Arial Bold"/>
                        </a:rPr>
                        <a:t>Remark:</a:t>
                      </a:r>
                      <a:r>
                        <a:rPr lang="en-US" sz="2000">
                          <a:solidFill>
                            <a:srgbClr val="000000"/>
                          </a:solidFill>
                          <a:latin typeface="Arial"/>
                          <a:ea typeface="Arial"/>
                          <a:cs typeface="Arial"/>
                          <a:sym typeface="Arial"/>
                        </a:rPr>
                        <a:t> Cập nhật lại format SDT từ 0xxxx sang 84xxxx</a:t>
                      </a:r>
                    </a:p>
                    <a:p>
                      <a:pPr algn="l">
                        <a:lnSpc>
                          <a:spcPts val="3000"/>
                        </a:lnSpc>
                      </a:pPr>
                      <a:r>
                        <a:rPr lang="en-US" sz="2000" b="1" i="1" u="sng">
                          <a:solidFill>
                            <a:srgbClr val="4DA745"/>
                          </a:solidFill>
                          <a:latin typeface="Arial Bold Italics"/>
                          <a:ea typeface="Arial Bold Italics"/>
                          <a:cs typeface="Arial Bold Italics"/>
                          <a:sym typeface="Arial Bold Italics"/>
                        </a:rPr>
                        <a:t>(Hướng dẫn thao tác hệ thống)</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1"/>
                  </a:ext>
                </a:extLst>
              </a:tr>
            </a:tbl>
          </a:graphicData>
        </a:graphic>
      </p:graphicFrame>
      <p:grpSp>
        <p:nvGrpSpPr>
          <p:cNvPr id="3" name="Group 3"/>
          <p:cNvGrpSpPr/>
          <p:nvPr/>
        </p:nvGrpSpPr>
        <p:grpSpPr>
          <a:xfrm>
            <a:off x="15691018" y="9790919"/>
            <a:ext cx="2421874" cy="346977"/>
            <a:chOff x="0" y="0"/>
            <a:chExt cx="3229166" cy="462636"/>
          </a:xfrm>
        </p:grpSpPr>
        <p:sp>
          <p:nvSpPr>
            <p:cNvPr id="4" name="Freeform 4"/>
            <p:cNvSpPr/>
            <p:nvPr/>
          </p:nvSpPr>
          <p:spPr>
            <a:xfrm>
              <a:off x="0" y="0"/>
              <a:ext cx="3229229" cy="462661"/>
            </a:xfrm>
            <a:custGeom>
              <a:avLst/>
              <a:gdLst/>
              <a:ahLst/>
              <a:cxnLst/>
              <a:rect l="l" t="t" r="r" b="b"/>
              <a:pathLst>
                <a:path w="3229229" h="462661">
                  <a:moveTo>
                    <a:pt x="0" y="0"/>
                  </a:moveTo>
                  <a:lnTo>
                    <a:pt x="3229229" y="0"/>
                  </a:lnTo>
                  <a:lnTo>
                    <a:pt x="3229229" y="462661"/>
                  </a:lnTo>
                  <a:lnTo>
                    <a:pt x="0" y="462661"/>
                  </a:lnTo>
                  <a:lnTo>
                    <a:pt x="0" y="0"/>
                  </a:lnTo>
                  <a:close/>
                </a:path>
              </a:pathLst>
            </a:custGeom>
            <a:blipFill>
              <a:blip r:embed="rId2"/>
              <a:stretch>
                <a:fillRect l="-23" r="-22" b="5"/>
              </a:stretch>
            </a:blipFill>
          </p:spPr>
        </p:sp>
      </p:grpSp>
      <p:sp>
        <p:nvSpPr>
          <p:cNvPr id="5" name="Freeform 5"/>
          <p:cNvSpPr/>
          <p:nvPr/>
        </p:nvSpPr>
        <p:spPr>
          <a:xfrm>
            <a:off x="0" y="-277749"/>
            <a:ext cx="18288000" cy="1306449"/>
          </a:xfrm>
          <a:custGeom>
            <a:avLst/>
            <a:gdLst/>
            <a:ahLst/>
            <a:cxnLst/>
            <a:rect l="l" t="t" r="r" b="b"/>
            <a:pathLst>
              <a:path w="18288000" h="1306449">
                <a:moveTo>
                  <a:pt x="0" y="0"/>
                </a:moveTo>
                <a:lnTo>
                  <a:pt x="18288000" y="0"/>
                </a:lnTo>
                <a:lnTo>
                  <a:pt x="18288000" y="1306449"/>
                </a:lnTo>
                <a:lnTo>
                  <a:pt x="0" y="13064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3178664" y="145428"/>
            <a:ext cx="11930672" cy="623545"/>
          </a:xfrm>
          <a:prstGeom prst="rect">
            <a:avLst/>
          </a:prstGeom>
        </p:spPr>
        <p:txBody>
          <a:bodyPr lIns="0" tIns="0" rIns="0" bIns="0" rtlCol="0" anchor="t">
            <a:spAutoFit/>
          </a:bodyPr>
          <a:lstStyle/>
          <a:p>
            <a:pPr algn="ctr">
              <a:lnSpc>
                <a:spcPts val="4419"/>
              </a:lnSpc>
            </a:pPr>
            <a:r>
              <a:rPr lang="en-US" sz="3399" b="1">
                <a:solidFill>
                  <a:srgbClr val="000000"/>
                </a:solidFill>
                <a:latin typeface="Arial Bold"/>
                <a:ea typeface="Arial Bold"/>
                <a:cs typeface="Arial Bold"/>
                <a:sym typeface="Arial Bold"/>
              </a:rPr>
              <a:t>CẬP NHẬT LẠI ĐỊNH DẠNG SĐT</a:t>
            </a:r>
          </a:p>
        </p:txBody>
      </p:sp>
      <p:graphicFrame>
        <p:nvGraphicFramePr>
          <p:cNvPr id="7" name="Table 7"/>
          <p:cNvGraphicFramePr>
            <a:graphicFrameLocks noGrp="1"/>
          </p:cNvGraphicFramePr>
          <p:nvPr/>
        </p:nvGraphicFramePr>
        <p:xfrm>
          <a:off x="562766" y="2890215"/>
          <a:ext cx="17145000" cy="914400"/>
        </p:xfrm>
        <a:graphic>
          <a:graphicData uri="http://schemas.openxmlformats.org/drawingml/2006/table">
            <a:tbl>
              <a:tblPr/>
              <a:tblGrid>
                <a:gridCol w="6268958">
                  <a:extLst>
                    <a:ext uri="{9D8B030D-6E8A-4147-A177-3AD203B41FA5}">
                      <a16:colId xmlns:a16="http://schemas.microsoft.com/office/drawing/2014/main" val="20000"/>
                    </a:ext>
                  </a:extLst>
                </a:gridCol>
                <a:gridCol w="10876042">
                  <a:extLst>
                    <a:ext uri="{9D8B030D-6E8A-4147-A177-3AD203B41FA5}">
                      <a16:colId xmlns:a16="http://schemas.microsoft.com/office/drawing/2014/main" val="20001"/>
                    </a:ext>
                  </a:extLst>
                </a:gridCol>
              </a:tblGrid>
              <a:tr h="914400">
                <a:tc>
                  <a:txBody>
                    <a:bodyPr/>
                    <a:lstStyle/>
                    <a:p>
                      <a:pPr algn="ctr">
                        <a:lnSpc>
                          <a:spcPts val="3958"/>
                        </a:lnSpc>
                        <a:defRPr/>
                      </a:pPr>
                      <a:r>
                        <a:rPr lang="en-US" sz="2199" b="1">
                          <a:solidFill>
                            <a:srgbClr val="FFFFFF"/>
                          </a:solidFill>
                          <a:latin typeface="Arial Bold"/>
                          <a:ea typeface="Arial Bold"/>
                          <a:cs typeface="Arial Bold"/>
                          <a:sym typeface="Arial Bold"/>
                        </a:rPr>
                        <a:t>XMTT</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97B2"/>
                    </a:solidFill>
                  </a:tcPr>
                </a:tc>
                <a:tc>
                  <a:txBody>
                    <a:bodyPr/>
                    <a:lstStyle/>
                    <a:p>
                      <a:pPr algn="ctr">
                        <a:lnSpc>
                          <a:spcPts val="3598"/>
                        </a:lnSpc>
                        <a:defRPr/>
                      </a:pPr>
                      <a:r>
                        <a:rPr lang="en-US" sz="1999" b="1">
                          <a:solidFill>
                            <a:srgbClr val="000000"/>
                          </a:solidFill>
                          <a:latin typeface="Arial Bold"/>
                          <a:ea typeface="Arial Bold"/>
                          <a:cs typeface="Arial Bold"/>
                          <a:sym typeface="Arial Bold"/>
                        </a:rPr>
                        <a:t>CMND/CCCD + 1A + 1B</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0"/>
                  </a:ext>
                </a:extLst>
              </a:tr>
            </a:tbl>
          </a:graphicData>
        </a:graphic>
      </p:graphicFrame>
      <p:graphicFrame>
        <p:nvGraphicFramePr>
          <p:cNvPr id="8" name="Table 8"/>
          <p:cNvGraphicFramePr>
            <a:graphicFrameLocks noGrp="1"/>
          </p:cNvGraphicFramePr>
          <p:nvPr/>
        </p:nvGraphicFramePr>
        <p:xfrm>
          <a:off x="562766" y="1259370"/>
          <a:ext cx="17157700" cy="1397000"/>
        </p:xfrm>
        <a:graphic>
          <a:graphicData uri="http://schemas.openxmlformats.org/drawingml/2006/table">
            <a:tbl>
              <a:tblPr/>
              <a:tblGrid>
                <a:gridCol w="17157700">
                  <a:extLst>
                    <a:ext uri="{9D8B030D-6E8A-4147-A177-3AD203B41FA5}">
                      <a16:colId xmlns:a16="http://schemas.microsoft.com/office/drawing/2014/main" val="20000"/>
                    </a:ext>
                  </a:extLst>
                </a:gridCol>
              </a:tblGrid>
              <a:tr h="1397000">
                <a:tc>
                  <a:txBody>
                    <a:bodyPr/>
                    <a:lstStyle/>
                    <a:p>
                      <a:pPr algn="l">
                        <a:lnSpc>
                          <a:spcPts val="4232"/>
                        </a:lnSpc>
                        <a:defRPr/>
                      </a:pPr>
                      <a:r>
                        <a:rPr lang="en-US" sz="2199" b="1">
                          <a:solidFill>
                            <a:srgbClr val="00974E"/>
                          </a:solidFill>
                          <a:latin typeface="Arial Bold"/>
                          <a:ea typeface="Arial Bold"/>
                          <a:cs typeface="Arial Bold"/>
                          <a:sym typeface="Arial Bold"/>
                        </a:rPr>
                        <a:t>ĐIỀU KIỆN HỖ TRỢ:</a:t>
                      </a:r>
                      <a:endParaRPr lang="en-US" sz="1100"/>
                    </a:p>
                    <a:p>
                      <a:pPr marL="457079" lvl="2" indent="-152360" algn="l">
                        <a:lnSpc>
                          <a:spcPts val="3847"/>
                        </a:lnSpc>
                        <a:buFont typeface="Arial"/>
                        <a:buChar char="⚬"/>
                      </a:pPr>
                      <a:r>
                        <a:rPr lang="en-US" sz="1999">
                          <a:solidFill>
                            <a:srgbClr val="000000"/>
                          </a:solidFill>
                          <a:latin typeface="Arial"/>
                          <a:ea typeface="Arial"/>
                          <a:cs typeface="Arial"/>
                          <a:sym typeface="Arial"/>
                        </a:rPr>
                        <a:t>KH cần dùng đúng SĐT trên CMS liên hệ tổng đài để yêu cầu hỗ trợ.</a:t>
                      </a:r>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1F1F1"/>
                    </a:solidFill>
                  </a:tcPr>
                </a:tc>
                <a:extLst>
                  <a:ext uri="{0D108BD9-81ED-4DB2-BD59-A6C34878D82A}">
                    <a16:rowId xmlns:a16="http://schemas.microsoft.com/office/drawing/2014/main" val="10000"/>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TotalTime>
  <Words>4009</Words>
  <Application>Microsoft Office PowerPoint</Application>
  <PresentationFormat>Custom</PresentationFormat>
  <Paragraphs>427</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 Bold Italics</vt:lpstr>
      <vt:lpstr>Calibri</vt:lpstr>
      <vt:lpstr>Arial Italics</vt:lpstr>
      <vt:lpstr>Arial</vt:lpstr>
      <vt:lpstr>Arial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QUY TRÌNH CẬP NHẬT SỐ ĐIỆN THOẠI</dc:title>
  <dc:creator>Thanh Phung Doan</dc:creator>
  <cp:lastModifiedBy>Cuong Nguyen Thi Bien</cp:lastModifiedBy>
  <cp:revision>10</cp:revision>
  <dcterms:created xsi:type="dcterms:W3CDTF">2006-08-16T00:00:00Z</dcterms:created>
  <dcterms:modified xsi:type="dcterms:W3CDTF">2026-02-10T10:11:41Z</dcterms:modified>
  <dc:identifier>DAG3okxsros</dc:identifier>
</cp:coreProperties>
</file>