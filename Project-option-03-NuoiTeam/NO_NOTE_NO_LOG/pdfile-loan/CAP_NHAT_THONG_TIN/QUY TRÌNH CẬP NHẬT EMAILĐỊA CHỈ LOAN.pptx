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rial" panose="020B0604020202020204" pitchFamily="34" charset="0"/>
      <p:regular r:id="rId18"/>
    </p:embeddedFont>
    <p:embeddedFont>
      <p:font typeface="Arial Bold" panose="020B0704020202020204" pitchFamily="34" charset="0"/>
      <p:regular r:id="rId19"/>
      <p:bold r:id="rId20"/>
    </p:embeddedFont>
    <p:embeddedFont>
      <p:font typeface="Arial Bold Italics" panose="020B0604020202020204" charset="0"/>
      <p:regular r:id="rId21"/>
    </p:embeddedFont>
    <p:embeddedFont>
      <p:font typeface="Arial Italics" panose="020B0604020202020204" charset="0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l8ypQVlh9cP/xMeFxGtCgQ==" hashData="QHyIuxlLLnzpURnG/Oyr5Qrk8gkviEg72Cj8Wv6P7z7v9P48kI9//lNvxdKdx8Wzt+PZsPY+DY9k7qzd+JBGIQ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../13_TRA_CUU_TU_DONG/FEONLINE2.0/capnhatemail.pdf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CAP_NHAT_EMAIL_DIA_CHI/HUONG_DAN_NHAP_TICKET_CAP_NHAT_EMAIL.pd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CAP_NHAT_EMAIL_DIA_CHI/HUONG_DAN_NHAP_TICKET_CAP_NHAT_DIA_CHI.pdf" TargetMode="External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913120"/>
            <a:chOff x="0" y="0"/>
            <a:chExt cx="24384000" cy="7884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884160"/>
            </a:xfrm>
            <a:custGeom>
              <a:avLst/>
              <a:gdLst/>
              <a:ahLst/>
              <a:cxnLst/>
              <a:rect l="l" t="t" r="r" b="b"/>
              <a:pathLst>
                <a:path w="24384000" h="7884160">
                  <a:moveTo>
                    <a:pt x="0" y="0"/>
                  </a:moveTo>
                  <a:lnTo>
                    <a:pt x="24384000" y="0"/>
                  </a:lnTo>
                  <a:lnTo>
                    <a:pt x="24384000" y="7884160"/>
                  </a:lnTo>
                  <a:lnTo>
                    <a:pt x="0" y="788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9" b="-4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6694284"/>
            <a:ext cx="18288000" cy="1927031"/>
          </a:xfrm>
          <a:custGeom>
            <a:avLst/>
            <a:gdLst/>
            <a:ahLst/>
            <a:cxnLst/>
            <a:rect l="l" t="t" r="r" b="b"/>
            <a:pathLst>
              <a:path w="18288000" h="1927031">
                <a:moveTo>
                  <a:pt x="0" y="0"/>
                </a:moveTo>
                <a:lnTo>
                  <a:pt x="18288000" y="0"/>
                </a:lnTo>
                <a:lnTo>
                  <a:pt x="18288000" y="1927032"/>
                </a:lnTo>
                <a:lnTo>
                  <a:pt x="0" y="19270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17681" y="7092096"/>
            <a:ext cx="14852637" cy="1131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8"/>
              </a:lnSpc>
            </a:pPr>
            <a:r>
              <a:rPr lang="en-US" sz="5798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CẬP NHẬT EMAIL - HĐ VAY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483850"/>
              </p:ext>
            </p:extLst>
          </p:nvPr>
        </p:nvGraphicFramePr>
        <p:xfrm>
          <a:off x="278051" y="1638300"/>
          <a:ext cx="17716501" cy="7274742"/>
        </p:xfrm>
        <a:graphic>
          <a:graphicData uri="http://schemas.openxmlformats.org/drawingml/2006/table">
            <a:tbl>
              <a:tblPr/>
              <a:tblGrid>
                <a:gridCol w="1156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8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4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823">
                <a:tc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TRƯỜNG HỢP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HƯỚNG XỬ LÝ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HƯỚNG XỬ LÝ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7452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Chưa Cập Nhật Trên FEOL 2.0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Hướng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dẫn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KH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tải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ứng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dụng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cập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Email trên FEOL 2.0 (</a:t>
                      </a:r>
                      <a:r>
                        <a:rPr lang="en-US" sz="2000" b="1" i="1" u="sng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xem</a:t>
                      </a:r>
                      <a:r>
                        <a:rPr lang="en-US" sz="2000" b="1" i="1" u="sng" dirty="0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 chi </a:t>
                      </a:r>
                      <a:r>
                        <a:rPr lang="en-US" sz="2000" b="1" i="1" u="sng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tiết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</a:t>
                      </a:r>
                      <a:endParaRPr lang="en-US" sz="1100" dirty="0"/>
                    </a:p>
                    <a:p>
                      <a:pPr algn="l">
                        <a:lnSpc>
                          <a:spcPts val="30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tham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khảo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các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bước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b="1" i="1" u="sng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tại</a:t>
                      </a:r>
                      <a:r>
                        <a:rPr lang="en-US" sz="2000" b="1" i="1" u="sng" dirty="0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 </a:t>
                      </a:r>
                      <a:r>
                        <a:rPr lang="en-US" sz="2000" b="1" i="1" u="sng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đây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Hướng dẫn KH tải ứng dụng và cập nhật Email trên FEOL 2.0 (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xem chi tiết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</a:t>
                      </a:r>
                      <a:endParaRPr lang="en-US" sz="1100"/>
                    </a:p>
                    <a:p>
                      <a:pPr algn="l">
                        <a:lnSpc>
                          <a:spcPts val="30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(tham khảo các bước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tại đây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3819">
                <a:tc rowSpan="2"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Đã Cập Nhật Trên FEOL 2.0 Nhưng Không Thành Công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Lỗi </a:t>
                      </a:r>
                      <a:r>
                        <a:rPr lang="en-US" sz="2000" i="1">
                          <a:solidFill>
                            <a:srgbClr val="008145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“Email này trùng với email hiện tại”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201" lvl="2" indent="-152400" algn="l">
                        <a:lnSpc>
                          <a:spcPts val="300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Hướng dẫn KH tạo email chính chủ khác để cập nhật</a:t>
                      </a:r>
                      <a:endParaRPr lang="en-US" sz="1100"/>
                    </a:p>
                    <a:p>
                      <a:pPr marL="457201" lvl="2" indent="-152400" algn="l">
                        <a:lnSpc>
                          <a:spcPts val="3000"/>
                        </a:lnSpc>
                        <a:buFont typeface="Arial"/>
                        <a:buChar char="⚬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Nếu KH ko đồng ý chỉ muốn sử dụng email hiện tại: CS kiểm tra</a:t>
                      </a:r>
                    </a:p>
                    <a:p>
                      <a:pPr marL="817034" lvl="3" indent="-204258" algn="l">
                        <a:lnSpc>
                          <a:spcPts val="3000"/>
                        </a:lnSpc>
                        <a:buFont typeface="Arial"/>
                        <a:buChar char="￭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Ngày ký HĐ trước 21/07/2025: Hỗ trợ theo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Cập nhật thủ công</a:t>
                      </a:r>
                    </a:p>
                    <a:p>
                      <a:pPr marL="817034" lvl="3" indent="-204258" algn="l">
                        <a:lnSpc>
                          <a:spcPts val="3000"/>
                        </a:lnSpc>
                        <a:buFont typeface="Arial"/>
                        <a:buChar char="￭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Ngày ký HĐ từ ngày 21/07/2025 về sau: Hỗ trợ theo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Lỗi Ứng Dụng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269">
                <a:tc vMerge="1"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Đã Cập Nhật Trên FEOL 2.0 Nhưng Không Thành Công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Các lỗi khác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Hỗ trợ theo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Lỗi Ứng Dụng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7452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Đã Cập Nhật Trên FEOL 2.0 Nhưng Không Đồng Bộ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Hỗ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trợ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theo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i="1" u="sng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Lỗi</a:t>
                      </a:r>
                      <a:r>
                        <a:rPr lang="en-US" sz="2000" b="1" i="1" u="sng" dirty="0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 </a:t>
                      </a:r>
                      <a:r>
                        <a:rPr lang="en-US" sz="2000" b="1" i="1" u="sng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Ứng</a:t>
                      </a:r>
                      <a:r>
                        <a:rPr lang="en-US" sz="2000" b="1" i="1" u="sng" dirty="0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 </a:t>
                      </a:r>
                      <a:r>
                        <a:rPr lang="en-US" sz="2000" b="1" i="1" u="sng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Dụng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Hỗ trợ theo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Lỗi Ứng Dụng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3185">
                <a:tc gridSpan="4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Lưu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ý: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Nếu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KH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yêu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cầu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cập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nhật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email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cho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cả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HĐ Loan +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tín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dụng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: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Hỗ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trợ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theo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quy</a:t>
                      </a:r>
                      <a:r>
                        <a:rPr lang="en-US" sz="2000" b="1" dirty="0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trình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i="1" u="sng" dirty="0" err="1">
                          <a:solidFill>
                            <a:srgbClr val="4FA8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Cập</a:t>
                      </a:r>
                      <a:r>
                        <a:rPr lang="en-US" sz="2000" b="1" i="1" u="sng" dirty="0">
                          <a:solidFill>
                            <a:srgbClr val="4FA8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 </a:t>
                      </a:r>
                      <a:r>
                        <a:rPr lang="en-US" sz="2000" b="1" i="1" u="sng" dirty="0" err="1">
                          <a:solidFill>
                            <a:srgbClr val="4FA8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nhật</a:t>
                      </a:r>
                      <a:r>
                        <a:rPr lang="en-US" sz="2000" b="1" i="1" u="sng" dirty="0">
                          <a:solidFill>
                            <a:srgbClr val="4FA8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 email của Card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Lưu ý: Nếu KH yêu cầu cập nhật email cho cả HĐ Loan + thẻ tín dụng: Hỗ trợ theo quy trình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i="1" u="sng">
                          <a:solidFill>
                            <a:srgbClr val="4FA8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Cập nhật email của Card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Lưu ý: Nếu KH yêu cầu cập nhật email cho cả HĐ Loan + thẻ tín dụng: Hỗ trợ theo quy trình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i="1" u="sng">
                          <a:solidFill>
                            <a:srgbClr val="4FA8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Cập nhật email của Card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Lưu ý: Nếu KH yêu cầu cập nhật email cho cả HĐ Loan + thẻ tín dụng: Hỗ trợ theo quy trình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i="1" u="sng">
                          <a:solidFill>
                            <a:srgbClr val="4FA8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Cập nhật email của Card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5691018" y="9790919"/>
            <a:ext cx="2421874" cy="346977"/>
            <a:chOff x="0" y="0"/>
            <a:chExt cx="3229166" cy="4626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29229" cy="462661"/>
            </a:xfrm>
            <a:custGeom>
              <a:avLst/>
              <a:gdLst/>
              <a:ahLst/>
              <a:cxnLst/>
              <a:rect l="l" t="t" r="r" b="b"/>
              <a:pathLst>
                <a:path w="3229229" h="462661">
                  <a:moveTo>
                    <a:pt x="0" y="0"/>
                  </a:moveTo>
                  <a:lnTo>
                    <a:pt x="3229229" y="0"/>
                  </a:lnTo>
                  <a:lnTo>
                    <a:pt x="3229229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2" b="5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12697" y="-277749"/>
            <a:ext cx="18288000" cy="1306449"/>
          </a:xfrm>
          <a:custGeom>
            <a:avLst/>
            <a:gdLst/>
            <a:ahLst/>
            <a:cxnLst/>
            <a:rect l="l" t="t" r="r" b="b"/>
            <a:pathLst>
              <a:path w="18288000" h="1306449">
                <a:moveTo>
                  <a:pt x="0" y="0"/>
                </a:moveTo>
                <a:lnTo>
                  <a:pt x="18288000" y="0"/>
                </a:lnTo>
                <a:lnTo>
                  <a:pt x="18288000" y="1306449"/>
                </a:lnTo>
                <a:lnTo>
                  <a:pt x="0" y="1306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19169" y="145428"/>
            <a:ext cx="10249652" cy="62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</a:pP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BẢNG NHẬN DIỆN - CẬP NHẬT EMAIL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7781"/>
              </p:ext>
            </p:extLst>
          </p:nvPr>
        </p:nvGraphicFramePr>
        <p:xfrm>
          <a:off x="226576" y="1569581"/>
          <a:ext cx="17830800" cy="3989344"/>
        </p:xfrm>
        <a:graphic>
          <a:graphicData uri="http://schemas.openxmlformats.org/drawingml/2006/table">
            <a:tbl>
              <a:tblPr/>
              <a:tblGrid>
                <a:gridCol w="960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7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1704">
                <a:tc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HƯỚNG XỬ LÝ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779">
                <a:tc>
                  <a:txBody>
                    <a:bodyPr/>
                    <a:lstStyle/>
                    <a:p>
                      <a:pPr marL="431800" lvl="1" indent="-215900" algn="l">
                        <a:lnSpc>
                          <a:spcPts val="30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Hướng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dẫn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KH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tải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ứng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dụng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cập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Email trên FEOL 2.0 </a:t>
                      </a: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000" b="1" i="1" u="sng" kern="1200" dirty="0" err="1">
                          <a:solidFill>
                            <a:srgbClr val="4DA745"/>
                          </a:solidFill>
                          <a:latin typeface="Arial Bold Italics"/>
                          <a:ea typeface="Arial"/>
                          <a:cs typeface="Arial Bold Italics"/>
                          <a:sym typeface="Arial"/>
                          <a:hlinkClick r:id="rId2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xem</a:t>
                      </a:r>
                      <a:r>
                        <a:rPr lang="en-US" sz="2000" b="1" i="1" u="sng" kern="1200" dirty="0">
                          <a:solidFill>
                            <a:srgbClr val="4DA745"/>
                          </a:solidFill>
                          <a:latin typeface="Arial Bold Italics"/>
                          <a:ea typeface="Arial"/>
                          <a:cs typeface="Arial Bold Italics"/>
                          <a:sym typeface="Arial"/>
                          <a:hlinkClick r:id="rId2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chi </a:t>
                      </a:r>
                      <a:r>
                        <a:rPr lang="en-US" sz="2000" b="1" i="1" u="sng" kern="1200" dirty="0" err="1">
                          <a:solidFill>
                            <a:srgbClr val="4DA745"/>
                          </a:solidFill>
                          <a:latin typeface="Arial Bold Italics"/>
                          <a:ea typeface="Arial"/>
                          <a:cs typeface="Arial Bold Italics"/>
                          <a:sym typeface="Arial"/>
                          <a:hlinkClick r:id="rId2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tiết</a:t>
                      </a:r>
                      <a:r>
                        <a:rPr lang="en-US" sz="200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</a:t>
                      </a:r>
                      <a:endParaRPr lang="en-US" sz="2000" kern="120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431800" lvl="1" indent="-215900" algn="l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Tham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khảo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các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bước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thực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hiện:</a:t>
                      </a:r>
                    </a:p>
                    <a:p>
                      <a:pPr marL="863600" lvl="2" indent="-287867" algn="l">
                        <a:lnSpc>
                          <a:spcPts val="3000"/>
                        </a:lnSpc>
                        <a:buFont typeface="Arial"/>
                        <a:buChar char="⚬"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Từ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chủ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ứng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dụng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FE ONLINE 2.0,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chọn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"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Cài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đặt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</a:p>
                    <a:p>
                      <a:pPr marL="863600" lvl="2" indent="-287867" algn="l">
                        <a:lnSpc>
                          <a:spcPts val="3000"/>
                        </a:lnSpc>
                        <a:buFont typeface="Arial"/>
                        <a:buChar char="⚬"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Chọn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“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Quản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lý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thông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tin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cá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nhân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tài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khoản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”</a:t>
                      </a:r>
                    </a:p>
                    <a:p>
                      <a:pPr marL="863600" lvl="2" indent="-287867" algn="l">
                        <a:lnSpc>
                          <a:spcPts val="3000"/>
                        </a:lnSpc>
                        <a:buFont typeface="Arial"/>
                        <a:buChar char="⚬"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Chọn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biểu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tượng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cây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bút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ở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mục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“Email” để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cập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nhật</a:t>
                      </a:r>
                      <a:endParaRPr lang="en-US" sz="200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863600" lvl="2" indent="-287867" algn="l">
                        <a:lnSpc>
                          <a:spcPts val="3000"/>
                        </a:lnSpc>
                        <a:buFont typeface="Arial"/>
                        <a:buChar char="⚬"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Tiến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hành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thực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khuôn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mặt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để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bắt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đầu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cập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Email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Code: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IL33/ IC22-Cập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thông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tin KH</a:t>
                      </a:r>
                      <a:endParaRPr lang="en-US" sz="1100" dirty="0"/>
                    </a:p>
                    <a:p>
                      <a:pPr algn="l">
                        <a:lnSpc>
                          <a:spcPts val="3000"/>
                        </a:lnSpc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Subcode: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IL33.03/ IC22.03-Cập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Email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5691018" y="9790919"/>
            <a:ext cx="2421874" cy="346977"/>
            <a:chOff x="0" y="0"/>
            <a:chExt cx="3229166" cy="4626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29229" cy="462661"/>
            </a:xfrm>
            <a:custGeom>
              <a:avLst/>
              <a:gdLst/>
              <a:ahLst/>
              <a:cxnLst/>
              <a:rect l="l" t="t" r="r" b="b"/>
              <a:pathLst>
                <a:path w="3229229" h="462661">
                  <a:moveTo>
                    <a:pt x="0" y="0"/>
                  </a:moveTo>
                  <a:lnTo>
                    <a:pt x="3229229" y="0"/>
                  </a:lnTo>
                  <a:lnTo>
                    <a:pt x="3229229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" r="-22" b="5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12697" y="-277749"/>
            <a:ext cx="18288000" cy="1306449"/>
          </a:xfrm>
          <a:custGeom>
            <a:avLst/>
            <a:gdLst/>
            <a:ahLst/>
            <a:cxnLst/>
            <a:rect l="l" t="t" r="r" b="b"/>
            <a:pathLst>
              <a:path w="18288000" h="1306449">
                <a:moveTo>
                  <a:pt x="0" y="0"/>
                </a:moveTo>
                <a:lnTo>
                  <a:pt x="18288000" y="0"/>
                </a:lnTo>
                <a:lnTo>
                  <a:pt x="18288000" y="1306449"/>
                </a:lnTo>
                <a:lnTo>
                  <a:pt x="0" y="1306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19169" y="145428"/>
            <a:ext cx="10249652" cy="579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</a:pP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CHƯA CẬP NHẬT TRÊN FEOL 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1018" y="9790919"/>
            <a:ext cx="2421874" cy="346977"/>
            <a:chOff x="0" y="0"/>
            <a:chExt cx="3229166" cy="462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29229" cy="462661"/>
            </a:xfrm>
            <a:custGeom>
              <a:avLst/>
              <a:gdLst/>
              <a:ahLst/>
              <a:cxnLst/>
              <a:rect l="l" t="t" r="r" b="b"/>
              <a:pathLst>
                <a:path w="3229229" h="462661">
                  <a:moveTo>
                    <a:pt x="0" y="0"/>
                  </a:moveTo>
                  <a:lnTo>
                    <a:pt x="3229229" y="0"/>
                  </a:lnTo>
                  <a:lnTo>
                    <a:pt x="3229229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2" b="5"/>
              </a:stretch>
            </a:blipFill>
          </p:spPr>
        </p:sp>
      </p:grp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290966"/>
              </p:ext>
            </p:extLst>
          </p:nvPr>
        </p:nvGraphicFramePr>
        <p:xfrm>
          <a:off x="163754" y="1606052"/>
          <a:ext cx="17960492" cy="4025900"/>
        </p:xfrm>
        <a:graphic>
          <a:graphicData uri="http://schemas.openxmlformats.org/drawingml/2006/table">
            <a:tbl>
              <a:tblPr/>
              <a:tblGrid>
                <a:gridCol w="8142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1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2994">
                <a:tc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HƯỚNG XỬ LÝ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TAT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2906">
                <a:tc>
                  <a:txBody>
                    <a:bodyPr/>
                    <a:lstStyle/>
                    <a:p>
                      <a:pPr marL="431800" lvl="1" indent="-215900" algn="l">
                        <a:lnSpc>
                          <a:spcPts val="29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nhận email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cần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cập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nhật</a:t>
                      </a:r>
                      <a:endParaRPr lang="en-US" sz="1100" dirty="0"/>
                    </a:p>
                    <a:p>
                      <a:pPr marL="431800" lvl="1" indent="-215900" algn="l">
                        <a:lnSpc>
                          <a:spcPts val="2999"/>
                        </a:lnSpc>
                        <a:buFont typeface="Arial"/>
                        <a:buChar char="•"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Thông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báo để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bảo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mật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thông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tin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tránh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rủi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phát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Anh/Chị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vui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lòng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đảm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bảo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email được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cập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là email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chính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chủ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ngày làm việc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Chọn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: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Cập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nhật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Hồ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sơ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Khách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hàng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=&gt; Email: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nhập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email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mới</a:t>
                      </a:r>
                      <a:endParaRPr lang="en-US" sz="1100" dirty="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Remark: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chỉ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nhập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thông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tin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mới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viết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hoa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trừ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khi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KH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yêu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cầu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pPr algn="l">
                        <a:lnSpc>
                          <a:spcPts val="2400"/>
                        </a:lnSpc>
                      </a:pPr>
                      <a:endParaRPr lang="en-US" sz="200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Xem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cách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nhập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b="1" i="1" u="sng" kern="1200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tại</a:t>
                      </a:r>
                      <a:r>
                        <a:rPr lang="en-US" sz="2000" b="1" i="1" u="sng" kern="1200" dirty="0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US" sz="2000" b="1" i="1" u="sng" kern="1200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đây</a:t>
                      </a:r>
                      <a:endParaRPr lang="en-US" sz="2000" b="1" i="1" u="sng" kern="1200" dirty="0">
                        <a:solidFill>
                          <a:srgbClr val="4DA745"/>
                        </a:solidFill>
                        <a:latin typeface="Arial Bold Italics"/>
                        <a:ea typeface="Arial Bold Italics"/>
                        <a:cs typeface="Arial Bold Italics"/>
                        <a:sym typeface="Arial Bold Italics"/>
                      </a:endParaRPr>
                    </a:p>
                    <a:p>
                      <a:pPr algn="l">
                        <a:lnSpc>
                          <a:spcPts val="2400"/>
                        </a:lnSpc>
                      </a:pPr>
                      <a:endParaRPr lang="en-US" sz="2000" b="1" i="1" u="sng" dirty="0">
                        <a:solidFill>
                          <a:srgbClr val="4DA745"/>
                        </a:solidFill>
                        <a:latin typeface="Arial Bold Italics"/>
                        <a:ea typeface="Arial Bold Italics"/>
                        <a:cs typeface="Arial Bold Italics"/>
                        <a:sym typeface="Arial Bold Italics"/>
                      </a:endParaRPr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0" y="-277749"/>
            <a:ext cx="18288000" cy="1306449"/>
          </a:xfrm>
          <a:custGeom>
            <a:avLst/>
            <a:gdLst/>
            <a:ahLst/>
            <a:cxnLst/>
            <a:rect l="l" t="t" r="r" b="b"/>
            <a:pathLst>
              <a:path w="18288000" h="1306449">
                <a:moveTo>
                  <a:pt x="0" y="0"/>
                </a:moveTo>
                <a:lnTo>
                  <a:pt x="18288000" y="0"/>
                </a:lnTo>
                <a:lnTo>
                  <a:pt x="18288000" y="1306449"/>
                </a:lnTo>
                <a:lnTo>
                  <a:pt x="0" y="1306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55401" y="145428"/>
            <a:ext cx="4652367" cy="56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</a:pP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CẬP NHẬT THỦ CÔNG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913120"/>
            <a:chOff x="0" y="0"/>
            <a:chExt cx="24384000" cy="7884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884160"/>
            </a:xfrm>
            <a:custGeom>
              <a:avLst/>
              <a:gdLst/>
              <a:ahLst/>
              <a:cxnLst/>
              <a:rect l="l" t="t" r="r" b="b"/>
              <a:pathLst>
                <a:path w="24384000" h="7884160">
                  <a:moveTo>
                    <a:pt x="0" y="0"/>
                  </a:moveTo>
                  <a:lnTo>
                    <a:pt x="24384000" y="0"/>
                  </a:lnTo>
                  <a:lnTo>
                    <a:pt x="24384000" y="7884160"/>
                  </a:lnTo>
                  <a:lnTo>
                    <a:pt x="0" y="788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9" b="-4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6694284"/>
            <a:ext cx="18288000" cy="1927031"/>
          </a:xfrm>
          <a:custGeom>
            <a:avLst/>
            <a:gdLst/>
            <a:ahLst/>
            <a:cxnLst/>
            <a:rect l="l" t="t" r="r" b="b"/>
            <a:pathLst>
              <a:path w="18288000" h="1927031">
                <a:moveTo>
                  <a:pt x="0" y="0"/>
                </a:moveTo>
                <a:lnTo>
                  <a:pt x="18288000" y="0"/>
                </a:lnTo>
                <a:lnTo>
                  <a:pt x="18288000" y="1927032"/>
                </a:lnTo>
                <a:lnTo>
                  <a:pt x="0" y="19270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17681" y="7092096"/>
            <a:ext cx="14852637" cy="1131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8"/>
              </a:lnSpc>
            </a:pPr>
            <a:r>
              <a:rPr lang="en-US" sz="5798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CẬP NHẬT EMAIL - THẺ TÍN DỤNG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33490" y="1759240"/>
          <a:ext cx="17818100" cy="6194261"/>
        </p:xfrm>
        <a:graphic>
          <a:graphicData uri="http://schemas.openxmlformats.org/drawingml/2006/table">
            <a:tbl>
              <a:tblPr/>
              <a:tblGrid>
                <a:gridCol w="1209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4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0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3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7102">
                <a:tc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TRƯỜNG HỢP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HƯỚNG XỬ LÝ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HƯỚNG XỬ LÝ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6746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Chưa Cập Nhật Trên FEOL 2.0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Hướng dẫn KH tải ứng dụng và cập nhật CCCD trên FEOL 2.0 (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xem chi tiết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</a:t>
                      </a:r>
                      <a:endParaRPr lang="en-US" sz="1100"/>
                    </a:p>
                    <a:p>
                      <a:pPr algn="l">
                        <a:lnSpc>
                          <a:spcPts val="30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(tham khảo các bước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tại đây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Hướng dẫn KH tải ứng dụng và cập nhật CCCD trên FEOL 2.0 (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xem chi tiết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</a:t>
                      </a:r>
                      <a:endParaRPr lang="en-US" sz="1100"/>
                    </a:p>
                    <a:p>
                      <a:pPr algn="l">
                        <a:lnSpc>
                          <a:spcPts val="30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(tham khảo các bước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tại đây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3461">
                <a:tc rowSpan="2"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Đã Cập Nhật Trên FEOL 2.0 Nhưng Không Thành Công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Lỗi </a:t>
                      </a:r>
                      <a:r>
                        <a:rPr lang="en-US" sz="2000" i="1">
                          <a:solidFill>
                            <a:srgbClr val="008145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“Email này trùng với email hiện tại”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201" lvl="2" indent="-152400" algn="l">
                        <a:lnSpc>
                          <a:spcPts val="300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Hướng dẫn KH tạo email chính chủ khác để cập nhật</a:t>
                      </a:r>
                      <a:endParaRPr lang="en-US" sz="1100"/>
                    </a:p>
                    <a:p>
                      <a:pPr marL="457201" lvl="2" indent="-152400" algn="l">
                        <a:lnSpc>
                          <a:spcPts val="3000"/>
                        </a:lnSpc>
                        <a:buFont typeface="Arial"/>
                        <a:buChar char="⚬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Nếu KH ko đồng ý chỉ muốn sử dụng email hiện tại: Kiểm tra</a:t>
                      </a:r>
                    </a:p>
                    <a:p>
                      <a:pPr marL="817034" lvl="3" indent="-204258" algn="l">
                        <a:lnSpc>
                          <a:spcPts val="3000"/>
                        </a:lnSpc>
                        <a:buFont typeface="Arial"/>
                        <a:buChar char="￭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Ngày mở thẻ trước 21/07/2025: Hỗ trợ theo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Cập nhật thủ công</a:t>
                      </a:r>
                    </a:p>
                    <a:p>
                      <a:pPr marL="817034" lvl="3" indent="-204258" algn="l">
                        <a:lnSpc>
                          <a:spcPts val="3000"/>
                        </a:lnSpc>
                        <a:buFont typeface="Arial"/>
                        <a:buChar char="￭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Ngày mở thẻ từ ngày 21/07/2025 về sau: Hỗ trợ theo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Lỗi Ứng Dụng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206">
                <a:tc vMerge="1"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Đã Cập Nhật Trên FEOL 2.0 Nhưng Không Thành Công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Các lỗi khác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Hỗ trợ theo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Lỗi Ứng Dụng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6746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Đã Cập Nhật Trên FEOL 2.0 Nhưng Không Đồng Bộ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Hỗ trợ theo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Lỗi Ứng Dụng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Hỗ trợ theo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Lỗi Ứng Dụng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5691018" y="9790919"/>
            <a:ext cx="2421874" cy="346977"/>
            <a:chOff x="0" y="0"/>
            <a:chExt cx="3229166" cy="4626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29229" cy="462661"/>
            </a:xfrm>
            <a:custGeom>
              <a:avLst/>
              <a:gdLst/>
              <a:ahLst/>
              <a:cxnLst/>
              <a:rect l="l" t="t" r="r" b="b"/>
              <a:pathLst>
                <a:path w="3229229" h="462661">
                  <a:moveTo>
                    <a:pt x="0" y="0"/>
                  </a:moveTo>
                  <a:lnTo>
                    <a:pt x="3229229" y="0"/>
                  </a:lnTo>
                  <a:lnTo>
                    <a:pt x="3229229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2" b="5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" y="-277749"/>
            <a:ext cx="18288000" cy="1306449"/>
          </a:xfrm>
          <a:custGeom>
            <a:avLst/>
            <a:gdLst/>
            <a:ahLst/>
            <a:cxnLst/>
            <a:rect l="l" t="t" r="r" b="b"/>
            <a:pathLst>
              <a:path w="18288000" h="1306449">
                <a:moveTo>
                  <a:pt x="0" y="0"/>
                </a:moveTo>
                <a:lnTo>
                  <a:pt x="18288000" y="0"/>
                </a:lnTo>
                <a:lnTo>
                  <a:pt x="18288000" y="1306449"/>
                </a:lnTo>
                <a:lnTo>
                  <a:pt x="0" y="1306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19169" y="145428"/>
            <a:ext cx="10249652" cy="62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</a:pP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BẢNG NHẬN DIỆN - CẬP NHẬT EMAIL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-144666"/>
            <a:ext cx="18288000" cy="1173366"/>
          </a:xfrm>
          <a:custGeom>
            <a:avLst/>
            <a:gdLst/>
            <a:ahLst/>
            <a:cxnLst/>
            <a:rect l="l" t="t" r="r" b="b"/>
            <a:pathLst>
              <a:path w="18288000" h="1173366">
                <a:moveTo>
                  <a:pt x="0" y="0"/>
                </a:moveTo>
                <a:lnTo>
                  <a:pt x="18288000" y="0"/>
                </a:lnTo>
                <a:lnTo>
                  <a:pt x="1828800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479432"/>
              </p:ext>
            </p:extLst>
          </p:nvPr>
        </p:nvGraphicFramePr>
        <p:xfrm>
          <a:off x="461854" y="1605118"/>
          <a:ext cx="17348200" cy="7797800"/>
        </p:xfrm>
        <a:graphic>
          <a:graphicData uri="http://schemas.openxmlformats.org/drawingml/2006/table">
            <a:tbl>
              <a:tblPr/>
              <a:tblGrid>
                <a:gridCol w="4423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0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94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4551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1</a:t>
                      </a:r>
                      <a:endParaRPr lang="en-US" sz="1100"/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status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Status Z,8,9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từ chối hỗ trợ</a:t>
                      </a:r>
                      <a:endParaRPr lang="en-US" sz="1100"/>
                    </a:p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Các status khác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qua bước 2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Status Z,8,9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từ chối hỗ trợ</a:t>
                      </a:r>
                      <a:endParaRPr lang="en-US" sz="1100"/>
                    </a:p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Các status khác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qua bước 2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7491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2</a:t>
                      </a:r>
                      <a:endParaRPr lang="en-US" sz="1100"/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tình trạng kích hoạt thẻ 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chưa kích hoạt : </a:t>
                      </a:r>
                      <a:endParaRPr lang="en-US" sz="1100"/>
                    </a:p>
                    <a:p>
                      <a:pPr marL="816909" lvl="3" indent="-204227" algn="l">
                        <a:lnSpc>
                          <a:spcPts val="2999"/>
                        </a:lnSpc>
                        <a:buFont typeface="Arial"/>
                        <a:buChar char="￭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MT1 / DC2 / DC3 / DC5 / DC6,DC7,DC8/ DP3 =&gt; </a:t>
                      </a: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qua bước 3</a:t>
                      </a:r>
                    </a:p>
                    <a:p>
                      <a:pPr marL="816909" lvl="3" indent="-204227" algn="l">
                        <a:lnSpc>
                          <a:spcPts val="2999"/>
                        </a:lnSpc>
                        <a:buFont typeface="Arial"/>
                        <a:buChar char="￭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Đã phát sinh dư nợ/ Đã có sao kê, hoặc có GD posted ở ARTD page 2 </a:t>
                      </a: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=&gt; qua bước 3</a:t>
                      </a:r>
                    </a:p>
                    <a:p>
                      <a:pPr marL="816909" lvl="3" indent="-204227" algn="l">
                        <a:lnSpc>
                          <a:spcPts val="2999"/>
                        </a:lnSpc>
                        <a:buFont typeface="Arial"/>
                        <a:buChar char="￭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Các loại thẻ khác:</a:t>
                      </a: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Hướng dẫn KH kích hoạt thẻ sau đó liên hệ lại tổng đài để cập nhật thông tin</a:t>
                      </a:r>
                    </a:p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đã kích hoạt : 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 bước 3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chưa kích hoạt : </a:t>
                      </a:r>
                      <a:endParaRPr lang="en-US" sz="1100"/>
                    </a:p>
                    <a:p>
                      <a:pPr marL="816909" lvl="3" indent="-204227" algn="l">
                        <a:lnSpc>
                          <a:spcPts val="2999"/>
                        </a:lnSpc>
                        <a:buFont typeface="Arial"/>
                        <a:buChar char="￭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MT1 / DC2 / DC3 / DC5 / DC6,DC7,DC8/ DP3 =&gt; </a:t>
                      </a: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qua bước 3</a:t>
                      </a:r>
                    </a:p>
                    <a:p>
                      <a:pPr marL="816909" lvl="3" indent="-204227" algn="l">
                        <a:lnSpc>
                          <a:spcPts val="2999"/>
                        </a:lnSpc>
                        <a:buFont typeface="Arial"/>
                        <a:buChar char="￭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Đã phát sinh dư nợ/ Đã có sao kê, hoặc có GD posted ở ARTD page 2 </a:t>
                      </a: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=&gt; qua bước 3</a:t>
                      </a:r>
                    </a:p>
                    <a:p>
                      <a:pPr marL="816909" lvl="3" indent="-204227" algn="l">
                        <a:lnSpc>
                          <a:spcPts val="2999"/>
                        </a:lnSpc>
                        <a:buFont typeface="Arial"/>
                        <a:buChar char="￭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Các loại thẻ khác:</a:t>
                      </a: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Hướng dẫn KH kích hoạt thẻ sau đó liên hệ lại tổng đài để cập nhật thông tin</a:t>
                      </a:r>
                    </a:p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đã kích hoạt : 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 bước 3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1482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3</a:t>
                      </a:r>
                      <a:endParaRPr lang="en-US" sz="1100"/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ARQE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 C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từ chối hỗ trợ </a:t>
                      </a:r>
                      <a:endParaRPr lang="en-US" sz="1100"/>
                    </a:p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Không có block code/ Các block code còn lại: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Qua bước 3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 C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từ chối hỗ trợ </a:t>
                      </a:r>
                      <a:endParaRPr lang="en-US" sz="1100"/>
                    </a:p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Không có block code/ Các block code còn lại: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Qua bước 3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551">
                <a:tc rowSpan="3"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4</a:t>
                      </a:r>
                      <a:endParaRPr lang="en-US" sz="1100"/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ARQB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khóa D/ E trên ARQB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Hướng dẫn KH thanh toán Minpay để mở khóa thẻ, sau 2 ngày làm việc gọi lại để yêu cầu cập nhật thông tin</a:t>
                      </a:r>
                      <a:endParaRPr lang="en-US" sz="1100"/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khóa D/ E trên ARQB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Hướng dẫn KH thanh toán Minpay để mở khóa thẻ, sau 2 ngày làm việc gọi lại để yêu cầu cập nhật thông tin</a:t>
                      </a:r>
                      <a:endParaRPr lang="en-US" sz="1100"/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5798">
                <a:tc vMerge="1"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4</a:t>
                      </a:r>
                      <a:endParaRPr lang="en-US" sz="1100"/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ARQB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</a:t>
                      </a: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1999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không</a:t>
                      </a: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1999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có</a:t>
                      </a: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block code/ </a:t>
                      </a:r>
                      <a:r>
                        <a:rPr lang="en-US" sz="1999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</a:t>
                      </a: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1999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có</a:t>
                      </a: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bock code </a:t>
                      </a:r>
                      <a:endParaRPr lang="en-US" sz="1100" dirty="0"/>
                    </a:p>
                    <a:p>
                      <a:pPr marL="816909" lvl="3" indent="-204227" algn="l">
                        <a:lnSpc>
                          <a:spcPts val="2999"/>
                        </a:lnSpc>
                        <a:buFont typeface="Arial"/>
                        <a:buChar char="￭"/>
                      </a:pP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khoá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 – RSN 00</a:t>
                      </a:r>
                    </a:p>
                    <a:p>
                      <a:pPr marL="816909" lvl="3" indent="-204227" algn="l">
                        <a:lnSpc>
                          <a:spcPts val="2999"/>
                        </a:lnSpc>
                        <a:buFont typeface="Arial"/>
                        <a:buChar char="￭"/>
                      </a:pP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khoá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V</a:t>
                      </a:r>
                    </a:p>
                    <a:p>
                      <a:pPr marL="816909" lvl="3" indent="-204227" algn="l">
                        <a:lnSpc>
                          <a:spcPts val="2999"/>
                        </a:lnSpc>
                      </a:pPr>
                      <a:r>
                        <a:rPr lang="en-US" sz="1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=&gt;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Hỗ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trợ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999" b="1" i="1" u="sng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Cập</a:t>
                      </a:r>
                      <a:r>
                        <a:rPr lang="en-US" sz="1999" b="1" i="1" u="sng" dirty="0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 </a:t>
                      </a:r>
                      <a:r>
                        <a:rPr lang="en-US" sz="1999" b="1" i="1" u="sng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nhật</a:t>
                      </a:r>
                      <a:r>
                        <a:rPr lang="en-US" sz="1999" b="1" i="1" u="sng" dirty="0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 </a:t>
                      </a:r>
                      <a:r>
                        <a:rPr lang="en-US" sz="1999" b="1" i="1" u="sng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thủ</a:t>
                      </a:r>
                      <a:r>
                        <a:rPr lang="en-US" sz="1999" b="1" i="1" u="sng" dirty="0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 </a:t>
                      </a:r>
                      <a:r>
                        <a:rPr lang="en-US" sz="1999" b="1" i="1" u="sng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công</a:t>
                      </a:r>
                      <a:endParaRPr lang="en-US" sz="1999" b="1" i="1" u="sng" dirty="0">
                        <a:solidFill>
                          <a:srgbClr val="4DA745"/>
                        </a:solidFill>
                        <a:latin typeface="Arial Bold Italics"/>
                        <a:ea typeface="Arial Bold Italics"/>
                        <a:cs typeface="Arial Bold Italics"/>
                        <a:sym typeface="Arial Bold Italics"/>
                      </a:endParaRP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không có block code/ Thẻ có bock code </a:t>
                      </a:r>
                      <a:endParaRPr lang="en-US" sz="1100"/>
                    </a:p>
                    <a:p>
                      <a:pPr marL="816909" lvl="3" indent="-204227" algn="l">
                        <a:lnSpc>
                          <a:spcPts val="2999"/>
                        </a:lnSpc>
                        <a:buFont typeface="Arial"/>
                        <a:buChar char="￭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R – RSN 00</a:t>
                      </a:r>
                    </a:p>
                    <a:p>
                      <a:pPr marL="816909" lvl="3" indent="-204227" algn="l">
                        <a:lnSpc>
                          <a:spcPts val="2999"/>
                        </a:lnSpc>
                        <a:buFont typeface="Arial"/>
                        <a:buChar char="￭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V</a:t>
                      </a:r>
                    </a:p>
                    <a:p>
                      <a:pPr marL="816909" lvl="3" indent="-204227" algn="l">
                        <a:lnSpc>
                          <a:spcPts val="29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=&gt; Hỗ trợ </a:t>
                      </a:r>
                      <a:r>
                        <a:rPr lang="en-US" sz="1999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Cập nhật thủ công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927">
                <a:tc vMerge="1"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4</a:t>
                      </a:r>
                      <a:endParaRPr lang="en-US" sz="1100"/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ARQB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Các block code </a:t>
                      </a:r>
                      <a:r>
                        <a:rPr lang="en-US" sz="1999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khác</a:t>
                      </a: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: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từ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chối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hỗ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trợ</a:t>
                      </a:r>
                      <a:endParaRPr lang="en-US" sz="1100" dirty="0"/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57077" lvl="2" indent="-152359" algn="l">
                        <a:lnSpc>
                          <a:spcPts val="2999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Các block code khác: 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từ chối hỗ trợ</a:t>
                      </a:r>
                      <a:endParaRPr lang="en-US" sz="1100"/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958053" y="129054"/>
            <a:ext cx="16371903" cy="685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CÁC BƯỚC KIỂM TRA ĐIỀU KIỆN CẬP NHẬT THỦ CÔNG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630249" y="9680162"/>
            <a:ext cx="2421874" cy="346977"/>
            <a:chOff x="0" y="0"/>
            <a:chExt cx="3229166" cy="4626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29229" cy="462661"/>
            </a:xfrm>
            <a:custGeom>
              <a:avLst/>
              <a:gdLst/>
              <a:ahLst/>
              <a:cxnLst/>
              <a:rect l="l" t="t" r="r" b="b"/>
              <a:pathLst>
                <a:path w="3229229" h="462661">
                  <a:moveTo>
                    <a:pt x="0" y="0"/>
                  </a:moveTo>
                  <a:lnTo>
                    <a:pt x="3229229" y="0"/>
                  </a:lnTo>
                  <a:lnTo>
                    <a:pt x="3229229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" r="-22" b="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1018" y="9790919"/>
            <a:ext cx="2421874" cy="346977"/>
            <a:chOff x="0" y="0"/>
            <a:chExt cx="3229166" cy="462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29229" cy="462661"/>
            </a:xfrm>
            <a:custGeom>
              <a:avLst/>
              <a:gdLst/>
              <a:ahLst/>
              <a:cxnLst/>
              <a:rect l="l" t="t" r="r" b="b"/>
              <a:pathLst>
                <a:path w="3229229" h="462661">
                  <a:moveTo>
                    <a:pt x="0" y="0"/>
                  </a:moveTo>
                  <a:lnTo>
                    <a:pt x="3229229" y="0"/>
                  </a:lnTo>
                  <a:lnTo>
                    <a:pt x="3229229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2" b="5"/>
              </a:stretch>
            </a:blipFill>
          </p:spPr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71554" y="1333500"/>
          <a:ext cx="17703801" cy="5930900"/>
        </p:xfrm>
        <a:graphic>
          <a:graphicData uri="http://schemas.openxmlformats.org/drawingml/2006/table">
            <a:tbl>
              <a:tblPr/>
              <a:tblGrid>
                <a:gridCol w="7457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0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204">
                <a:tc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HƯỚNG XỬ LÝ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TAT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8696">
                <a:tc>
                  <a:txBody>
                    <a:bodyPr/>
                    <a:lstStyle/>
                    <a:p>
                      <a:pPr marL="431800" lvl="1" indent="-215900" algn="l">
                        <a:lnSpc>
                          <a:spcPts val="29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nhận email cần cập nhật</a:t>
                      </a:r>
                      <a:endParaRPr lang="en-US" sz="1100"/>
                    </a:p>
                    <a:p>
                      <a:pPr marL="431800" lvl="1" indent="-215900" algn="l">
                        <a:lnSpc>
                          <a:spcPts val="2999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Thông báo để bảo mật thông tin và tránh rủi ro phát sinh, Anh/Chị vui lòng đảm bảo email được cập nhật là email chính chủ.</a:t>
                      </a:r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ngày làm việc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* Trường hợp chỉ cập nhật Card</a:t>
                      </a:r>
                      <a:endParaRPr lang="en-US" sz="1100"/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Chọn: Cập nhật Hồ sơ Khách hàng =&gt; Email =&gt; nhập email mới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Remark: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 kiểm tra ARQN(4), nếu: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- Mục STMT notification 1/1: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Địa chỉ Email mới.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- Mục STMT notification khác: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Địa chỉ Email mới - cập nhật STMT notification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* Trường hợp cập nhật Loan + Card: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 tạo 2 ticket sub code 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RL18.03-Cập nhật Email + RC18.03-Cập nhật Email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Lưu ý: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 nhập địa chỉ email KH bằng chữ IN HOA</a:t>
                      </a:r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-20546" y="-144666"/>
            <a:ext cx="18288000" cy="1173366"/>
          </a:xfrm>
          <a:custGeom>
            <a:avLst/>
            <a:gdLst/>
            <a:ahLst/>
            <a:cxnLst/>
            <a:rect l="l" t="t" r="r" b="b"/>
            <a:pathLst>
              <a:path w="18288000" h="1173366">
                <a:moveTo>
                  <a:pt x="0" y="0"/>
                </a:moveTo>
                <a:lnTo>
                  <a:pt x="18288000" y="0"/>
                </a:lnTo>
                <a:lnTo>
                  <a:pt x="1828800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37506" y="129054"/>
            <a:ext cx="16371903" cy="59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CẬP NHẬT THỦ CÔNG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913120"/>
            <a:chOff x="0" y="0"/>
            <a:chExt cx="24384000" cy="7884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884160"/>
            </a:xfrm>
            <a:custGeom>
              <a:avLst/>
              <a:gdLst/>
              <a:ahLst/>
              <a:cxnLst/>
              <a:rect l="l" t="t" r="r" b="b"/>
              <a:pathLst>
                <a:path w="24384000" h="7884160">
                  <a:moveTo>
                    <a:pt x="0" y="0"/>
                  </a:moveTo>
                  <a:lnTo>
                    <a:pt x="24384000" y="0"/>
                  </a:lnTo>
                  <a:lnTo>
                    <a:pt x="24384000" y="7884160"/>
                  </a:lnTo>
                  <a:lnTo>
                    <a:pt x="0" y="788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9" b="-4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6694294"/>
            <a:ext cx="18288000" cy="1885045"/>
          </a:xfrm>
          <a:custGeom>
            <a:avLst/>
            <a:gdLst/>
            <a:ahLst/>
            <a:cxnLst/>
            <a:rect l="l" t="t" r="r" b="b"/>
            <a:pathLst>
              <a:path w="18288000" h="1885045">
                <a:moveTo>
                  <a:pt x="0" y="0"/>
                </a:moveTo>
                <a:lnTo>
                  <a:pt x="18288000" y="0"/>
                </a:lnTo>
                <a:lnTo>
                  <a:pt x="18288000" y="1885045"/>
                </a:lnTo>
                <a:lnTo>
                  <a:pt x="0" y="1885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49316" y="7018430"/>
            <a:ext cx="14166447" cy="113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8"/>
              </a:lnSpc>
            </a:pPr>
            <a:r>
              <a:rPr lang="en-US" sz="5798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CẬP NHẬT ĐỊA CHỈ - HĐ VAY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1018" y="9790919"/>
            <a:ext cx="2421874" cy="346977"/>
            <a:chOff x="0" y="0"/>
            <a:chExt cx="3229166" cy="462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29229" cy="462661"/>
            </a:xfrm>
            <a:custGeom>
              <a:avLst/>
              <a:gdLst/>
              <a:ahLst/>
              <a:cxnLst/>
              <a:rect l="l" t="t" r="r" b="b"/>
              <a:pathLst>
                <a:path w="3229229" h="462661">
                  <a:moveTo>
                    <a:pt x="0" y="0"/>
                  </a:moveTo>
                  <a:lnTo>
                    <a:pt x="3229229" y="0"/>
                  </a:lnTo>
                  <a:lnTo>
                    <a:pt x="3229229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2" b="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12697" y="-277749"/>
            <a:ext cx="18288000" cy="1306449"/>
          </a:xfrm>
          <a:custGeom>
            <a:avLst/>
            <a:gdLst/>
            <a:ahLst/>
            <a:cxnLst/>
            <a:rect l="l" t="t" r="r" b="b"/>
            <a:pathLst>
              <a:path w="18288000" h="1306449">
                <a:moveTo>
                  <a:pt x="0" y="0"/>
                </a:moveTo>
                <a:lnTo>
                  <a:pt x="18288000" y="0"/>
                </a:lnTo>
                <a:lnTo>
                  <a:pt x="18288000" y="1306449"/>
                </a:lnTo>
                <a:lnTo>
                  <a:pt x="0" y="1306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19169" y="145428"/>
            <a:ext cx="10249652" cy="62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</a:pP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CẬP NHẬT ĐỊA CHỈ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346718"/>
              </p:ext>
            </p:extLst>
          </p:nvPr>
        </p:nvGraphicFramePr>
        <p:xfrm>
          <a:off x="292100" y="1678473"/>
          <a:ext cx="17703799" cy="5291188"/>
        </p:xfrm>
        <a:graphic>
          <a:graphicData uri="http://schemas.openxmlformats.org/drawingml/2006/table">
            <a:tbl>
              <a:tblPr/>
              <a:tblGrid>
                <a:gridCol w="7701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7879">
                <a:tc>
                  <a:txBody>
                    <a:bodyPr/>
                    <a:lstStyle/>
                    <a:p>
                      <a:pPr algn="ctr">
                        <a:lnSpc>
                          <a:spcPts val="3958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HƯỚNG XỬ LÝ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TAT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737">
                <a:tc>
                  <a:txBody>
                    <a:bodyPr/>
                    <a:lstStyle/>
                    <a:p>
                      <a:pPr marL="431584" lvl="1" indent="-215792" algn="l">
                        <a:lnSpc>
                          <a:spcPts val="29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nhận loại địa chỉ KH cần cập nhật: địa chỉ tạm trú / thường trú/ công ty</a:t>
                      </a:r>
                      <a:endParaRPr lang="en-US" sz="1100"/>
                    </a:p>
                    <a:p>
                      <a:pPr marL="431584" lvl="1" indent="-215792" algn="l">
                        <a:lnSpc>
                          <a:spcPts val="29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Địa chỉ mới</a:t>
                      </a:r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ngày làm việc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Chọn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: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Cập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nhật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Địa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chỉ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Khách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hàng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/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Số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điện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thoại</a:t>
                      </a:r>
                      <a:endParaRPr lang="en-US" sz="1100" dirty="0"/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Remark: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Loại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địa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chỉ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yêu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cầu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cập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Tạm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trú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thường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trú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công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ty)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(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xem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cách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nhập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1999" b="1" i="1" u="sng" kern="1200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tại</a:t>
                      </a:r>
                      <a:r>
                        <a:rPr lang="en-US" sz="1999" b="1" i="1" u="sng" kern="1200" dirty="0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US" sz="1999" b="1" i="1" u="sng" kern="1200" dirty="0" err="1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đây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)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endParaRPr lang="en-US" sz="2000" b="1" dirty="0">
                        <a:solidFill>
                          <a:srgbClr val="000000"/>
                        </a:solidFill>
                        <a:latin typeface="Arial Bold"/>
                        <a:ea typeface="Arial Bold"/>
                        <a:cs typeface="Arial Bold"/>
                        <a:sym typeface="Arial Bold"/>
                      </a:endParaRPr>
                    </a:p>
                    <a:p>
                      <a:pPr marL="342900" indent="-342900" algn="l">
                        <a:lnSpc>
                          <a:spcPts val="3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Pega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báo 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lỗi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không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cập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nhật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địa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chỉ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thành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công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/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không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đúng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thông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tin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lang="vi-VN" sz="20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CS gửi mail đến Teamleader để được hỗ trợ.</a:t>
                      </a:r>
                      <a:br>
                        <a:rPr lang="vi-VN" sz="20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</a:br>
                      <a:r>
                        <a:rPr lang="vi-VN" sz="20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- </a:t>
                      </a:r>
                      <a:r>
                        <a:rPr lang="vi-VN" sz="2000" b="1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Code: </a:t>
                      </a:r>
                      <a:r>
                        <a:rPr lang="vi-VN" sz="20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RL18-Cập nhật thông tin KH =&gt; Closed case</a:t>
                      </a:r>
                      <a:br>
                        <a:rPr lang="vi-VN" sz="20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</a:br>
                      <a:r>
                        <a:rPr lang="vi-VN" sz="20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- </a:t>
                      </a:r>
                      <a:r>
                        <a:rPr lang="vi-VN" sz="2000" b="1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Sub: </a:t>
                      </a:r>
                      <a:r>
                        <a:rPr lang="vi-VN" sz="20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RL18.02-Cập nhật địa chỉ.</a:t>
                      </a:r>
                      <a:br>
                        <a:rPr lang="vi-VN" sz="20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</a:br>
                      <a:r>
                        <a:rPr lang="vi-VN" sz="20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- </a:t>
                      </a:r>
                      <a:r>
                        <a:rPr lang="vi-VN" sz="2000" b="1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Remark: </a:t>
                      </a:r>
                      <a:r>
                        <a:rPr lang="vi-VN" sz="200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Gửi mail TL.</a:t>
                      </a:r>
                      <a:endParaRPr lang="en-US" sz="2000" kern="1200" dirty="0">
                        <a:solidFill>
                          <a:srgbClr val="000000"/>
                        </a:solidFill>
                        <a:latin typeface="Arial"/>
                        <a:ea typeface="Arial Bold Italics"/>
                        <a:cs typeface="Arial"/>
                        <a:sym typeface="Arial Bold Italics"/>
                      </a:endParaRPr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913120"/>
            <a:chOff x="0" y="0"/>
            <a:chExt cx="24384000" cy="7884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884160"/>
            </a:xfrm>
            <a:custGeom>
              <a:avLst/>
              <a:gdLst/>
              <a:ahLst/>
              <a:cxnLst/>
              <a:rect l="l" t="t" r="r" b="b"/>
              <a:pathLst>
                <a:path w="24384000" h="7884160">
                  <a:moveTo>
                    <a:pt x="0" y="0"/>
                  </a:moveTo>
                  <a:lnTo>
                    <a:pt x="24384000" y="0"/>
                  </a:lnTo>
                  <a:lnTo>
                    <a:pt x="24384000" y="7884160"/>
                  </a:lnTo>
                  <a:lnTo>
                    <a:pt x="0" y="788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9" b="-4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6694294"/>
            <a:ext cx="18288000" cy="1885045"/>
          </a:xfrm>
          <a:custGeom>
            <a:avLst/>
            <a:gdLst/>
            <a:ahLst/>
            <a:cxnLst/>
            <a:rect l="l" t="t" r="r" b="b"/>
            <a:pathLst>
              <a:path w="18288000" h="1885045">
                <a:moveTo>
                  <a:pt x="0" y="0"/>
                </a:moveTo>
                <a:lnTo>
                  <a:pt x="18288000" y="0"/>
                </a:lnTo>
                <a:lnTo>
                  <a:pt x="18288000" y="1885045"/>
                </a:lnTo>
                <a:lnTo>
                  <a:pt x="0" y="1885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49316" y="7018430"/>
            <a:ext cx="14166447" cy="113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8"/>
              </a:lnSpc>
            </a:pPr>
            <a:r>
              <a:rPr lang="en-US" sz="5798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CẬP NHẬT ĐỊA CHỈ - THẺ TÍN DỤNG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30249" y="9680162"/>
            <a:ext cx="2421874" cy="346977"/>
            <a:chOff x="0" y="0"/>
            <a:chExt cx="3229166" cy="462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29229" cy="462661"/>
            </a:xfrm>
            <a:custGeom>
              <a:avLst/>
              <a:gdLst/>
              <a:ahLst/>
              <a:cxnLst/>
              <a:rect l="l" t="t" r="r" b="b"/>
              <a:pathLst>
                <a:path w="3229229" h="462661">
                  <a:moveTo>
                    <a:pt x="0" y="0"/>
                  </a:moveTo>
                  <a:lnTo>
                    <a:pt x="3229229" y="0"/>
                  </a:lnTo>
                  <a:lnTo>
                    <a:pt x="3229229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2" b="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710946" y="213141"/>
            <a:ext cx="19709892" cy="1885045"/>
          </a:xfrm>
          <a:custGeom>
            <a:avLst/>
            <a:gdLst/>
            <a:ahLst/>
            <a:cxnLst/>
            <a:rect l="l" t="t" r="r" b="b"/>
            <a:pathLst>
              <a:path w="19709892" h="1885045">
                <a:moveTo>
                  <a:pt x="0" y="0"/>
                </a:moveTo>
                <a:lnTo>
                  <a:pt x="19709892" y="0"/>
                </a:lnTo>
                <a:lnTo>
                  <a:pt x="19709892" y="1885045"/>
                </a:lnTo>
                <a:lnTo>
                  <a:pt x="0" y="1885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05477" y="537286"/>
            <a:ext cx="15267889" cy="109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8"/>
              </a:lnSpc>
            </a:pPr>
            <a:r>
              <a:rPr lang="en-US" sz="579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CẬP NHẬT ĐỊA CHỈ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72231" y="3921433"/>
            <a:ext cx="10291677" cy="838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3399" b="1">
                <a:solidFill>
                  <a:srgbClr val="00974E"/>
                </a:solidFill>
                <a:latin typeface="Arial Bold"/>
                <a:ea typeface="Arial Bold"/>
                <a:cs typeface="Arial Bold"/>
                <a:sym typeface="Arial Bold"/>
              </a:rPr>
              <a:t>ĐỊA CHỈ ĐÃ TỒN TẠI TRÊN HỆ THỐNG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72231" y="4783082"/>
            <a:ext cx="11043123" cy="69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3399" b="1">
                <a:solidFill>
                  <a:srgbClr val="00974E"/>
                </a:solidFill>
                <a:latin typeface="Arial Bold"/>
                <a:ea typeface="Arial Bold"/>
                <a:cs typeface="Arial Bold"/>
                <a:sym typeface="Arial Bold"/>
              </a:rPr>
              <a:t>ĐỊA CHỈ CHƯA TỒN TẠI TRÊN HỆ THỐNG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4466"/>
            <a:ext cx="18288000" cy="1674666"/>
          </a:xfrm>
          <a:custGeom>
            <a:avLst/>
            <a:gdLst/>
            <a:ahLst/>
            <a:cxnLst/>
            <a:rect l="l" t="t" r="r" b="b"/>
            <a:pathLst>
              <a:path w="18288000" h="1674666">
                <a:moveTo>
                  <a:pt x="0" y="0"/>
                </a:moveTo>
                <a:lnTo>
                  <a:pt x="18288000" y="0"/>
                </a:lnTo>
                <a:lnTo>
                  <a:pt x="18288000" y="1674666"/>
                </a:lnTo>
                <a:lnTo>
                  <a:pt x="0" y="1674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93758" y="135450"/>
            <a:ext cx="15300484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0"/>
              </a:lnSpc>
            </a:pPr>
            <a:r>
              <a:rPr lang="en-US" sz="3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CÁC BƯỚC KIỂM TRA ĐIỀU KIỆN </a:t>
            </a:r>
          </a:p>
          <a:p>
            <a:pPr algn="ctr">
              <a:lnSpc>
                <a:spcPts val="4930"/>
              </a:lnSpc>
            </a:pPr>
            <a:r>
              <a:rPr lang="en-US" sz="3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CẬP NHẬT ĐỊA CHỈ ĐÃ TỒN TẠI TRÊN HỆ THỐNG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90500" y="1740566"/>
          <a:ext cx="17907000" cy="8326553"/>
        </p:xfrm>
        <a:graphic>
          <a:graphicData uri="http://schemas.openxmlformats.org/drawingml/2006/table">
            <a:tbl>
              <a:tblPr/>
              <a:tblGrid>
                <a:gridCol w="4512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4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24804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1</a:t>
                      </a:r>
                      <a:endParaRPr lang="en-US" sz="1100"/>
                    </a:p>
                    <a:p>
                      <a:pPr algn="l">
                        <a:lnSpc>
                          <a:spcPts val="30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status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313" lvl="2" indent="-152438" algn="l">
                        <a:lnSpc>
                          <a:spcPts val="300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Status Z,8,9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từ chối hỗ trợ</a:t>
                      </a:r>
                      <a:endParaRPr lang="en-US" sz="1100"/>
                    </a:p>
                    <a:p>
                      <a:pPr marL="457313" lvl="2" indent="-152438" algn="l">
                        <a:lnSpc>
                          <a:spcPts val="3000"/>
                        </a:lnSpc>
                        <a:buFont typeface="Arial"/>
                        <a:buChar char="⚬"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Các status khác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qua bước 2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3144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2</a:t>
                      </a:r>
                      <a:endParaRPr lang="en-US" sz="1100"/>
                    </a:p>
                    <a:p>
                      <a:pPr algn="l">
                        <a:lnSpc>
                          <a:spcPts val="30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ARQE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313" lvl="2" indent="-152438" algn="l">
                        <a:lnSpc>
                          <a:spcPts val="300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 C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từ chối hỗ trợ </a:t>
                      </a:r>
                      <a:endParaRPr lang="en-US" sz="1100"/>
                    </a:p>
                    <a:p>
                      <a:pPr marL="457313" lvl="2" indent="-152438" algn="l">
                        <a:lnSpc>
                          <a:spcPts val="3000"/>
                        </a:lnSpc>
                        <a:buFont typeface="Arial"/>
                        <a:buChar char="⚬"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Không có block code /Các block code còn lại: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Qua bước 3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4804">
                <a:tc rowSpan="3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3</a:t>
                      </a:r>
                      <a:endParaRPr lang="en-US" sz="1100"/>
                    </a:p>
                    <a:p>
                      <a:pPr algn="l">
                        <a:lnSpc>
                          <a:spcPts val="30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ARQB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313" lvl="2" indent="-152438" algn="l">
                        <a:lnSpc>
                          <a:spcPts val="300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khóa D/E trên ARQB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Hướng dẫn KH thanh toán Minpay để mở khóa thẻ, sau 2 ngày làm việc gọi lại để yêu cầu cập nhật thông tin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1313">
                <a:tc vMerge="1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3</a:t>
                      </a:r>
                      <a:endParaRPr lang="en-US" sz="1100"/>
                    </a:p>
                    <a:p>
                      <a:pPr algn="l">
                        <a:lnSpc>
                          <a:spcPts val="30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ARQB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313" lvl="2" indent="-152438" algn="l">
                        <a:lnSpc>
                          <a:spcPts val="300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không có block code/ có bock code: </a:t>
                      </a:r>
                      <a:endParaRPr lang="en-US" sz="1100"/>
                    </a:p>
                    <a:p>
                      <a:pPr marL="817337" lvl="3" indent="-204334" algn="l">
                        <a:lnSpc>
                          <a:spcPts val="3000"/>
                        </a:lnSpc>
                        <a:buFont typeface="Arial"/>
                        <a:buChar char="￭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R – RSN 00 hoặc 05</a:t>
                      </a:r>
                    </a:p>
                    <a:p>
                      <a:pPr marL="817337" lvl="3" indent="-204334" algn="l">
                        <a:lnSpc>
                          <a:spcPts val="3000"/>
                        </a:lnSpc>
                        <a:buFont typeface="Arial"/>
                        <a:buChar char="￭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Q -RSN 00</a:t>
                      </a:r>
                    </a:p>
                    <a:p>
                      <a:pPr marL="817337" lvl="3" indent="-204334" algn="l">
                        <a:lnSpc>
                          <a:spcPts val="3000"/>
                        </a:lnSpc>
                        <a:buFont typeface="Arial"/>
                        <a:buChar char="￭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khóa G</a:t>
                      </a:r>
                    </a:p>
                    <a:p>
                      <a:pPr marL="817337" lvl="3" indent="-204334" algn="l">
                        <a:lnSpc>
                          <a:spcPts val="3000"/>
                        </a:lnSpc>
                        <a:buFont typeface="Arial"/>
                        <a:buChar char="￭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khóa G có RSN code 02</a:t>
                      </a:r>
                    </a:p>
                    <a:p>
                      <a:pPr marL="817337" lvl="3" indent="-204334" algn="l">
                        <a:lnSpc>
                          <a:spcPts val="3000"/>
                        </a:lnSpc>
                        <a:buFont typeface="Arial"/>
                        <a:buChar char="￭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có Block code V/L</a:t>
                      </a:r>
                    </a:p>
                    <a:p>
                      <a:pPr marL="817337" lvl="3" indent="-204334" algn="l">
                        <a:lnSpc>
                          <a:spcPts val="3000"/>
                        </a:lnSpc>
                        <a:buFont typeface="Arial"/>
                        <a:buChar char="￭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có Block Y</a:t>
                      </a:r>
                    </a:p>
                    <a:p>
                      <a:pPr marL="817337" lvl="3" indent="-204334" algn="l">
                        <a:lnSpc>
                          <a:spcPts val="30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=&gt; Hỗ trợ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Cập nhật thủ công 1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2488">
                <a:tc vMerge="1"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3</a:t>
                      </a:r>
                      <a:endParaRPr lang="en-US" sz="1100"/>
                    </a:p>
                    <a:p>
                      <a:pPr algn="l">
                        <a:lnSpc>
                          <a:spcPts val="30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ARQB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57313" lvl="2" indent="-152438" algn="l">
                        <a:lnSpc>
                          <a:spcPts val="300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Các block code khác: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từ chối hỗ trợ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66700" y="1792255"/>
          <a:ext cx="17754600" cy="4470524"/>
        </p:xfrm>
        <a:graphic>
          <a:graphicData uri="http://schemas.openxmlformats.org/drawingml/2006/table">
            <a:tbl>
              <a:tblPr/>
              <a:tblGrid>
                <a:gridCol w="7837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1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5587">
                <a:tc>
                  <a:txBody>
                    <a:bodyPr/>
                    <a:lstStyle/>
                    <a:p>
                      <a:pPr algn="ctr">
                        <a:lnSpc>
                          <a:spcPts val="5497"/>
                        </a:lnSpc>
                        <a:defRPr/>
                      </a:pPr>
                      <a:r>
                        <a:rPr lang="en-US" sz="2199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HƯỚNG XỬ LÝ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99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TAT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99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4937">
                <a:tc>
                  <a:txBody>
                    <a:bodyPr/>
                    <a:lstStyle/>
                    <a:p>
                      <a:pPr algn="l">
                        <a:lnSpc>
                          <a:spcPts val="2998"/>
                        </a:lnSpc>
                        <a:defRPr/>
                      </a:pPr>
                      <a:r>
                        <a:rPr lang="en-US" sz="199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nhận:</a:t>
                      </a:r>
                      <a:endParaRPr lang="en-US" sz="1100"/>
                    </a:p>
                    <a:p>
                      <a:pPr marL="431584" lvl="1" indent="-215792" algn="l">
                        <a:lnSpc>
                          <a:spcPts val="2998"/>
                        </a:lnSpc>
                        <a:buFont typeface="Arial"/>
                        <a:buChar char="•"/>
                      </a:pPr>
                      <a:r>
                        <a:rPr lang="en-US" sz="199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Loại địa chỉ cần cập nhật: Địa chỉ tạm trú (C)/ Thường trú (R)/ Công ty (E)</a:t>
                      </a:r>
                    </a:p>
                    <a:p>
                      <a:pPr marL="431584" lvl="1" indent="-215792" algn="l">
                        <a:lnSpc>
                          <a:spcPts val="29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Thông tin địa chỉ cụ thể cần cập nhật: (KH cung cấp địa chỉ cũ, CS cần khai thác địa chỉ mới sau sát nhập)</a:t>
                      </a:r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ngày làm việc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Chọn Cập nhật Địa chỉ khách hàng</a:t>
                      </a:r>
                      <a:endParaRPr lang="en-US" sz="1100"/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Remark: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- Không thay thế thẻ: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Mailing Ind: [loại địa chỉ cũ-&gt;loại địa chỉ mới]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- Có thay thế thẻ</a:t>
                      </a:r>
                      <a:r>
                        <a:rPr lang="en-US" sz="2000" i="1">
                          <a:solidFill>
                            <a:srgbClr val="000000"/>
                          </a:solidFill>
                          <a:latin typeface="Arial Italics"/>
                          <a:ea typeface="Arial Italics"/>
                          <a:cs typeface="Arial Italics"/>
                          <a:sym typeface="Arial Italics"/>
                        </a:rPr>
                        <a:t> (phải thỏa điều kiện thay thế thẻ)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Phát hành thẻ miễn phí (Note thêm lý do)/ có phí - Mailing Ind: [loại địa chỉ cũ-&gt;loại địa chỉ mới]</a:t>
                      </a:r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5630249" y="9680162"/>
            <a:ext cx="2421874" cy="346977"/>
            <a:chOff x="0" y="0"/>
            <a:chExt cx="3229166" cy="4626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29229" cy="462661"/>
            </a:xfrm>
            <a:custGeom>
              <a:avLst/>
              <a:gdLst/>
              <a:ahLst/>
              <a:cxnLst/>
              <a:rect l="l" t="t" r="r" b="b"/>
              <a:pathLst>
                <a:path w="3229229" h="462661">
                  <a:moveTo>
                    <a:pt x="0" y="0"/>
                  </a:moveTo>
                  <a:lnTo>
                    <a:pt x="3229229" y="0"/>
                  </a:lnTo>
                  <a:lnTo>
                    <a:pt x="3229229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2" b="5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0" y="-518769"/>
            <a:ext cx="18288000" cy="1674666"/>
          </a:xfrm>
          <a:custGeom>
            <a:avLst/>
            <a:gdLst/>
            <a:ahLst/>
            <a:cxnLst/>
            <a:rect l="l" t="t" r="r" b="b"/>
            <a:pathLst>
              <a:path w="18288000" h="1674666">
                <a:moveTo>
                  <a:pt x="0" y="0"/>
                </a:moveTo>
                <a:lnTo>
                  <a:pt x="18288000" y="0"/>
                </a:lnTo>
                <a:lnTo>
                  <a:pt x="18288000" y="1674667"/>
                </a:lnTo>
                <a:lnTo>
                  <a:pt x="0" y="1674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93758" y="213790"/>
            <a:ext cx="15300484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0"/>
              </a:lnSpc>
            </a:pPr>
            <a:r>
              <a:rPr lang="en-US" sz="3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CẬP NHẬT THỦ CÔNG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-144666"/>
            <a:ext cx="18288000" cy="1493968"/>
          </a:xfrm>
          <a:custGeom>
            <a:avLst/>
            <a:gdLst/>
            <a:ahLst/>
            <a:cxnLst/>
            <a:rect l="l" t="t" r="r" b="b"/>
            <a:pathLst>
              <a:path w="18288000" h="1493968">
                <a:moveTo>
                  <a:pt x="0" y="0"/>
                </a:moveTo>
                <a:lnTo>
                  <a:pt x="18288000" y="0"/>
                </a:lnTo>
                <a:lnTo>
                  <a:pt x="18288000" y="1493968"/>
                </a:lnTo>
                <a:lnTo>
                  <a:pt x="0" y="1493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69900" y="1349302"/>
          <a:ext cx="17348200" cy="8971603"/>
        </p:xfrm>
        <a:graphic>
          <a:graphicData uri="http://schemas.openxmlformats.org/drawingml/2006/table">
            <a:tbl>
              <a:tblPr/>
              <a:tblGrid>
                <a:gridCol w="4423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0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94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8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1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status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Status Z,8,9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từ chối hỗ trợ</a:t>
                      </a:r>
                      <a:endParaRPr lang="en-US" sz="1100"/>
                    </a:p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Các status khác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qua bước 2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Status Z,8,9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từ chối hỗ trợ</a:t>
                      </a:r>
                      <a:endParaRPr lang="en-US" sz="1100"/>
                    </a:p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Các status khác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qua bước 2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096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2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tình trạng kích hoạt thẻ 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chưa kích hoạt : </a:t>
                      </a:r>
                      <a:endParaRPr lang="en-US" sz="1100"/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MT1 / DC2 / DC3 / DC5 / DC6,DC7,DC8/ DP3 =&gt;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qua bước 3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 thẻ cũ đã kích hoạt hoặc có phát sinh GD chi tiêu thành công (TMN/ IPP/ Online transaction trên Digital Card (plan 6XXXX ở ARTD (trang 02/03) hoặc ARSD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=&gt; qua bước 3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Các loại thẻ khác: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Hướng dẫn KH kích hoạt thẻ sau đó liên hệ lại tổng đài để yêu cầu cập nhật</a:t>
                      </a:r>
                    </a:p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đã kích hoạt :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 bước 3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chưa kích hoạt : </a:t>
                      </a:r>
                      <a:endParaRPr lang="en-US" sz="1100"/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MT1 / DC2 / DC3 / DC5 / DC6,DC7,DC8/ DP3 =&gt;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qua bước 3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 thẻ cũ đã kích hoạt hoặc có phát sinh GD chi tiêu thành công (TMN/ IPP/ Online transaction trên Digital Card (plan 6XXXX ở ARTD (trang 02/03) hoặc ARSD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=&gt; qua bước 3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Các loại thẻ khác: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Hướng dẫn KH kích hoạt thẻ sau đó liên hệ lại tổng đài để yêu cầu cập nhật</a:t>
                      </a:r>
                    </a:p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đã kích hoạt :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 bước 3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3448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3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ARQE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 C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từ chối hỗ trợ </a:t>
                      </a:r>
                      <a:endParaRPr lang="en-US" sz="1100"/>
                    </a:p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Không có block code /Các block code còn lại: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Qua bước 3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 C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từ chối hỗ trợ </a:t>
                      </a:r>
                      <a:endParaRPr lang="en-US" sz="1100"/>
                    </a:p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Không có block code /Các block code còn lại: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Qua bước 3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300">
                <a:tc rowSpan="3"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4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ARQB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khóa D/E trên ARQB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Hướng dẫn KH thanh toán Minpay để mở khóa thẻ, sau 2 ngày làm việc gọi lại để yêu cầu cập nhật thông tin</a:t>
                      </a:r>
                      <a:endParaRPr lang="en-US" sz="1100"/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khóa D/E trên ARQB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Hướng dẫn KH thanh toán Minpay để mở khóa thẻ, sau 2 ngày làm việc gọi lại để yêu cầu cập nhật thông tin</a:t>
                      </a:r>
                      <a:endParaRPr lang="en-US" sz="1100"/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959">
                <a:tc vMerge="1"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4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ARQB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không có block code hoặc Thẻ có bock code thuộc 1 trong các trường hợp bên dưới </a:t>
                      </a:r>
                      <a:endParaRPr lang="en-US" sz="1100"/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R – RSN 00 hoặc 05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Q - RSN 00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V/ L/ Y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khóa F/N - RSN 02 hoặc 05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khóa G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khóa G - RSN 02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G - RSN 00 và có Remark thông tin GD nghi ngờ của Card Fraud trên ASHI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=&gt; Hỗ trợ </a:t>
                      </a:r>
                      <a:r>
                        <a:rPr lang="en-US" sz="18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Cập nhật thủ công 2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Thẻ không có block code hoặc Thẻ có bock code thuộc 1 trong các trường hợp bên dưới </a:t>
                      </a:r>
                      <a:endParaRPr lang="en-US" sz="1100"/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R – RSN 00 hoặc 05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Q - RSN 00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V/ L/ Y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khóa F/N - RSN 02 hoặc 05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khóa G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khóa G - RSN 02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  <a:buFont typeface="Arial"/>
                        <a:buChar char="￭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Thẻ khoá G - RSN 00 và có Remark thông tin GD nghi ngờ của Card Fraud trên ASHI</a:t>
                      </a:r>
                    </a:p>
                    <a:p>
                      <a:pPr marL="735616" lvl="3" indent="-183904" algn="l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=&gt; Hỗ trợ </a:t>
                      </a:r>
                      <a:r>
                        <a:rPr lang="en-US" sz="18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Cập nhật thủ công 2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634">
                <a:tc vMerge="1"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Bước 4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Kiểm tra block code trên ARQB</a:t>
                      </a:r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Các block code khác: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từ chối hỗ trợ</a:t>
                      </a:r>
                      <a:endParaRPr lang="en-US" sz="1100"/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11587" lvl="2" indent="-137196" algn="l">
                        <a:lnSpc>
                          <a:spcPts val="2520"/>
                        </a:lnSpc>
                        <a:buFont typeface="Arial"/>
                        <a:buChar char="⚬"/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Các block code khác: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từ chối hỗ trợ</a:t>
                      </a:r>
                      <a:endParaRPr lang="en-US" sz="1100"/>
                    </a:p>
                  </a:txBody>
                  <a:tcPr marL="95250" marR="95250" marT="95250" marB="952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28700" y="-53664"/>
            <a:ext cx="16371903" cy="128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CÁC BƯỚC KIỂM TRA ĐIỀU KIỆN </a:t>
            </a:r>
          </a:p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CẬP NHẬT ĐỊA CHỈ CHƯA TỒN TẠI TRÊN HỆ THỐNG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92100" y="1485900"/>
          <a:ext cx="17703800" cy="6716305"/>
        </p:xfrm>
        <a:graphic>
          <a:graphicData uri="http://schemas.openxmlformats.org/drawingml/2006/table">
            <a:tbl>
              <a:tblPr/>
              <a:tblGrid>
                <a:gridCol w="610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8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2486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2000" b="1" spc="1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HƯỚNG XỬ LÝ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TAT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CODE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8BC53F">
                            <a:alpha val="100000"/>
                          </a:srgbClr>
                        </a:gs>
                        <a:gs pos="100000">
                          <a:srgbClr val="0F8745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3819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nhận:</a:t>
                      </a:r>
                      <a:endParaRPr lang="en-US" sz="1100"/>
                    </a:p>
                    <a:p>
                      <a:pPr marL="431800" lvl="1" indent="-215900" algn="l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Loại địa chỉ cần cập nhật: Địa chỉ tạm trú (C)/ Thường trú (R)/ Công ty (E)</a:t>
                      </a:r>
                    </a:p>
                    <a:p>
                      <a:pPr marL="431800" lvl="1" indent="-215900" algn="l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Thông tin địa chỉ cụ thể cần cập nhật: (KH cung cấp địa chỉ cũ, CS cần khai thác địa chỉ mới sau sát nhập)</a:t>
                      </a:r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ngày làm việc</a:t>
                      </a:r>
                      <a:endParaRPr lang="en-US" sz="1100"/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1. Chọn Cập nhật Địa chỉ khách hàng</a:t>
                      </a:r>
                      <a:endParaRPr lang="en-US" sz="1100"/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2. Remark: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* Không đổi địa chỉ nhận thư (Mailing Ind)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- Không thay thể thẻ: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Địa chỉ mới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- Có thay thế thẻ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(phải thỏa điều kiện thay thế thẻ): Địa chỉ mới - Phát hành thẻ miễn phí(Note thêm lý do)/có phí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4AA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* Có đổi địa chỉ nhận thư (Mailing Ind)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- Không thay thế thẻ: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Địa chỉ mới - Mailing Ind: [loại địa chỉ cũ-&gt;loại địa chỉ mới]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- Có thay thế thẻ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(phải thỏa điều kiện thay thế thẻ): Địa chỉ mới - Phát hành thẻ miễn phí(Note thêm lý do)/có phí- Mailing Ind: [loại địa chỉ cũ-&gt;loại địa chỉ mới]</a:t>
                      </a:r>
                    </a:p>
                    <a:p>
                      <a:pPr algn="l">
                        <a:lnSpc>
                          <a:spcPts val="36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3. Note ASHI: </a:t>
                      </a:r>
                      <a:r>
                        <a:rPr lang="en-US" sz="2000" b="1" i="1" u="sng">
                          <a:solidFill>
                            <a:srgbClr val="4DA745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xem tại đây</a:t>
                      </a:r>
                    </a:p>
                  </a:txBody>
                  <a:tcPr marL="157480" marR="157480" marT="157480" marB="15748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5633059" y="9877425"/>
            <a:ext cx="2421874" cy="346977"/>
            <a:chOff x="0" y="0"/>
            <a:chExt cx="3229166" cy="4626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29229" cy="462661"/>
            </a:xfrm>
            <a:custGeom>
              <a:avLst/>
              <a:gdLst/>
              <a:ahLst/>
              <a:cxnLst/>
              <a:rect l="l" t="t" r="r" b="b"/>
              <a:pathLst>
                <a:path w="3229229" h="462661">
                  <a:moveTo>
                    <a:pt x="0" y="0"/>
                  </a:moveTo>
                  <a:lnTo>
                    <a:pt x="3229229" y="0"/>
                  </a:lnTo>
                  <a:lnTo>
                    <a:pt x="3229229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2" b="5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0" y="-518769"/>
            <a:ext cx="18288000" cy="1674666"/>
          </a:xfrm>
          <a:custGeom>
            <a:avLst/>
            <a:gdLst/>
            <a:ahLst/>
            <a:cxnLst/>
            <a:rect l="l" t="t" r="r" b="b"/>
            <a:pathLst>
              <a:path w="18288000" h="1674666">
                <a:moveTo>
                  <a:pt x="0" y="0"/>
                </a:moveTo>
                <a:lnTo>
                  <a:pt x="18288000" y="0"/>
                </a:lnTo>
                <a:lnTo>
                  <a:pt x="18288000" y="1674667"/>
                </a:lnTo>
                <a:lnTo>
                  <a:pt x="0" y="1674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93758" y="213790"/>
            <a:ext cx="15300484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0"/>
              </a:lnSpc>
            </a:pPr>
            <a:r>
              <a:rPr lang="en-US" sz="3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CẬP NHẬT THỦ CÔNG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1890</Words>
  <Application>Microsoft Office PowerPoint</Application>
  <PresentationFormat>Custom</PresentationFormat>
  <Paragraphs>200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Arial Bold</vt:lpstr>
      <vt:lpstr>Arial Bold Italics</vt:lpstr>
      <vt:lpstr>Arial</vt:lpstr>
      <vt:lpstr>Arial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CẬP NHẬT EMAIL/ĐỊA CHỈ</dc:title>
  <dc:creator>Thanh Phung Doan</dc:creator>
  <cp:lastModifiedBy>Cuong Nguyen Thi Bien</cp:lastModifiedBy>
  <cp:revision>6</cp:revision>
  <dcterms:created xsi:type="dcterms:W3CDTF">2006-08-16T00:00:00Z</dcterms:created>
  <dcterms:modified xsi:type="dcterms:W3CDTF">2026-02-10T10:10:54Z</dcterms:modified>
  <dc:identifier>DAG5ONIOeCk</dc:identifier>
</cp:coreProperties>
</file>